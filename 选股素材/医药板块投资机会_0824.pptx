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39649122807018"/>
          <c:y val="0.0129032258064516"/>
        </c:manualLayout>
      </c:layout>
      <c:overlay val="1"/>
      <c:txPr>
        <a:bodyPr rot="0" spcFirstLastPara="0" vertOverflow="ellipsis" vert="horz" wrap="square" anchor="ctr" anchorCtr="1"/>
        <a:lstStyle/>
        <a:p>
          <a:pPr>
            <a:defRPr lang="zh-CN"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CXO</c:f>
              <c:strCache>
                <c:ptCount val="1"/>
                <c:pt idx="0">
                  <c:v>CXO</c:v>
                </c:pt>
              </c:strCache>
            </c:strRef>
          </c:tx>
          <c:spPr>
            <a:solidFill>
              <a:srgbClr val="2F6BFF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{"盈利确定性","短期拥挤度","中期赔率"}</c:f>
              <c:strCache>
                <c:ptCount val="3"/>
                <c:pt idx="0">
                  <c:v>盈利确定性</c:v>
                </c:pt>
                <c:pt idx="1">
                  <c:v>短期拥挤度</c:v>
                </c:pt>
                <c:pt idx="2">
                  <c:v>中期赔率</c:v>
                </c:pt>
              </c:strCache>
            </c:strRef>
          </c:cat>
          <c:val>
            <c:numRef>
              <c:f>{5,4,3}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创新药</c:f>
              <c:strCache>
                <c:ptCount val="1"/>
                <c:pt idx="0">
                  <c:v>创新药</c:v>
                </c:pt>
              </c:strCache>
            </c:strRef>
          </c:tx>
          <c:spPr>
            <a:solidFill>
              <a:srgbClr val="F59E0B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{"盈利确定性","短期拥挤度","中期赔率"}</c:f>
              <c:strCache>
                <c:ptCount val="3"/>
                <c:pt idx="0">
                  <c:v>盈利确定性</c:v>
                </c:pt>
                <c:pt idx="1">
                  <c:v>短期拥挤度</c:v>
                </c:pt>
                <c:pt idx="2">
                  <c:v>中期赔率</c:v>
                </c:pt>
              </c:strCache>
            </c:strRef>
          </c:cat>
          <c:val>
            <c:numRef>
              <c:f>{3,2,5}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9ECF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FFFFFF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25" b="0" i="0" u="none" strike="noStrike" kern="1200" baseline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0">
            <a:solidFill>
              <a:srgbClr val="FFFFFF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75" b="0" i="0" u="none" strike="noStrike" kern="1200" baseline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4887aaa-2c36-4741-9c29-1b76e0215afd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核心讲法：行业Beta成立之后，2026年不再只是交易产业想象力，而是订单和现金流驱动盈利上修、盈利上修再推动估值抬升的“戴维斯双击”。</a:t>
            </a:r>
          </a:p>
          <a:p/>
          <a:p>
            <a:r>
              <a:t>[Sources]</a:t>
            </a:r>
          </a:p>
          <a:p>
            <a:r>
              <a:t>- https://www.nhsa.gov.cn/art/2025/7/1/art_104_17058.html</a:t>
            </a:r>
          </a:p>
          <a:p>
            <a:r>
              <a:t>- https://www.nhsa.gov.cn/art/2026/4/14/art_53_20215.html</a:t>
            </a:r>
          </a:p>
          <a:p>
            <a:r>
              <a:t>- https://data.eastmoney.com/report/zw_industry.jshtml?infocode=AP202607051826728220</a:t>
            </a:r>
          </a:p>
          <a:p>
            <a:r>
              <a:t>- https://www.wuxiapptec.cn/news/wuxi-news/wuxi-apptec-crdmo-model-delivers-strong-results</a:t>
            </a:r>
          </a:p>
          <a:p>
            <a:r>
              <a:t>- https://finance.sina.com.cn/wm/2026-07-13/doc-inihspyt4282488.shtml</a:t>
            </a:r>
          </a:p>
          <a:p>
            <a:r>
              <a:t>- IMA：嘉实基金郝淼交流，2026-08-21（私域资料）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判断2026是否能形成持续Alpha，不能只看阶段涨幅，需要三道检验：</a:t>
            </a:r>
          </a:p>
          <a:p>
            <a:r>
              <a:t>1. 独立于大盘：已经满足。2025/6—9沪深300上涨20.8%、医药上涨14.9%，医药跑输；2026/6—8.21沪深300下跌5.6%、医药上涨9.9%，形成约15.5个百分点超额。</a:t>
            </a:r>
          </a:p>
          <a:p>
            <a:r>
              <a:t>2. 盈利持续上修：已经满足。2026H1创新药BD约为2025H1的2.1倍；药明康德持续经营收入增长48%、经营现金流增长41.3%，并上调全年指引。</a:t>
            </a:r>
          </a:p>
          <a:p>
            <a:r>
              <a:t>3. 机构资金扩散：尚待验证。医药总仓位处于阶段低位，具备增配空间；但现有资金已集中CXO，真正的持续Alpha需要盈利型创新药接力并带动医药总仓位回升。</a:t>
            </a:r>
          </a:p>
          <a:p/>
          <a:p>
            <a:r>
              <a:t>结论：2026具备比2025更强的产业基础，但“持续Alpha”仍是条件式判断，不是无条件线性外推。</a:t>
            </a:r>
          </a:p>
          <a:p/>
          <a:p>
            <a:r>
              <a:t>注：2025与2026基金持仓报告样本口径不同，不直接比较绝对仓位，只使用各自报告中的变动方向与内部结构。</a:t>
            </a:r>
          </a:p>
          <a:p/>
          <a:p>
            <a:r>
              <a:t>[Sources]</a:t>
            </a:r>
          </a:p>
          <a:p>
            <a:r>
              <a:t>- 同花顺iFinD：000300.SH、000808.CSI、931152.CSI、884244.TI；区间2025-06-01至2025-09-30、2026-06-01至2026-08-21</a:t>
            </a:r>
          </a:p>
          <a:p>
            <a:r>
              <a:t>- https://www.drugtimes.cn/2025/07/02/chao48448yimeiyuan2025nianshangbannianzhongguochuangxinyaoch/</a:t>
            </a:r>
          </a:p>
          <a:p>
            <a:r>
              <a:t>- https://data.eastmoney.com/report/zw_industry.jshtml?infocode=AP202607051826728220</a:t>
            </a:r>
          </a:p>
          <a:p>
            <a:r>
              <a:t>- https://www.wuxiapptec.cn/news/wuxi-news/wuxi-apptec-crdmo-model-delivers-strong-results</a:t>
            </a:r>
          </a:p>
          <a:p>
            <a:r>
              <a:t>- https://data.eastmoney.com/report/info/AP202607301827476211.html</a:t>
            </a:r>
          </a:p>
          <a:p>
            <a:r>
              <a:t>- https://field.10jqka.com.cn/20251104/c672228873.shtml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配置判断：未来6—12个月，CXO仍具备更高的盈利确定性，但估值和交易拥挤度已经明显修复；创新药的胜率低于CXO，但相对估值位置和事件弹性更好。</a:t>
            </a:r>
          </a:p>
          <a:p/>
          <a:p>
            <a:r>
              <a:t>“研究框架评分”为基于产业兑现、估值位置和交易拥挤度的定性判断，仅用于比较，不是收益预测。</a:t>
            </a:r>
          </a:p>
          <a:p/>
          <a:p>
            <a:r>
              <a:t>[Sources]</a:t>
            </a:r>
          </a:p>
          <a:p>
            <a:r>
              <a:t>- 同花顺iFinD：931152.CSI、884244.TI，估值截至2026-08-21</a:t>
            </a:r>
          </a:p>
          <a:p>
            <a:r>
              <a:t>- https://www.wuxiapptec.cn/news/wuxi-news/wuxi-apptec-crdmo-model-delivers-strong-results</a:t>
            </a:r>
          </a:p>
          <a:p>
            <a:r>
              <a:t>- https://data.eastmoney.com/report/zw_industry.jshtml?infocode=AP202607051826728220</a:t>
            </a:r>
          </a:p>
          <a:p>
            <a:r>
              <a:t>- https://finance.sina.com.cn/wm/2026-07-13/doc-inihspyt4282488.shtml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1"/>
          <p:cNvSpPr>
            <a:spLocks noGrp="1"/>
          </p:cNvSpPr>
          <p:nvPr/>
        </p:nvSpPr>
        <p:spPr>
          <a:xfrm>
            <a:off x="457200" y="495300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60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360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医药正在从估值修复走向盈利周期</a:t>
            </a:r>
            <a:endParaRPr sz="3600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3" name="accent-1"/>
          <p:cNvSpPr>
            <a:spLocks noGrp="1"/>
          </p:cNvSpPr>
          <p:nvPr/>
        </p:nvSpPr>
        <p:spPr>
          <a:xfrm>
            <a:off x="457200" y="1162050"/>
            <a:ext cx="876300" cy="0"/>
          </a:xfrm>
          <a:prstGeom prst="line">
            <a:avLst/>
          </a:prstGeom>
          <a:noFill/>
          <a:ln w="47625">
            <a:solidFill>
              <a:srgbClr val="2F6BFF"/>
            </a:solidFill>
            <a:prstDash val="solid"/>
          </a:ln>
        </p:spPr>
      </p:sp>
      <p:sp>
        <p:nvSpPr>
          <p:cNvPr id="4" name="subtitle-1"/>
          <p:cNvSpPr>
            <a:spLocks noGrp="1"/>
          </p:cNvSpPr>
          <p:nvPr/>
        </p:nvSpPr>
        <p:spPr>
          <a:xfrm>
            <a:off x="457200" y="1304925"/>
            <a:ext cx="11277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72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725" b="1">
                <a:solidFill>
                  <a:srgbClr val="667085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</a:rPr>
              <a:t>创新</a:t>
            </a:r>
            <a:r>
              <a:rPr lang="zh-CN" sz="1725" b="1">
                <a:solidFill>
                  <a:srgbClr val="667085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</a:rPr>
              <a:t>药</a:t>
            </a:r>
            <a:r>
              <a:rPr sz="1725" b="1">
                <a:solidFill>
                  <a:srgbClr val="667085"/>
                </a:solidFill>
                <a:latin typeface="STHeiti Regular" panose="02010600040101010101" charset="-122"/>
                <a:ea typeface="STHeiti Regular" panose="02010600040101010101" charset="-122"/>
                <a:cs typeface="STHeiti Regular" panose="02010600040101010101" charset="-122"/>
              </a:rPr>
              <a:t>资产全球化，正在形成“BD回款—研发投入—CXO订单—利润兑现”的正循环</a:t>
            </a:r>
            <a:endParaRPr sz="1725" b="1">
              <a:solidFill>
                <a:srgbClr val="667085"/>
              </a:solidFill>
              <a:latin typeface="STHeiti Regular" panose="02010600040101010101" charset="-122"/>
              <a:ea typeface="STHeiti Regular" panose="02010600040101010101" charset="-122"/>
              <a:cs typeface="STHeiti Regular" panose="02010600040101010101" charset="-122"/>
            </a:endParaRPr>
          </a:p>
        </p:txBody>
      </p:sp>
      <p:sp>
        <p:nvSpPr>
          <p:cNvPr id="5" name="arrow-1"/>
          <p:cNvSpPr>
            <a:spLocks noGrp="1"/>
          </p:cNvSpPr>
          <p:nvPr/>
        </p:nvSpPr>
        <p:spPr>
          <a:xfrm>
            <a:off x="3800475" y="3000375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3150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3150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→</a:t>
            </a:r>
            <a:endParaRPr sz="3150" b="1">
              <a:solidFill>
                <a:srgbClr val="2F6BFF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6" name="arrow-2"/>
          <p:cNvSpPr>
            <a:spLocks noGrp="1"/>
          </p:cNvSpPr>
          <p:nvPr/>
        </p:nvSpPr>
        <p:spPr>
          <a:xfrm>
            <a:off x="7724775" y="3000375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3150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3150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→</a:t>
            </a:r>
            <a:endParaRPr sz="3150" b="1">
              <a:solidFill>
                <a:srgbClr val="2F6BFF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7" name="stage-panel-1"/>
          <p:cNvSpPr>
            <a:spLocks noGrp="1"/>
          </p:cNvSpPr>
          <p:nvPr/>
        </p:nvSpPr>
        <p:spPr>
          <a:xfrm>
            <a:off x="457200" y="1790700"/>
            <a:ext cx="3429000" cy="314325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8" name="stage-panel-2"/>
          <p:cNvSpPr>
            <a:spLocks noGrp="1"/>
          </p:cNvSpPr>
          <p:nvPr/>
        </p:nvSpPr>
        <p:spPr>
          <a:xfrm>
            <a:off x="4381500" y="1790700"/>
            <a:ext cx="3429000" cy="3143250"/>
          </a:xfrm>
          <a:prstGeom prst="roundRect">
            <a:avLst>
              <a:gd name="adj" fmla="val 3636"/>
            </a:avLst>
          </a:prstGeom>
          <a:solidFill>
            <a:srgbClr val="EAF0FF"/>
          </a:solidFill>
          <a:ln w="0">
            <a:noFill/>
            <a:prstDash val="solid"/>
          </a:ln>
        </p:spPr>
      </p:sp>
      <p:sp>
        <p:nvSpPr>
          <p:cNvPr id="9" name="stage-panel-3"/>
          <p:cNvSpPr>
            <a:spLocks noGrp="1"/>
          </p:cNvSpPr>
          <p:nvPr/>
        </p:nvSpPr>
        <p:spPr>
          <a:xfrm>
            <a:off x="8305800" y="1790700"/>
            <a:ext cx="3429000" cy="314325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0" name="stage1-head"/>
          <p:cNvSpPr>
            <a:spLocks noGrp="1"/>
          </p:cNvSpPr>
          <p:nvPr/>
        </p:nvSpPr>
        <p:spPr>
          <a:xfrm>
            <a:off x="714375" y="20383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00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800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① 资产重估</a:t>
            </a:r>
            <a:endParaRPr sz="1800" b="1">
              <a:solidFill>
                <a:srgbClr val="2F6BFF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1" name="stage1-metric-value"/>
          <p:cNvSpPr>
            <a:spLocks noGrp="1"/>
          </p:cNvSpPr>
          <p:nvPr/>
        </p:nvSpPr>
        <p:spPr>
          <a:xfrm>
            <a:off x="714375" y="254317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22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322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997亿美元</a:t>
            </a:r>
            <a:endParaRPr sz="3225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2" name="stage1-metric-label"/>
          <p:cNvSpPr>
            <a:spLocks noGrp="1"/>
          </p:cNvSpPr>
          <p:nvPr/>
        </p:nvSpPr>
        <p:spPr>
          <a:xfrm>
            <a:off x="714375" y="31051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35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2026H1中国创新药BD</a:t>
            </a:r>
            <a:endParaRPr sz="1350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  <a:p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35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约为2025全年交易额的73%</a:t>
            </a:r>
            <a:endParaRPr sz="1350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3" name="stage1-rule"/>
          <p:cNvSpPr>
            <a:spLocks noGrp="1"/>
          </p:cNvSpPr>
          <p:nvPr/>
        </p:nvSpPr>
        <p:spPr>
          <a:xfrm>
            <a:off x="714375" y="3790950"/>
            <a:ext cx="28575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14" name="stage1-meaning"/>
          <p:cNvSpPr>
            <a:spLocks noGrp="1"/>
          </p:cNvSpPr>
          <p:nvPr/>
        </p:nvSpPr>
        <p:spPr>
          <a:xfrm>
            <a:off x="714375" y="40005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65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中国创新资产</a:t>
            </a:r>
            <a:endParaRPr sz="1650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  <a:p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65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从“可选”变为“必选”</a:t>
            </a:r>
            <a:endParaRPr sz="1650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5" name="stage2-head"/>
          <p:cNvSpPr>
            <a:spLocks noGrp="1"/>
          </p:cNvSpPr>
          <p:nvPr/>
        </p:nvSpPr>
        <p:spPr>
          <a:xfrm>
            <a:off x="4638675" y="20383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00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800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② 现金回流</a:t>
            </a:r>
            <a:endParaRPr sz="1800" b="1">
              <a:solidFill>
                <a:srgbClr val="2F6BFF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6" name="stage2-metric-value"/>
          <p:cNvSpPr>
            <a:spLocks noGrp="1"/>
          </p:cNvSpPr>
          <p:nvPr/>
        </p:nvSpPr>
        <p:spPr>
          <a:xfrm>
            <a:off x="4638675" y="254317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225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3225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≈60亿美元</a:t>
            </a:r>
            <a:endParaRPr sz="3225" b="1">
              <a:solidFill>
                <a:srgbClr val="2F6BFF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7" name="stage2-metric-label"/>
          <p:cNvSpPr>
            <a:spLocks noGrp="1"/>
          </p:cNvSpPr>
          <p:nvPr/>
        </p:nvSpPr>
        <p:spPr>
          <a:xfrm>
            <a:off x="4638675" y="31051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35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2026H1 BD首付款</a:t>
            </a:r>
            <a:endParaRPr sz="1350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  <a:p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35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同比增长超过100%</a:t>
            </a:r>
            <a:endParaRPr sz="1350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8" name="stage2-rule"/>
          <p:cNvSpPr>
            <a:spLocks noGrp="1"/>
          </p:cNvSpPr>
          <p:nvPr/>
        </p:nvSpPr>
        <p:spPr>
          <a:xfrm>
            <a:off x="4638675" y="3790950"/>
            <a:ext cx="2857500" cy="0"/>
          </a:xfrm>
          <a:prstGeom prst="line">
            <a:avLst/>
          </a:prstGeom>
          <a:noFill/>
          <a:ln w="9525">
            <a:solidFill>
              <a:srgbClr val="AFC3FF"/>
            </a:solidFill>
            <a:prstDash val="solid"/>
          </a:ln>
        </p:spPr>
      </p:sp>
      <p:sp>
        <p:nvSpPr>
          <p:cNvPr id="19" name="stage2-meaning"/>
          <p:cNvSpPr>
            <a:spLocks noGrp="1"/>
          </p:cNvSpPr>
          <p:nvPr/>
        </p:nvSpPr>
        <p:spPr>
          <a:xfrm>
            <a:off x="4638675" y="40005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65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授权收入改善现金流</a:t>
            </a:r>
            <a:endParaRPr sz="1650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  <a:p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65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并反哺下一轮研发</a:t>
            </a:r>
            <a:endParaRPr sz="1650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20" name="stage3-head"/>
          <p:cNvSpPr>
            <a:spLocks noGrp="1"/>
          </p:cNvSpPr>
          <p:nvPr/>
        </p:nvSpPr>
        <p:spPr>
          <a:xfrm>
            <a:off x="8562975" y="20383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00" b="1">
                <a:solidFill>
                  <a:srgbClr val="0E9F8A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800" b="1">
                <a:solidFill>
                  <a:srgbClr val="0E9F8A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③ 盈利兑现</a:t>
            </a:r>
            <a:endParaRPr sz="1800" b="1">
              <a:solidFill>
                <a:srgbClr val="0E9F8A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21" name="stage3-metric-value"/>
          <p:cNvSpPr>
            <a:spLocks noGrp="1"/>
          </p:cNvSpPr>
          <p:nvPr/>
        </p:nvSpPr>
        <p:spPr>
          <a:xfrm>
            <a:off x="8562975" y="254317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225" b="1">
                <a:solidFill>
                  <a:srgbClr val="0E9F8A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3225" b="1">
                <a:solidFill>
                  <a:srgbClr val="0E9F8A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664亿元</a:t>
            </a:r>
            <a:endParaRPr sz="3225" b="1">
              <a:solidFill>
                <a:srgbClr val="0E9F8A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22" name="stage3-metric-label"/>
          <p:cNvSpPr>
            <a:spLocks noGrp="1"/>
          </p:cNvSpPr>
          <p:nvPr/>
        </p:nvSpPr>
        <p:spPr>
          <a:xfrm>
            <a:off x="8562975" y="31051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35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药明康德持续经营业务在手订单</a:t>
            </a:r>
            <a:endParaRPr sz="1350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  <a:p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35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同比增长25.2%</a:t>
            </a:r>
            <a:endParaRPr sz="1350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23" name="stage3-rule"/>
          <p:cNvSpPr>
            <a:spLocks noGrp="1"/>
          </p:cNvSpPr>
          <p:nvPr/>
        </p:nvSpPr>
        <p:spPr>
          <a:xfrm>
            <a:off x="8562975" y="3790950"/>
            <a:ext cx="28575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4" name="stage3-meaning"/>
          <p:cNvSpPr>
            <a:spLocks noGrp="1"/>
          </p:cNvSpPr>
          <p:nvPr/>
        </p:nvSpPr>
        <p:spPr>
          <a:xfrm>
            <a:off x="8562975" y="40005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65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持续经营收入 +48%</a:t>
            </a:r>
            <a:endParaRPr sz="1650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  <a:p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65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经营现金流 +41.3%</a:t>
            </a:r>
            <a:endParaRPr sz="1650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25" name="thesis-banner-1"/>
          <p:cNvSpPr>
            <a:spLocks noGrp="1"/>
          </p:cNvSpPr>
          <p:nvPr/>
        </p:nvSpPr>
        <p:spPr>
          <a:xfrm>
            <a:off x="457200" y="5191125"/>
            <a:ext cx="11277600" cy="742950"/>
          </a:xfrm>
          <a:prstGeom prst="roundRect">
            <a:avLst>
              <a:gd name="adj" fmla="val 10256"/>
            </a:avLst>
          </a:prstGeom>
          <a:solidFill>
            <a:srgbClr val="101828"/>
          </a:solidFill>
          <a:ln w="0">
            <a:noFill/>
            <a:prstDash val="solid"/>
          </a:ln>
        </p:spPr>
      </p:sp>
      <p:sp>
        <p:nvSpPr>
          <p:cNvPr id="26" name="thesis-1"/>
          <p:cNvSpPr>
            <a:spLocks noGrp="1"/>
          </p:cNvSpPr>
          <p:nvPr/>
        </p:nvSpPr>
        <p:spPr>
          <a:xfrm>
            <a:off x="733425" y="5381625"/>
            <a:ext cx="1072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2100" b="1">
                <a:solidFill>
                  <a:srgbClr val="FFFF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2100" b="1">
                <a:solidFill>
                  <a:srgbClr val="FFFF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行业Beta</a:t>
            </a:r>
            <a:r>
              <a:rPr lang="zh-CN" sz="2100" b="1">
                <a:solidFill>
                  <a:srgbClr val="FFFF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性机会成立</a:t>
            </a:r>
            <a:r>
              <a:rPr lang="en-US" altLang="zh-CN" sz="2100" b="1">
                <a:solidFill>
                  <a:srgbClr val="FFFF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：</a:t>
            </a:r>
            <a:r>
              <a:rPr sz="2100" b="1">
                <a:solidFill>
                  <a:srgbClr val="FFFF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2026年开始交易盈利与估值的“戴维斯双击”</a:t>
            </a:r>
            <a:endParaRPr sz="2100" b="1">
              <a:solidFill>
                <a:srgbClr val="FFFFFF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27" name="footer-rule-1"/>
          <p:cNvSpPr>
            <a:spLocks noGrp="1"/>
          </p:cNvSpPr>
          <p:nvPr/>
        </p:nvSpPr>
        <p:spPr>
          <a:xfrm>
            <a:off x="457200" y="6200775"/>
            <a:ext cx="112776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8" name="source-1"/>
          <p:cNvSpPr>
            <a:spLocks noGrp="1"/>
          </p:cNvSpPr>
          <p:nvPr/>
        </p:nvSpPr>
        <p:spPr>
          <a:xfrm>
            <a:off x="457200" y="6286500"/>
            <a:ext cx="10620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来源：国家医保局；国金</a:t>
            </a:r>
            <a:r>
              <a:rPr lang="zh-CN"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证券</a:t>
            </a:r>
            <a:r>
              <a:rPr lang="en-US" altLang="zh-CN"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；</a:t>
            </a:r>
            <a:r>
              <a:rPr lang="zh-CN" altLang="en-US"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浙商证券</a:t>
            </a:r>
            <a:r>
              <a:rPr lang="en-US" altLang="zh-CN"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；</a:t>
            </a:r>
            <a:r>
              <a:rPr lang="zh-CN" altLang="en-US"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药明康德</a:t>
            </a:r>
            <a:endParaRPr lang="zh-CN" altLang="en-US" sz="865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29" name="page-1"/>
          <p:cNvSpPr>
            <a:spLocks noGrp="1"/>
          </p:cNvSpPr>
          <p:nvPr/>
        </p:nvSpPr>
        <p:spPr>
          <a:xfrm>
            <a:off x="11239500" y="62865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975" b="1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975" b="1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01</a:t>
            </a:r>
            <a:endParaRPr sz="975" b="1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2"/>
          <p:cNvSpPr>
            <a:spLocks noGrp="1"/>
          </p:cNvSpPr>
          <p:nvPr/>
        </p:nvSpPr>
        <p:spPr>
          <a:xfrm>
            <a:off x="457200" y="495300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60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360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2026年医药行情大概率强于2025年Q3</a:t>
            </a:r>
            <a:endParaRPr sz="3600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3" name="accent-2"/>
          <p:cNvSpPr>
            <a:spLocks noGrp="1"/>
          </p:cNvSpPr>
          <p:nvPr/>
        </p:nvSpPr>
        <p:spPr>
          <a:xfrm>
            <a:off x="457200" y="1162050"/>
            <a:ext cx="876300" cy="0"/>
          </a:xfrm>
          <a:prstGeom prst="line">
            <a:avLst/>
          </a:prstGeom>
          <a:noFill/>
          <a:ln w="47625">
            <a:solidFill>
              <a:srgbClr val="2F6BFF"/>
            </a:solidFill>
            <a:prstDash val="solid"/>
          </a:ln>
        </p:spPr>
      </p:sp>
      <p:sp>
        <p:nvSpPr>
          <p:cNvPr id="5" name="chart-caption-2"/>
          <p:cNvSpPr>
            <a:spLocks noGrp="1"/>
          </p:cNvSpPr>
          <p:nvPr/>
        </p:nvSpPr>
        <p:spPr>
          <a:xfrm>
            <a:off x="457200" y="12763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1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275" b="1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为什么2025更像轮动，2026更可能形成持续Alpha</a:t>
            </a:r>
            <a:endParaRPr sz="1275" b="1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7" name="logic-card-1"/>
          <p:cNvSpPr>
            <a:spLocks noGrp="1"/>
          </p:cNvSpPr>
          <p:nvPr/>
        </p:nvSpPr>
        <p:spPr>
          <a:xfrm>
            <a:off x="7029450" y="1333500"/>
            <a:ext cx="4667250" cy="1162050"/>
          </a:xfrm>
          <a:prstGeom prst="roundRect">
            <a:avLst>
              <a:gd name="adj" fmla="val 9836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8" name="logic-title-1"/>
          <p:cNvSpPr>
            <a:spLocks noGrp="1"/>
          </p:cNvSpPr>
          <p:nvPr/>
        </p:nvSpPr>
        <p:spPr>
          <a:xfrm>
            <a:off x="7296150" y="15335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75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575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① 独立于大盘</a:t>
            </a:r>
            <a:endParaRPr sz="1575" b="1">
              <a:solidFill>
                <a:srgbClr val="2F6BFF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9" name="logic-main-1"/>
          <p:cNvSpPr>
            <a:spLocks noGrp="1"/>
          </p:cNvSpPr>
          <p:nvPr/>
        </p:nvSpPr>
        <p:spPr>
          <a:xfrm>
            <a:off x="7296150" y="1876425"/>
            <a:ext cx="4048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7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87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已满足  ✓</a:t>
            </a:r>
            <a:endParaRPr sz="1875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0" name="logic-sub-1"/>
          <p:cNvSpPr>
            <a:spLocks noGrp="1"/>
          </p:cNvSpPr>
          <p:nvPr/>
        </p:nvSpPr>
        <p:spPr>
          <a:xfrm>
            <a:off x="7296150" y="2228850"/>
            <a:ext cx="4048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0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20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大盘-5.6%，医药+9.9%；超额+15.5pp</a:t>
            </a:r>
            <a:endParaRPr sz="1200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1" name="logic-card-2"/>
          <p:cNvSpPr>
            <a:spLocks noGrp="1"/>
          </p:cNvSpPr>
          <p:nvPr/>
        </p:nvSpPr>
        <p:spPr>
          <a:xfrm>
            <a:off x="7029450" y="2657475"/>
            <a:ext cx="4667250" cy="1162050"/>
          </a:xfrm>
          <a:prstGeom prst="roundRect">
            <a:avLst>
              <a:gd name="adj" fmla="val 9836"/>
            </a:avLst>
          </a:prstGeom>
          <a:solidFill>
            <a:srgbClr val="EAF0FF"/>
          </a:solidFill>
          <a:ln w="0">
            <a:noFill/>
            <a:prstDash val="solid"/>
          </a:ln>
        </p:spPr>
      </p:sp>
      <p:sp>
        <p:nvSpPr>
          <p:cNvPr id="12" name="logic-title-2"/>
          <p:cNvSpPr>
            <a:spLocks noGrp="1"/>
          </p:cNvSpPr>
          <p:nvPr/>
        </p:nvSpPr>
        <p:spPr>
          <a:xfrm>
            <a:off x="7296150" y="28575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75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575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② 盈利持续上修</a:t>
            </a:r>
            <a:endParaRPr sz="1575" b="1">
              <a:solidFill>
                <a:srgbClr val="2F6BFF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3" name="logic-main-2"/>
          <p:cNvSpPr>
            <a:spLocks noGrp="1"/>
          </p:cNvSpPr>
          <p:nvPr/>
        </p:nvSpPr>
        <p:spPr>
          <a:xfrm>
            <a:off x="7296150" y="3200400"/>
            <a:ext cx="4048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7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87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已满足  ✓</a:t>
            </a:r>
            <a:endParaRPr sz="1875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4" name="logic-sub-2"/>
          <p:cNvSpPr>
            <a:spLocks noGrp="1"/>
          </p:cNvSpPr>
          <p:nvPr/>
        </p:nvSpPr>
        <p:spPr>
          <a:xfrm>
            <a:off x="7296150" y="3552825"/>
            <a:ext cx="4048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0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200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BD翻倍，收入与现金流进入报表</a:t>
            </a:r>
            <a:endParaRPr sz="1200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5" name="logic-card-3"/>
          <p:cNvSpPr>
            <a:spLocks noGrp="1"/>
          </p:cNvSpPr>
          <p:nvPr/>
        </p:nvSpPr>
        <p:spPr>
          <a:xfrm>
            <a:off x="7029450" y="3981450"/>
            <a:ext cx="4667250" cy="1419225"/>
          </a:xfrm>
          <a:prstGeom prst="roundRect">
            <a:avLst>
              <a:gd name="adj" fmla="val 8054"/>
            </a:avLst>
          </a:prstGeom>
          <a:solidFill>
            <a:srgbClr val="101828"/>
          </a:solidFill>
          <a:ln w="0">
            <a:noFill/>
            <a:prstDash val="solid"/>
          </a:ln>
        </p:spPr>
      </p:sp>
      <p:sp>
        <p:nvSpPr>
          <p:cNvPr id="16" name="logic-title-3"/>
          <p:cNvSpPr>
            <a:spLocks noGrp="1"/>
          </p:cNvSpPr>
          <p:nvPr/>
        </p:nvSpPr>
        <p:spPr>
          <a:xfrm>
            <a:off x="7296150" y="41814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575" b="1">
                <a:solidFill>
                  <a:srgbClr val="6DCBF4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575" b="1">
                <a:solidFill>
                  <a:srgbClr val="6DCBF4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③ </a:t>
            </a:r>
            <a:r>
              <a:rPr lang="zh-CN" sz="1575" b="1">
                <a:solidFill>
                  <a:srgbClr val="6DCBF4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行情持续</a:t>
            </a:r>
            <a:r>
              <a:rPr sz="1575" b="1">
                <a:solidFill>
                  <a:srgbClr val="6DCBF4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扩散</a:t>
            </a:r>
            <a:endParaRPr sz="1575" b="1">
              <a:solidFill>
                <a:srgbClr val="6DCBF4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7" name="logic-main-3"/>
          <p:cNvSpPr>
            <a:spLocks noGrp="1"/>
          </p:cNvSpPr>
          <p:nvPr/>
        </p:nvSpPr>
        <p:spPr>
          <a:xfrm>
            <a:off x="7296150" y="4524375"/>
            <a:ext cx="4048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00" b="1">
                <a:solidFill>
                  <a:srgbClr val="FFFF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800" b="1">
                <a:solidFill>
                  <a:srgbClr val="FFFF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尚待验证 </a:t>
            </a:r>
            <a:endParaRPr sz="1800" b="1">
              <a:solidFill>
                <a:srgbClr val="FFFFFF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8" name="logic-sub-3"/>
          <p:cNvSpPr>
            <a:spLocks noGrp="1"/>
          </p:cNvSpPr>
          <p:nvPr/>
        </p:nvSpPr>
        <p:spPr>
          <a:xfrm>
            <a:off x="7296150" y="4876800"/>
            <a:ext cx="4048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1">
                <a:solidFill>
                  <a:srgbClr val="E4E7EC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275" b="1">
                <a:solidFill>
                  <a:srgbClr val="E4E7EC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总仓位低，但CXO已局部拥挤</a:t>
            </a:r>
            <a:endParaRPr sz="1275" b="1">
              <a:solidFill>
                <a:srgbClr val="E4E7EC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  <a:p>
            <a:pPr algn="l">
              <a:lnSpc>
                <a:spcPct val="95000"/>
              </a:lnSpc>
              <a:buNone/>
              <a:defRPr sz="1275" b="1">
                <a:solidFill>
                  <a:srgbClr val="E4E7EC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275" b="1">
                <a:solidFill>
                  <a:srgbClr val="E4E7EC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持续性取决于创新药接力</a:t>
            </a:r>
            <a:endParaRPr sz="1275" b="1">
              <a:solidFill>
                <a:srgbClr val="E4E7EC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9" name="footer-rule-2"/>
          <p:cNvSpPr>
            <a:spLocks noGrp="1"/>
          </p:cNvSpPr>
          <p:nvPr/>
        </p:nvSpPr>
        <p:spPr>
          <a:xfrm>
            <a:off x="419100" y="5781675"/>
            <a:ext cx="112776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0" name="source-2"/>
          <p:cNvSpPr>
            <a:spLocks noGrp="1"/>
          </p:cNvSpPr>
          <p:nvPr/>
        </p:nvSpPr>
        <p:spPr>
          <a:xfrm>
            <a:off x="419100" y="5867400"/>
            <a:ext cx="10620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来源：同花顺iFinD；国金证券</a:t>
            </a:r>
            <a:r>
              <a:rPr lang="en-US"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；</a:t>
            </a:r>
            <a:r>
              <a:rPr lang="zh-CN" altLang="en-US"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浙商证券</a:t>
            </a:r>
            <a:r>
              <a:rPr lang="en-US" altLang="zh-CN"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；</a:t>
            </a:r>
            <a:r>
              <a:rPr lang="zh-CN" altLang="en-US"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中泰证券</a:t>
            </a:r>
            <a:r>
              <a:rPr lang="en-US" altLang="zh-CN"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；</a:t>
            </a:r>
            <a:r>
              <a:rPr lang="zh-CN" altLang="en-US"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药明康德</a:t>
            </a:r>
            <a:endParaRPr lang="zh-CN" altLang="en-US" sz="865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21" name="page-2"/>
          <p:cNvSpPr>
            <a:spLocks noGrp="1"/>
          </p:cNvSpPr>
          <p:nvPr/>
        </p:nvSpPr>
        <p:spPr>
          <a:xfrm>
            <a:off x="11201400" y="58674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975" b="1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975" b="1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02</a:t>
            </a:r>
            <a:endParaRPr sz="975" b="1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graphicFrame>
        <p:nvGraphicFramePr>
          <p:cNvPr id="44" name="表格 43"/>
          <p:cNvGraphicFramePr/>
          <p:nvPr>
            <p:custDataLst>
              <p:tags r:id="rId1"/>
            </p:custDataLst>
          </p:nvPr>
        </p:nvGraphicFramePr>
        <p:xfrm>
          <a:off x="361950" y="1543050"/>
          <a:ext cx="6236335" cy="3900805"/>
        </p:xfrm>
        <a:graphic>
          <a:graphicData uri="http://schemas.openxmlformats.org/drawingml/2006/table">
            <a:tbl>
              <a:tblPr/>
              <a:tblGrid>
                <a:gridCol w="1113790"/>
                <a:gridCol w="2240280"/>
                <a:gridCol w="2882265"/>
              </a:tblGrid>
              <a:tr h="4140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检验</a:t>
                      </a:r>
                      <a:endParaRPr sz="1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2025Q3</a:t>
                      </a:r>
                      <a:endParaRPr sz="1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2026本轮</a:t>
                      </a:r>
                      <a:endParaRPr sz="1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01828"/>
                    </a:solidFill>
                  </a:tcPr>
                </a:tc>
              </a:tr>
              <a:tr h="87185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828"/>
                          </a:solidFill>
                        </a:rPr>
                        <a:t>市场环境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1828"/>
                          </a:solidFill>
                        </a:rPr>
                        <a:t>沪深300 +20.8%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  <a:p>
                      <a:pPr algn="ctr"/>
                      <a:r>
                        <a:rPr sz="1400">
                          <a:solidFill>
                            <a:srgbClr val="101828"/>
                          </a:solidFill>
                        </a:rPr>
                        <a:t>医药 +14.9%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828"/>
                          </a:solidFill>
                        </a:rPr>
                        <a:t>沪深300 -5.6%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  <a:p>
                      <a:pPr algn="ctr"/>
                      <a:r>
                        <a:rPr sz="1400" b="1">
                          <a:solidFill>
                            <a:srgbClr val="101828"/>
                          </a:solidFill>
                        </a:rPr>
                        <a:t>医药 +9.9%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>
                    <a:solidFill>
                      <a:srgbClr val="EAF0FF"/>
                    </a:solidFill>
                  </a:tcPr>
                </a:tc>
              </a:tr>
              <a:tr h="87185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828"/>
                          </a:solidFill>
                        </a:rPr>
                        <a:t>行情节奏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1828"/>
                          </a:solidFill>
                        </a:rPr>
                        <a:t>CXO 7月 +29.3%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  <a:p>
                      <a:pPr algn="ctr"/>
                      <a:r>
                        <a:rPr sz="1400">
                          <a:solidFill>
                            <a:srgbClr val="101828"/>
                          </a:solidFill>
                        </a:rPr>
                        <a:t>8–9月降至低个位数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828"/>
                          </a:solidFill>
                        </a:rPr>
                        <a:t>创新药6–8月连续为正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  <a:p>
                      <a:pPr algn="ctr"/>
                      <a:r>
                        <a:rPr sz="1400" b="1">
                          <a:solidFill>
                            <a:srgbClr val="101828"/>
                          </a:solidFill>
                        </a:rPr>
                        <a:t>+4.5% / +4.8% / +5.9%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>
                    <a:solidFill>
                      <a:srgbClr val="EAF0FF"/>
                    </a:solidFill>
                  </a:tcPr>
                </a:tc>
              </a:tr>
              <a:tr h="87185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828"/>
                          </a:solidFill>
                        </a:rPr>
                        <a:t>产业盈利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1828"/>
                          </a:solidFill>
                        </a:rPr>
                        <a:t>政策+BD打开预期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  <a:p>
                      <a:pPr algn="ctr"/>
                      <a:r>
                        <a:rPr sz="1400">
                          <a:solidFill>
                            <a:srgbClr val="101828"/>
                          </a:solidFill>
                        </a:rPr>
                        <a:t>CXO订单初现拐点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828"/>
                          </a:solidFill>
                        </a:rPr>
                        <a:t>BD规模约2.1×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  <a:p>
                      <a:pPr algn="ctr"/>
                      <a:r>
                        <a:rPr sz="1400" b="1">
                          <a:solidFill>
                            <a:srgbClr val="101828"/>
                          </a:solidFill>
                        </a:rPr>
                        <a:t>收入+48% / 现金流+41%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>
                    <a:solidFill>
                      <a:srgbClr val="EAF0FF"/>
                    </a:solidFill>
                  </a:tcPr>
                </a:tc>
              </a:tr>
              <a:tr h="8712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828"/>
                          </a:solidFill>
                        </a:rPr>
                        <a:t>机构交易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01828"/>
                          </a:solidFill>
                        </a:rPr>
                        <a:t>主动基金医药仓位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  <a:p>
                      <a:pPr algn="ctr"/>
                      <a:r>
                        <a:rPr sz="1400">
                          <a:solidFill>
                            <a:srgbClr val="101828"/>
                          </a:solidFill>
                        </a:rPr>
                        <a:t>Q3环比 -0.39pp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828"/>
                          </a:solidFill>
                        </a:rPr>
                        <a:t>医药总仓位6.54%低位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  <a:p>
                      <a:pPr algn="ctr"/>
                      <a:r>
                        <a:rPr sz="1400" b="1">
                          <a:solidFill>
                            <a:srgbClr val="101828"/>
                          </a:solidFill>
                        </a:rPr>
                        <a:t>但CXO内部占28.2%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>
                    <a:solidFill>
                      <a:srgbClr val="EA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3"/>
          <p:cNvSpPr>
            <a:spLocks noGrp="1"/>
          </p:cNvSpPr>
          <p:nvPr/>
        </p:nvSpPr>
        <p:spPr>
          <a:xfrm>
            <a:off x="457200" y="495300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60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360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CXO定胜率，创新药决定</a:t>
            </a:r>
            <a:r>
              <a:rPr lang="zh-CN" sz="3600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赔率</a:t>
            </a:r>
            <a:endParaRPr lang="zh-CN" sz="3600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3" name="accent-3"/>
          <p:cNvSpPr>
            <a:spLocks noGrp="1"/>
          </p:cNvSpPr>
          <p:nvPr/>
        </p:nvSpPr>
        <p:spPr>
          <a:xfrm>
            <a:off x="457200" y="1162050"/>
            <a:ext cx="876300" cy="0"/>
          </a:xfrm>
          <a:prstGeom prst="line">
            <a:avLst/>
          </a:prstGeom>
          <a:noFill/>
          <a:ln w="47625">
            <a:solidFill>
              <a:srgbClr val="2F6BFF"/>
            </a:solidFill>
            <a:prstDash val="solid"/>
          </a:ln>
        </p:spPr>
      </p:sp>
      <p:sp>
        <p:nvSpPr>
          <p:cNvPr id="5" name="cxo-panel"/>
          <p:cNvSpPr>
            <a:spLocks noGrp="1"/>
          </p:cNvSpPr>
          <p:nvPr/>
        </p:nvSpPr>
        <p:spPr>
          <a:xfrm>
            <a:off x="457200" y="1340485"/>
            <a:ext cx="5381625" cy="2381250"/>
          </a:xfrm>
          <a:prstGeom prst="roundRect">
            <a:avLst>
              <a:gd name="adj" fmla="val 4800"/>
            </a:avLst>
          </a:prstGeom>
          <a:solidFill>
            <a:srgbClr val="EAF0FF"/>
          </a:solidFill>
          <a:ln w="0">
            <a:noFill/>
            <a:prstDash val="solid"/>
          </a:ln>
        </p:spPr>
      </p:sp>
      <p:sp>
        <p:nvSpPr>
          <p:cNvPr id="6" name="cxo-head"/>
          <p:cNvSpPr>
            <a:spLocks noGrp="1"/>
          </p:cNvSpPr>
          <p:nvPr/>
        </p:nvSpPr>
        <p:spPr>
          <a:xfrm>
            <a:off x="723900" y="155003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025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2025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CXO｜更高胜率</a:t>
            </a:r>
            <a:endParaRPr sz="2025" b="1">
              <a:solidFill>
                <a:srgbClr val="2F6BFF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7" name="cxo-value1"/>
          <p:cNvSpPr>
            <a:spLocks noGrp="1"/>
          </p:cNvSpPr>
          <p:nvPr/>
        </p:nvSpPr>
        <p:spPr>
          <a:xfrm>
            <a:off x="723900" y="202628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22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322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664亿元</a:t>
            </a:r>
            <a:endParaRPr sz="3225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8" name="cxo-label1"/>
          <p:cNvSpPr>
            <a:spLocks noGrp="1"/>
          </p:cNvSpPr>
          <p:nvPr/>
        </p:nvSpPr>
        <p:spPr>
          <a:xfrm>
            <a:off x="723900" y="2540635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27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在手订单｜同比 +25.2%</a:t>
            </a:r>
            <a:endParaRPr sz="1275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9" name="cxo-value2"/>
          <p:cNvSpPr>
            <a:spLocks noGrp="1"/>
          </p:cNvSpPr>
          <p:nvPr/>
        </p:nvSpPr>
        <p:spPr>
          <a:xfrm>
            <a:off x="3257550" y="202628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225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3225" b="1">
                <a:solidFill>
                  <a:srgbClr val="2F6B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35.4×</a:t>
            </a:r>
            <a:endParaRPr sz="3225" b="1">
              <a:solidFill>
                <a:srgbClr val="2F6BFF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0" name="cxo-label2"/>
          <p:cNvSpPr>
            <a:spLocks noGrp="1"/>
          </p:cNvSpPr>
          <p:nvPr/>
        </p:nvSpPr>
        <p:spPr>
          <a:xfrm>
            <a:off x="3257550" y="2540635"/>
            <a:ext cx="2143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27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PE｜2025/9约36.8×</a:t>
            </a:r>
            <a:endParaRPr sz="1275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1" name="cxo-rule"/>
          <p:cNvSpPr>
            <a:spLocks noGrp="1"/>
          </p:cNvSpPr>
          <p:nvPr/>
        </p:nvSpPr>
        <p:spPr>
          <a:xfrm>
            <a:off x="723900" y="2959735"/>
            <a:ext cx="4848225" cy="0"/>
          </a:xfrm>
          <a:prstGeom prst="line">
            <a:avLst/>
          </a:prstGeom>
          <a:noFill/>
          <a:ln w="9525">
            <a:solidFill>
              <a:srgbClr val="B8C8FF"/>
            </a:solidFill>
            <a:prstDash val="solid"/>
          </a:ln>
        </p:spPr>
      </p:sp>
      <p:sp>
        <p:nvSpPr>
          <p:cNvPr id="12" name="cxo-bottom"/>
          <p:cNvSpPr>
            <a:spLocks noGrp="1"/>
          </p:cNvSpPr>
          <p:nvPr/>
        </p:nvSpPr>
        <p:spPr>
          <a:xfrm>
            <a:off x="723900" y="314071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42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收入、订单、现金流均已验证</a:t>
            </a:r>
            <a:endParaRPr sz="1425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  <a:p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42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但PE处于近一年约82%分位</a:t>
            </a:r>
            <a:endParaRPr sz="1425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3" name="drug-panel"/>
          <p:cNvSpPr>
            <a:spLocks noGrp="1"/>
          </p:cNvSpPr>
          <p:nvPr/>
        </p:nvSpPr>
        <p:spPr>
          <a:xfrm>
            <a:off x="6353175" y="1340485"/>
            <a:ext cx="5381625" cy="2381250"/>
          </a:xfrm>
          <a:prstGeom prst="roundRect">
            <a:avLst>
              <a:gd name="adj" fmla="val 4800"/>
            </a:avLst>
          </a:prstGeom>
          <a:solidFill>
            <a:srgbClr val="FFF5DF"/>
          </a:solidFill>
          <a:ln w="0">
            <a:noFill/>
            <a:prstDash val="solid"/>
          </a:ln>
        </p:spPr>
      </p:sp>
      <p:sp>
        <p:nvSpPr>
          <p:cNvPr id="14" name="drug-head"/>
          <p:cNvSpPr>
            <a:spLocks noGrp="1"/>
          </p:cNvSpPr>
          <p:nvPr/>
        </p:nvSpPr>
        <p:spPr>
          <a:xfrm>
            <a:off x="6619875" y="155003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025" b="1">
                <a:solidFill>
                  <a:srgbClr val="F59E0B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2025" b="1">
                <a:solidFill>
                  <a:srgbClr val="F59E0B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创新药｜更高赔率</a:t>
            </a:r>
            <a:endParaRPr sz="2025" b="1">
              <a:solidFill>
                <a:srgbClr val="F59E0B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5" name="drug-value1"/>
          <p:cNvSpPr>
            <a:spLocks noGrp="1"/>
          </p:cNvSpPr>
          <p:nvPr/>
        </p:nvSpPr>
        <p:spPr>
          <a:xfrm>
            <a:off x="6619875" y="2026285"/>
            <a:ext cx="2238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22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322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997亿美元</a:t>
            </a:r>
            <a:endParaRPr sz="3225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6" name="drug-label1"/>
          <p:cNvSpPr>
            <a:spLocks noGrp="1"/>
          </p:cNvSpPr>
          <p:nvPr/>
        </p:nvSpPr>
        <p:spPr>
          <a:xfrm>
            <a:off x="6619875" y="2540635"/>
            <a:ext cx="2524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27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2026H1 BD｜2025全年73%</a:t>
            </a:r>
            <a:endParaRPr sz="1275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7" name="drug-value2"/>
          <p:cNvSpPr>
            <a:spLocks noGrp="1"/>
          </p:cNvSpPr>
          <p:nvPr/>
        </p:nvSpPr>
        <p:spPr>
          <a:xfrm>
            <a:off x="9315450" y="202628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225" b="1">
                <a:solidFill>
                  <a:srgbClr val="F59E0B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3225" b="1">
                <a:solidFill>
                  <a:srgbClr val="F59E0B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50.4×</a:t>
            </a:r>
            <a:endParaRPr sz="3225" b="1">
              <a:solidFill>
                <a:srgbClr val="F59E0B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8" name="drug-label2"/>
          <p:cNvSpPr>
            <a:spLocks noGrp="1"/>
          </p:cNvSpPr>
          <p:nvPr/>
        </p:nvSpPr>
        <p:spPr>
          <a:xfrm>
            <a:off x="9315450" y="2540635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27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PE｜2025/9约58×</a:t>
            </a:r>
            <a:endParaRPr sz="1275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19" name="drug-rule"/>
          <p:cNvSpPr>
            <a:spLocks noGrp="1"/>
          </p:cNvSpPr>
          <p:nvPr/>
        </p:nvSpPr>
        <p:spPr>
          <a:xfrm>
            <a:off x="6619875" y="2959735"/>
            <a:ext cx="4848225" cy="0"/>
          </a:xfrm>
          <a:prstGeom prst="line">
            <a:avLst/>
          </a:prstGeom>
          <a:noFill/>
          <a:ln w="9525">
            <a:solidFill>
              <a:srgbClr val="F5D28C"/>
            </a:solidFill>
            <a:prstDash val="solid"/>
          </a:ln>
        </p:spPr>
      </p:sp>
      <p:sp>
        <p:nvSpPr>
          <p:cNvPr id="20" name="drug-bottom"/>
          <p:cNvSpPr>
            <a:spLocks noGrp="1"/>
          </p:cNvSpPr>
          <p:nvPr/>
        </p:nvSpPr>
        <p:spPr>
          <a:xfrm>
            <a:off x="6619875" y="314071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42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估值尚未回到2025高点</a:t>
            </a:r>
            <a:endParaRPr sz="1425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  <a:p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425" b="1">
                <a:solidFill>
                  <a:srgbClr val="101828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盈利型资产有望承接下一棒</a:t>
            </a:r>
            <a:endParaRPr sz="1425" b="1">
              <a:solidFill>
                <a:srgbClr val="101828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21" name="score-caption"/>
          <p:cNvSpPr>
            <a:spLocks noGrp="1"/>
          </p:cNvSpPr>
          <p:nvPr/>
        </p:nvSpPr>
        <p:spPr>
          <a:xfrm>
            <a:off x="523875" y="392176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275" b="1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275" b="1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研究框架评分</a:t>
            </a:r>
            <a:endParaRPr sz="1275" b="1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graphicFrame>
        <p:nvGraphicFramePr>
          <p:cNvPr id="53" name="Chart"/>
          <p:cNvGraphicFramePr/>
          <p:nvPr/>
        </p:nvGraphicFramePr>
        <p:xfrm>
          <a:off x="551180" y="4369435"/>
          <a:ext cx="7239000" cy="1476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" name="final-banner"/>
          <p:cNvSpPr>
            <a:spLocks noGrp="1"/>
          </p:cNvSpPr>
          <p:nvPr/>
        </p:nvSpPr>
        <p:spPr>
          <a:xfrm>
            <a:off x="8020050" y="4140835"/>
            <a:ext cx="3714750" cy="1495425"/>
          </a:xfrm>
          <a:prstGeom prst="roundRect">
            <a:avLst>
              <a:gd name="adj" fmla="val 6369"/>
            </a:avLst>
          </a:prstGeom>
          <a:solidFill>
            <a:srgbClr val="101828"/>
          </a:solidFill>
          <a:ln w="0">
            <a:noFill/>
            <a:prstDash val="solid"/>
          </a:ln>
        </p:spPr>
      </p:sp>
      <p:sp>
        <p:nvSpPr>
          <p:cNvPr id="24" name="final-banner-kicker"/>
          <p:cNvSpPr>
            <a:spLocks noGrp="1"/>
          </p:cNvSpPr>
          <p:nvPr/>
        </p:nvSpPr>
        <p:spPr>
          <a:xfrm>
            <a:off x="8286750" y="4359910"/>
            <a:ext cx="3190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350" b="1">
                <a:solidFill>
                  <a:srgbClr val="6DCBF4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350" b="1">
                <a:solidFill>
                  <a:srgbClr val="6DCBF4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本轮能否超过2025</a:t>
            </a:r>
            <a:endParaRPr sz="1350" b="1">
              <a:solidFill>
                <a:srgbClr val="6DCBF4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25" name="final-banner-main"/>
          <p:cNvSpPr>
            <a:spLocks noGrp="1"/>
          </p:cNvSpPr>
          <p:nvPr/>
        </p:nvSpPr>
        <p:spPr>
          <a:xfrm>
            <a:off x="8286750" y="4683760"/>
            <a:ext cx="319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19"/>
          </a:bodyPr>
          <a:lstStyle/>
          <a:p>
            <a:pPr algn="l">
              <a:lnSpc>
                <a:spcPct val="95000"/>
              </a:lnSpc>
              <a:buNone/>
              <a:defRPr sz="2325" b="1">
                <a:solidFill>
                  <a:srgbClr val="FFFF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2325" b="1">
                <a:solidFill>
                  <a:srgbClr val="FFFF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取决于创新药</a:t>
            </a:r>
            <a:endParaRPr sz="2325" b="1">
              <a:solidFill>
                <a:srgbClr val="FFFFFF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  <a:p>
            <a:pPr algn="l">
              <a:lnSpc>
                <a:spcPct val="95000"/>
              </a:lnSpc>
              <a:buNone/>
              <a:defRPr sz="2325" b="1">
                <a:solidFill>
                  <a:srgbClr val="FFFF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2325" b="1">
                <a:solidFill>
                  <a:srgbClr val="FFFFFF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能否接力CXO</a:t>
            </a:r>
            <a:endParaRPr sz="2325" b="1">
              <a:solidFill>
                <a:srgbClr val="FFFFFF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26" name="final-banner-sub"/>
          <p:cNvSpPr>
            <a:spLocks noGrp="1"/>
          </p:cNvSpPr>
          <p:nvPr/>
        </p:nvSpPr>
        <p:spPr>
          <a:xfrm>
            <a:off x="8286750" y="5350510"/>
            <a:ext cx="3190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90" b="0">
                <a:solidFill>
                  <a:srgbClr val="E4E7EC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1090" b="0">
                <a:solidFill>
                  <a:srgbClr val="E4E7EC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CXO持有、不追斜率；增量关注盈利与数据催化</a:t>
            </a:r>
            <a:endParaRPr sz="1090" b="0">
              <a:solidFill>
                <a:srgbClr val="E4E7EC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27" name="footer-rule-3"/>
          <p:cNvSpPr>
            <a:spLocks noGrp="1"/>
          </p:cNvSpPr>
          <p:nvPr/>
        </p:nvSpPr>
        <p:spPr>
          <a:xfrm>
            <a:off x="457200" y="5788660"/>
            <a:ext cx="1127760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28" name="source-3"/>
          <p:cNvSpPr>
            <a:spLocks noGrp="1"/>
          </p:cNvSpPr>
          <p:nvPr/>
        </p:nvSpPr>
        <p:spPr>
          <a:xfrm>
            <a:off x="457200" y="5874385"/>
            <a:ext cx="10620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865" b="0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来源：同花顺iFinD（估值截至2026/8/21）；药明康德2026H1；国金证券（2026/7/5）；浙商证券（2026/7/13）。评分为研究判断</a:t>
            </a:r>
            <a:endParaRPr sz="865" b="0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  <p:sp>
        <p:nvSpPr>
          <p:cNvPr id="29" name="page-3"/>
          <p:cNvSpPr>
            <a:spLocks noGrp="1"/>
          </p:cNvSpPr>
          <p:nvPr/>
        </p:nvSpPr>
        <p:spPr>
          <a:xfrm>
            <a:off x="11239500" y="587438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5000"/>
              </a:lnSpc>
              <a:buNone/>
              <a:defRPr sz="975" b="1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defRPr>
            </a:pPr>
            <a:r>
              <a:rPr sz="975" b="1">
                <a:solidFill>
                  <a:srgbClr val="667085"/>
                </a:solidFill>
                <a:latin typeface="STHeiti" panose="02010600040101010101" charset="-122"/>
                <a:ea typeface="STHeiti" panose="02010600040101010101" charset="-122"/>
                <a:cs typeface="STHeiti" panose="02010600040101010101" charset="-122"/>
              </a:rPr>
              <a:t>03</a:t>
            </a:r>
            <a:endParaRPr sz="975" b="1">
              <a:solidFill>
                <a:srgbClr val="667085"/>
              </a:solidFill>
              <a:latin typeface="STHeiti" panose="02010600040101010101" charset="-122"/>
              <a:ea typeface="STHeiti" panose="02010600040101010101" charset="-122"/>
              <a:cs typeface="STHeiti" panose="020106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91*307"/>
  <p:tag name="TABLE_ENDDRAG_RECT" val="31*154*491*307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971</Words>
  <Application>WPS 文字</Application>
  <PresentationFormat>Converted Presentation</PresentationFormat>
  <Paragraphs>150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STHeiti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儷宋 Pro</vt:lpstr>
      <vt:lpstr>STHeiti Regular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WPS_1785679771</cp:lastModifiedBy>
  <cp:revision>1</cp:revision>
  <dcterms:created xsi:type="dcterms:W3CDTF">2026-08-23T16:44:24Z</dcterms:created>
  <dcterms:modified xsi:type="dcterms:W3CDTF">2026-08-23T16:44:24Z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AC1DC25FFAF4E58568238B6AC289BC45_43</vt:lpwstr>
  </property>
  <property fmtid="{D5CDD505-2E9C-101B-9397-08002B2CF9AE}" pid="3" name="KSOProductBuildVer">
    <vt:lpwstr>2052-6.14.0.8924</vt:lpwstr>
  </property>
</Properties>
</file>