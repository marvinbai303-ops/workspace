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6e696b32c74a58" /><Relationship Type="http://schemas.openxmlformats.org/officeDocument/2006/relationships/extended-properties" Target="/docProps/app.xml" Id="R32035a1e7f514624" /><Relationship Type="http://schemas.openxmlformats.org/officeDocument/2006/relationships/officeDocument" Target="/ppt/presentation.xml" Id="R33d6cec750f044f9" /></Relationships>
</file>

<file path=ppt/presentation.xml><?xml version="1.0" encoding="utf-8"?>
<p:presentation xmlns:p="http://schemas.openxmlformats.org/presentationml/2006/main">
  <p:sldMasterIdLst>
    <p:sldMasterId xmlns:r="http://schemas.openxmlformats.org/officeDocument/2006/relationships" id="2147483648" r:id="R4d19e5ac55b3437c"/>
  </p:sldMasterIdLst>
  <p:notesMasterIdLst>
    <p:notesMasterId xmlns:r="http://schemas.openxmlformats.org/officeDocument/2006/relationships" r:id="Re4e19e8b3ca54cc1"/>
  </p:notesMasterIdLst>
  <p:sldIdLst>
    <p:sldId xmlns:r="http://schemas.openxmlformats.org/officeDocument/2006/relationships" id="256" r:id="R4d922615460b4f1f"/>
    <p:sldId xmlns:r="http://schemas.openxmlformats.org/officeDocument/2006/relationships" id="257" r:id="Refed6235e2844762"/>
    <p:sldId xmlns:r="http://schemas.openxmlformats.org/officeDocument/2006/relationships" id="258" r:id="R0db7a62a33bb474a"/>
    <p:sldId xmlns:r="http://schemas.openxmlformats.org/officeDocument/2006/relationships" id="259" r:id="Ra05ffa0e58ea47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9e4ec0c1064491b" /><Relationship Type="http://schemas.openxmlformats.org/officeDocument/2006/relationships/slideMaster" Target="/ppt/slideMasters/slideMaster1.xml" Id="R4d19e5ac55b3437c" /><Relationship Type="http://schemas.openxmlformats.org/officeDocument/2006/relationships/notesMaster" Target="/ppt/notesMasters/notesMaster1.xml" Id="Re4e19e8b3ca54cc1" /><Relationship Type="http://schemas.openxmlformats.org/officeDocument/2006/relationships/presProps" Target="/ppt/presProps.xml" Id="Rf7b341d40e7c4bb2" /><Relationship Type="http://schemas.openxmlformats.org/officeDocument/2006/relationships/viewProps" Target="/ppt/viewProps.xml" Id="R76c6a94afab44ca0" /><Relationship Type="http://schemas.openxmlformats.org/officeDocument/2006/relationships/tableStyles" Target="/ppt/tableStyles.xml" Id="Rbcbc1dcd4e0e4f62" /><Relationship Type="http://schemas.openxmlformats.org/officeDocument/2006/relationships/slide" Target="/ppt/slides/slide1.xml" Id="R4d922615460b4f1f" /><Relationship Type="http://schemas.openxmlformats.org/officeDocument/2006/relationships/slide" Target="/ppt/slides/slide2.xml" Id="Refed6235e2844762" /><Relationship Type="http://schemas.openxmlformats.org/officeDocument/2006/relationships/slide" Target="/ppt/slides/slide3.xml" Id="R0db7a62a33bb474a" /><Relationship Type="http://schemas.openxmlformats.org/officeDocument/2006/relationships/slide" Target="/ppt/slides/slide4.xml" Id="Ra05ffa0e58ea47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8343ca9ee441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7f778a94b04b22" /><Relationship Type="http://schemas.openxmlformats.org/officeDocument/2006/relationships/notesMaster" Target="/ppt/notesMasters/notesMaster1.xml" Id="R0d6b84aeeb6f4f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8321d6d7634c85" /><Relationship Type="http://schemas.openxmlformats.org/officeDocument/2006/relationships/notesMaster" Target="/ppt/notesMasters/notesMaster1.xml" Id="Rb90eb2f302864b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4477125061463c" /><Relationship Type="http://schemas.openxmlformats.org/officeDocument/2006/relationships/notesMaster" Target="/ppt/notesMasters/notesMaster1.xml" Id="Rcc4a231fa9c545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9042652ba146f1" /><Relationship Type="http://schemas.openxmlformats.org/officeDocument/2006/relationships/notesMaster" Target="/ppt/notesMasters/notesMaster1.xml" Id="R3f23fccf2ee643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核心讲法：行业Beta成立之后，2026年不再只是交易产业想象力，而是订单和现金流驱动盈利上修、盈利上修再推动估值抬升的“戴维斯双击”。</a:t>
            </a:r>
          </a:p>
          <a:p xmlns:a="http://schemas.openxmlformats.org/drawingml/2006/main"/>
          <a:p xmlns:a="http://schemas.openxmlformats.org/drawingml/2006/main">
            <a:r>
              <a:t>[Sources]</a:t>
            </a:r>
          </a:p>
          <a:p xmlns:a="http://schemas.openxmlformats.org/drawingml/2006/main">
            <a:r>
              <a:t>- https://www.nhsa.gov.cn/art/2025/7/1/art_104_17058.html</a:t>
            </a:r>
          </a:p>
          <a:p xmlns:a="http://schemas.openxmlformats.org/drawingml/2006/main">
            <a:r>
              <a:t>- https://www.nhsa.gov.cn/art/2026/4/14/art_53_20215.html</a:t>
            </a:r>
          </a:p>
          <a:p xmlns:a="http://schemas.openxmlformats.org/drawingml/2006/main">
            <a:r>
              <a:t>- https://data.eastmoney.com/report/zw_industry.jshtml?infocode=AP202607051826728220</a:t>
            </a:r>
          </a:p>
          <a:p xmlns:a="http://schemas.openxmlformats.org/drawingml/2006/main">
            <a:r>
              <a:t>- https://www.wuxiapptec.cn/news/wuxi-news/wuxi-apptec-crdmo-model-delivers-strong-results</a:t>
            </a:r>
          </a:p>
          <a:p xmlns:a="http://schemas.openxmlformats.org/drawingml/2006/main">
            <a:r>
              <a:t>- https://finance.sina.com.cn/wm/2026-07-13/doc-inihspyt4282488.shtml</a:t>
            </a:r>
          </a:p>
          <a:p xmlns:a="http://schemas.openxmlformats.org/drawingml/2006/main">
            <a:r>
              <a:t>- IMA：嘉实基金郝淼交流，2026-08-21（私域资料）</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判断2026是否能形成持续Alpha，不能只看阶段涨幅，需要三道检验：</a:t>
            </a:r>
          </a:p>
          <a:p xmlns:a="http://schemas.openxmlformats.org/drawingml/2006/main">
            <a:r>
              <a:t>1. 独立于大盘：已经满足。2025/6—9沪深300上涨20.8%、医药上涨14.9%，医药跑输；2026/6—8.21沪深300下跌5.6%、医药上涨9.9%，形成约15.5个百分点超额。</a:t>
            </a:r>
          </a:p>
          <a:p xmlns:a="http://schemas.openxmlformats.org/drawingml/2006/main">
            <a:r>
              <a:t>2. 盈利持续上修：已经满足。2026H1创新药BD约为2025H1的2.1倍；药明康德持续经营收入增长48%、经营现金流增长41.3%，并上调全年指引。</a:t>
            </a:r>
          </a:p>
          <a:p xmlns:a="http://schemas.openxmlformats.org/drawingml/2006/main">
            <a:r>
              <a:t>3. 机构资金扩散：尚待验证。医药总仓位处于阶段低位，具备增配空间；但现有资金已集中CXO，真正的持续Alpha需要盈利型创新药接力并带动医药总仓位回升。</a:t>
            </a:r>
          </a:p>
          <a:p xmlns:a="http://schemas.openxmlformats.org/drawingml/2006/main"/>
          <a:p xmlns:a="http://schemas.openxmlformats.org/drawingml/2006/main">
            <a:r>
              <a:t>结论：2026具备比2025更强的产业基础，但“持续Alpha”仍是条件式判断，不是无条件线性外推。</a:t>
            </a:r>
          </a:p>
          <a:p xmlns:a="http://schemas.openxmlformats.org/drawingml/2006/main"/>
          <a:p xmlns:a="http://schemas.openxmlformats.org/drawingml/2006/main">
            <a:r>
              <a:t>注：2025与2026基金持仓报告样本口径不同，不直接比较绝对仓位，只使用各自报告中的变动方向与内部结构。</a:t>
            </a:r>
          </a:p>
          <a:p xmlns:a="http://schemas.openxmlformats.org/drawingml/2006/main"/>
          <a:p xmlns:a="http://schemas.openxmlformats.org/drawingml/2006/main">
            <a:r>
              <a:t>[Sources]</a:t>
            </a:r>
          </a:p>
          <a:p xmlns:a="http://schemas.openxmlformats.org/drawingml/2006/main">
            <a:r>
              <a:t>- 同花顺iFinD：000300.SH、000808.CSI、931152.CSI、884244.TI；区间2025-06-01至2025-09-30、2026-06-01至2026-08-21</a:t>
            </a:r>
          </a:p>
          <a:p xmlns:a="http://schemas.openxmlformats.org/drawingml/2006/main">
            <a:r>
              <a:t>- https://www.drugtimes.cn/2025/07/02/chao48448yimeiyuan2025nianshangbannianzhongguochuangxinyaoch/</a:t>
            </a:r>
          </a:p>
          <a:p xmlns:a="http://schemas.openxmlformats.org/drawingml/2006/main">
            <a:r>
              <a:t>- https://data.eastmoney.com/report/zw_industry.jshtml?infocode=AP202607051826728220</a:t>
            </a:r>
          </a:p>
          <a:p xmlns:a="http://schemas.openxmlformats.org/drawingml/2006/main">
            <a:r>
              <a:t>- https://www.wuxiapptec.cn/news/wuxi-news/wuxi-apptec-crdmo-model-delivers-strong-results</a:t>
            </a:r>
          </a:p>
          <a:p xmlns:a="http://schemas.openxmlformats.org/drawingml/2006/main">
            <a:r>
              <a:t>- https://data.eastmoney.com/report/info/AP202607301827476211.html</a:t>
            </a:r>
          </a:p>
          <a:p xmlns:a="http://schemas.openxmlformats.org/drawingml/2006/main">
            <a:r>
              <a:t>- https://field.10jqka.com.cn/20251104/c672228873.shtml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配置判断：未来6—12个月，CXO仍具备更高的盈利确定性，但估值和交易拥挤度已经明显修复；创新药的胜率低于CXO，但相对估值位置和事件弹性更好。</a:t>
            </a:r>
          </a:p>
          <a:p xmlns:a="http://schemas.openxmlformats.org/drawingml/2006/main"/>
          <a:p xmlns:a="http://schemas.openxmlformats.org/drawingml/2006/main">
            <a:r>
              <a:t>“研究框架评分”为基于产业兑现、估值位置和交易拥挤度的定性判断，仅用于比较，不是收益预测。</a:t>
            </a:r>
          </a:p>
          <a:p xmlns:a="http://schemas.openxmlformats.org/drawingml/2006/main"/>
          <a:p xmlns:a="http://schemas.openxmlformats.org/drawingml/2006/main">
            <a:r>
              <a:t>[Sources]</a:t>
            </a:r>
          </a:p>
          <a:p xmlns:a="http://schemas.openxmlformats.org/drawingml/2006/main">
            <a:r>
              <a:t>- 同花顺iFinD：931152.CSI、884244.TI，估值截至2026-08-21</a:t>
            </a:r>
          </a:p>
          <a:p xmlns:a="http://schemas.openxmlformats.org/drawingml/2006/main">
            <a:r>
              <a:t>- https://www.wuxiapptec.cn/news/wuxi-news/wuxi-apptec-crdmo-model-delivers-strong-results</a:t>
            </a:r>
          </a:p>
          <a:p xmlns:a="http://schemas.openxmlformats.org/drawingml/2006/main">
            <a:r>
              <a:t>- https://data.eastmoney.com/report/zw_industry.jshtml?infocode=AP202607051826728220</a:t>
            </a:r>
          </a:p>
          <a:p xmlns:a="http://schemas.openxmlformats.org/drawingml/2006/main">
            <a:r>
              <a:t>- https://finance.sina.com.cn/wm/2026-07-13/doc-inihspyt4282488.shtml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口径说明：近1年收益率按复权单位净值计算，截止2026-08-24；最大回撤区间为2025-08-25至2026-08-24。2026年中报尚未披露完整持仓，6月30日季报仅公开前十大，因此页面中的前十大医药内部细分占比是公开前十大医药持仓穿透并按市值归一化后的结果，不代表完整组合行业分布。</a:t>
            </a:r>
          </a:p>
          <a:p xmlns:a="http://schemas.openxmlformats.org/drawingml/2006/main">
            <a:r>
              <a:t/>
            </a:r>
          </a:p>
          <a:p xmlns:a="http://schemas.openxmlformats.org/drawingml/2006/main">
            <a:r>
              <a:t>分类说明：CXO包含申万医疗研发外包及奥浦迈；创新药包含创新药/生物科技公司及恒瑞医药；医疗器械为惠泰医疗；综合制药为石药集团。</a:t>
            </a:r>
          </a:p>
          <a:p xmlns:a="http://schemas.openxmlformats.org/drawingml/2006/main">
            <a:r>
              <a:t/>
            </a:r>
          </a:p>
          <a:p xmlns:a="http://schemas.openxmlformats.org/drawingml/2006/main">
            <a:r>
              <a:t>[Sources]</a:t>
            </a:r>
          </a:p>
          <a:p xmlns:a="http://schemas.openxmlformats.org/drawingml/2006/main">
            <a:r>
              <a:t>- IMA：嘉实郝淼交流0821，读取于2026-08-25（私域资料）</a:t>
            </a:r>
          </a:p>
          <a:p xmlns:a="http://schemas.openxmlformats.org/drawingml/2006/main">
            <a:r>
              <a:t>- 同花顺iFinD：000711.OF、005303.OF、006603.OF近1年收益率与最大回撤，数据截至2026-08-24</a:t>
            </a:r>
          </a:p>
          <a:p xmlns:a="http://schemas.openxmlformats.org/drawingml/2006/main">
            <a:r>
              <a:t>- 同花顺iFinD：三只基金2026-06-30季报前十大持仓、市值及占净值比例</a:t>
            </a:r>
          </a:p>
          <a:p xmlns:a="http://schemas.openxmlformats.org/drawingml/2006/main">
            <a:r>
              <a:t>- 同花顺iFinD：相关持仓申万2021三级行业及港股行业分类</a:t>
            </a:r>
          </a:p>
          <a:p xmlns:a="http://schemas.openxmlformats.org/drawingml/2006/main">
            <a:r>
              <a:t>- 用户提供结构参考图：codex-clipboard-d703d5d1-9a6c-4e0b-87cf-1ed9f878e202.png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fe079e196f45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b53b9f570e4217" /><Relationship Type="http://schemas.openxmlformats.org/officeDocument/2006/relationships/slideLayout" Target="/ppt/slideLayouts/slideLayout1.xml" Id="R81f503c52fe940c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f503c52fe940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78a1e18bfc4e00" /><Relationship Type="http://schemas.openxmlformats.org/officeDocument/2006/relationships/notesSlide" Target="/ppt/notesSlides/notesSlide1.xml" Id="Rf91a2e816dfd43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d6b00dcb28c409f" /><Relationship Type="http://schemas.openxmlformats.org/officeDocument/2006/relationships/notesSlide" Target="/ppt/notesSlides/notesSlide2.xml" Id="R7047c54e5ab740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5461549da446f7" /><Relationship Type="http://schemas.openxmlformats.org/officeDocument/2006/relationships/chart" Target="/ppt/slides/charts/chart1.xml" Id="R0c01fb1464274257" /><Relationship Type="http://schemas.openxmlformats.org/officeDocument/2006/relationships/notesSlide" Target="/ppt/notesSlides/notesSlide3.xml" Id="Rd112dddcc124423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49c195af6c4de6" /><Relationship Type="http://schemas.openxmlformats.org/officeDocument/2006/relationships/notesSlide" Target="/ppt/notesSlides/notesSlide4.xml" Id="R008a3716509a4d53" /></Relationships>
</file>

<file path=ppt/slides/charts/chart1.xml><?xml version="1.0" encoding="utf-8"?>
<c:chartSpace xmlns:mc="http://schemas.openxmlformats.org/markup-compatibility/2006" xmlns:c14="http://schemas.microsoft.com/office/drawing/2007/8/2/chart" xmlns:c="http://schemas.openxmlformats.org/drawingml/2006/chart" mc:Ignorable="c14">
  <c:lang val="en-US"/>
  <c:roundedCorners val="0"/>
  <mc:AlternateContent>
    <mc:Choice Requires="c14">
      <c14:style val="102"/>
    </mc:Choice>
    <mc:Fallback>
      <c:style val="2"/>
    </mc:Fallback>
  </mc:AlternateContent>
  <c:chart>
    <c:title>
      <c:layout>
        <c:manualLayout>
          <c:xMode val="edge"/>
          <c:yMode val="edge"/>
          <c:x val="0.439649122807018"/>
          <c:y val="0.0129032258064516"/>
        </c:manualLayout>
      </c:layout>
      <c:overlay val="1"/>
      <c:txPr>
        <a:bodyPr xmlns:a="http://schemas.openxmlformats.org/drawingml/2006/main" rot="0" vert="horz" anchor="ctr" anchorCtr="1"/>
        <a:lstStyle xmlns:a="http://schemas.openxmlformats.org/drawingml/2006/main"/>
        <a:p xmlns:a="http://schemas.openxmlformats.org/drawingml/2006/main">
          <a:pPr>
            <a:defRPr sz="1800" b="1" i="0" u="none">
              <a:solidFill>
                <a:schemeClr val="tx1"/>
              </a:solidFill>
              <a:latin typeface="+mn-lt"/>
              <a:ea typeface="+mn-lt"/>
              <a:cs typeface="+mn-lt"/>
            </a:defRPr>
          </a:pPr>
        </a:p>
      </c:txPr>
    </c:title>
    <c:autoTitleDeleted val="0"/>
    <c:plotArea>
      <c:barChart>
        <c:barDir val="bar"/>
        <c:grouping val="clustered"/>
        <c:varyColors val="0"/>
        <c:ser>
          <c:idx val="0"/>
          <c:order val="0"/>
          <c:tx>
            <c:strRef>
              <c:f>CXO</c:f>
              <c:strCache>
                <c:ptCount val="1"/>
                <c:pt idx="0">
                  <c:v>CXO</c:v>
                </c:pt>
              </c:strCache>
            </c:strRef>
          </c:tx>
          <c:spPr>
            <a:solidFill xmlns:a="http://schemas.openxmlformats.org/drawingml/2006/main">
              <a:srgbClr val="2F6BFF"/>
            </a:solidFill>
          </c:spPr>
          <c:dLbls>
            <c:numFmt formatCode="General" sourceLinked="1"/>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000" b="0" i="0" u="none">
                    <a:solidFill>
                      <a:schemeClr val="tx1"/>
                    </a:solidFill>
                    <a:latin typeface="+mn-lt"/>
                    <a:ea typeface="+mn-lt"/>
                    <a:cs typeface="+mn-lt"/>
                  </a:defRPr>
                </a:pPr>
              </a:p>
            </c:txPr>
            <c:dLblPos val="outEnd"/>
            <c:showLegendKey val="0"/>
            <c:showVal val="1"/>
            <c:showCatName val="0"/>
            <c:showSerName val="0"/>
            <c:showPercent val="0"/>
            <c:showBubbleSize val="0"/>
            <c:showLeaderLines val="0"/>
          </c:dLbls>
          <c:cat>
            <c:strRef>
              <c:f>{"盈利确定性","短期拥挤度","中期赔率"}</c:f>
              <c:strCache>
                <c:ptCount val="3"/>
                <c:pt idx="0">
                  <c:v>盈利确定性</c:v>
                </c:pt>
                <c:pt idx="1">
                  <c:v>短期拥挤度</c:v>
                </c:pt>
                <c:pt idx="2">
                  <c:v>中期赔率</c:v>
                </c:pt>
              </c:strCache>
            </c:strRef>
          </c:cat>
          <c:val>
            <c:numRef>
              <c:f>{5,4,3}</c:f>
              <c:numCache>
                <c:formatCode>General</c:formatCode>
                <c:ptCount val="3"/>
                <c:pt idx="0">
                  <c:v>5</c:v>
                </c:pt>
                <c:pt idx="1">
                  <c:v>4</c:v>
                </c:pt>
                <c:pt idx="2">
                  <c:v>3</c:v>
                </c:pt>
              </c:numCache>
            </c:numRef>
          </c:val>
        </c:ser>
        <c:ser>
          <c:idx val="1"/>
          <c:order val="1"/>
          <c:tx>
            <c:strRef>
              <c:f>创新药</c:f>
              <c:strCache>
                <c:ptCount val="1"/>
                <c:pt idx="0">
                  <c:v>创新药</c:v>
                </c:pt>
              </c:strCache>
            </c:strRef>
          </c:tx>
          <c:spPr>
            <a:solidFill xmlns:a="http://schemas.openxmlformats.org/drawingml/2006/main">
              <a:srgbClr val="F59E0B"/>
            </a:solidFill>
          </c:spPr>
          <c:dLbls>
            <c:numFmt formatCode="General" sourceLinked="1"/>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000" b="0" i="0" u="none">
                    <a:solidFill>
                      <a:schemeClr val="tx1"/>
                    </a:solidFill>
                    <a:latin typeface="+mn-lt"/>
                    <a:ea typeface="+mn-lt"/>
                    <a:cs typeface="+mn-lt"/>
                  </a:defRPr>
                </a:pPr>
              </a:p>
            </c:txPr>
            <c:dLblPos val="outEnd"/>
            <c:showLegendKey val="0"/>
            <c:showVal val="1"/>
            <c:showCatName val="0"/>
            <c:showSerName val="0"/>
            <c:showPercent val="0"/>
            <c:showBubbleSize val="0"/>
            <c:showLeaderLines val="0"/>
          </c:dLbls>
          <c:cat>
            <c:strRef>
              <c:f>{"盈利确定性","短期拥挤度","中期赔率"}</c:f>
              <c:strCache>
                <c:ptCount val="3"/>
                <c:pt idx="0">
                  <c:v>盈利确定性</c:v>
                </c:pt>
                <c:pt idx="1">
                  <c:v>短期拥挤度</c:v>
                </c:pt>
                <c:pt idx="2">
                  <c:v>中期赔率</c:v>
                </c:pt>
              </c:strCache>
            </c:strRef>
          </c:cat>
          <c:val>
            <c:numRef>
              <c:f>{3,2,5}</c:f>
              <c:numCache>
                <c:formatCode>General</c:formatCode>
                <c:ptCount val="3"/>
                <c:pt idx="0">
                  <c:v>3</c:v>
                </c:pt>
                <c:pt idx="1">
                  <c:v>2</c:v>
                </c:pt>
                <c:pt idx="2">
                  <c:v>5</c:v>
                </c:pt>
              </c:numCache>
            </c:numRef>
          </c:val>
        </c:ser>
        <c:dLbls>
          <c:showLegendKey val="0"/>
          <c:showVal val="1"/>
          <c:showCatName val="0"/>
          <c:showSerName val="0"/>
          <c:showPercent val="0"/>
          <c:showBubbleSize val="0"/>
        </c:dLbls>
        <c:gapWidth val="60"/>
        <c:axId val="48650112"/>
        <c:axId val="48672768"/>
      </c:barChart>
      <c:catAx>
        <c:axId val="48650112"/>
        <c:scaling>
          <c:orientation val="minMax"/>
        </c:scaling>
        <c:delete val="0"/>
        <c:axPos val="l"/>
        <c:majorGridlines>
          <c:spPr>
            <a:ln xmlns:a="http://schemas.openxmlformats.org/drawingml/2006/main" w="9525">
              <a:solidFill>
                <a:srgbClr val="E9ECF0"/>
              </a:solidFill>
              <a:prstDash val="solid"/>
            </a:ln>
          </c:spPr>
        </c:majorGridlines>
        <c:numFmt formatCode="General" sourceLinked="1"/>
        <c:majorTickMark val="out"/>
        <c:minorTickMark val="none"/>
        <c:tickLblPos val="nextTo"/>
        <c:spPr>
          <a:ln xmlns:a="http://schemas.openxmlformats.org/drawingml/2006/main" w="0">
            <a:solidFill>
              <a:srgbClr val="FFFFFF"/>
            </a:solidFill>
            <a:prstDash val="solid"/>
          </a:ln>
        </c:spPr>
        <c:txPr>
          <a:bodyPr xmlns:a="http://schemas.openxmlformats.org/drawingml/2006/main" rot="-60000000" spcFirstLastPara="0" vert="horz" wrap="square" anchor="ctr" anchorCtr="1"/>
          <a:lstStyle xmlns:a="http://schemas.openxmlformats.org/drawingml/2006/main"/>
          <a:p xmlns:a="http://schemas.openxmlformats.org/drawingml/2006/main">
            <a:pPr>
              <a:defRPr sz="825" b="0" i="0" u="none">
                <a:solidFill>
                  <a:srgbClr val="667085"/>
                </a:solidFill>
                <a:latin typeface="STHeiti"/>
                <a:ea typeface="STHeiti"/>
                <a:cs typeface="STHeiti"/>
              </a:defRPr>
            </a:pPr>
          </a:p>
        </c:txPr>
        <c:crossAx val="48672768"/>
        <c:crosses val="autoZero"/>
        <c:lblOffset val="100"/>
      </c:catAx>
      <c:valAx>
        <c:axId val="48672768"/>
        <c:scaling>
          <c:orientation val="minMax"/>
        </c:scaling>
        <c:delete val="0"/>
        <c:axPos val="b"/>
        <c:numFmt formatCode="General" sourceLinked="1"/>
        <c:majorTickMark val="out"/>
        <c:minorTickMark val="none"/>
        <c:tickLblPos val="nextTo"/>
        <c:spPr>
          <a:ln xmlns:a="http://schemas.openxmlformats.org/drawingml/2006/main" w="0">
            <a:solidFill>
              <a:srgbClr val="FFFFFF"/>
            </a:solidFill>
            <a:prstDash val="solid"/>
          </a:ln>
        </c:spPr>
        <c:txPr>
          <a:bodyPr xmlns:a="http://schemas.openxmlformats.org/drawingml/2006/main" rot="-60000000" vert="horz" anchor="ctr" anchorCtr="1"/>
          <a:lstStyle xmlns:a="http://schemas.openxmlformats.org/drawingml/2006/main"/>
          <a:p xmlns:a="http://schemas.openxmlformats.org/drawingml/2006/main">
            <a:pPr>
              <a:defRPr sz="1050" b="0" i="0" u="none">
                <a:solidFill>
                  <a:srgbClr val="101828"/>
                </a:solidFill>
                <a:latin typeface="STHeiti"/>
                <a:ea typeface="STHeiti"/>
                <a:cs typeface="STHeiti"/>
              </a:defRPr>
            </a:pPr>
          </a:p>
        </c:txPr>
        <c:crossAx val="48650112"/>
        <c:crosses val="autoZero"/>
        <c:crossBetween val="between"/>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rot="0" vert="horz" anchor="ctr" anchorCtr="1"/>
        <a:lstStyle xmlns:a="http://schemas.openxmlformats.org/drawingml/2006/main"/>
        <a:p xmlns:a="http://schemas.openxmlformats.org/drawingml/2006/main">
          <a:pPr>
            <a:defRPr sz="975" b="0" i="0" u="none">
              <a:solidFill>
                <a:srgbClr val="667085"/>
              </a:solidFill>
              <a:latin typeface="STHeiti"/>
              <a:ea typeface="STHeiti"/>
              <a:cs typeface="STHeiti"/>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1">
            <a:extLst xmlns:a="http://schemas.openxmlformats.org/drawingml/2006/main">
              <a:ext uri="{FF2B5EF4-FFF2-40B4-BE49-F238E27FC236}">
                <a16:creationId xmlns:a16="http://schemas.microsoft.com/office/drawing/2014/main" id="{5D5DF61C-B454-4A8C-A354-EF19826FEFA3}"/>
              </a:ext>
            </a:extLst>
          </p:cNvPr>
          <p:cNvSpPr>
            <a:spLocks xmlns:a="http://schemas.openxmlformats.org/drawingml/2006/main" noGrp="1"/>
          </p:cNvSpPr>
          <p:nvPr/>
        </p:nvSpPr>
        <p:spPr>
          <a:xfrm xmlns:a="http://schemas.openxmlformats.org/drawingml/2006/main">
            <a:off x="457200" y="49530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95000"/>
              </a:lnSpc>
              <a:buNone/>
              <a:defRPr sz="3600" b="1">
                <a:solidFill>
                  <a:srgbClr val="101828"/>
                </a:solidFill>
                <a:latin typeface="STHeiti"/>
                <a:ea typeface="STHeiti"/>
                <a:cs typeface="STHeiti"/>
              </a:defRPr>
            </a:pPr>
            <a:r>
              <a:rPr sz="3600" b="1">
                <a:solidFill>
                  <a:srgbClr val="101828"/>
                </a:solidFill>
                <a:latin typeface="STHeiti"/>
                <a:ea typeface="STHeiti"/>
                <a:cs typeface="STHeiti"/>
              </a:rPr>
              <a:t>医药正在从估值修复走向盈利周期</a:t>
            </a:r>
            <a:endParaRPr sz="3600" b="1">
              <a:solidFill>
                <a:srgbClr val="101828"/>
              </a:solidFill>
              <a:latin typeface="STHeiti"/>
              <a:ea typeface="STHeiti"/>
              <a:cs typeface="STHeiti"/>
            </a:endParaRPr>
          </a:p>
        </p:txBody>
      </p:sp>
      <p:sp>
        <p:nvSpPr>
          <p:cNvPr id="3" name="accent-1">
            <a:extLst xmlns:a="http://schemas.openxmlformats.org/drawingml/2006/main">
              <a:ext uri="{FF2B5EF4-FFF2-40B4-BE49-F238E27FC236}">
                <a16:creationId xmlns:a16="http://schemas.microsoft.com/office/drawing/2014/main" id="{0BB98CC1-5B1C-49B4-B672-B0DEFAB59079}"/>
              </a:ext>
            </a:extLst>
          </p:cNvPr>
          <p:cNvSpPr>
            <a:spLocks xmlns:a="http://schemas.openxmlformats.org/drawingml/2006/main" noGrp="1"/>
          </p:cNvSpPr>
          <p:nvPr/>
        </p:nvSpPr>
        <p:spPr>
          <a:xfrm xmlns:a="http://schemas.openxmlformats.org/drawingml/2006/main">
            <a:off x="457200" y="1162050"/>
            <a:ext cx="876300" cy="0"/>
          </a:xfrm>
          <a:prstGeom xmlns:a="http://schemas.openxmlformats.org/drawingml/2006/main" prst="line">
            <a:avLst/>
          </a:prstGeom>
          <a:noFill xmlns:a="http://schemas.openxmlformats.org/drawingml/2006/main"/>
          <a:ln xmlns:a="http://schemas.openxmlformats.org/drawingml/2006/main" w="47625">
            <a:solidFill>
              <a:srgbClr val="2F6BFF"/>
            </a:solidFill>
            <a:prstDash val="solid"/>
          </a:ln>
        </p:spPr>
      </p:sp>
      <p:sp>
        <p:nvSpPr>
          <p:cNvPr id="4" name="subtitle-1">
            <a:extLst xmlns:a="http://schemas.openxmlformats.org/drawingml/2006/main">
              <a:ext uri="{FF2B5EF4-FFF2-40B4-BE49-F238E27FC236}">
                <a16:creationId xmlns:a16="http://schemas.microsoft.com/office/drawing/2014/main" id="{AC2F53D1-01A0-42BF-8A83-293566C58CAD}"/>
              </a:ext>
            </a:extLst>
          </p:cNvPr>
          <p:cNvSpPr>
            <a:spLocks xmlns:a="http://schemas.openxmlformats.org/drawingml/2006/main" noGrp="1"/>
          </p:cNvSpPr>
          <p:nvPr/>
        </p:nvSpPr>
        <p:spPr>
          <a:xfrm xmlns:a="http://schemas.openxmlformats.org/drawingml/2006/main">
            <a:off x="457200" y="1304925"/>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725" b="0">
                <a:solidFill>
                  <a:srgbClr val="667085"/>
                </a:solidFill>
                <a:latin typeface="STHeiti"/>
                <a:ea typeface="STHeiti"/>
                <a:cs typeface="STHeiti"/>
              </a:defRPr>
            </a:pPr>
            <a:r>
              <a:rPr sz="1725" b="1">
                <a:solidFill>
                  <a:srgbClr val="667085"/>
                </a:solidFill>
                <a:latin typeface="STHeiti Regular"/>
                <a:ea typeface="STHeiti Regular"/>
                <a:cs typeface="STHeiti Regular"/>
              </a:rPr>
              <a:t>创新</a:t>
            </a:r>
            <a:r>
              <a:rPr sz="1725" b="1">
                <a:solidFill>
                  <a:srgbClr val="667085"/>
                </a:solidFill>
                <a:latin typeface="STHeiti Regular"/>
                <a:ea typeface="STHeiti Regular"/>
                <a:cs typeface="STHeiti Regular"/>
              </a:rPr>
              <a:t>药</a:t>
            </a:r>
            <a:r>
              <a:rPr sz="1725" b="1">
                <a:solidFill>
                  <a:srgbClr val="667085"/>
                </a:solidFill>
                <a:latin typeface="STHeiti Regular"/>
                <a:ea typeface="STHeiti Regular"/>
                <a:cs typeface="STHeiti Regular"/>
              </a:rPr>
              <a:t>资产全球化，正在形成“BD回款—研发投入—CXO订单—利润兑现”的正循环</a:t>
            </a:r>
            <a:endParaRPr sz="1725" b="1">
              <a:solidFill>
                <a:srgbClr val="667085"/>
              </a:solidFill>
              <a:latin typeface="STHeiti Regular"/>
              <a:ea typeface="STHeiti Regular"/>
              <a:cs typeface="STHeiti Regular"/>
            </a:endParaRPr>
          </a:p>
        </p:txBody>
      </p:sp>
      <p:sp>
        <p:nvSpPr>
          <p:cNvPr id="5" name="arrow-1">
            <a:extLst xmlns:a="http://schemas.openxmlformats.org/drawingml/2006/main">
              <a:ext uri="{FF2B5EF4-FFF2-40B4-BE49-F238E27FC236}">
                <a16:creationId xmlns:a16="http://schemas.microsoft.com/office/drawing/2014/main" id="{E62F1285-05E9-461E-817D-27C10FC33C28}"/>
              </a:ext>
            </a:extLst>
          </p:cNvPr>
          <p:cNvSpPr>
            <a:spLocks xmlns:a="http://schemas.openxmlformats.org/drawingml/2006/main" noGrp="1"/>
          </p:cNvSpPr>
          <p:nvPr/>
        </p:nvSpPr>
        <p:spPr>
          <a:xfrm xmlns:a="http://schemas.openxmlformats.org/drawingml/2006/main">
            <a:off x="3800475" y="3000375"/>
            <a:ext cx="47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ctr">
              <a:lnSpc>
                <a:spcPct val="95000"/>
              </a:lnSpc>
              <a:buNone/>
              <a:defRPr sz="3150" b="1">
                <a:solidFill>
                  <a:srgbClr val="2F6BFF"/>
                </a:solidFill>
                <a:latin typeface="STHeiti"/>
                <a:ea typeface="STHeiti"/>
                <a:cs typeface="STHeiti"/>
              </a:defRPr>
            </a:pPr>
            <a:r>
              <a:rPr sz="3150" b="1">
                <a:solidFill>
                  <a:srgbClr val="2F6BFF"/>
                </a:solidFill>
                <a:latin typeface="STHeiti"/>
                <a:ea typeface="STHeiti"/>
                <a:cs typeface="STHeiti"/>
              </a:rPr>
              <a:t>→</a:t>
            </a:r>
            <a:endParaRPr sz="3150" b="1">
              <a:solidFill>
                <a:srgbClr val="2F6BFF"/>
              </a:solidFill>
              <a:latin typeface="STHeiti"/>
              <a:ea typeface="STHeiti"/>
              <a:cs typeface="STHeiti"/>
            </a:endParaRPr>
          </a:p>
        </p:txBody>
      </p:sp>
      <p:sp>
        <p:nvSpPr>
          <p:cNvPr id="6" name="arrow-2">
            <a:extLst xmlns:a="http://schemas.openxmlformats.org/drawingml/2006/main">
              <a:ext uri="{FF2B5EF4-FFF2-40B4-BE49-F238E27FC236}">
                <a16:creationId xmlns:a16="http://schemas.microsoft.com/office/drawing/2014/main" id="{72D1ED7B-3732-473C-9EED-C532A334B258}"/>
              </a:ext>
            </a:extLst>
          </p:cNvPr>
          <p:cNvSpPr>
            <a:spLocks xmlns:a="http://schemas.openxmlformats.org/drawingml/2006/main" noGrp="1"/>
          </p:cNvSpPr>
          <p:nvPr/>
        </p:nvSpPr>
        <p:spPr>
          <a:xfrm xmlns:a="http://schemas.openxmlformats.org/drawingml/2006/main">
            <a:off x="7724775" y="3000375"/>
            <a:ext cx="47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ctr">
              <a:lnSpc>
                <a:spcPct val="95000"/>
              </a:lnSpc>
              <a:buNone/>
              <a:defRPr sz="3150" b="1">
                <a:solidFill>
                  <a:srgbClr val="2F6BFF"/>
                </a:solidFill>
                <a:latin typeface="STHeiti"/>
                <a:ea typeface="STHeiti"/>
                <a:cs typeface="STHeiti"/>
              </a:defRPr>
            </a:pPr>
            <a:r>
              <a:rPr sz="3150" b="1">
                <a:solidFill>
                  <a:srgbClr val="2F6BFF"/>
                </a:solidFill>
                <a:latin typeface="STHeiti"/>
                <a:ea typeface="STHeiti"/>
                <a:cs typeface="STHeiti"/>
              </a:rPr>
              <a:t>→</a:t>
            </a:r>
            <a:endParaRPr sz="3150" b="1">
              <a:solidFill>
                <a:srgbClr val="2F6BFF"/>
              </a:solidFill>
              <a:latin typeface="STHeiti"/>
              <a:ea typeface="STHeiti"/>
              <a:cs typeface="STHeiti"/>
            </a:endParaRPr>
          </a:p>
        </p:txBody>
      </p:sp>
      <p:sp>
        <p:nvSpPr>
          <p:cNvPr id="7" name="stage-panel-1">
            <a:extLst xmlns:a="http://schemas.openxmlformats.org/drawingml/2006/main">
              <a:ext uri="{FF2B5EF4-FFF2-40B4-BE49-F238E27FC236}">
                <a16:creationId xmlns:a16="http://schemas.microsoft.com/office/drawing/2014/main" id="{880422E4-A1C9-476B-B046-C164B391C7E3}"/>
              </a:ext>
            </a:extLst>
          </p:cNvPr>
          <p:cNvSpPr>
            <a:spLocks xmlns:a="http://schemas.openxmlformats.org/drawingml/2006/main" noGrp="1"/>
          </p:cNvSpPr>
          <p:nvPr/>
        </p:nvSpPr>
        <p:spPr>
          <a:xfrm xmlns:a="http://schemas.openxmlformats.org/drawingml/2006/main">
            <a:off x="457200" y="1790700"/>
            <a:ext cx="3429000" cy="3143250"/>
          </a:xfrm>
          <a:prstGeom xmlns:a="http://schemas.openxmlformats.org/drawingml/2006/main" prst="roundRect">
            <a:avLst>
              <a:gd name="adj" fmla="val 3636"/>
            </a:avLst>
          </a:prstGeom>
          <a:solidFill xmlns:a="http://schemas.openxmlformats.org/drawingml/2006/main">
            <a:srgbClr val="F2F4F7"/>
          </a:solidFill>
          <a:ln xmlns:a="http://schemas.openxmlformats.org/drawingml/2006/main" w="0">
            <a:noFill/>
            <a:prstDash val="solid"/>
          </a:ln>
        </p:spPr>
      </p:sp>
      <p:sp>
        <p:nvSpPr>
          <p:cNvPr id="8" name="stage-panel-2">
            <a:extLst xmlns:a="http://schemas.openxmlformats.org/drawingml/2006/main">
              <a:ext uri="{FF2B5EF4-FFF2-40B4-BE49-F238E27FC236}">
                <a16:creationId xmlns:a16="http://schemas.microsoft.com/office/drawing/2014/main" id="{42579630-AC58-4B0B-ADE2-B7818F0BD801}"/>
              </a:ext>
            </a:extLst>
          </p:cNvPr>
          <p:cNvSpPr>
            <a:spLocks xmlns:a="http://schemas.openxmlformats.org/drawingml/2006/main" noGrp="1"/>
          </p:cNvSpPr>
          <p:nvPr/>
        </p:nvSpPr>
        <p:spPr>
          <a:xfrm xmlns:a="http://schemas.openxmlformats.org/drawingml/2006/main">
            <a:off x="4381500" y="1790700"/>
            <a:ext cx="3429000" cy="3143250"/>
          </a:xfrm>
          <a:prstGeom xmlns:a="http://schemas.openxmlformats.org/drawingml/2006/main" prst="roundRect">
            <a:avLst>
              <a:gd name="adj" fmla="val 3636"/>
            </a:avLst>
          </a:prstGeom>
          <a:solidFill xmlns:a="http://schemas.openxmlformats.org/drawingml/2006/main">
            <a:srgbClr val="EAF0FF"/>
          </a:solidFill>
          <a:ln xmlns:a="http://schemas.openxmlformats.org/drawingml/2006/main" w="0">
            <a:noFill/>
            <a:prstDash val="solid"/>
          </a:ln>
        </p:spPr>
      </p:sp>
      <p:sp>
        <p:nvSpPr>
          <p:cNvPr id="9" name="stage-panel-3">
            <a:extLst xmlns:a="http://schemas.openxmlformats.org/drawingml/2006/main">
              <a:ext uri="{FF2B5EF4-FFF2-40B4-BE49-F238E27FC236}">
                <a16:creationId xmlns:a16="http://schemas.microsoft.com/office/drawing/2014/main" id="{44BDCD30-F89C-4780-944D-E2F18D97122F}"/>
              </a:ext>
            </a:extLst>
          </p:cNvPr>
          <p:cNvSpPr>
            <a:spLocks xmlns:a="http://schemas.openxmlformats.org/drawingml/2006/main" noGrp="1"/>
          </p:cNvSpPr>
          <p:nvPr/>
        </p:nvSpPr>
        <p:spPr>
          <a:xfrm xmlns:a="http://schemas.openxmlformats.org/drawingml/2006/main">
            <a:off x="8305800" y="1790700"/>
            <a:ext cx="3429000" cy="3143250"/>
          </a:xfrm>
          <a:prstGeom xmlns:a="http://schemas.openxmlformats.org/drawingml/2006/main" prst="roundRect">
            <a:avLst>
              <a:gd name="adj" fmla="val 3636"/>
            </a:avLst>
          </a:prstGeom>
          <a:solidFill xmlns:a="http://schemas.openxmlformats.org/drawingml/2006/main">
            <a:srgbClr val="F2F4F7"/>
          </a:solidFill>
          <a:ln xmlns:a="http://schemas.openxmlformats.org/drawingml/2006/main" w="0">
            <a:noFill/>
            <a:prstDash val="solid"/>
          </a:ln>
        </p:spPr>
      </p:sp>
      <p:sp>
        <p:nvSpPr>
          <p:cNvPr id="10" name="stage1-head">
            <a:extLst xmlns:a="http://schemas.openxmlformats.org/drawingml/2006/main">
              <a:ext uri="{FF2B5EF4-FFF2-40B4-BE49-F238E27FC236}">
                <a16:creationId xmlns:a16="http://schemas.microsoft.com/office/drawing/2014/main" id="{BB7F8568-8C27-4F5E-80A4-80D2738E457F}"/>
              </a:ext>
            </a:extLst>
          </p:cNvPr>
          <p:cNvSpPr>
            <a:spLocks xmlns:a="http://schemas.openxmlformats.org/drawingml/2006/main" noGrp="1"/>
          </p:cNvSpPr>
          <p:nvPr/>
        </p:nvSpPr>
        <p:spPr>
          <a:xfrm xmlns:a="http://schemas.openxmlformats.org/drawingml/2006/main">
            <a:off x="714375" y="20383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800" b="1">
                <a:solidFill>
                  <a:srgbClr val="2F6BFF"/>
                </a:solidFill>
                <a:latin typeface="STHeiti"/>
                <a:ea typeface="STHeiti"/>
                <a:cs typeface="STHeiti"/>
              </a:defRPr>
            </a:pPr>
            <a:r>
              <a:rPr sz="1800" b="1">
                <a:solidFill>
                  <a:srgbClr val="2F6BFF"/>
                </a:solidFill>
                <a:latin typeface="STHeiti"/>
                <a:ea typeface="STHeiti"/>
                <a:cs typeface="STHeiti"/>
              </a:rPr>
              <a:t>① 资产重估</a:t>
            </a:r>
            <a:endParaRPr sz="1800" b="1">
              <a:solidFill>
                <a:srgbClr val="2F6BFF"/>
              </a:solidFill>
              <a:latin typeface="STHeiti"/>
              <a:ea typeface="STHeiti"/>
              <a:cs typeface="STHeiti"/>
            </a:endParaRPr>
          </a:p>
        </p:txBody>
      </p:sp>
      <p:sp>
        <p:nvSpPr>
          <p:cNvPr id="11" name="stage1-metric-value">
            <a:extLst xmlns:a="http://schemas.openxmlformats.org/drawingml/2006/main">
              <a:ext uri="{FF2B5EF4-FFF2-40B4-BE49-F238E27FC236}">
                <a16:creationId xmlns:a16="http://schemas.microsoft.com/office/drawing/2014/main" id="{246A5ACD-B066-4162-8495-D0150343A128}"/>
              </a:ext>
            </a:extLst>
          </p:cNvPr>
          <p:cNvSpPr>
            <a:spLocks xmlns:a="http://schemas.openxmlformats.org/drawingml/2006/main" noGrp="1"/>
          </p:cNvSpPr>
          <p:nvPr/>
        </p:nvSpPr>
        <p:spPr>
          <a:xfrm xmlns:a="http://schemas.openxmlformats.org/drawingml/2006/main">
            <a:off x="714375" y="254317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3225" b="1">
                <a:solidFill>
                  <a:srgbClr val="101828"/>
                </a:solidFill>
                <a:latin typeface="STHeiti"/>
                <a:ea typeface="STHeiti"/>
                <a:cs typeface="STHeiti"/>
              </a:defRPr>
            </a:pPr>
            <a:r>
              <a:rPr sz="3225" b="1">
                <a:solidFill>
                  <a:srgbClr val="101828"/>
                </a:solidFill>
                <a:latin typeface="STHeiti"/>
                <a:ea typeface="STHeiti"/>
                <a:cs typeface="STHeiti"/>
              </a:rPr>
              <a:t>997亿美元</a:t>
            </a:r>
            <a:endParaRPr sz="3225" b="1">
              <a:solidFill>
                <a:srgbClr val="101828"/>
              </a:solidFill>
              <a:latin typeface="STHeiti"/>
              <a:ea typeface="STHeiti"/>
              <a:cs typeface="STHeiti"/>
            </a:endParaRPr>
          </a:p>
        </p:txBody>
      </p:sp>
      <p:sp>
        <p:nvSpPr>
          <p:cNvPr id="12" name="stage1-metric-label">
            <a:extLst xmlns:a="http://schemas.openxmlformats.org/drawingml/2006/main">
              <a:ext uri="{FF2B5EF4-FFF2-40B4-BE49-F238E27FC236}">
                <a16:creationId xmlns:a16="http://schemas.microsoft.com/office/drawing/2014/main" id="{CB9B553B-BECF-49FC-AEF2-A190E01E47CD}"/>
              </a:ext>
            </a:extLst>
          </p:cNvPr>
          <p:cNvSpPr>
            <a:spLocks xmlns:a="http://schemas.openxmlformats.org/drawingml/2006/main" noGrp="1"/>
          </p:cNvSpPr>
          <p:nvPr/>
        </p:nvSpPr>
        <p:spPr>
          <a:xfrm xmlns:a="http://schemas.openxmlformats.org/drawingml/2006/main">
            <a:off x="714375" y="3105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350" b="0">
                <a:solidFill>
                  <a:srgbClr val="667085"/>
                </a:solidFill>
                <a:latin typeface="STHeiti"/>
                <a:ea typeface="STHeiti"/>
                <a:cs typeface="STHeiti"/>
              </a:defRPr>
            </a:pPr>
            <a:r>
              <a:rPr sz="1350" b="0">
                <a:solidFill>
                  <a:srgbClr val="667085"/>
                </a:solidFill>
                <a:latin typeface="STHeiti"/>
                <a:ea typeface="STHeiti"/>
                <a:cs typeface="STHeiti"/>
              </a:rPr>
              <a:t>2026H1中国创新药BD</a:t>
            </a:r>
            <a:endParaRPr sz="1350" b="0">
              <a:solidFill>
                <a:srgbClr val="667085"/>
              </a:solidFill>
              <a:latin typeface="STHeiti"/>
              <a:ea typeface="STHeiti"/>
              <a:cs typeface="STHeiti"/>
            </a:endParaRPr>
          </a:p>
          <a:p xmlns:a="http://schemas.openxmlformats.org/drawingml/2006/main">
            <a:pPr algn="l">
              <a:lnSpc>
                <a:spcPct val="95000"/>
              </a:lnSpc>
              <a:buNone/>
              <a:defRPr sz="1350" b="0">
                <a:solidFill>
                  <a:srgbClr val="667085"/>
                </a:solidFill>
                <a:latin typeface="STHeiti"/>
                <a:ea typeface="STHeiti"/>
                <a:cs typeface="STHeiti"/>
              </a:defRPr>
            </a:pPr>
            <a:r>
              <a:rPr sz="1350" b="0">
                <a:solidFill>
                  <a:srgbClr val="667085"/>
                </a:solidFill>
                <a:latin typeface="STHeiti"/>
                <a:ea typeface="STHeiti"/>
                <a:cs typeface="STHeiti"/>
              </a:rPr>
              <a:t>约为2025全年交易额的73%</a:t>
            </a:r>
            <a:endParaRPr sz="1350" b="0">
              <a:solidFill>
                <a:srgbClr val="667085"/>
              </a:solidFill>
              <a:latin typeface="STHeiti"/>
              <a:ea typeface="STHeiti"/>
              <a:cs typeface="STHeiti"/>
            </a:endParaRPr>
          </a:p>
        </p:txBody>
      </p:sp>
      <p:sp>
        <p:nvSpPr>
          <p:cNvPr id="13" name="stage1-rule">
            <a:extLst xmlns:a="http://schemas.openxmlformats.org/drawingml/2006/main">
              <a:ext uri="{FF2B5EF4-FFF2-40B4-BE49-F238E27FC236}">
                <a16:creationId xmlns:a16="http://schemas.microsoft.com/office/drawing/2014/main" id="{D9DDA23D-19B6-43AE-8D93-2F8F952B290E}"/>
              </a:ext>
            </a:extLst>
          </p:cNvPr>
          <p:cNvSpPr>
            <a:spLocks xmlns:a="http://schemas.openxmlformats.org/drawingml/2006/main" noGrp="1"/>
          </p:cNvSpPr>
          <p:nvPr/>
        </p:nvSpPr>
        <p:spPr>
          <a:xfrm xmlns:a="http://schemas.openxmlformats.org/drawingml/2006/main">
            <a:off x="714375" y="3790950"/>
            <a:ext cx="28575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14" name="stage1-meaning">
            <a:extLst xmlns:a="http://schemas.openxmlformats.org/drawingml/2006/main">
              <a:ext uri="{FF2B5EF4-FFF2-40B4-BE49-F238E27FC236}">
                <a16:creationId xmlns:a16="http://schemas.microsoft.com/office/drawing/2014/main" id="{C6B486DE-AAAD-4DF6-A648-420EFE11D7B1}"/>
              </a:ext>
            </a:extLst>
          </p:cNvPr>
          <p:cNvSpPr>
            <a:spLocks xmlns:a="http://schemas.openxmlformats.org/drawingml/2006/main" noGrp="1"/>
          </p:cNvSpPr>
          <p:nvPr/>
        </p:nvSpPr>
        <p:spPr>
          <a:xfrm xmlns:a="http://schemas.openxmlformats.org/drawingml/2006/main">
            <a:off x="714375" y="40005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650" b="1">
                <a:solidFill>
                  <a:srgbClr val="101828"/>
                </a:solidFill>
                <a:latin typeface="STHeiti"/>
                <a:ea typeface="STHeiti"/>
                <a:cs typeface="STHeiti"/>
              </a:defRPr>
            </a:pPr>
            <a:r>
              <a:rPr sz="1650" b="1">
                <a:solidFill>
                  <a:srgbClr val="101828"/>
                </a:solidFill>
                <a:latin typeface="STHeiti"/>
                <a:ea typeface="STHeiti"/>
                <a:cs typeface="STHeiti"/>
              </a:rPr>
              <a:t>中国创新资产</a:t>
            </a:r>
            <a:endParaRPr sz="1650" b="1">
              <a:solidFill>
                <a:srgbClr val="101828"/>
              </a:solidFill>
              <a:latin typeface="STHeiti"/>
              <a:ea typeface="STHeiti"/>
              <a:cs typeface="STHeiti"/>
            </a:endParaRPr>
          </a:p>
          <a:p xmlns:a="http://schemas.openxmlformats.org/drawingml/2006/main">
            <a:pPr algn="l">
              <a:lnSpc>
                <a:spcPct val="95000"/>
              </a:lnSpc>
              <a:buNone/>
              <a:defRPr sz="1650" b="1">
                <a:solidFill>
                  <a:srgbClr val="101828"/>
                </a:solidFill>
                <a:latin typeface="STHeiti"/>
                <a:ea typeface="STHeiti"/>
                <a:cs typeface="STHeiti"/>
              </a:defRPr>
            </a:pPr>
            <a:r>
              <a:rPr sz="1650" b="1">
                <a:solidFill>
                  <a:srgbClr val="101828"/>
                </a:solidFill>
                <a:latin typeface="STHeiti"/>
                <a:ea typeface="STHeiti"/>
                <a:cs typeface="STHeiti"/>
              </a:rPr>
              <a:t>从“可选”变为“必选”</a:t>
            </a:r>
            <a:endParaRPr sz="1650" b="1">
              <a:solidFill>
                <a:srgbClr val="101828"/>
              </a:solidFill>
              <a:latin typeface="STHeiti"/>
              <a:ea typeface="STHeiti"/>
              <a:cs typeface="STHeiti"/>
            </a:endParaRPr>
          </a:p>
        </p:txBody>
      </p:sp>
      <p:sp>
        <p:nvSpPr>
          <p:cNvPr id="15" name="stage2-head">
            <a:extLst xmlns:a="http://schemas.openxmlformats.org/drawingml/2006/main">
              <a:ext uri="{FF2B5EF4-FFF2-40B4-BE49-F238E27FC236}">
                <a16:creationId xmlns:a16="http://schemas.microsoft.com/office/drawing/2014/main" id="{AE4E15ED-7AAE-4CA2-8AC0-5B7DE5D2D523}"/>
              </a:ext>
            </a:extLst>
          </p:cNvPr>
          <p:cNvSpPr>
            <a:spLocks xmlns:a="http://schemas.openxmlformats.org/drawingml/2006/main" noGrp="1"/>
          </p:cNvSpPr>
          <p:nvPr/>
        </p:nvSpPr>
        <p:spPr>
          <a:xfrm xmlns:a="http://schemas.openxmlformats.org/drawingml/2006/main">
            <a:off x="4638675" y="20383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800" b="1">
                <a:solidFill>
                  <a:srgbClr val="2F6BFF"/>
                </a:solidFill>
                <a:latin typeface="STHeiti"/>
                <a:ea typeface="STHeiti"/>
                <a:cs typeface="STHeiti"/>
              </a:defRPr>
            </a:pPr>
            <a:r>
              <a:rPr sz="1800" b="1">
                <a:solidFill>
                  <a:srgbClr val="2F6BFF"/>
                </a:solidFill>
                <a:latin typeface="STHeiti"/>
                <a:ea typeface="STHeiti"/>
                <a:cs typeface="STHeiti"/>
              </a:rPr>
              <a:t>② 现金回流</a:t>
            </a:r>
            <a:endParaRPr sz="1800" b="1">
              <a:solidFill>
                <a:srgbClr val="2F6BFF"/>
              </a:solidFill>
              <a:latin typeface="STHeiti"/>
              <a:ea typeface="STHeiti"/>
              <a:cs typeface="STHeiti"/>
            </a:endParaRPr>
          </a:p>
        </p:txBody>
      </p:sp>
      <p:sp>
        <p:nvSpPr>
          <p:cNvPr id="16" name="stage2-metric-value">
            <a:extLst xmlns:a="http://schemas.openxmlformats.org/drawingml/2006/main">
              <a:ext uri="{FF2B5EF4-FFF2-40B4-BE49-F238E27FC236}">
                <a16:creationId xmlns:a16="http://schemas.microsoft.com/office/drawing/2014/main" id="{06B8AE83-4368-4D1E-8237-C6085A68CAA9}"/>
              </a:ext>
            </a:extLst>
          </p:cNvPr>
          <p:cNvSpPr>
            <a:spLocks xmlns:a="http://schemas.openxmlformats.org/drawingml/2006/main" noGrp="1"/>
          </p:cNvSpPr>
          <p:nvPr/>
        </p:nvSpPr>
        <p:spPr>
          <a:xfrm xmlns:a="http://schemas.openxmlformats.org/drawingml/2006/main">
            <a:off x="4638675" y="254317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3225" b="1">
                <a:solidFill>
                  <a:srgbClr val="2F6BFF"/>
                </a:solidFill>
                <a:latin typeface="STHeiti"/>
                <a:ea typeface="STHeiti"/>
                <a:cs typeface="STHeiti"/>
              </a:defRPr>
            </a:pPr>
            <a:r>
              <a:rPr sz="3225" b="1">
                <a:solidFill>
                  <a:srgbClr val="2F6BFF"/>
                </a:solidFill>
                <a:latin typeface="STHeiti"/>
                <a:ea typeface="STHeiti"/>
                <a:cs typeface="STHeiti"/>
              </a:rPr>
              <a:t>≈60亿美元</a:t>
            </a:r>
            <a:endParaRPr sz="3225" b="1">
              <a:solidFill>
                <a:srgbClr val="2F6BFF"/>
              </a:solidFill>
              <a:latin typeface="STHeiti"/>
              <a:ea typeface="STHeiti"/>
              <a:cs typeface="STHeiti"/>
            </a:endParaRPr>
          </a:p>
        </p:txBody>
      </p:sp>
      <p:sp>
        <p:nvSpPr>
          <p:cNvPr id="17" name="stage2-metric-label">
            <a:extLst xmlns:a="http://schemas.openxmlformats.org/drawingml/2006/main">
              <a:ext uri="{FF2B5EF4-FFF2-40B4-BE49-F238E27FC236}">
                <a16:creationId xmlns:a16="http://schemas.microsoft.com/office/drawing/2014/main" id="{BA6178AB-6D83-479E-AB9D-9FCE1DB6F30A}"/>
              </a:ext>
            </a:extLst>
          </p:cNvPr>
          <p:cNvSpPr>
            <a:spLocks xmlns:a="http://schemas.openxmlformats.org/drawingml/2006/main" noGrp="1"/>
          </p:cNvSpPr>
          <p:nvPr/>
        </p:nvSpPr>
        <p:spPr>
          <a:xfrm xmlns:a="http://schemas.openxmlformats.org/drawingml/2006/main">
            <a:off x="4638675" y="3105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350" b="0">
                <a:solidFill>
                  <a:srgbClr val="667085"/>
                </a:solidFill>
                <a:latin typeface="STHeiti"/>
                <a:ea typeface="STHeiti"/>
                <a:cs typeface="STHeiti"/>
              </a:defRPr>
            </a:pPr>
            <a:r>
              <a:rPr sz="1350" b="0">
                <a:solidFill>
                  <a:srgbClr val="667085"/>
                </a:solidFill>
                <a:latin typeface="STHeiti"/>
                <a:ea typeface="STHeiti"/>
                <a:cs typeface="STHeiti"/>
              </a:rPr>
              <a:t>2026H1 BD首付款</a:t>
            </a:r>
            <a:endParaRPr sz="1350" b="0">
              <a:solidFill>
                <a:srgbClr val="667085"/>
              </a:solidFill>
              <a:latin typeface="STHeiti"/>
              <a:ea typeface="STHeiti"/>
              <a:cs typeface="STHeiti"/>
            </a:endParaRPr>
          </a:p>
          <a:p xmlns:a="http://schemas.openxmlformats.org/drawingml/2006/main">
            <a:pPr algn="l">
              <a:lnSpc>
                <a:spcPct val="95000"/>
              </a:lnSpc>
              <a:buNone/>
              <a:defRPr sz="1350" b="0">
                <a:solidFill>
                  <a:srgbClr val="667085"/>
                </a:solidFill>
                <a:latin typeface="STHeiti"/>
                <a:ea typeface="STHeiti"/>
                <a:cs typeface="STHeiti"/>
              </a:defRPr>
            </a:pPr>
            <a:r>
              <a:rPr sz="1350" b="0">
                <a:solidFill>
                  <a:srgbClr val="667085"/>
                </a:solidFill>
                <a:latin typeface="STHeiti"/>
                <a:ea typeface="STHeiti"/>
                <a:cs typeface="STHeiti"/>
              </a:rPr>
              <a:t>同比增长超过100%</a:t>
            </a:r>
            <a:endParaRPr sz="1350" b="0">
              <a:solidFill>
                <a:srgbClr val="667085"/>
              </a:solidFill>
              <a:latin typeface="STHeiti"/>
              <a:ea typeface="STHeiti"/>
              <a:cs typeface="STHeiti"/>
            </a:endParaRPr>
          </a:p>
        </p:txBody>
      </p:sp>
      <p:sp>
        <p:nvSpPr>
          <p:cNvPr id="18" name="stage2-rule">
            <a:extLst xmlns:a="http://schemas.openxmlformats.org/drawingml/2006/main">
              <a:ext uri="{FF2B5EF4-FFF2-40B4-BE49-F238E27FC236}">
                <a16:creationId xmlns:a16="http://schemas.microsoft.com/office/drawing/2014/main" id="{77B18C46-CB0F-4F40-AC55-549EEB7381BC}"/>
              </a:ext>
            </a:extLst>
          </p:cNvPr>
          <p:cNvSpPr>
            <a:spLocks xmlns:a="http://schemas.openxmlformats.org/drawingml/2006/main" noGrp="1"/>
          </p:cNvSpPr>
          <p:nvPr/>
        </p:nvSpPr>
        <p:spPr>
          <a:xfrm xmlns:a="http://schemas.openxmlformats.org/drawingml/2006/main">
            <a:off x="4638675" y="3790950"/>
            <a:ext cx="2857500" cy="0"/>
          </a:xfrm>
          <a:prstGeom xmlns:a="http://schemas.openxmlformats.org/drawingml/2006/main" prst="line">
            <a:avLst/>
          </a:prstGeom>
          <a:noFill xmlns:a="http://schemas.openxmlformats.org/drawingml/2006/main"/>
          <a:ln xmlns:a="http://schemas.openxmlformats.org/drawingml/2006/main" w="9525">
            <a:solidFill>
              <a:srgbClr val="AFC3FF"/>
            </a:solidFill>
            <a:prstDash val="solid"/>
          </a:ln>
        </p:spPr>
      </p:sp>
      <p:sp>
        <p:nvSpPr>
          <p:cNvPr id="19" name="stage2-meaning">
            <a:extLst xmlns:a="http://schemas.openxmlformats.org/drawingml/2006/main">
              <a:ext uri="{FF2B5EF4-FFF2-40B4-BE49-F238E27FC236}">
                <a16:creationId xmlns:a16="http://schemas.microsoft.com/office/drawing/2014/main" id="{FE279122-4292-4349-BD1A-0B6CC78C2B86}"/>
              </a:ext>
            </a:extLst>
          </p:cNvPr>
          <p:cNvSpPr>
            <a:spLocks xmlns:a="http://schemas.openxmlformats.org/drawingml/2006/main" noGrp="1"/>
          </p:cNvSpPr>
          <p:nvPr/>
        </p:nvSpPr>
        <p:spPr>
          <a:xfrm xmlns:a="http://schemas.openxmlformats.org/drawingml/2006/main">
            <a:off x="4638675" y="40005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650" b="1">
                <a:solidFill>
                  <a:srgbClr val="101828"/>
                </a:solidFill>
                <a:latin typeface="STHeiti"/>
                <a:ea typeface="STHeiti"/>
                <a:cs typeface="STHeiti"/>
              </a:defRPr>
            </a:pPr>
            <a:r>
              <a:rPr sz="1650" b="1">
                <a:solidFill>
                  <a:srgbClr val="101828"/>
                </a:solidFill>
                <a:latin typeface="STHeiti"/>
                <a:ea typeface="STHeiti"/>
                <a:cs typeface="STHeiti"/>
              </a:rPr>
              <a:t>授权收入改善现金流</a:t>
            </a:r>
            <a:endParaRPr sz="1650" b="1">
              <a:solidFill>
                <a:srgbClr val="101828"/>
              </a:solidFill>
              <a:latin typeface="STHeiti"/>
              <a:ea typeface="STHeiti"/>
              <a:cs typeface="STHeiti"/>
            </a:endParaRPr>
          </a:p>
          <a:p xmlns:a="http://schemas.openxmlformats.org/drawingml/2006/main">
            <a:pPr algn="l">
              <a:lnSpc>
                <a:spcPct val="95000"/>
              </a:lnSpc>
              <a:buNone/>
              <a:defRPr sz="1650" b="1">
                <a:solidFill>
                  <a:srgbClr val="101828"/>
                </a:solidFill>
                <a:latin typeface="STHeiti"/>
                <a:ea typeface="STHeiti"/>
                <a:cs typeface="STHeiti"/>
              </a:defRPr>
            </a:pPr>
            <a:r>
              <a:rPr sz="1650" b="1">
                <a:solidFill>
                  <a:srgbClr val="101828"/>
                </a:solidFill>
                <a:latin typeface="STHeiti"/>
                <a:ea typeface="STHeiti"/>
                <a:cs typeface="STHeiti"/>
              </a:rPr>
              <a:t>并反哺下一轮研发</a:t>
            </a:r>
            <a:endParaRPr sz="1650" b="1">
              <a:solidFill>
                <a:srgbClr val="101828"/>
              </a:solidFill>
              <a:latin typeface="STHeiti"/>
              <a:ea typeface="STHeiti"/>
              <a:cs typeface="STHeiti"/>
            </a:endParaRPr>
          </a:p>
        </p:txBody>
      </p:sp>
      <p:sp>
        <p:nvSpPr>
          <p:cNvPr id="20" name="stage3-head">
            <a:extLst xmlns:a="http://schemas.openxmlformats.org/drawingml/2006/main">
              <a:ext uri="{FF2B5EF4-FFF2-40B4-BE49-F238E27FC236}">
                <a16:creationId xmlns:a16="http://schemas.microsoft.com/office/drawing/2014/main" id="{F14F7132-AD0A-4E3C-AAC6-C9C0CE2C26DD}"/>
              </a:ext>
            </a:extLst>
          </p:cNvPr>
          <p:cNvSpPr>
            <a:spLocks xmlns:a="http://schemas.openxmlformats.org/drawingml/2006/main" noGrp="1"/>
          </p:cNvSpPr>
          <p:nvPr/>
        </p:nvSpPr>
        <p:spPr>
          <a:xfrm xmlns:a="http://schemas.openxmlformats.org/drawingml/2006/main">
            <a:off x="8562975" y="20383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800" b="1">
                <a:solidFill>
                  <a:srgbClr val="0E9F8A"/>
                </a:solidFill>
                <a:latin typeface="STHeiti"/>
                <a:ea typeface="STHeiti"/>
                <a:cs typeface="STHeiti"/>
              </a:defRPr>
            </a:pPr>
            <a:r>
              <a:rPr sz="1800" b="1">
                <a:solidFill>
                  <a:srgbClr val="0E9F8A"/>
                </a:solidFill>
                <a:latin typeface="STHeiti"/>
                <a:ea typeface="STHeiti"/>
                <a:cs typeface="STHeiti"/>
              </a:rPr>
              <a:t>③ 盈利兑现</a:t>
            </a:r>
            <a:endParaRPr sz="1800" b="1">
              <a:solidFill>
                <a:srgbClr val="0E9F8A"/>
              </a:solidFill>
              <a:latin typeface="STHeiti"/>
              <a:ea typeface="STHeiti"/>
              <a:cs typeface="STHeiti"/>
            </a:endParaRPr>
          </a:p>
        </p:txBody>
      </p:sp>
      <p:sp>
        <p:nvSpPr>
          <p:cNvPr id="21" name="stage3-metric-value">
            <a:extLst xmlns:a="http://schemas.openxmlformats.org/drawingml/2006/main">
              <a:ext uri="{FF2B5EF4-FFF2-40B4-BE49-F238E27FC236}">
                <a16:creationId xmlns:a16="http://schemas.microsoft.com/office/drawing/2014/main" id="{678F8826-B882-4C4B-AB20-C7262953AAC9}"/>
              </a:ext>
            </a:extLst>
          </p:cNvPr>
          <p:cNvSpPr>
            <a:spLocks xmlns:a="http://schemas.openxmlformats.org/drawingml/2006/main" noGrp="1"/>
          </p:cNvSpPr>
          <p:nvPr/>
        </p:nvSpPr>
        <p:spPr>
          <a:xfrm xmlns:a="http://schemas.openxmlformats.org/drawingml/2006/main">
            <a:off x="8562975" y="254317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3225" b="1">
                <a:solidFill>
                  <a:srgbClr val="0E9F8A"/>
                </a:solidFill>
                <a:latin typeface="STHeiti"/>
                <a:ea typeface="STHeiti"/>
                <a:cs typeface="STHeiti"/>
              </a:defRPr>
            </a:pPr>
            <a:r>
              <a:rPr sz="3225" b="1">
                <a:solidFill>
                  <a:srgbClr val="0E9F8A"/>
                </a:solidFill>
                <a:latin typeface="STHeiti"/>
                <a:ea typeface="STHeiti"/>
                <a:cs typeface="STHeiti"/>
              </a:rPr>
              <a:t>664亿元</a:t>
            </a:r>
            <a:endParaRPr sz="3225" b="1">
              <a:solidFill>
                <a:srgbClr val="0E9F8A"/>
              </a:solidFill>
              <a:latin typeface="STHeiti"/>
              <a:ea typeface="STHeiti"/>
              <a:cs typeface="STHeiti"/>
            </a:endParaRPr>
          </a:p>
        </p:txBody>
      </p:sp>
      <p:sp>
        <p:nvSpPr>
          <p:cNvPr id="22" name="stage3-metric-label">
            <a:extLst xmlns:a="http://schemas.openxmlformats.org/drawingml/2006/main">
              <a:ext uri="{FF2B5EF4-FFF2-40B4-BE49-F238E27FC236}">
                <a16:creationId xmlns:a16="http://schemas.microsoft.com/office/drawing/2014/main" id="{B7EEBA1B-D5CF-4C45-B949-7FBBFD73B305}"/>
              </a:ext>
            </a:extLst>
          </p:cNvPr>
          <p:cNvSpPr>
            <a:spLocks xmlns:a="http://schemas.openxmlformats.org/drawingml/2006/main" noGrp="1"/>
          </p:cNvSpPr>
          <p:nvPr/>
        </p:nvSpPr>
        <p:spPr>
          <a:xfrm xmlns:a="http://schemas.openxmlformats.org/drawingml/2006/main">
            <a:off x="8562975" y="31051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350" b="0">
                <a:solidFill>
                  <a:srgbClr val="667085"/>
                </a:solidFill>
                <a:latin typeface="STHeiti"/>
                <a:ea typeface="STHeiti"/>
                <a:cs typeface="STHeiti"/>
              </a:defRPr>
            </a:pPr>
            <a:r>
              <a:rPr sz="1350" b="0">
                <a:solidFill>
                  <a:srgbClr val="667085"/>
                </a:solidFill>
                <a:latin typeface="STHeiti"/>
                <a:ea typeface="STHeiti"/>
                <a:cs typeface="STHeiti"/>
              </a:rPr>
              <a:t>药明康德持续经营业务在手订单</a:t>
            </a:r>
            <a:endParaRPr sz="1350" b="0">
              <a:solidFill>
                <a:srgbClr val="667085"/>
              </a:solidFill>
              <a:latin typeface="STHeiti"/>
              <a:ea typeface="STHeiti"/>
              <a:cs typeface="STHeiti"/>
            </a:endParaRPr>
          </a:p>
          <a:p xmlns:a="http://schemas.openxmlformats.org/drawingml/2006/main">
            <a:pPr algn="l">
              <a:lnSpc>
                <a:spcPct val="95000"/>
              </a:lnSpc>
              <a:buNone/>
              <a:defRPr sz="1350" b="0">
                <a:solidFill>
                  <a:srgbClr val="667085"/>
                </a:solidFill>
                <a:latin typeface="STHeiti"/>
                <a:ea typeface="STHeiti"/>
                <a:cs typeface="STHeiti"/>
              </a:defRPr>
            </a:pPr>
            <a:r>
              <a:rPr sz="1350" b="0">
                <a:solidFill>
                  <a:srgbClr val="667085"/>
                </a:solidFill>
                <a:latin typeface="STHeiti"/>
                <a:ea typeface="STHeiti"/>
                <a:cs typeface="STHeiti"/>
              </a:rPr>
              <a:t>同比增长25.2%</a:t>
            </a:r>
            <a:endParaRPr sz="1350" b="0">
              <a:solidFill>
                <a:srgbClr val="667085"/>
              </a:solidFill>
              <a:latin typeface="STHeiti"/>
              <a:ea typeface="STHeiti"/>
              <a:cs typeface="STHeiti"/>
            </a:endParaRPr>
          </a:p>
        </p:txBody>
      </p:sp>
      <p:sp>
        <p:nvSpPr>
          <p:cNvPr id="23" name="stage3-rule">
            <a:extLst xmlns:a="http://schemas.openxmlformats.org/drawingml/2006/main">
              <a:ext uri="{FF2B5EF4-FFF2-40B4-BE49-F238E27FC236}">
                <a16:creationId xmlns:a16="http://schemas.microsoft.com/office/drawing/2014/main" id="{EB4BA2BC-BD2C-4F30-B945-32C95CEA1495}"/>
              </a:ext>
            </a:extLst>
          </p:cNvPr>
          <p:cNvSpPr>
            <a:spLocks xmlns:a="http://schemas.openxmlformats.org/drawingml/2006/main" noGrp="1"/>
          </p:cNvSpPr>
          <p:nvPr/>
        </p:nvSpPr>
        <p:spPr>
          <a:xfrm xmlns:a="http://schemas.openxmlformats.org/drawingml/2006/main">
            <a:off x="8562975" y="3790950"/>
            <a:ext cx="28575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4" name="stage3-meaning">
            <a:extLst xmlns:a="http://schemas.openxmlformats.org/drawingml/2006/main">
              <a:ext uri="{FF2B5EF4-FFF2-40B4-BE49-F238E27FC236}">
                <a16:creationId xmlns:a16="http://schemas.microsoft.com/office/drawing/2014/main" id="{8C67CE14-26B5-42D4-BE8A-91A762C33348}"/>
              </a:ext>
            </a:extLst>
          </p:cNvPr>
          <p:cNvSpPr>
            <a:spLocks xmlns:a="http://schemas.openxmlformats.org/drawingml/2006/main" noGrp="1"/>
          </p:cNvSpPr>
          <p:nvPr/>
        </p:nvSpPr>
        <p:spPr>
          <a:xfrm xmlns:a="http://schemas.openxmlformats.org/drawingml/2006/main">
            <a:off x="8562975" y="40005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650" b="1">
                <a:solidFill>
                  <a:srgbClr val="101828"/>
                </a:solidFill>
                <a:latin typeface="STHeiti"/>
                <a:ea typeface="STHeiti"/>
                <a:cs typeface="STHeiti"/>
              </a:defRPr>
            </a:pPr>
            <a:r>
              <a:rPr sz="1650" b="1">
                <a:solidFill>
                  <a:srgbClr val="101828"/>
                </a:solidFill>
                <a:latin typeface="STHeiti"/>
                <a:ea typeface="STHeiti"/>
                <a:cs typeface="STHeiti"/>
              </a:rPr>
              <a:t>持续经营收入 +48%</a:t>
            </a:r>
            <a:endParaRPr sz="1650" b="1">
              <a:solidFill>
                <a:srgbClr val="101828"/>
              </a:solidFill>
              <a:latin typeface="STHeiti"/>
              <a:ea typeface="STHeiti"/>
              <a:cs typeface="STHeiti"/>
            </a:endParaRPr>
          </a:p>
          <a:p xmlns:a="http://schemas.openxmlformats.org/drawingml/2006/main">
            <a:pPr algn="l">
              <a:lnSpc>
                <a:spcPct val="95000"/>
              </a:lnSpc>
              <a:buNone/>
              <a:defRPr sz="1650" b="1">
                <a:solidFill>
                  <a:srgbClr val="101828"/>
                </a:solidFill>
                <a:latin typeface="STHeiti"/>
                <a:ea typeface="STHeiti"/>
                <a:cs typeface="STHeiti"/>
              </a:defRPr>
            </a:pPr>
            <a:r>
              <a:rPr sz="1650" b="1">
                <a:solidFill>
                  <a:srgbClr val="101828"/>
                </a:solidFill>
                <a:latin typeface="STHeiti"/>
                <a:ea typeface="STHeiti"/>
                <a:cs typeface="STHeiti"/>
              </a:rPr>
              <a:t>经营现金流 +41.3%</a:t>
            </a:r>
            <a:endParaRPr sz="1650" b="1">
              <a:solidFill>
                <a:srgbClr val="101828"/>
              </a:solidFill>
              <a:latin typeface="STHeiti"/>
              <a:ea typeface="STHeiti"/>
              <a:cs typeface="STHeiti"/>
            </a:endParaRPr>
          </a:p>
        </p:txBody>
      </p:sp>
      <p:sp>
        <p:nvSpPr>
          <p:cNvPr id="25" name="thesis-banner-1">
            <a:extLst xmlns:a="http://schemas.openxmlformats.org/drawingml/2006/main">
              <a:ext uri="{FF2B5EF4-FFF2-40B4-BE49-F238E27FC236}">
                <a16:creationId xmlns:a16="http://schemas.microsoft.com/office/drawing/2014/main" id="{324AED86-9E8F-4EFB-A6A6-4886C997BB0B}"/>
              </a:ext>
            </a:extLst>
          </p:cNvPr>
          <p:cNvSpPr>
            <a:spLocks xmlns:a="http://schemas.openxmlformats.org/drawingml/2006/main" noGrp="1"/>
          </p:cNvSpPr>
          <p:nvPr/>
        </p:nvSpPr>
        <p:spPr>
          <a:xfrm xmlns:a="http://schemas.openxmlformats.org/drawingml/2006/main">
            <a:off x="457200" y="5191125"/>
            <a:ext cx="11277600" cy="742950"/>
          </a:xfrm>
          <a:prstGeom xmlns:a="http://schemas.openxmlformats.org/drawingml/2006/main" prst="roundRect">
            <a:avLst>
              <a:gd name="adj" fmla="val 10256"/>
            </a:avLst>
          </a:prstGeom>
          <a:solidFill xmlns:a="http://schemas.openxmlformats.org/drawingml/2006/main">
            <a:srgbClr val="101828"/>
          </a:solidFill>
          <a:ln xmlns:a="http://schemas.openxmlformats.org/drawingml/2006/main" w="0">
            <a:noFill/>
            <a:prstDash val="solid"/>
          </a:ln>
        </p:spPr>
      </p:sp>
      <p:sp>
        <p:nvSpPr>
          <p:cNvPr id="26" name="thesis-1">
            <a:extLst xmlns:a="http://schemas.openxmlformats.org/drawingml/2006/main">
              <a:ext uri="{FF2B5EF4-FFF2-40B4-BE49-F238E27FC236}">
                <a16:creationId xmlns:a16="http://schemas.microsoft.com/office/drawing/2014/main" id="{BFEA688A-8019-4AF1-BB34-928B9838BB1E}"/>
              </a:ext>
            </a:extLst>
          </p:cNvPr>
          <p:cNvSpPr>
            <a:spLocks xmlns:a="http://schemas.openxmlformats.org/drawingml/2006/main" noGrp="1"/>
          </p:cNvSpPr>
          <p:nvPr/>
        </p:nvSpPr>
        <p:spPr>
          <a:xfrm xmlns:a="http://schemas.openxmlformats.org/drawingml/2006/main">
            <a:off x="733425" y="5381625"/>
            <a:ext cx="10725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lnSpc>
                <a:spcPct val="95000"/>
              </a:lnSpc>
              <a:buNone/>
              <a:defRPr sz="2100" b="1">
                <a:solidFill>
                  <a:srgbClr val="FFFFFF"/>
                </a:solidFill>
                <a:latin typeface="STHeiti"/>
                <a:ea typeface="STHeiti"/>
                <a:cs typeface="STHeiti"/>
              </a:defRPr>
            </a:pPr>
            <a:r>
              <a:rPr sz="2100" b="1">
                <a:solidFill>
                  <a:srgbClr val="FFFFFF"/>
                </a:solidFill>
                <a:latin typeface="STHeiti"/>
                <a:ea typeface="STHeiti"/>
                <a:cs typeface="STHeiti"/>
              </a:rPr>
              <a:t>行业Beta</a:t>
            </a:r>
            <a:r>
              <a:rPr sz="2100" b="1">
                <a:solidFill>
                  <a:srgbClr val="FFFFFF"/>
                </a:solidFill>
                <a:latin typeface="STHeiti"/>
                <a:ea typeface="STHeiti"/>
                <a:cs typeface="STHeiti"/>
              </a:rPr>
              <a:t>性机会成立</a:t>
            </a:r>
            <a:r>
              <a:rPr sz="2100" b="1">
                <a:solidFill>
                  <a:srgbClr val="FFFFFF"/>
                </a:solidFill>
                <a:latin typeface="STHeiti"/>
                <a:ea typeface="STHeiti"/>
                <a:cs typeface="STHeiti"/>
              </a:rPr>
              <a:t>：</a:t>
            </a:r>
            <a:r>
              <a:rPr sz="2100" b="1">
                <a:solidFill>
                  <a:srgbClr val="FFFFFF"/>
                </a:solidFill>
                <a:latin typeface="STHeiti"/>
                <a:ea typeface="STHeiti"/>
                <a:cs typeface="STHeiti"/>
              </a:rPr>
              <a:t>2026年开始交易盈利与估值的“戴维斯双击”</a:t>
            </a:r>
            <a:endParaRPr sz="2100" b="1">
              <a:solidFill>
                <a:srgbClr val="FFFFFF"/>
              </a:solidFill>
              <a:latin typeface="STHeiti"/>
              <a:ea typeface="STHeiti"/>
              <a:cs typeface="STHeiti"/>
            </a:endParaRPr>
          </a:p>
        </p:txBody>
      </p:sp>
      <p:sp>
        <p:nvSpPr>
          <p:cNvPr id="27" name="footer-rule-1">
            <a:extLst xmlns:a="http://schemas.openxmlformats.org/drawingml/2006/main">
              <a:ext uri="{FF2B5EF4-FFF2-40B4-BE49-F238E27FC236}">
                <a16:creationId xmlns:a16="http://schemas.microsoft.com/office/drawing/2014/main" id="{716A363F-158C-493D-BF6A-E7632F42062F}"/>
              </a:ext>
            </a:extLst>
          </p:cNvPr>
          <p:cNvSpPr>
            <a:spLocks xmlns:a="http://schemas.openxmlformats.org/drawingml/2006/main" noGrp="1"/>
          </p:cNvSpPr>
          <p:nvPr/>
        </p:nvSpPr>
        <p:spPr>
          <a:xfrm xmlns:a="http://schemas.openxmlformats.org/drawingml/2006/main">
            <a:off x="457200" y="6200775"/>
            <a:ext cx="112776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8" name="source-1">
            <a:extLst xmlns:a="http://schemas.openxmlformats.org/drawingml/2006/main">
              <a:ext uri="{FF2B5EF4-FFF2-40B4-BE49-F238E27FC236}">
                <a16:creationId xmlns:a16="http://schemas.microsoft.com/office/drawing/2014/main" id="{CCFBAEA1-94DB-41B5-BE27-C24A86046930}"/>
              </a:ext>
            </a:extLst>
          </p:cNvPr>
          <p:cNvSpPr>
            <a:spLocks xmlns:a="http://schemas.openxmlformats.org/drawingml/2006/main" noGrp="1"/>
          </p:cNvSpPr>
          <p:nvPr/>
        </p:nvSpPr>
        <p:spPr>
          <a:xfrm xmlns:a="http://schemas.openxmlformats.org/drawingml/2006/main">
            <a:off x="457200" y="6286500"/>
            <a:ext cx="1062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865" b="0">
                <a:solidFill>
                  <a:srgbClr val="667085"/>
                </a:solidFill>
                <a:latin typeface="STHeiti"/>
                <a:ea typeface="STHeiti"/>
                <a:cs typeface="STHeiti"/>
              </a:defRPr>
            </a:pPr>
            <a:r>
              <a:rPr sz="865" b="0">
                <a:solidFill>
                  <a:srgbClr val="667085"/>
                </a:solidFill>
                <a:latin typeface="STHeiti"/>
                <a:ea typeface="STHeiti"/>
                <a:cs typeface="STHeiti"/>
              </a:rPr>
              <a:t>来源：国家医保局；国金</a:t>
            </a:r>
            <a:r>
              <a:rPr sz="865" b="0">
                <a:solidFill>
                  <a:srgbClr val="667085"/>
                </a:solidFill>
                <a:latin typeface="STHeiti"/>
                <a:ea typeface="STHeiti"/>
                <a:cs typeface="STHeiti"/>
              </a:rPr>
              <a:t>证券</a:t>
            </a:r>
            <a:r>
              <a:rPr sz="865" b="0">
                <a:solidFill>
                  <a:srgbClr val="667085"/>
                </a:solidFill>
                <a:latin typeface="STHeiti"/>
                <a:ea typeface="STHeiti"/>
                <a:cs typeface="STHeiti"/>
              </a:rPr>
              <a:t>；</a:t>
            </a:r>
            <a:r>
              <a:rPr sz="865" b="0">
                <a:solidFill>
                  <a:srgbClr val="667085"/>
                </a:solidFill>
                <a:latin typeface="STHeiti"/>
                <a:ea typeface="STHeiti"/>
                <a:cs typeface="STHeiti"/>
              </a:rPr>
              <a:t>浙商证券</a:t>
            </a:r>
            <a:r>
              <a:rPr sz="865" b="0">
                <a:solidFill>
                  <a:srgbClr val="667085"/>
                </a:solidFill>
                <a:latin typeface="STHeiti"/>
                <a:ea typeface="STHeiti"/>
                <a:cs typeface="STHeiti"/>
              </a:rPr>
              <a:t>；</a:t>
            </a:r>
            <a:r>
              <a:rPr sz="865" b="0">
                <a:solidFill>
                  <a:srgbClr val="667085"/>
                </a:solidFill>
                <a:latin typeface="STHeiti"/>
                <a:ea typeface="STHeiti"/>
                <a:cs typeface="STHeiti"/>
              </a:rPr>
              <a:t>药明康德</a:t>
            </a:r>
            <a:endParaRPr sz="865" b="0">
              <a:solidFill>
                <a:srgbClr val="667085"/>
              </a:solidFill>
              <a:latin typeface="STHeiti"/>
              <a:ea typeface="STHeiti"/>
              <a:cs typeface="STHeiti"/>
            </a:endParaRPr>
          </a:p>
        </p:txBody>
      </p:sp>
      <p:sp>
        <p:nvSpPr>
          <p:cNvPr id="29" name="page-1">
            <a:extLst xmlns:a="http://schemas.openxmlformats.org/drawingml/2006/main">
              <a:ext uri="{FF2B5EF4-FFF2-40B4-BE49-F238E27FC236}">
                <a16:creationId xmlns:a16="http://schemas.microsoft.com/office/drawing/2014/main" id="{E2B60BD2-050B-4478-9FA9-D27613CDEBEA}"/>
              </a:ext>
            </a:extLst>
          </p:cNvPr>
          <p:cNvSpPr>
            <a:spLocks xmlns:a="http://schemas.openxmlformats.org/drawingml/2006/main" noGrp="1"/>
          </p:cNvSpPr>
          <p:nvPr/>
        </p:nvSpPr>
        <p:spPr>
          <a:xfrm xmlns:a="http://schemas.openxmlformats.org/drawingml/2006/main">
            <a:off x="11239500" y="62865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95000"/>
              </a:lnSpc>
              <a:buNone/>
              <a:defRPr sz="975" b="1">
                <a:solidFill>
                  <a:srgbClr val="667085"/>
                </a:solidFill>
                <a:latin typeface="STHeiti"/>
                <a:ea typeface="STHeiti"/>
                <a:cs typeface="STHeiti"/>
              </a:defRPr>
            </a:pPr>
            <a:r>
              <a:rPr sz="975" b="1">
                <a:solidFill>
                  <a:srgbClr val="667085"/>
                </a:solidFill>
                <a:latin typeface="STHeiti"/>
                <a:ea typeface="STHeiti"/>
                <a:cs typeface="STHeiti"/>
              </a:rPr>
              <a:t>01</a:t>
            </a:r>
            <a:endParaRPr sz="975" b="1">
              <a:solidFill>
                <a:srgbClr val="667085"/>
              </a:solidFill>
              <a:latin typeface="STHeiti"/>
              <a:ea typeface="STHeiti"/>
              <a:cs typeface="STHeiti"/>
            </a:endParaRPr>
          </a:p>
        </p:txBody>
      </p:sp>
    </p:spTree>
    <p:extLst>
      <p:ext uri="{BB962C8B-B14F-4D97-AF65-F5344CB8AC3E}">
        <p14:creationId xmlns:p14="http://schemas.microsoft.com/office/powerpoint/2010/main" val="6356697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2">
            <a:extLst xmlns:a="http://schemas.openxmlformats.org/drawingml/2006/main">
              <a:ext uri="{FF2B5EF4-FFF2-40B4-BE49-F238E27FC236}">
                <a16:creationId xmlns:a16="http://schemas.microsoft.com/office/drawing/2014/main" id="{7169CE78-FA49-450C-9613-1C8A0D9A13D1}"/>
              </a:ext>
            </a:extLst>
          </p:cNvPr>
          <p:cNvSpPr>
            <a:spLocks xmlns:a="http://schemas.openxmlformats.org/drawingml/2006/main" noGrp="1"/>
          </p:cNvSpPr>
          <p:nvPr/>
        </p:nvSpPr>
        <p:spPr>
          <a:xfrm xmlns:a="http://schemas.openxmlformats.org/drawingml/2006/main">
            <a:off x="457200" y="49530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95000"/>
              </a:lnSpc>
              <a:buNone/>
              <a:defRPr sz="3600" b="1">
                <a:solidFill>
                  <a:srgbClr val="101828"/>
                </a:solidFill>
                <a:latin typeface="STHeiti"/>
                <a:ea typeface="STHeiti"/>
                <a:cs typeface="STHeiti"/>
              </a:defRPr>
            </a:pPr>
            <a:r>
              <a:rPr sz="3600" b="1">
                <a:solidFill>
                  <a:srgbClr val="101828"/>
                </a:solidFill>
                <a:latin typeface="STHeiti"/>
                <a:ea typeface="STHeiti"/>
                <a:cs typeface="STHeiti"/>
              </a:rPr>
              <a:t>2026年医药行情大概率强于2025年Q3</a:t>
            </a:r>
            <a:endParaRPr sz="3600" b="1">
              <a:solidFill>
                <a:srgbClr val="101828"/>
              </a:solidFill>
              <a:latin typeface="STHeiti"/>
              <a:ea typeface="STHeiti"/>
              <a:cs typeface="STHeiti"/>
            </a:endParaRPr>
          </a:p>
        </p:txBody>
      </p:sp>
      <p:sp>
        <p:nvSpPr>
          <p:cNvPr id="3" name="accent-2">
            <a:extLst xmlns:a="http://schemas.openxmlformats.org/drawingml/2006/main">
              <a:ext uri="{FF2B5EF4-FFF2-40B4-BE49-F238E27FC236}">
                <a16:creationId xmlns:a16="http://schemas.microsoft.com/office/drawing/2014/main" id="{94859C0A-3E1E-4348-88A7-C52A0819AF9E}"/>
              </a:ext>
            </a:extLst>
          </p:cNvPr>
          <p:cNvSpPr>
            <a:spLocks xmlns:a="http://schemas.openxmlformats.org/drawingml/2006/main" noGrp="1"/>
          </p:cNvSpPr>
          <p:nvPr/>
        </p:nvSpPr>
        <p:spPr>
          <a:xfrm xmlns:a="http://schemas.openxmlformats.org/drawingml/2006/main">
            <a:off x="457200" y="1162050"/>
            <a:ext cx="876300" cy="0"/>
          </a:xfrm>
          <a:prstGeom xmlns:a="http://schemas.openxmlformats.org/drawingml/2006/main" prst="line">
            <a:avLst/>
          </a:prstGeom>
          <a:noFill xmlns:a="http://schemas.openxmlformats.org/drawingml/2006/main"/>
          <a:ln xmlns:a="http://schemas.openxmlformats.org/drawingml/2006/main" w="47625">
            <a:solidFill>
              <a:srgbClr val="2F6BFF"/>
            </a:solidFill>
            <a:prstDash val="solid"/>
          </a:ln>
        </p:spPr>
      </p:sp>
      <p:sp>
        <p:nvSpPr>
          <p:cNvPr id="5" name="chart-caption-2">
            <a:extLst xmlns:a="http://schemas.openxmlformats.org/drawingml/2006/main">
              <a:ext uri="{FF2B5EF4-FFF2-40B4-BE49-F238E27FC236}">
                <a16:creationId xmlns:a16="http://schemas.microsoft.com/office/drawing/2014/main" id="{296DDF03-98CB-453E-9949-723B17098767}"/>
              </a:ext>
            </a:extLst>
          </p:cNvPr>
          <p:cNvSpPr>
            <a:spLocks xmlns:a="http://schemas.openxmlformats.org/drawingml/2006/main" noGrp="1"/>
          </p:cNvSpPr>
          <p:nvPr/>
        </p:nvSpPr>
        <p:spPr>
          <a:xfrm xmlns:a="http://schemas.openxmlformats.org/drawingml/2006/main">
            <a:off x="457200" y="127635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275" b="1">
                <a:solidFill>
                  <a:srgbClr val="667085"/>
                </a:solidFill>
                <a:latin typeface="STHeiti"/>
                <a:ea typeface="STHeiti"/>
                <a:cs typeface="STHeiti"/>
              </a:defRPr>
            </a:pPr>
            <a:r>
              <a:rPr sz="1275" b="1">
                <a:solidFill>
                  <a:srgbClr val="667085"/>
                </a:solidFill>
                <a:latin typeface="STHeiti"/>
                <a:ea typeface="STHeiti"/>
                <a:cs typeface="STHeiti"/>
              </a:rPr>
              <a:t>为什么2025更像轮动，2026更可能形成持续Alpha</a:t>
            </a:r>
            <a:endParaRPr sz="1275" b="1">
              <a:solidFill>
                <a:srgbClr val="667085"/>
              </a:solidFill>
              <a:latin typeface="STHeiti"/>
              <a:ea typeface="STHeiti"/>
              <a:cs typeface="STHeiti"/>
            </a:endParaRPr>
          </a:p>
        </p:txBody>
      </p:sp>
      <p:sp>
        <p:nvSpPr>
          <p:cNvPr id="7" name="logic-card-1">
            <a:extLst xmlns:a="http://schemas.openxmlformats.org/drawingml/2006/main">
              <a:ext uri="{FF2B5EF4-FFF2-40B4-BE49-F238E27FC236}">
                <a16:creationId xmlns:a16="http://schemas.microsoft.com/office/drawing/2014/main" id="{2F851399-7AD1-4C32-82FC-394414205362}"/>
              </a:ext>
            </a:extLst>
          </p:cNvPr>
          <p:cNvSpPr>
            <a:spLocks xmlns:a="http://schemas.openxmlformats.org/drawingml/2006/main" noGrp="1"/>
          </p:cNvSpPr>
          <p:nvPr/>
        </p:nvSpPr>
        <p:spPr>
          <a:xfrm xmlns:a="http://schemas.openxmlformats.org/drawingml/2006/main">
            <a:off x="7029450" y="1333500"/>
            <a:ext cx="4667250" cy="1162050"/>
          </a:xfrm>
          <a:prstGeom xmlns:a="http://schemas.openxmlformats.org/drawingml/2006/main" prst="roundRect">
            <a:avLst>
              <a:gd name="adj" fmla="val 9836"/>
            </a:avLst>
          </a:prstGeom>
          <a:solidFill xmlns:a="http://schemas.openxmlformats.org/drawingml/2006/main">
            <a:srgbClr val="F2F4F7"/>
          </a:solidFill>
          <a:ln xmlns:a="http://schemas.openxmlformats.org/drawingml/2006/main" w="0">
            <a:noFill/>
            <a:prstDash val="solid"/>
          </a:ln>
        </p:spPr>
      </p:sp>
      <p:sp>
        <p:nvSpPr>
          <p:cNvPr id="8" name="logic-title-1">
            <a:extLst xmlns:a="http://schemas.openxmlformats.org/drawingml/2006/main">
              <a:ext uri="{FF2B5EF4-FFF2-40B4-BE49-F238E27FC236}">
                <a16:creationId xmlns:a16="http://schemas.microsoft.com/office/drawing/2014/main" id="{FF0920AA-A9D0-4907-BF2B-D2E211ACEFC1}"/>
              </a:ext>
            </a:extLst>
          </p:cNvPr>
          <p:cNvSpPr>
            <a:spLocks xmlns:a="http://schemas.openxmlformats.org/drawingml/2006/main" noGrp="1"/>
          </p:cNvSpPr>
          <p:nvPr/>
        </p:nvSpPr>
        <p:spPr>
          <a:xfrm xmlns:a="http://schemas.openxmlformats.org/drawingml/2006/main">
            <a:off x="7296150" y="15335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575" b="1">
                <a:solidFill>
                  <a:srgbClr val="2F6BFF"/>
                </a:solidFill>
                <a:latin typeface="STHeiti"/>
                <a:ea typeface="STHeiti"/>
                <a:cs typeface="STHeiti"/>
              </a:defRPr>
            </a:pPr>
            <a:r>
              <a:rPr sz="1575" b="1">
                <a:solidFill>
                  <a:srgbClr val="2F6BFF"/>
                </a:solidFill>
                <a:latin typeface="STHeiti"/>
                <a:ea typeface="STHeiti"/>
                <a:cs typeface="STHeiti"/>
              </a:rPr>
              <a:t>① 独立于大盘</a:t>
            </a:r>
            <a:endParaRPr sz="1575" b="1">
              <a:solidFill>
                <a:srgbClr val="2F6BFF"/>
              </a:solidFill>
              <a:latin typeface="STHeiti"/>
              <a:ea typeface="STHeiti"/>
              <a:cs typeface="STHeiti"/>
            </a:endParaRPr>
          </a:p>
        </p:txBody>
      </p:sp>
      <p:sp>
        <p:nvSpPr>
          <p:cNvPr id="9" name="logic-main-1">
            <a:extLst xmlns:a="http://schemas.openxmlformats.org/drawingml/2006/main">
              <a:ext uri="{FF2B5EF4-FFF2-40B4-BE49-F238E27FC236}">
                <a16:creationId xmlns:a16="http://schemas.microsoft.com/office/drawing/2014/main" id="{D39E9EB1-F6FA-4A5A-9C9F-21FF3B9BE1A9}"/>
              </a:ext>
            </a:extLst>
          </p:cNvPr>
          <p:cNvSpPr>
            <a:spLocks xmlns:a="http://schemas.openxmlformats.org/drawingml/2006/main" noGrp="1"/>
          </p:cNvSpPr>
          <p:nvPr/>
        </p:nvSpPr>
        <p:spPr>
          <a:xfrm xmlns:a="http://schemas.openxmlformats.org/drawingml/2006/main">
            <a:off x="7296150" y="1876425"/>
            <a:ext cx="4048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875" b="1">
                <a:solidFill>
                  <a:srgbClr val="101828"/>
                </a:solidFill>
                <a:latin typeface="STHeiti"/>
                <a:ea typeface="STHeiti"/>
                <a:cs typeface="STHeiti"/>
              </a:defRPr>
            </a:pPr>
            <a:r>
              <a:rPr sz="1875" b="1">
                <a:solidFill>
                  <a:srgbClr val="101828"/>
                </a:solidFill>
                <a:latin typeface="STHeiti"/>
                <a:ea typeface="STHeiti"/>
                <a:cs typeface="STHeiti"/>
              </a:rPr>
              <a:t>已满足  ✓</a:t>
            </a:r>
            <a:endParaRPr sz="1875" b="1">
              <a:solidFill>
                <a:srgbClr val="101828"/>
              </a:solidFill>
              <a:latin typeface="STHeiti"/>
              <a:ea typeface="STHeiti"/>
              <a:cs typeface="STHeiti"/>
            </a:endParaRPr>
          </a:p>
        </p:txBody>
      </p:sp>
      <p:sp>
        <p:nvSpPr>
          <p:cNvPr id="10" name="logic-sub-1">
            <a:extLst xmlns:a="http://schemas.openxmlformats.org/drawingml/2006/main">
              <a:ext uri="{FF2B5EF4-FFF2-40B4-BE49-F238E27FC236}">
                <a16:creationId xmlns:a16="http://schemas.microsoft.com/office/drawing/2014/main" id="{2B393D38-B160-4898-98AB-16306276F3F9}"/>
              </a:ext>
            </a:extLst>
          </p:cNvPr>
          <p:cNvSpPr>
            <a:spLocks xmlns:a="http://schemas.openxmlformats.org/drawingml/2006/main" noGrp="1"/>
          </p:cNvSpPr>
          <p:nvPr/>
        </p:nvSpPr>
        <p:spPr>
          <a:xfrm xmlns:a="http://schemas.openxmlformats.org/drawingml/2006/main">
            <a:off x="7296150" y="2228850"/>
            <a:ext cx="404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200" b="0">
                <a:solidFill>
                  <a:srgbClr val="667085"/>
                </a:solidFill>
                <a:latin typeface="STHeiti"/>
                <a:ea typeface="STHeiti"/>
                <a:cs typeface="STHeiti"/>
              </a:defRPr>
            </a:pPr>
            <a:r>
              <a:rPr sz="1200" b="0">
                <a:solidFill>
                  <a:srgbClr val="667085"/>
                </a:solidFill>
                <a:latin typeface="STHeiti"/>
                <a:ea typeface="STHeiti"/>
                <a:cs typeface="STHeiti"/>
              </a:rPr>
              <a:t>大盘-5.6%，医药+9.9%；超额+15.5pp</a:t>
            </a:r>
            <a:endParaRPr sz="1200" b="0">
              <a:solidFill>
                <a:srgbClr val="667085"/>
              </a:solidFill>
              <a:latin typeface="STHeiti"/>
              <a:ea typeface="STHeiti"/>
              <a:cs typeface="STHeiti"/>
            </a:endParaRPr>
          </a:p>
        </p:txBody>
      </p:sp>
      <p:sp>
        <p:nvSpPr>
          <p:cNvPr id="11" name="logic-card-2">
            <a:extLst xmlns:a="http://schemas.openxmlformats.org/drawingml/2006/main">
              <a:ext uri="{FF2B5EF4-FFF2-40B4-BE49-F238E27FC236}">
                <a16:creationId xmlns:a16="http://schemas.microsoft.com/office/drawing/2014/main" id="{F50CD5E5-911C-4604-9202-B1184280136A}"/>
              </a:ext>
            </a:extLst>
          </p:cNvPr>
          <p:cNvSpPr>
            <a:spLocks xmlns:a="http://schemas.openxmlformats.org/drawingml/2006/main" noGrp="1"/>
          </p:cNvSpPr>
          <p:nvPr/>
        </p:nvSpPr>
        <p:spPr>
          <a:xfrm xmlns:a="http://schemas.openxmlformats.org/drawingml/2006/main">
            <a:off x="7029450" y="2657475"/>
            <a:ext cx="4667250" cy="1162050"/>
          </a:xfrm>
          <a:prstGeom xmlns:a="http://schemas.openxmlformats.org/drawingml/2006/main" prst="roundRect">
            <a:avLst>
              <a:gd name="adj" fmla="val 9836"/>
            </a:avLst>
          </a:prstGeom>
          <a:solidFill xmlns:a="http://schemas.openxmlformats.org/drawingml/2006/main">
            <a:srgbClr val="EAF0FF"/>
          </a:solidFill>
          <a:ln xmlns:a="http://schemas.openxmlformats.org/drawingml/2006/main" w="0">
            <a:noFill/>
            <a:prstDash val="solid"/>
          </a:ln>
        </p:spPr>
      </p:sp>
      <p:sp>
        <p:nvSpPr>
          <p:cNvPr id="12" name="logic-title-2">
            <a:extLst xmlns:a="http://schemas.openxmlformats.org/drawingml/2006/main">
              <a:ext uri="{FF2B5EF4-FFF2-40B4-BE49-F238E27FC236}">
                <a16:creationId xmlns:a16="http://schemas.microsoft.com/office/drawing/2014/main" id="{EC691FB5-641C-4C42-AA94-A03BC2C701A0}"/>
              </a:ext>
            </a:extLst>
          </p:cNvPr>
          <p:cNvSpPr>
            <a:spLocks xmlns:a="http://schemas.openxmlformats.org/drawingml/2006/main" noGrp="1"/>
          </p:cNvSpPr>
          <p:nvPr/>
        </p:nvSpPr>
        <p:spPr>
          <a:xfrm xmlns:a="http://schemas.openxmlformats.org/drawingml/2006/main">
            <a:off x="7296150" y="28575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575" b="1">
                <a:solidFill>
                  <a:srgbClr val="2F6BFF"/>
                </a:solidFill>
                <a:latin typeface="STHeiti"/>
                <a:ea typeface="STHeiti"/>
                <a:cs typeface="STHeiti"/>
              </a:defRPr>
            </a:pPr>
            <a:r>
              <a:rPr sz="1575" b="1">
                <a:solidFill>
                  <a:srgbClr val="2F6BFF"/>
                </a:solidFill>
                <a:latin typeface="STHeiti"/>
                <a:ea typeface="STHeiti"/>
                <a:cs typeface="STHeiti"/>
              </a:rPr>
              <a:t>② 盈利持续上修</a:t>
            </a:r>
            <a:endParaRPr sz="1575" b="1">
              <a:solidFill>
                <a:srgbClr val="2F6BFF"/>
              </a:solidFill>
              <a:latin typeface="STHeiti"/>
              <a:ea typeface="STHeiti"/>
              <a:cs typeface="STHeiti"/>
            </a:endParaRPr>
          </a:p>
        </p:txBody>
      </p:sp>
      <p:sp>
        <p:nvSpPr>
          <p:cNvPr id="13" name="logic-main-2">
            <a:extLst xmlns:a="http://schemas.openxmlformats.org/drawingml/2006/main">
              <a:ext uri="{FF2B5EF4-FFF2-40B4-BE49-F238E27FC236}">
                <a16:creationId xmlns:a16="http://schemas.microsoft.com/office/drawing/2014/main" id="{B3059B9B-2464-4BA2-B38F-9A7D560E0CD2}"/>
              </a:ext>
            </a:extLst>
          </p:cNvPr>
          <p:cNvSpPr>
            <a:spLocks xmlns:a="http://schemas.openxmlformats.org/drawingml/2006/main" noGrp="1"/>
          </p:cNvSpPr>
          <p:nvPr/>
        </p:nvSpPr>
        <p:spPr>
          <a:xfrm xmlns:a="http://schemas.openxmlformats.org/drawingml/2006/main">
            <a:off x="7296150" y="3200400"/>
            <a:ext cx="4048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875" b="1">
                <a:solidFill>
                  <a:srgbClr val="101828"/>
                </a:solidFill>
                <a:latin typeface="STHeiti"/>
                <a:ea typeface="STHeiti"/>
                <a:cs typeface="STHeiti"/>
              </a:defRPr>
            </a:pPr>
            <a:r>
              <a:rPr sz="1875" b="1">
                <a:solidFill>
                  <a:srgbClr val="101828"/>
                </a:solidFill>
                <a:latin typeface="STHeiti"/>
                <a:ea typeface="STHeiti"/>
                <a:cs typeface="STHeiti"/>
              </a:rPr>
              <a:t>已满足  ✓</a:t>
            </a:r>
            <a:endParaRPr sz="1875" b="1">
              <a:solidFill>
                <a:srgbClr val="101828"/>
              </a:solidFill>
              <a:latin typeface="STHeiti"/>
              <a:ea typeface="STHeiti"/>
              <a:cs typeface="STHeiti"/>
            </a:endParaRPr>
          </a:p>
        </p:txBody>
      </p:sp>
      <p:sp>
        <p:nvSpPr>
          <p:cNvPr id="14" name="logic-sub-2">
            <a:extLst xmlns:a="http://schemas.openxmlformats.org/drawingml/2006/main">
              <a:ext uri="{FF2B5EF4-FFF2-40B4-BE49-F238E27FC236}">
                <a16:creationId xmlns:a16="http://schemas.microsoft.com/office/drawing/2014/main" id="{78864D5E-7DEF-4483-8439-A1E96C2B0F2C}"/>
              </a:ext>
            </a:extLst>
          </p:cNvPr>
          <p:cNvSpPr>
            <a:spLocks xmlns:a="http://schemas.openxmlformats.org/drawingml/2006/main" noGrp="1"/>
          </p:cNvSpPr>
          <p:nvPr/>
        </p:nvSpPr>
        <p:spPr>
          <a:xfrm xmlns:a="http://schemas.openxmlformats.org/drawingml/2006/main">
            <a:off x="7296150" y="3552825"/>
            <a:ext cx="4048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200" b="0">
                <a:solidFill>
                  <a:srgbClr val="667085"/>
                </a:solidFill>
                <a:latin typeface="STHeiti"/>
                <a:ea typeface="STHeiti"/>
                <a:cs typeface="STHeiti"/>
              </a:defRPr>
            </a:pPr>
            <a:r>
              <a:rPr sz="1200" b="0">
                <a:solidFill>
                  <a:srgbClr val="667085"/>
                </a:solidFill>
                <a:latin typeface="STHeiti"/>
                <a:ea typeface="STHeiti"/>
                <a:cs typeface="STHeiti"/>
              </a:rPr>
              <a:t>BD翻倍，收入与现金流进入报表</a:t>
            </a:r>
            <a:endParaRPr sz="1200" b="0">
              <a:solidFill>
                <a:srgbClr val="667085"/>
              </a:solidFill>
              <a:latin typeface="STHeiti"/>
              <a:ea typeface="STHeiti"/>
              <a:cs typeface="STHeiti"/>
            </a:endParaRPr>
          </a:p>
        </p:txBody>
      </p:sp>
      <p:sp>
        <p:nvSpPr>
          <p:cNvPr id="15" name="logic-card-3">
            <a:extLst xmlns:a="http://schemas.openxmlformats.org/drawingml/2006/main">
              <a:ext uri="{FF2B5EF4-FFF2-40B4-BE49-F238E27FC236}">
                <a16:creationId xmlns:a16="http://schemas.microsoft.com/office/drawing/2014/main" id="{422199F6-2A4C-4CBB-9F00-25FF618C0A8D}"/>
              </a:ext>
            </a:extLst>
          </p:cNvPr>
          <p:cNvSpPr>
            <a:spLocks xmlns:a="http://schemas.openxmlformats.org/drawingml/2006/main" noGrp="1"/>
          </p:cNvSpPr>
          <p:nvPr/>
        </p:nvSpPr>
        <p:spPr>
          <a:xfrm xmlns:a="http://schemas.openxmlformats.org/drawingml/2006/main">
            <a:off x="7029450" y="3981450"/>
            <a:ext cx="4667250" cy="1419225"/>
          </a:xfrm>
          <a:prstGeom xmlns:a="http://schemas.openxmlformats.org/drawingml/2006/main" prst="roundRect">
            <a:avLst>
              <a:gd name="adj" fmla="val 8054"/>
            </a:avLst>
          </a:prstGeom>
          <a:solidFill xmlns:a="http://schemas.openxmlformats.org/drawingml/2006/main">
            <a:srgbClr val="101828"/>
          </a:solidFill>
          <a:ln xmlns:a="http://schemas.openxmlformats.org/drawingml/2006/main" w="0">
            <a:noFill/>
            <a:prstDash val="solid"/>
          </a:ln>
        </p:spPr>
      </p:sp>
      <p:sp>
        <p:nvSpPr>
          <p:cNvPr id="16" name="logic-title-3">
            <a:extLst xmlns:a="http://schemas.openxmlformats.org/drawingml/2006/main">
              <a:ext uri="{FF2B5EF4-FFF2-40B4-BE49-F238E27FC236}">
                <a16:creationId xmlns:a16="http://schemas.microsoft.com/office/drawing/2014/main" id="{8E7B0C15-0AB4-4F0A-B1A3-DE747E8294DC}"/>
              </a:ext>
            </a:extLst>
          </p:cNvPr>
          <p:cNvSpPr>
            <a:spLocks xmlns:a="http://schemas.openxmlformats.org/drawingml/2006/main" noGrp="1"/>
          </p:cNvSpPr>
          <p:nvPr/>
        </p:nvSpPr>
        <p:spPr>
          <a:xfrm xmlns:a="http://schemas.openxmlformats.org/drawingml/2006/main">
            <a:off x="7296150" y="418147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575" b="1">
                <a:solidFill>
                  <a:srgbClr val="6DCBF4"/>
                </a:solidFill>
                <a:latin typeface="STHeiti"/>
                <a:ea typeface="STHeiti"/>
                <a:cs typeface="STHeiti"/>
              </a:defRPr>
            </a:pPr>
            <a:r>
              <a:rPr sz="1575" b="1">
                <a:solidFill>
                  <a:srgbClr val="6DCBF4"/>
                </a:solidFill>
                <a:latin typeface="STHeiti"/>
                <a:ea typeface="STHeiti"/>
                <a:cs typeface="STHeiti"/>
              </a:rPr>
              <a:t>③ </a:t>
            </a:r>
            <a:r>
              <a:rPr sz="1575" b="1">
                <a:solidFill>
                  <a:srgbClr val="6DCBF4"/>
                </a:solidFill>
                <a:latin typeface="STHeiti"/>
                <a:ea typeface="STHeiti"/>
                <a:cs typeface="STHeiti"/>
              </a:rPr>
              <a:t>行情持续</a:t>
            </a:r>
            <a:r>
              <a:rPr sz="1575" b="1">
                <a:solidFill>
                  <a:srgbClr val="6DCBF4"/>
                </a:solidFill>
                <a:latin typeface="STHeiti"/>
                <a:ea typeface="STHeiti"/>
                <a:cs typeface="STHeiti"/>
              </a:rPr>
              <a:t>扩散</a:t>
            </a:r>
            <a:endParaRPr sz="1575" b="1">
              <a:solidFill>
                <a:srgbClr val="6DCBF4"/>
              </a:solidFill>
              <a:latin typeface="STHeiti"/>
              <a:ea typeface="STHeiti"/>
              <a:cs typeface="STHeiti"/>
            </a:endParaRPr>
          </a:p>
        </p:txBody>
      </p:sp>
      <p:sp>
        <p:nvSpPr>
          <p:cNvPr id="17" name="logic-main-3">
            <a:extLst xmlns:a="http://schemas.openxmlformats.org/drawingml/2006/main">
              <a:ext uri="{FF2B5EF4-FFF2-40B4-BE49-F238E27FC236}">
                <a16:creationId xmlns:a16="http://schemas.microsoft.com/office/drawing/2014/main" id="{73C55308-34AB-45FC-B905-E0B79521F8C9}"/>
              </a:ext>
            </a:extLst>
          </p:cNvPr>
          <p:cNvSpPr>
            <a:spLocks xmlns:a="http://schemas.openxmlformats.org/drawingml/2006/main" noGrp="1"/>
          </p:cNvSpPr>
          <p:nvPr/>
        </p:nvSpPr>
        <p:spPr>
          <a:xfrm xmlns:a="http://schemas.openxmlformats.org/drawingml/2006/main">
            <a:off x="7296150" y="4524375"/>
            <a:ext cx="4048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800" b="1">
                <a:solidFill>
                  <a:srgbClr val="FFFFFF"/>
                </a:solidFill>
                <a:latin typeface="STHeiti"/>
                <a:ea typeface="STHeiti"/>
                <a:cs typeface="STHeiti"/>
              </a:defRPr>
            </a:pPr>
            <a:r>
              <a:rPr sz="1800" b="1">
                <a:solidFill>
                  <a:srgbClr val="FFFFFF"/>
                </a:solidFill>
                <a:latin typeface="STHeiti"/>
                <a:ea typeface="STHeiti"/>
                <a:cs typeface="STHeiti"/>
              </a:rPr>
              <a:t>尚待验证 </a:t>
            </a:r>
            <a:endParaRPr sz="1800" b="1">
              <a:solidFill>
                <a:srgbClr val="FFFFFF"/>
              </a:solidFill>
              <a:latin typeface="STHeiti"/>
              <a:ea typeface="STHeiti"/>
              <a:cs typeface="STHeiti"/>
            </a:endParaRPr>
          </a:p>
        </p:txBody>
      </p:sp>
      <p:sp>
        <p:nvSpPr>
          <p:cNvPr id="18" name="logic-sub-3">
            <a:extLst xmlns:a="http://schemas.openxmlformats.org/drawingml/2006/main">
              <a:ext uri="{FF2B5EF4-FFF2-40B4-BE49-F238E27FC236}">
                <a16:creationId xmlns:a16="http://schemas.microsoft.com/office/drawing/2014/main" id="{CCF8F60E-7FBA-49AD-88E5-56A7FED662E3}"/>
              </a:ext>
            </a:extLst>
          </p:cNvPr>
          <p:cNvSpPr>
            <a:spLocks xmlns:a="http://schemas.openxmlformats.org/drawingml/2006/main" noGrp="1"/>
          </p:cNvSpPr>
          <p:nvPr/>
        </p:nvSpPr>
        <p:spPr>
          <a:xfrm xmlns:a="http://schemas.openxmlformats.org/drawingml/2006/main">
            <a:off x="7296150" y="4876800"/>
            <a:ext cx="4048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275" b="1">
                <a:solidFill>
                  <a:srgbClr val="E4E7EC"/>
                </a:solidFill>
                <a:latin typeface="STHeiti"/>
                <a:ea typeface="STHeiti"/>
                <a:cs typeface="STHeiti"/>
              </a:defRPr>
            </a:pPr>
            <a:r>
              <a:rPr sz="1275" b="1">
                <a:solidFill>
                  <a:srgbClr val="E4E7EC"/>
                </a:solidFill>
                <a:latin typeface="STHeiti"/>
                <a:ea typeface="STHeiti"/>
                <a:cs typeface="STHeiti"/>
              </a:rPr>
              <a:t>总仓位低，但CXO已局部拥挤</a:t>
            </a:r>
            <a:endParaRPr sz="1275" b="1">
              <a:solidFill>
                <a:srgbClr val="E4E7EC"/>
              </a:solidFill>
              <a:latin typeface="STHeiti"/>
              <a:ea typeface="STHeiti"/>
              <a:cs typeface="STHeiti"/>
            </a:endParaRPr>
          </a:p>
          <a:p xmlns:a="http://schemas.openxmlformats.org/drawingml/2006/main">
            <a:pPr algn="l">
              <a:lnSpc>
                <a:spcPct val="95000"/>
              </a:lnSpc>
              <a:buNone/>
              <a:defRPr sz="1275" b="1">
                <a:solidFill>
                  <a:srgbClr val="E4E7EC"/>
                </a:solidFill>
                <a:latin typeface="STHeiti"/>
                <a:ea typeface="STHeiti"/>
                <a:cs typeface="STHeiti"/>
              </a:defRPr>
            </a:pPr>
            <a:r>
              <a:rPr sz="1275" b="1">
                <a:solidFill>
                  <a:srgbClr val="E4E7EC"/>
                </a:solidFill>
                <a:latin typeface="STHeiti"/>
                <a:ea typeface="STHeiti"/>
                <a:cs typeface="STHeiti"/>
              </a:rPr>
              <a:t>持续性取决于创新药接力</a:t>
            </a:r>
            <a:endParaRPr sz="1275" b="1">
              <a:solidFill>
                <a:srgbClr val="E4E7EC"/>
              </a:solidFill>
              <a:latin typeface="STHeiti"/>
              <a:ea typeface="STHeiti"/>
              <a:cs typeface="STHeiti"/>
            </a:endParaRPr>
          </a:p>
        </p:txBody>
      </p:sp>
      <p:sp>
        <p:nvSpPr>
          <p:cNvPr id="19" name="footer-rule-2">
            <a:extLst xmlns:a="http://schemas.openxmlformats.org/drawingml/2006/main">
              <a:ext uri="{FF2B5EF4-FFF2-40B4-BE49-F238E27FC236}">
                <a16:creationId xmlns:a16="http://schemas.microsoft.com/office/drawing/2014/main" id="{3474882D-102E-4EB7-B6BE-765EA6735176}"/>
              </a:ext>
            </a:extLst>
          </p:cNvPr>
          <p:cNvSpPr>
            <a:spLocks xmlns:a="http://schemas.openxmlformats.org/drawingml/2006/main" noGrp="1"/>
          </p:cNvSpPr>
          <p:nvPr/>
        </p:nvSpPr>
        <p:spPr>
          <a:xfrm xmlns:a="http://schemas.openxmlformats.org/drawingml/2006/main">
            <a:off x="419100" y="5781675"/>
            <a:ext cx="112776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0" name="source-2">
            <a:extLst xmlns:a="http://schemas.openxmlformats.org/drawingml/2006/main">
              <a:ext uri="{FF2B5EF4-FFF2-40B4-BE49-F238E27FC236}">
                <a16:creationId xmlns:a16="http://schemas.microsoft.com/office/drawing/2014/main" id="{B390EF6E-B093-4D93-A2D3-DB97EEE0C170}"/>
              </a:ext>
            </a:extLst>
          </p:cNvPr>
          <p:cNvSpPr>
            <a:spLocks xmlns:a="http://schemas.openxmlformats.org/drawingml/2006/main" noGrp="1"/>
          </p:cNvSpPr>
          <p:nvPr/>
        </p:nvSpPr>
        <p:spPr>
          <a:xfrm xmlns:a="http://schemas.openxmlformats.org/drawingml/2006/main">
            <a:off x="419100" y="5867400"/>
            <a:ext cx="1062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865" b="0">
                <a:solidFill>
                  <a:srgbClr val="667085"/>
                </a:solidFill>
                <a:latin typeface="STHeiti"/>
                <a:ea typeface="STHeiti"/>
                <a:cs typeface="STHeiti"/>
              </a:defRPr>
            </a:pPr>
            <a:r>
              <a:rPr sz="865" b="0">
                <a:solidFill>
                  <a:srgbClr val="667085"/>
                </a:solidFill>
                <a:latin typeface="STHeiti"/>
                <a:ea typeface="STHeiti"/>
                <a:cs typeface="STHeiti"/>
              </a:rPr>
              <a:t>来源：同花顺iFinD；国金证券</a:t>
            </a:r>
            <a:r>
              <a:rPr sz="865" b="0">
                <a:solidFill>
                  <a:srgbClr val="667085"/>
                </a:solidFill>
                <a:latin typeface="STHeiti"/>
                <a:ea typeface="STHeiti"/>
                <a:cs typeface="STHeiti"/>
              </a:rPr>
              <a:t>；</a:t>
            </a:r>
            <a:r>
              <a:rPr sz="865" b="0">
                <a:solidFill>
                  <a:srgbClr val="667085"/>
                </a:solidFill>
                <a:latin typeface="STHeiti"/>
                <a:ea typeface="STHeiti"/>
                <a:cs typeface="STHeiti"/>
              </a:rPr>
              <a:t>浙商证券</a:t>
            </a:r>
            <a:r>
              <a:rPr sz="865" b="0">
                <a:solidFill>
                  <a:srgbClr val="667085"/>
                </a:solidFill>
                <a:latin typeface="STHeiti"/>
                <a:ea typeface="STHeiti"/>
                <a:cs typeface="STHeiti"/>
              </a:rPr>
              <a:t>；</a:t>
            </a:r>
            <a:r>
              <a:rPr sz="865" b="0">
                <a:solidFill>
                  <a:srgbClr val="667085"/>
                </a:solidFill>
                <a:latin typeface="STHeiti"/>
                <a:ea typeface="STHeiti"/>
                <a:cs typeface="STHeiti"/>
              </a:rPr>
              <a:t>中泰证券</a:t>
            </a:r>
            <a:r>
              <a:rPr sz="865" b="0">
                <a:solidFill>
                  <a:srgbClr val="667085"/>
                </a:solidFill>
                <a:latin typeface="STHeiti"/>
                <a:ea typeface="STHeiti"/>
                <a:cs typeface="STHeiti"/>
              </a:rPr>
              <a:t>；</a:t>
            </a:r>
            <a:r>
              <a:rPr sz="865" b="0">
                <a:solidFill>
                  <a:srgbClr val="667085"/>
                </a:solidFill>
                <a:latin typeface="STHeiti"/>
                <a:ea typeface="STHeiti"/>
                <a:cs typeface="STHeiti"/>
              </a:rPr>
              <a:t>药明康德</a:t>
            </a:r>
            <a:endParaRPr sz="865" b="0">
              <a:solidFill>
                <a:srgbClr val="667085"/>
              </a:solidFill>
              <a:latin typeface="STHeiti"/>
              <a:ea typeface="STHeiti"/>
              <a:cs typeface="STHeiti"/>
            </a:endParaRPr>
          </a:p>
        </p:txBody>
      </p:sp>
      <p:sp>
        <p:nvSpPr>
          <p:cNvPr id="21" name="page-2">
            <a:extLst xmlns:a="http://schemas.openxmlformats.org/drawingml/2006/main">
              <a:ext uri="{FF2B5EF4-FFF2-40B4-BE49-F238E27FC236}">
                <a16:creationId xmlns:a16="http://schemas.microsoft.com/office/drawing/2014/main" id="{2052A574-5550-4652-B7B9-D1B9C095CE40}"/>
              </a:ext>
            </a:extLst>
          </p:cNvPr>
          <p:cNvSpPr>
            <a:spLocks xmlns:a="http://schemas.openxmlformats.org/drawingml/2006/main" noGrp="1"/>
          </p:cNvSpPr>
          <p:nvPr/>
        </p:nvSpPr>
        <p:spPr>
          <a:xfrm xmlns:a="http://schemas.openxmlformats.org/drawingml/2006/main">
            <a:off x="11201400" y="586740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95000"/>
              </a:lnSpc>
              <a:buNone/>
              <a:defRPr sz="975" b="1">
                <a:solidFill>
                  <a:srgbClr val="667085"/>
                </a:solidFill>
                <a:latin typeface="STHeiti"/>
                <a:ea typeface="STHeiti"/>
                <a:cs typeface="STHeiti"/>
              </a:defRPr>
            </a:pPr>
            <a:r>
              <a:rPr sz="975" b="1">
                <a:solidFill>
                  <a:srgbClr val="667085"/>
                </a:solidFill>
                <a:latin typeface="STHeiti"/>
                <a:ea typeface="STHeiti"/>
                <a:cs typeface="STHeiti"/>
              </a:rPr>
              <a:t>02</a:t>
            </a:r>
            <a:endParaRPr sz="975" b="1">
              <a:solidFill>
                <a:srgbClr val="667085"/>
              </a:solidFill>
              <a:latin typeface="STHeiti"/>
              <a:ea typeface="STHeiti"/>
              <a:cs typeface="STHeiti"/>
            </a:endParaRPr>
          </a:p>
        </p:txBody>
      </p:sp>
      <p:graphicFrame>
        <p:nvGraphicFramePr>
          <p:cNvPr id="41" name="表格 43"/>
          <p:cNvGraphicFramePr/>
          <p:nvPr/>
        </p:nvGraphicFramePr>
        <p:xfrm>
          <a:off xmlns:a="http://schemas.openxmlformats.org/drawingml/2006/main" x="361950" y="1543050"/>
          <a:ext xmlns:a="http://schemas.openxmlformats.org/drawingml/2006/main" cx="6236335" cy="3900805"/>
        </p:xfrm>
        <a:graphic xmlns:a="http://schemas.openxmlformats.org/drawingml/2006/main">
          <a:graphicData uri="http://schemas.openxmlformats.org/drawingml/2006/table">
            <a:tbl>
              <a:tblPr/>
              <a:tblGrid>
                <a:gridCol w="1113790"/>
                <a:gridCol w="2240280"/>
                <a:gridCol w="2882265"/>
              </a:tblGrid>
              <a:tr h="414020">
                <a:tc>
                  <a:txBody>
                    <a:bodyPr/>
                    <a:lstStyle/>
                    <a:p>
                      <a:pPr algn="ctr">
                        <a:buNone/>
                      </a:pPr>
                      <a:r>
                        <a:rPr sz="1600" b="1">
                          <a:solidFill>
                            <a:srgbClr val="FFFFFF"/>
                          </a:solidFill>
                        </a:rPr>
                        <a:t>检验</a:t>
                      </a:r>
                      <a:endParaRPr sz="1600" b="1">
                        <a:solidFill>
                          <a:srgbClr val="FFFFFF"/>
                        </a:solidFill>
                      </a:endParaRPr>
                    </a:p>
                  </a:txBody>
                  <a:tcPr marL="91440" marR="91440" marT="45720" marB="45720">
                    <a:solidFill>
                      <a:srgbClr val="101828"/>
                    </a:solidFill>
                  </a:tcPr>
                </a:tc>
                <a:tc>
                  <a:txBody>
                    <a:bodyPr/>
                    <a:lstStyle/>
                    <a:p>
                      <a:pPr algn="ctr">
                        <a:buNone/>
                      </a:pPr>
                      <a:r>
                        <a:rPr sz="1600" b="1">
                          <a:solidFill>
                            <a:srgbClr val="FFFFFF"/>
                          </a:solidFill>
                        </a:rPr>
                        <a:t>2025Q3</a:t>
                      </a:r>
                      <a:endParaRPr sz="1600" b="1">
                        <a:solidFill>
                          <a:srgbClr val="FFFFFF"/>
                        </a:solidFill>
                      </a:endParaRPr>
                    </a:p>
                  </a:txBody>
                  <a:tcPr marL="91440" marR="91440" marT="45720" marB="45720">
                    <a:solidFill>
                      <a:srgbClr val="101828"/>
                    </a:solidFill>
                  </a:tcPr>
                </a:tc>
                <a:tc>
                  <a:txBody>
                    <a:bodyPr/>
                    <a:lstStyle/>
                    <a:p>
                      <a:pPr algn="ctr">
                        <a:buNone/>
                      </a:pPr>
                      <a:r>
                        <a:rPr sz="1600" b="1">
                          <a:solidFill>
                            <a:srgbClr val="FFFFFF"/>
                          </a:solidFill>
                        </a:rPr>
                        <a:t>2026本轮</a:t>
                      </a:r>
                      <a:endParaRPr sz="1600" b="1">
                        <a:solidFill>
                          <a:srgbClr val="FFFFFF"/>
                        </a:solidFill>
                      </a:endParaRPr>
                    </a:p>
                  </a:txBody>
                  <a:tcPr marL="91440" marR="91440" marT="45720" marB="45720">
                    <a:solidFill>
                      <a:srgbClr val="101828"/>
                    </a:solidFill>
                  </a:tcPr>
                </a:tc>
              </a:tr>
              <a:tr h="871855">
                <a:tc>
                  <a:txBody>
                    <a:bodyPr/>
                    <a:lstStyle/>
                    <a:p>
                      <a:pPr algn="ctr">
                        <a:buNone/>
                      </a:pPr>
                      <a:r>
                        <a:rPr sz="1400" b="1">
                          <a:solidFill>
                            <a:srgbClr val="101828"/>
                          </a:solidFill>
                        </a:rPr>
                        <a:t>市场环境</a:t>
                      </a:r>
                      <a:endParaRPr sz="1400" b="1">
                        <a:solidFill>
                          <a:srgbClr val="101828"/>
                        </a:solidFill>
                      </a:endParaRPr>
                    </a:p>
                  </a:txBody>
                  <a:tcPr marL="91440" marR="91440" marT="45720" marB="45720">
                    <a:solidFill>
                      <a:srgbClr val="F2F4F7"/>
                    </a:solidFill>
                  </a:tcPr>
                </a:tc>
                <a:tc>
                  <a:txBody>
                    <a:bodyPr/>
                    <a:lstStyle/>
                    <a:p>
                      <a:pPr algn="ctr">
                        <a:buNone/>
                      </a:pPr>
                      <a:r>
                        <a:rPr sz="1400">
                          <a:solidFill>
                            <a:srgbClr val="101828"/>
                          </a:solidFill>
                        </a:rPr>
                        <a:t>沪深300 +20.8%</a:t>
                      </a:r>
                      <a:endParaRPr sz="1400">
                        <a:solidFill>
                          <a:srgbClr val="101828"/>
                        </a:solidFill>
                      </a:endParaRPr>
                    </a:p>
                    <a:p>
                      <a:pPr algn="ctr">
                        <a:buNone/>
                      </a:pPr>
                      <a:r>
                        <a:rPr sz="1400">
                          <a:solidFill>
                            <a:srgbClr val="101828"/>
                          </a:solidFill>
                        </a:rPr>
                        <a:t>医药 +14.9%</a:t>
                      </a:r>
                      <a:endParaRPr sz="1400">
                        <a:solidFill>
                          <a:srgbClr val="101828"/>
                        </a:solidFill>
                      </a:endParaRPr>
                    </a:p>
                  </a:txBody>
                  <a:tcPr marL="91440" marR="91440" marT="45720" marB="45720"/>
                </a:tc>
                <a:tc>
                  <a:txBody>
                    <a:bodyPr/>
                    <a:lstStyle/>
                    <a:p>
                      <a:pPr algn="ctr">
                        <a:buNone/>
                      </a:pPr>
                      <a:r>
                        <a:rPr sz="1400" b="1">
                          <a:solidFill>
                            <a:srgbClr val="101828"/>
                          </a:solidFill>
                        </a:rPr>
                        <a:t>沪深300 -5.6%</a:t>
                      </a:r>
                      <a:endParaRPr sz="1400" b="1">
                        <a:solidFill>
                          <a:srgbClr val="101828"/>
                        </a:solidFill>
                      </a:endParaRPr>
                    </a:p>
                    <a:p>
                      <a:pPr algn="ctr">
                        <a:buNone/>
                      </a:pPr>
                      <a:r>
                        <a:rPr sz="1400" b="1">
                          <a:solidFill>
                            <a:srgbClr val="101828"/>
                          </a:solidFill>
                        </a:rPr>
                        <a:t>医药 +9.9%</a:t>
                      </a:r>
                      <a:endParaRPr sz="1400" b="1">
                        <a:solidFill>
                          <a:srgbClr val="101828"/>
                        </a:solidFill>
                      </a:endParaRPr>
                    </a:p>
                  </a:txBody>
                  <a:tcPr marL="91440" marR="91440" marT="45720" marB="45720">
                    <a:solidFill>
                      <a:srgbClr val="EAF0FF"/>
                    </a:solidFill>
                  </a:tcPr>
                </a:tc>
              </a:tr>
              <a:tr h="871855">
                <a:tc>
                  <a:txBody>
                    <a:bodyPr/>
                    <a:lstStyle/>
                    <a:p>
                      <a:pPr algn="ctr">
                        <a:buNone/>
                      </a:pPr>
                      <a:r>
                        <a:rPr sz="1400" b="1">
                          <a:solidFill>
                            <a:srgbClr val="101828"/>
                          </a:solidFill>
                        </a:rPr>
                        <a:t>行情节奏</a:t>
                      </a:r>
                      <a:endParaRPr sz="1400" b="1">
                        <a:solidFill>
                          <a:srgbClr val="101828"/>
                        </a:solidFill>
                      </a:endParaRPr>
                    </a:p>
                  </a:txBody>
                  <a:tcPr marL="91440" marR="91440" marT="45720" marB="45720">
                    <a:solidFill>
                      <a:srgbClr val="F2F4F7"/>
                    </a:solidFill>
                  </a:tcPr>
                </a:tc>
                <a:tc>
                  <a:txBody>
                    <a:bodyPr/>
                    <a:lstStyle/>
                    <a:p>
                      <a:pPr algn="ctr">
                        <a:buNone/>
                      </a:pPr>
                      <a:r>
                        <a:rPr sz="1400">
                          <a:solidFill>
                            <a:srgbClr val="101828"/>
                          </a:solidFill>
                        </a:rPr>
                        <a:t>CXO 7月 +29.3%</a:t>
                      </a:r>
                      <a:endParaRPr sz="1400">
                        <a:solidFill>
                          <a:srgbClr val="101828"/>
                        </a:solidFill>
                      </a:endParaRPr>
                    </a:p>
                    <a:p>
                      <a:pPr algn="ctr">
                        <a:buNone/>
                      </a:pPr>
                      <a:r>
                        <a:rPr sz="1400">
                          <a:solidFill>
                            <a:srgbClr val="101828"/>
                          </a:solidFill>
                        </a:rPr>
                        <a:t>8–9月降至低个位数</a:t>
                      </a:r>
                      <a:endParaRPr sz="1400">
                        <a:solidFill>
                          <a:srgbClr val="101828"/>
                        </a:solidFill>
                      </a:endParaRPr>
                    </a:p>
                  </a:txBody>
                  <a:tcPr marL="91440" marR="91440" marT="45720" marB="45720"/>
                </a:tc>
                <a:tc>
                  <a:txBody>
                    <a:bodyPr/>
                    <a:lstStyle/>
                    <a:p>
                      <a:pPr algn="ctr">
                        <a:buNone/>
                      </a:pPr>
                      <a:r>
                        <a:rPr sz="1400" b="1">
                          <a:solidFill>
                            <a:srgbClr val="101828"/>
                          </a:solidFill>
                        </a:rPr>
                        <a:t>创新药6–8月连续为正</a:t>
                      </a:r>
                      <a:endParaRPr sz="1400" b="1">
                        <a:solidFill>
                          <a:srgbClr val="101828"/>
                        </a:solidFill>
                      </a:endParaRPr>
                    </a:p>
                    <a:p>
                      <a:pPr algn="ctr">
                        <a:buNone/>
                      </a:pPr>
                      <a:r>
                        <a:rPr sz="1400" b="1">
                          <a:solidFill>
                            <a:srgbClr val="101828"/>
                          </a:solidFill>
                        </a:rPr>
                        <a:t>+4.5% / +4.8% / +5.9%</a:t>
                      </a:r>
                      <a:endParaRPr sz="1400" b="1">
                        <a:solidFill>
                          <a:srgbClr val="101828"/>
                        </a:solidFill>
                      </a:endParaRPr>
                    </a:p>
                  </a:txBody>
                  <a:tcPr marL="91440" marR="91440" marT="45720" marB="45720">
                    <a:solidFill>
                      <a:srgbClr val="EAF0FF"/>
                    </a:solidFill>
                  </a:tcPr>
                </a:tc>
              </a:tr>
              <a:tr h="871855">
                <a:tc>
                  <a:txBody>
                    <a:bodyPr/>
                    <a:lstStyle/>
                    <a:p>
                      <a:pPr algn="ctr">
                        <a:buNone/>
                      </a:pPr>
                      <a:r>
                        <a:rPr sz="1400" b="1">
                          <a:solidFill>
                            <a:srgbClr val="101828"/>
                          </a:solidFill>
                        </a:rPr>
                        <a:t>产业盈利</a:t>
                      </a:r>
                      <a:endParaRPr sz="1400" b="1">
                        <a:solidFill>
                          <a:srgbClr val="101828"/>
                        </a:solidFill>
                      </a:endParaRPr>
                    </a:p>
                  </a:txBody>
                  <a:tcPr marL="91440" marR="91440" marT="45720" marB="45720">
                    <a:solidFill>
                      <a:srgbClr val="F2F4F7"/>
                    </a:solidFill>
                  </a:tcPr>
                </a:tc>
                <a:tc>
                  <a:txBody>
                    <a:bodyPr/>
                    <a:lstStyle/>
                    <a:p>
                      <a:pPr algn="ctr">
                        <a:buNone/>
                      </a:pPr>
                      <a:r>
                        <a:rPr sz="1400">
                          <a:solidFill>
                            <a:srgbClr val="101828"/>
                          </a:solidFill>
                        </a:rPr>
                        <a:t>政策+BD打开预期</a:t>
                      </a:r>
                      <a:endParaRPr sz="1400">
                        <a:solidFill>
                          <a:srgbClr val="101828"/>
                        </a:solidFill>
                      </a:endParaRPr>
                    </a:p>
                    <a:p>
                      <a:pPr algn="ctr">
                        <a:buNone/>
                      </a:pPr>
                      <a:r>
                        <a:rPr sz="1400">
                          <a:solidFill>
                            <a:srgbClr val="101828"/>
                          </a:solidFill>
                        </a:rPr>
                        <a:t>CXO订单初现拐点</a:t>
                      </a:r>
                      <a:endParaRPr sz="1400">
                        <a:solidFill>
                          <a:srgbClr val="101828"/>
                        </a:solidFill>
                      </a:endParaRPr>
                    </a:p>
                  </a:txBody>
                  <a:tcPr marL="91440" marR="91440" marT="45720" marB="45720"/>
                </a:tc>
                <a:tc>
                  <a:txBody>
                    <a:bodyPr/>
                    <a:lstStyle/>
                    <a:p>
                      <a:pPr algn="ctr">
                        <a:buNone/>
                      </a:pPr>
                      <a:r>
                        <a:rPr sz="1400" b="1">
                          <a:solidFill>
                            <a:srgbClr val="101828"/>
                          </a:solidFill>
                        </a:rPr>
                        <a:t>BD规模约2.1×</a:t>
                      </a:r>
                      <a:endParaRPr sz="1400" b="1">
                        <a:solidFill>
                          <a:srgbClr val="101828"/>
                        </a:solidFill>
                      </a:endParaRPr>
                    </a:p>
                    <a:p>
                      <a:pPr algn="ctr">
                        <a:buNone/>
                      </a:pPr>
                      <a:r>
                        <a:rPr sz="1400" b="1">
                          <a:solidFill>
                            <a:srgbClr val="101828"/>
                          </a:solidFill>
                        </a:rPr>
                        <a:t>收入+48% / 现金流+41%</a:t>
                      </a:r>
                      <a:endParaRPr sz="1400" b="1">
                        <a:solidFill>
                          <a:srgbClr val="101828"/>
                        </a:solidFill>
                      </a:endParaRPr>
                    </a:p>
                  </a:txBody>
                  <a:tcPr marL="91440" marR="91440" marT="45720" marB="45720">
                    <a:solidFill>
                      <a:srgbClr val="EAF0FF"/>
                    </a:solidFill>
                  </a:tcPr>
                </a:tc>
              </a:tr>
              <a:tr h="871220">
                <a:tc>
                  <a:txBody>
                    <a:bodyPr/>
                    <a:lstStyle/>
                    <a:p>
                      <a:pPr algn="ctr">
                        <a:buNone/>
                      </a:pPr>
                      <a:r>
                        <a:rPr sz="1400" b="1">
                          <a:solidFill>
                            <a:srgbClr val="101828"/>
                          </a:solidFill>
                        </a:rPr>
                        <a:t>机构交易</a:t>
                      </a:r>
                      <a:endParaRPr sz="1400" b="1">
                        <a:solidFill>
                          <a:srgbClr val="101828"/>
                        </a:solidFill>
                      </a:endParaRPr>
                    </a:p>
                  </a:txBody>
                  <a:tcPr marL="91440" marR="91440" marT="45720" marB="45720">
                    <a:solidFill>
                      <a:srgbClr val="F2F4F7"/>
                    </a:solidFill>
                  </a:tcPr>
                </a:tc>
                <a:tc>
                  <a:txBody>
                    <a:bodyPr/>
                    <a:lstStyle/>
                    <a:p>
                      <a:pPr algn="ctr">
                        <a:buNone/>
                      </a:pPr>
                      <a:r>
                        <a:rPr sz="1400">
                          <a:solidFill>
                            <a:srgbClr val="101828"/>
                          </a:solidFill>
                        </a:rPr>
                        <a:t>主动基金医药仓位</a:t>
                      </a:r>
                      <a:endParaRPr sz="1400">
                        <a:solidFill>
                          <a:srgbClr val="101828"/>
                        </a:solidFill>
                      </a:endParaRPr>
                    </a:p>
                    <a:p>
                      <a:pPr algn="ctr">
                        <a:buNone/>
                      </a:pPr>
                      <a:r>
                        <a:rPr sz="1400">
                          <a:solidFill>
                            <a:srgbClr val="101828"/>
                          </a:solidFill>
                        </a:rPr>
                        <a:t>Q3环比 -0.39pp</a:t>
                      </a:r>
                      <a:endParaRPr sz="1400">
                        <a:solidFill>
                          <a:srgbClr val="101828"/>
                        </a:solidFill>
                      </a:endParaRPr>
                    </a:p>
                  </a:txBody>
                  <a:tcPr marL="91440" marR="91440" marT="45720" marB="45720"/>
                </a:tc>
                <a:tc>
                  <a:txBody>
                    <a:bodyPr/>
                    <a:lstStyle/>
                    <a:p>
                      <a:pPr algn="ctr">
                        <a:buNone/>
                      </a:pPr>
                      <a:r>
                        <a:rPr sz="1400" b="1">
                          <a:solidFill>
                            <a:srgbClr val="101828"/>
                          </a:solidFill>
                        </a:rPr>
                        <a:t>医药总仓位6.54%低位</a:t>
                      </a:r>
                      <a:endParaRPr sz="1400" b="1">
                        <a:solidFill>
                          <a:srgbClr val="101828"/>
                        </a:solidFill>
                      </a:endParaRPr>
                    </a:p>
                    <a:p>
                      <a:pPr algn="ctr">
                        <a:buNone/>
                      </a:pPr>
                      <a:r>
                        <a:rPr sz="1400" b="1">
                          <a:solidFill>
                            <a:srgbClr val="101828"/>
                          </a:solidFill>
                        </a:rPr>
                        <a:t>但CXO内部占28.2%</a:t>
                      </a:r>
                      <a:endParaRPr sz="1400" b="1">
                        <a:solidFill>
                          <a:srgbClr val="101828"/>
                        </a:solidFill>
                      </a:endParaRPr>
                    </a:p>
                  </a:txBody>
                  <a:tcPr marL="91440" marR="91440" marT="45720" marB="45720">
                    <a:solidFill>
                      <a:srgbClr val="EAF0FF"/>
                    </a:solidFill>
                  </a:tcPr>
                </a:tc>
              </a:tr>
            </a:tbl>
          </a:graphicData>
        </a:graphic>
      </p:graphicFrame>
    </p:spTree>
    <p:extLst>
      <p:ext uri="{BB962C8B-B14F-4D97-AF65-F5344CB8AC3E}">
        <p14:creationId xmlns:p14="http://schemas.microsoft.com/office/powerpoint/2010/main" val="16871438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3">
            <a:extLst xmlns:a="http://schemas.openxmlformats.org/drawingml/2006/main">
              <a:ext uri="{FF2B5EF4-FFF2-40B4-BE49-F238E27FC236}">
                <a16:creationId xmlns:a16="http://schemas.microsoft.com/office/drawing/2014/main" id="{3A9EDE3B-CE8B-4F73-A638-13A470746670}"/>
              </a:ext>
            </a:extLst>
          </p:cNvPr>
          <p:cNvSpPr>
            <a:spLocks xmlns:a="http://schemas.openxmlformats.org/drawingml/2006/main" noGrp="1"/>
          </p:cNvSpPr>
          <p:nvPr/>
        </p:nvSpPr>
        <p:spPr>
          <a:xfrm xmlns:a="http://schemas.openxmlformats.org/drawingml/2006/main">
            <a:off x="457200" y="49530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95000"/>
              </a:lnSpc>
              <a:buNone/>
              <a:defRPr sz="3600" b="1">
                <a:solidFill>
                  <a:srgbClr val="101828"/>
                </a:solidFill>
                <a:latin typeface="STHeiti"/>
                <a:ea typeface="STHeiti"/>
                <a:cs typeface="STHeiti"/>
              </a:defRPr>
            </a:pPr>
            <a:r>
              <a:rPr sz="3600" b="1">
                <a:solidFill>
                  <a:srgbClr val="101828"/>
                </a:solidFill>
                <a:latin typeface="STHeiti"/>
                <a:ea typeface="STHeiti"/>
                <a:cs typeface="STHeiti"/>
              </a:rPr>
              <a:t>CXO定胜率，创新药决定</a:t>
            </a:r>
            <a:r>
              <a:rPr sz="3600" b="1">
                <a:solidFill>
                  <a:srgbClr val="101828"/>
                </a:solidFill>
                <a:latin typeface="STHeiti"/>
                <a:ea typeface="STHeiti"/>
                <a:cs typeface="STHeiti"/>
              </a:rPr>
              <a:t>赔率</a:t>
            </a:r>
            <a:endParaRPr sz="3600" b="1">
              <a:solidFill>
                <a:srgbClr val="101828"/>
              </a:solidFill>
              <a:latin typeface="STHeiti"/>
              <a:ea typeface="STHeiti"/>
              <a:cs typeface="STHeiti"/>
            </a:endParaRPr>
          </a:p>
        </p:txBody>
      </p:sp>
      <p:sp>
        <p:nvSpPr>
          <p:cNvPr id="3" name="accent-3">
            <a:extLst xmlns:a="http://schemas.openxmlformats.org/drawingml/2006/main">
              <a:ext uri="{FF2B5EF4-FFF2-40B4-BE49-F238E27FC236}">
                <a16:creationId xmlns:a16="http://schemas.microsoft.com/office/drawing/2014/main" id="{96270CF2-1AF7-4BA9-9DC8-A79C5FE285C3}"/>
              </a:ext>
            </a:extLst>
          </p:cNvPr>
          <p:cNvSpPr>
            <a:spLocks xmlns:a="http://schemas.openxmlformats.org/drawingml/2006/main" noGrp="1"/>
          </p:cNvSpPr>
          <p:nvPr/>
        </p:nvSpPr>
        <p:spPr>
          <a:xfrm xmlns:a="http://schemas.openxmlformats.org/drawingml/2006/main">
            <a:off x="457200" y="1162050"/>
            <a:ext cx="876300" cy="0"/>
          </a:xfrm>
          <a:prstGeom xmlns:a="http://schemas.openxmlformats.org/drawingml/2006/main" prst="line">
            <a:avLst/>
          </a:prstGeom>
          <a:noFill xmlns:a="http://schemas.openxmlformats.org/drawingml/2006/main"/>
          <a:ln xmlns:a="http://schemas.openxmlformats.org/drawingml/2006/main" w="47625">
            <a:solidFill>
              <a:srgbClr val="2F6BFF"/>
            </a:solidFill>
            <a:prstDash val="solid"/>
          </a:ln>
        </p:spPr>
      </p:sp>
      <p:sp>
        <p:nvSpPr>
          <p:cNvPr id="5" name="cxo-panel">
            <a:extLst xmlns:a="http://schemas.openxmlformats.org/drawingml/2006/main">
              <a:ext uri="{FF2B5EF4-FFF2-40B4-BE49-F238E27FC236}">
                <a16:creationId xmlns:a16="http://schemas.microsoft.com/office/drawing/2014/main" id="{E1274170-3A0B-41D4-A2DC-9AF885DD2129}"/>
              </a:ext>
            </a:extLst>
          </p:cNvPr>
          <p:cNvSpPr>
            <a:spLocks xmlns:a="http://schemas.openxmlformats.org/drawingml/2006/main" noGrp="1"/>
          </p:cNvSpPr>
          <p:nvPr/>
        </p:nvSpPr>
        <p:spPr>
          <a:xfrm xmlns:a="http://schemas.openxmlformats.org/drawingml/2006/main">
            <a:off x="457200" y="1340485"/>
            <a:ext cx="5381625" cy="2381250"/>
          </a:xfrm>
          <a:prstGeom xmlns:a="http://schemas.openxmlformats.org/drawingml/2006/main" prst="roundRect">
            <a:avLst>
              <a:gd name="adj" fmla="val 4800"/>
            </a:avLst>
          </a:prstGeom>
          <a:solidFill xmlns:a="http://schemas.openxmlformats.org/drawingml/2006/main">
            <a:srgbClr val="EAF0FF"/>
          </a:solidFill>
          <a:ln xmlns:a="http://schemas.openxmlformats.org/drawingml/2006/main" w="0">
            <a:noFill/>
            <a:prstDash val="solid"/>
          </a:ln>
        </p:spPr>
      </p:sp>
      <p:sp>
        <p:nvSpPr>
          <p:cNvPr id="6" name="cxo-head">
            <a:extLst xmlns:a="http://schemas.openxmlformats.org/drawingml/2006/main">
              <a:ext uri="{FF2B5EF4-FFF2-40B4-BE49-F238E27FC236}">
                <a16:creationId xmlns:a16="http://schemas.microsoft.com/office/drawing/2014/main" id="{2775592D-D008-44AC-A6BC-CA25FE4B82E6}"/>
              </a:ext>
            </a:extLst>
          </p:cNvPr>
          <p:cNvSpPr>
            <a:spLocks xmlns:a="http://schemas.openxmlformats.org/drawingml/2006/main" noGrp="1"/>
          </p:cNvSpPr>
          <p:nvPr/>
        </p:nvSpPr>
        <p:spPr>
          <a:xfrm xmlns:a="http://schemas.openxmlformats.org/drawingml/2006/main">
            <a:off x="723900" y="155003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2025" b="1">
                <a:solidFill>
                  <a:srgbClr val="2F6BFF"/>
                </a:solidFill>
                <a:latin typeface="STHeiti"/>
                <a:ea typeface="STHeiti"/>
                <a:cs typeface="STHeiti"/>
              </a:defRPr>
            </a:pPr>
            <a:r>
              <a:rPr sz="2025" b="1">
                <a:solidFill>
                  <a:srgbClr val="2F6BFF"/>
                </a:solidFill>
                <a:latin typeface="STHeiti"/>
                <a:ea typeface="STHeiti"/>
                <a:cs typeface="STHeiti"/>
              </a:rPr>
              <a:t>CXO｜更高胜率</a:t>
            </a:r>
            <a:endParaRPr sz="2025" b="1">
              <a:solidFill>
                <a:srgbClr val="2F6BFF"/>
              </a:solidFill>
              <a:latin typeface="STHeiti"/>
              <a:ea typeface="STHeiti"/>
              <a:cs typeface="STHeiti"/>
            </a:endParaRPr>
          </a:p>
        </p:txBody>
      </p:sp>
      <p:sp>
        <p:nvSpPr>
          <p:cNvPr id="7" name="cxo-value1">
            <a:extLst xmlns:a="http://schemas.openxmlformats.org/drawingml/2006/main">
              <a:ext uri="{FF2B5EF4-FFF2-40B4-BE49-F238E27FC236}">
                <a16:creationId xmlns:a16="http://schemas.microsoft.com/office/drawing/2014/main" id="{D8ED05D2-1172-4654-8707-2AEC374730DB}"/>
              </a:ext>
            </a:extLst>
          </p:cNvPr>
          <p:cNvSpPr>
            <a:spLocks xmlns:a="http://schemas.openxmlformats.org/drawingml/2006/main" noGrp="1"/>
          </p:cNvSpPr>
          <p:nvPr/>
        </p:nvSpPr>
        <p:spPr>
          <a:xfrm xmlns:a="http://schemas.openxmlformats.org/drawingml/2006/main">
            <a:off x="723900" y="2026285"/>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3225" b="1">
                <a:solidFill>
                  <a:srgbClr val="101828"/>
                </a:solidFill>
                <a:latin typeface="STHeiti"/>
                <a:ea typeface="STHeiti"/>
                <a:cs typeface="STHeiti"/>
              </a:defRPr>
            </a:pPr>
            <a:r>
              <a:rPr sz="3225" b="1">
                <a:solidFill>
                  <a:srgbClr val="101828"/>
                </a:solidFill>
                <a:latin typeface="STHeiti"/>
                <a:ea typeface="STHeiti"/>
                <a:cs typeface="STHeiti"/>
              </a:rPr>
              <a:t>664亿元</a:t>
            </a:r>
            <a:endParaRPr sz="3225" b="1">
              <a:solidFill>
                <a:srgbClr val="101828"/>
              </a:solidFill>
              <a:latin typeface="STHeiti"/>
              <a:ea typeface="STHeiti"/>
              <a:cs typeface="STHeiti"/>
            </a:endParaRPr>
          </a:p>
        </p:txBody>
      </p:sp>
      <p:sp>
        <p:nvSpPr>
          <p:cNvPr id="8" name="cxo-label1">
            <a:extLst xmlns:a="http://schemas.openxmlformats.org/drawingml/2006/main">
              <a:ext uri="{FF2B5EF4-FFF2-40B4-BE49-F238E27FC236}">
                <a16:creationId xmlns:a16="http://schemas.microsoft.com/office/drawing/2014/main" id="{124C0335-DD35-46A7-909E-5488D5136F16}"/>
              </a:ext>
            </a:extLst>
          </p:cNvPr>
          <p:cNvSpPr>
            <a:spLocks xmlns:a="http://schemas.openxmlformats.org/drawingml/2006/main" noGrp="1"/>
          </p:cNvSpPr>
          <p:nvPr/>
        </p:nvSpPr>
        <p:spPr>
          <a:xfrm xmlns:a="http://schemas.openxmlformats.org/drawingml/2006/main">
            <a:off x="723900" y="254063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275" b="0">
                <a:solidFill>
                  <a:srgbClr val="667085"/>
                </a:solidFill>
                <a:latin typeface="STHeiti"/>
                <a:ea typeface="STHeiti"/>
                <a:cs typeface="STHeiti"/>
              </a:defRPr>
            </a:pPr>
            <a:r>
              <a:rPr sz="1275" b="0">
                <a:solidFill>
                  <a:srgbClr val="667085"/>
                </a:solidFill>
                <a:latin typeface="STHeiti"/>
                <a:ea typeface="STHeiti"/>
                <a:cs typeface="STHeiti"/>
              </a:rPr>
              <a:t>在手订单｜同比 +25.2%</a:t>
            </a:r>
            <a:endParaRPr sz="1275" b="0">
              <a:solidFill>
                <a:srgbClr val="667085"/>
              </a:solidFill>
              <a:latin typeface="STHeiti"/>
              <a:ea typeface="STHeiti"/>
              <a:cs typeface="STHeiti"/>
            </a:endParaRPr>
          </a:p>
        </p:txBody>
      </p:sp>
      <p:sp>
        <p:nvSpPr>
          <p:cNvPr id="9" name="cxo-value2">
            <a:extLst xmlns:a="http://schemas.openxmlformats.org/drawingml/2006/main">
              <a:ext uri="{FF2B5EF4-FFF2-40B4-BE49-F238E27FC236}">
                <a16:creationId xmlns:a16="http://schemas.microsoft.com/office/drawing/2014/main" id="{CFDB8817-E098-4DE8-B6A7-8E58296940FC}"/>
              </a:ext>
            </a:extLst>
          </p:cNvPr>
          <p:cNvSpPr>
            <a:spLocks xmlns:a="http://schemas.openxmlformats.org/drawingml/2006/main" noGrp="1"/>
          </p:cNvSpPr>
          <p:nvPr/>
        </p:nvSpPr>
        <p:spPr>
          <a:xfrm xmlns:a="http://schemas.openxmlformats.org/drawingml/2006/main">
            <a:off x="3257550" y="2026285"/>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3225" b="1">
                <a:solidFill>
                  <a:srgbClr val="2F6BFF"/>
                </a:solidFill>
                <a:latin typeface="STHeiti"/>
                <a:ea typeface="STHeiti"/>
                <a:cs typeface="STHeiti"/>
              </a:defRPr>
            </a:pPr>
            <a:r>
              <a:rPr sz="3225" b="1">
                <a:solidFill>
                  <a:srgbClr val="2F6BFF"/>
                </a:solidFill>
                <a:latin typeface="STHeiti"/>
                <a:ea typeface="STHeiti"/>
                <a:cs typeface="STHeiti"/>
              </a:rPr>
              <a:t>35.4×</a:t>
            </a:r>
            <a:endParaRPr sz="3225" b="1">
              <a:solidFill>
                <a:srgbClr val="2F6BFF"/>
              </a:solidFill>
              <a:latin typeface="STHeiti"/>
              <a:ea typeface="STHeiti"/>
              <a:cs typeface="STHeiti"/>
            </a:endParaRPr>
          </a:p>
        </p:txBody>
      </p:sp>
      <p:sp>
        <p:nvSpPr>
          <p:cNvPr id="10" name="cxo-label2">
            <a:extLst xmlns:a="http://schemas.openxmlformats.org/drawingml/2006/main">
              <a:ext uri="{FF2B5EF4-FFF2-40B4-BE49-F238E27FC236}">
                <a16:creationId xmlns:a16="http://schemas.microsoft.com/office/drawing/2014/main" id="{00F21931-C4F6-4E09-A628-CA3DC88EAEA8}"/>
              </a:ext>
            </a:extLst>
          </p:cNvPr>
          <p:cNvSpPr>
            <a:spLocks xmlns:a="http://schemas.openxmlformats.org/drawingml/2006/main" noGrp="1"/>
          </p:cNvSpPr>
          <p:nvPr/>
        </p:nvSpPr>
        <p:spPr>
          <a:xfrm xmlns:a="http://schemas.openxmlformats.org/drawingml/2006/main">
            <a:off x="3257550" y="254063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275" b="0">
                <a:solidFill>
                  <a:srgbClr val="667085"/>
                </a:solidFill>
                <a:latin typeface="STHeiti"/>
                <a:ea typeface="STHeiti"/>
                <a:cs typeface="STHeiti"/>
              </a:defRPr>
            </a:pPr>
            <a:r>
              <a:rPr sz="1275" b="0">
                <a:solidFill>
                  <a:srgbClr val="667085"/>
                </a:solidFill>
                <a:latin typeface="STHeiti"/>
                <a:ea typeface="STHeiti"/>
                <a:cs typeface="STHeiti"/>
              </a:rPr>
              <a:t>PE｜2025/9约36.8×</a:t>
            </a:r>
            <a:endParaRPr sz="1275" b="0">
              <a:solidFill>
                <a:srgbClr val="667085"/>
              </a:solidFill>
              <a:latin typeface="STHeiti"/>
              <a:ea typeface="STHeiti"/>
              <a:cs typeface="STHeiti"/>
            </a:endParaRPr>
          </a:p>
        </p:txBody>
      </p:sp>
      <p:sp>
        <p:nvSpPr>
          <p:cNvPr id="11" name="cxo-rule">
            <a:extLst xmlns:a="http://schemas.openxmlformats.org/drawingml/2006/main">
              <a:ext uri="{FF2B5EF4-FFF2-40B4-BE49-F238E27FC236}">
                <a16:creationId xmlns:a16="http://schemas.microsoft.com/office/drawing/2014/main" id="{28542B70-327D-4BC4-B028-876E3E3C37BE}"/>
              </a:ext>
            </a:extLst>
          </p:cNvPr>
          <p:cNvSpPr>
            <a:spLocks xmlns:a="http://schemas.openxmlformats.org/drawingml/2006/main" noGrp="1"/>
          </p:cNvSpPr>
          <p:nvPr/>
        </p:nvSpPr>
        <p:spPr>
          <a:xfrm xmlns:a="http://schemas.openxmlformats.org/drawingml/2006/main">
            <a:off x="723900" y="2959735"/>
            <a:ext cx="4848225" cy="0"/>
          </a:xfrm>
          <a:prstGeom xmlns:a="http://schemas.openxmlformats.org/drawingml/2006/main" prst="line">
            <a:avLst/>
          </a:prstGeom>
          <a:noFill xmlns:a="http://schemas.openxmlformats.org/drawingml/2006/main"/>
          <a:ln xmlns:a="http://schemas.openxmlformats.org/drawingml/2006/main" w="9525">
            <a:solidFill>
              <a:srgbClr val="B8C8FF"/>
            </a:solidFill>
            <a:prstDash val="solid"/>
          </a:ln>
        </p:spPr>
      </p:sp>
      <p:sp>
        <p:nvSpPr>
          <p:cNvPr id="12" name="cxo-bottom">
            <a:extLst xmlns:a="http://schemas.openxmlformats.org/drawingml/2006/main">
              <a:ext uri="{FF2B5EF4-FFF2-40B4-BE49-F238E27FC236}">
                <a16:creationId xmlns:a16="http://schemas.microsoft.com/office/drawing/2014/main" id="{650F1B86-F143-43D3-85DD-0F5CFF18AD0A}"/>
              </a:ext>
            </a:extLst>
          </p:cNvPr>
          <p:cNvSpPr>
            <a:spLocks xmlns:a="http://schemas.openxmlformats.org/drawingml/2006/main" noGrp="1"/>
          </p:cNvSpPr>
          <p:nvPr/>
        </p:nvSpPr>
        <p:spPr>
          <a:xfrm xmlns:a="http://schemas.openxmlformats.org/drawingml/2006/main">
            <a:off x="723900" y="314071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425" b="1">
                <a:solidFill>
                  <a:srgbClr val="101828"/>
                </a:solidFill>
                <a:latin typeface="STHeiti"/>
                <a:ea typeface="STHeiti"/>
                <a:cs typeface="STHeiti"/>
              </a:defRPr>
            </a:pPr>
            <a:r>
              <a:rPr sz="1425" b="1">
                <a:solidFill>
                  <a:srgbClr val="101828"/>
                </a:solidFill>
                <a:latin typeface="STHeiti"/>
                <a:ea typeface="STHeiti"/>
                <a:cs typeface="STHeiti"/>
              </a:rPr>
              <a:t>收入、订单、现金流均已验证</a:t>
            </a:r>
            <a:endParaRPr sz="1425" b="1">
              <a:solidFill>
                <a:srgbClr val="101828"/>
              </a:solidFill>
              <a:latin typeface="STHeiti"/>
              <a:ea typeface="STHeiti"/>
              <a:cs typeface="STHeiti"/>
            </a:endParaRPr>
          </a:p>
          <a:p xmlns:a="http://schemas.openxmlformats.org/drawingml/2006/main">
            <a:pPr algn="l">
              <a:lnSpc>
                <a:spcPct val="95000"/>
              </a:lnSpc>
              <a:buNone/>
              <a:defRPr sz="1425" b="1">
                <a:solidFill>
                  <a:srgbClr val="101828"/>
                </a:solidFill>
                <a:latin typeface="STHeiti"/>
                <a:ea typeface="STHeiti"/>
                <a:cs typeface="STHeiti"/>
              </a:defRPr>
            </a:pPr>
            <a:r>
              <a:rPr sz="1425" b="1">
                <a:solidFill>
                  <a:srgbClr val="101828"/>
                </a:solidFill>
                <a:latin typeface="STHeiti"/>
                <a:ea typeface="STHeiti"/>
                <a:cs typeface="STHeiti"/>
              </a:rPr>
              <a:t>但PE处于近一年约82%分位</a:t>
            </a:r>
            <a:endParaRPr sz="1425" b="1">
              <a:solidFill>
                <a:srgbClr val="101828"/>
              </a:solidFill>
              <a:latin typeface="STHeiti"/>
              <a:ea typeface="STHeiti"/>
              <a:cs typeface="STHeiti"/>
            </a:endParaRPr>
          </a:p>
        </p:txBody>
      </p:sp>
      <p:sp>
        <p:nvSpPr>
          <p:cNvPr id="13" name="drug-panel">
            <a:extLst xmlns:a="http://schemas.openxmlformats.org/drawingml/2006/main">
              <a:ext uri="{FF2B5EF4-FFF2-40B4-BE49-F238E27FC236}">
                <a16:creationId xmlns:a16="http://schemas.microsoft.com/office/drawing/2014/main" id="{C0DF0FB1-B045-4BEA-BFC7-1EE745431673}"/>
              </a:ext>
            </a:extLst>
          </p:cNvPr>
          <p:cNvSpPr>
            <a:spLocks xmlns:a="http://schemas.openxmlformats.org/drawingml/2006/main" noGrp="1"/>
          </p:cNvSpPr>
          <p:nvPr/>
        </p:nvSpPr>
        <p:spPr>
          <a:xfrm xmlns:a="http://schemas.openxmlformats.org/drawingml/2006/main">
            <a:off x="6353175" y="1340485"/>
            <a:ext cx="5381625" cy="2381250"/>
          </a:xfrm>
          <a:prstGeom xmlns:a="http://schemas.openxmlformats.org/drawingml/2006/main" prst="roundRect">
            <a:avLst>
              <a:gd name="adj" fmla="val 4800"/>
            </a:avLst>
          </a:prstGeom>
          <a:solidFill xmlns:a="http://schemas.openxmlformats.org/drawingml/2006/main">
            <a:srgbClr val="FFF5DF"/>
          </a:solidFill>
          <a:ln xmlns:a="http://schemas.openxmlformats.org/drawingml/2006/main" w="0">
            <a:noFill/>
            <a:prstDash val="solid"/>
          </a:ln>
        </p:spPr>
      </p:sp>
      <p:sp>
        <p:nvSpPr>
          <p:cNvPr id="14" name="drug-head">
            <a:extLst xmlns:a="http://schemas.openxmlformats.org/drawingml/2006/main">
              <a:ext uri="{FF2B5EF4-FFF2-40B4-BE49-F238E27FC236}">
                <a16:creationId xmlns:a16="http://schemas.microsoft.com/office/drawing/2014/main" id="{F1585E97-47A6-48FC-8FC0-C6E630792733}"/>
              </a:ext>
            </a:extLst>
          </p:cNvPr>
          <p:cNvSpPr>
            <a:spLocks xmlns:a="http://schemas.openxmlformats.org/drawingml/2006/main" noGrp="1"/>
          </p:cNvSpPr>
          <p:nvPr/>
        </p:nvSpPr>
        <p:spPr>
          <a:xfrm xmlns:a="http://schemas.openxmlformats.org/drawingml/2006/main">
            <a:off x="6619875" y="155003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2025" b="1">
                <a:solidFill>
                  <a:srgbClr val="F59E0B"/>
                </a:solidFill>
                <a:latin typeface="STHeiti"/>
                <a:ea typeface="STHeiti"/>
                <a:cs typeface="STHeiti"/>
              </a:defRPr>
            </a:pPr>
            <a:r>
              <a:rPr sz="2025" b="1">
                <a:solidFill>
                  <a:srgbClr val="F59E0B"/>
                </a:solidFill>
                <a:latin typeface="STHeiti"/>
                <a:ea typeface="STHeiti"/>
                <a:cs typeface="STHeiti"/>
              </a:rPr>
              <a:t>创新药｜更高赔率</a:t>
            </a:r>
            <a:endParaRPr sz="2025" b="1">
              <a:solidFill>
                <a:srgbClr val="F59E0B"/>
              </a:solidFill>
              <a:latin typeface="STHeiti"/>
              <a:ea typeface="STHeiti"/>
              <a:cs typeface="STHeiti"/>
            </a:endParaRPr>
          </a:p>
        </p:txBody>
      </p:sp>
      <p:sp>
        <p:nvSpPr>
          <p:cNvPr id="15" name="drug-value1">
            <a:extLst xmlns:a="http://schemas.openxmlformats.org/drawingml/2006/main">
              <a:ext uri="{FF2B5EF4-FFF2-40B4-BE49-F238E27FC236}">
                <a16:creationId xmlns:a16="http://schemas.microsoft.com/office/drawing/2014/main" id="{FA108D04-BB2E-4F82-98B6-EE661A09DB7F}"/>
              </a:ext>
            </a:extLst>
          </p:cNvPr>
          <p:cNvSpPr>
            <a:spLocks xmlns:a="http://schemas.openxmlformats.org/drawingml/2006/main" noGrp="1"/>
          </p:cNvSpPr>
          <p:nvPr/>
        </p:nvSpPr>
        <p:spPr>
          <a:xfrm xmlns:a="http://schemas.openxmlformats.org/drawingml/2006/main">
            <a:off x="6619875" y="2026285"/>
            <a:ext cx="2238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3225" b="1">
                <a:solidFill>
                  <a:srgbClr val="101828"/>
                </a:solidFill>
                <a:latin typeface="STHeiti"/>
                <a:ea typeface="STHeiti"/>
                <a:cs typeface="STHeiti"/>
              </a:defRPr>
            </a:pPr>
            <a:r>
              <a:rPr sz="3225" b="1">
                <a:solidFill>
                  <a:srgbClr val="101828"/>
                </a:solidFill>
                <a:latin typeface="STHeiti"/>
                <a:ea typeface="STHeiti"/>
                <a:cs typeface="STHeiti"/>
              </a:rPr>
              <a:t>997亿美元</a:t>
            </a:r>
            <a:endParaRPr sz="3225" b="1">
              <a:solidFill>
                <a:srgbClr val="101828"/>
              </a:solidFill>
              <a:latin typeface="STHeiti"/>
              <a:ea typeface="STHeiti"/>
              <a:cs typeface="STHeiti"/>
            </a:endParaRPr>
          </a:p>
        </p:txBody>
      </p:sp>
      <p:sp>
        <p:nvSpPr>
          <p:cNvPr id="16" name="drug-label1">
            <a:extLst xmlns:a="http://schemas.openxmlformats.org/drawingml/2006/main">
              <a:ext uri="{FF2B5EF4-FFF2-40B4-BE49-F238E27FC236}">
                <a16:creationId xmlns:a16="http://schemas.microsoft.com/office/drawing/2014/main" id="{822B7544-75FC-49AC-9AA7-4C40F6B64CFC}"/>
              </a:ext>
            </a:extLst>
          </p:cNvPr>
          <p:cNvSpPr>
            <a:spLocks xmlns:a="http://schemas.openxmlformats.org/drawingml/2006/main" noGrp="1"/>
          </p:cNvSpPr>
          <p:nvPr/>
        </p:nvSpPr>
        <p:spPr>
          <a:xfrm xmlns:a="http://schemas.openxmlformats.org/drawingml/2006/main">
            <a:off x="6619875" y="2540635"/>
            <a:ext cx="2524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275" b="0">
                <a:solidFill>
                  <a:srgbClr val="667085"/>
                </a:solidFill>
                <a:latin typeface="STHeiti"/>
                <a:ea typeface="STHeiti"/>
                <a:cs typeface="STHeiti"/>
              </a:defRPr>
            </a:pPr>
            <a:r>
              <a:rPr sz="1275" b="0">
                <a:solidFill>
                  <a:srgbClr val="667085"/>
                </a:solidFill>
                <a:latin typeface="STHeiti"/>
                <a:ea typeface="STHeiti"/>
                <a:cs typeface="STHeiti"/>
              </a:rPr>
              <a:t>2026H1 BD｜2025全年73%</a:t>
            </a:r>
            <a:endParaRPr sz="1275" b="0">
              <a:solidFill>
                <a:srgbClr val="667085"/>
              </a:solidFill>
              <a:latin typeface="STHeiti"/>
              <a:ea typeface="STHeiti"/>
              <a:cs typeface="STHeiti"/>
            </a:endParaRPr>
          </a:p>
        </p:txBody>
      </p:sp>
      <p:sp>
        <p:nvSpPr>
          <p:cNvPr id="17" name="drug-value2">
            <a:extLst xmlns:a="http://schemas.openxmlformats.org/drawingml/2006/main">
              <a:ext uri="{FF2B5EF4-FFF2-40B4-BE49-F238E27FC236}">
                <a16:creationId xmlns:a16="http://schemas.microsoft.com/office/drawing/2014/main" id="{A048C28B-763C-4BEE-839B-87F3F3AF5B9B}"/>
              </a:ext>
            </a:extLst>
          </p:cNvPr>
          <p:cNvSpPr>
            <a:spLocks xmlns:a="http://schemas.openxmlformats.org/drawingml/2006/main" noGrp="1"/>
          </p:cNvSpPr>
          <p:nvPr/>
        </p:nvSpPr>
        <p:spPr>
          <a:xfrm xmlns:a="http://schemas.openxmlformats.org/drawingml/2006/main">
            <a:off x="9315450" y="2026285"/>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3225" b="1">
                <a:solidFill>
                  <a:srgbClr val="F59E0B"/>
                </a:solidFill>
                <a:latin typeface="STHeiti"/>
                <a:ea typeface="STHeiti"/>
                <a:cs typeface="STHeiti"/>
              </a:defRPr>
            </a:pPr>
            <a:r>
              <a:rPr sz="3225" b="1">
                <a:solidFill>
                  <a:srgbClr val="F59E0B"/>
                </a:solidFill>
                <a:latin typeface="STHeiti"/>
                <a:ea typeface="STHeiti"/>
                <a:cs typeface="STHeiti"/>
              </a:rPr>
              <a:t>50.4×</a:t>
            </a:r>
            <a:endParaRPr sz="3225" b="1">
              <a:solidFill>
                <a:srgbClr val="F59E0B"/>
              </a:solidFill>
              <a:latin typeface="STHeiti"/>
              <a:ea typeface="STHeiti"/>
              <a:cs typeface="STHeiti"/>
            </a:endParaRPr>
          </a:p>
        </p:txBody>
      </p:sp>
      <p:sp>
        <p:nvSpPr>
          <p:cNvPr id="18" name="drug-label2">
            <a:extLst xmlns:a="http://schemas.openxmlformats.org/drawingml/2006/main">
              <a:ext uri="{FF2B5EF4-FFF2-40B4-BE49-F238E27FC236}">
                <a16:creationId xmlns:a16="http://schemas.microsoft.com/office/drawing/2014/main" id="{3B4BBEC5-9BA5-4142-9AA1-983A3362B36C}"/>
              </a:ext>
            </a:extLst>
          </p:cNvPr>
          <p:cNvSpPr>
            <a:spLocks xmlns:a="http://schemas.openxmlformats.org/drawingml/2006/main" noGrp="1"/>
          </p:cNvSpPr>
          <p:nvPr/>
        </p:nvSpPr>
        <p:spPr>
          <a:xfrm xmlns:a="http://schemas.openxmlformats.org/drawingml/2006/main">
            <a:off x="9315450" y="2540635"/>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275" b="0">
                <a:solidFill>
                  <a:srgbClr val="667085"/>
                </a:solidFill>
                <a:latin typeface="STHeiti"/>
                <a:ea typeface="STHeiti"/>
                <a:cs typeface="STHeiti"/>
              </a:defRPr>
            </a:pPr>
            <a:r>
              <a:rPr sz="1275" b="0">
                <a:solidFill>
                  <a:srgbClr val="667085"/>
                </a:solidFill>
                <a:latin typeface="STHeiti"/>
                <a:ea typeface="STHeiti"/>
                <a:cs typeface="STHeiti"/>
              </a:rPr>
              <a:t>PE｜2025/9约58×</a:t>
            </a:r>
            <a:endParaRPr sz="1275" b="0">
              <a:solidFill>
                <a:srgbClr val="667085"/>
              </a:solidFill>
              <a:latin typeface="STHeiti"/>
              <a:ea typeface="STHeiti"/>
              <a:cs typeface="STHeiti"/>
            </a:endParaRPr>
          </a:p>
        </p:txBody>
      </p:sp>
      <p:sp>
        <p:nvSpPr>
          <p:cNvPr id="19" name="drug-rule">
            <a:extLst xmlns:a="http://schemas.openxmlformats.org/drawingml/2006/main">
              <a:ext uri="{FF2B5EF4-FFF2-40B4-BE49-F238E27FC236}">
                <a16:creationId xmlns:a16="http://schemas.microsoft.com/office/drawing/2014/main" id="{EA03AC97-0DC4-45BF-8E9C-BBCDBC9D1BC9}"/>
              </a:ext>
            </a:extLst>
          </p:cNvPr>
          <p:cNvSpPr>
            <a:spLocks xmlns:a="http://schemas.openxmlformats.org/drawingml/2006/main" noGrp="1"/>
          </p:cNvSpPr>
          <p:nvPr/>
        </p:nvSpPr>
        <p:spPr>
          <a:xfrm xmlns:a="http://schemas.openxmlformats.org/drawingml/2006/main">
            <a:off x="6619875" y="2959735"/>
            <a:ext cx="4848225" cy="0"/>
          </a:xfrm>
          <a:prstGeom xmlns:a="http://schemas.openxmlformats.org/drawingml/2006/main" prst="line">
            <a:avLst/>
          </a:prstGeom>
          <a:noFill xmlns:a="http://schemas.openxmlformats.org/drawingml/2006/main"/>
          <a:ln xmlns:a="http://schemas.openxmlformats.org/drawingml/2006/main" w="9525">
            <a:solidFill>
              <a:srgbClr val="F5D28C"/>
            </a:solidFill>
            <a:prstDash val="solid"/>
          </a:ln>
        </p:spPr>
      </p:sp>
      <p:sp>
        <p:nvSpPr>
          <p:cNvPr id="20" name="drug-bottom">
            <a:extLst xmlns:a="http://schemas.openxmlformats.org/drawingml/2006/main">
              <a:ext uri="{FF2B5EF4-FFF2-40B4-BE49-F238E27FC236}">
                <a16:creationId xmlns:a16="http://schemas.microsoft.com/office/drawing/2014/main" id="{90AAA1F5-C85D-4AF1-B244-559678DEB53C}"/>
              </a:ext>
            </a:extLst>
          </p:cNvPr>
          <p:cNvSpPr>
            <a:spLocks xmlns:a="http://schemas.openxmlformats.org/drawingml/2006/main" noGrp="1"/>
          </p:cNvSpPr>
          <p:nvPr/>
        </p:nvSpPr>
        <p:spPr>
          <a:xfrm xmlns:a="http://schemas.openxmlformats.org/drawingml/2006/main">
            <a:off x="6619875" y="314071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425" b="1">
                <a:solidFill>
                  <a:srgbClr val="101828"/>
                </a:solidFill>
                <a:latin typeface="STHeiti"/>
                <a:ea typeface="STHeiti"/>
                <a:cs typeface="STHeiti"/>
              </a:defRPr>
            </a:pPr>
            <a:r>
              <a:rPr sz="1425" b="1">
                <a:solidFill>
                  <a:srgbClr val="101828"/>
                </a:solidFill>
                <a:latin typeface="STHeiti"/>
                <a:ea typeface="STHeiti"/>
                <a:cs typeface="STHeiti"/>
              </a:rPr>
              <a:t>估值尚未回到2025高点</a:t>
            </a:r>
            <a:endParaRPr sz="1425" b="1">
              <a:solidFill>
                <a:srgbClr val="101828"/>
              </a:solidFill>
              <a:latin typeface="STHeiti"/>
              <a:ea typeface="STHeiti"/>
              <a:cs typeface="STHeiti"/>
            </a:endParaRPr>
          </a:p>
          <a:p xmlns:a="http://schemas.openxmlformats.org/drawingml/2006/main">
            <a:pPr algn="l">
              <a:lnSpc>
                <a:spcPct val="95000"/>
              </a:lnSpc>
              <a:buNone/>
              <a:defRPr sz="1425" b="1">
                <a:solidFill>
                  <a:srgbClr val="101828"/>
                </a:solidFill>
                <a:latin typeface="STHeiti"/>
                <a:ea typeface="STHeiti"/>
                <a:cs typeface="STHeiti"/>
              </a:defRPr>
            </a:pPr>
            <a:r>
              <a:rPr sz="1425" b="1">
                <a:solidFill>
                  <a:srgbClr val="101828"/>
                </a:solidFill>
                <a:latin typeface="STHeiti"/>
                <a:ea typeface="STHeiti"/>
                <a:cs typeface="STHeiti"/>
              </a:rPr>
              <a:t>盈利型资产有望承接下一棒</a:t>
            </a:r>
            <a:endParaRPr sz="1425" b="1">
              <a:solidFill>
                <a:srgbClr val="101828"/>
              </a:solidFill>
              <a:latin typeface="STHeiti"/>
              <a:ea typeface="STHeiti"/>
              <a:cs typeface="STHeiti"/>
            </a:endParaRPr>
          </a:p>
        </p:txBody>
      </p:sp>
      <p:sp>
        <p:nvSpPr>
          <p:cNvPr id="21" name="score-caption">
            <a:extLst xmlns:a="http://schemas.openxmlformats.org/drawingml/2006/main">
              <a:ext uri="{FF2B5EF4-FFF2-40B4-BE49-F238E27FC236}">
                <a16:creationId xmlns:a16="http://schemas.microsoft.com/office/drawing/2014/main" id="{914DF653-4DE6-4973-88E5-55377FC3544D}"/>
              </a:ext>
            </a:extLst>
          </p:cNvPr>
          <p:cNvSpPr>
            <a:spLocks xmlns:a="http://schemas.openxmlformats.org/drawingml/2006/main" noGrp="1"/>
          </p:cNvSpPr>
          <p:nvPr/>
        </p:nvSpPr>
        <p:spPr>
          <a:xfrm xmlns:a="http://schemas.openxmlformats.org/drawingml/2006/main">
            <a:off x="523875" y="392176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275" b="1">
                <a:solidFill>
                  <a:srgbClr val="667085"/>
                </a:solidFill>
                <a:latin typeface="STHeiti"/>
                <a:ea typeface="STHeiti"/>
                <a:cs typeface="STHeiti"/>
              </a:defRPr>
            </a:pPr>
            <a:r>
              <a:rPr sz="1275" b="1">
                <a:solidFill>
                  <a:srgbClr val="667085"/>
                </a:solidFill>
                <a:latin typeface="STHeiti"/>
                <a:ea typeface="STHeiti"/>
                <a:cs typeface="STHeiti"/>
              </a:rPr>
              <a:t>研究框架评分</a:t>
            </a:r>
            <a:endParaRPr sz="1275" b="1">
              <a:solidFill>
                <a:srgbClr val="667085"/>
              </a:solidFill>
              <a:latin typeface="STHeiti"/>
              <a:ea typeface="STHeiti"/>
              <a:cs typeface="STHeiti"/>
            </a:endParaRPr>
          </a:p>
        </p:txBody>
      </p:sp>
      <p:graphicFrame>
        <p:nvGraphicFramePr>
          <p:cNvPr id="50" name="Chart"/>
          <p:cNvGraphicFramePr/>
          <p:nvPr/>
        </p:nvGraphicFramePr>
        <p:xfrm>
          <a:off xmlns:a="http://schemas.openxmlformats.org/drawingml/2006/main" x="551180" y="4369435"/>
          <a:ext xmlns:a="http://schemas.openxmlformats.org/drawingml/2006/main" cx="7239000" cy="1476375"/>
        </p:xfrm>
        <a:graphic xmlns:a="http://schemas.openxmlformats.org/drawingml/2006/main">
          <a:graphicData uri="http://schemas.openxmlformats.org/drawingml/2006/chart">
            <c:chart xmlns:r="http://schemas.openxmlformats.org/officeDocument/2006/relationships" xmlns:c="http://schemas.openxmlformats.org/drawingml/2006/chart" r:id="R0c01fb1464274257"/>
          </a:graphicData>
        </a:graphic>
      </p:graphicFrame>
      <p:sp>
        <p:nvSpPr>
          <p:cNvPr id="23" name="final-banner">
            <a:extLst xmlns:a="http://schemas.openxmlformats.org/drawingml/2006/main">
              <a:ext uri="{FF2B5EF4-FFF2-40B4-BE49-F238E27FC236}">
                <a16:creationId xmlns:a16="http://schemas.microsoft.com/office/drawing/2014/main" id="{87B13AEC-4153-49B5-98A7-E19D37037604}"/>
              </a:ext>
            </a:extLst>
          </p:cNvPr>
          <p:cNvSpPr>
            <a:spLocks xmlns:a="http://schemas.openxmlformats.org/drawingml/2006/main" noGrp="1"/>
          </p:cNvSpPr>
          <p:nvPr/>
        </p:nvSpPr>
        <p:spPr>
          <a:xfrm xmlns:a="http://schemas.openxmlformats.org/drawingml/2006/main">
            <a:off x="8020050" y="4140835"/>
            <a:ext cx="3714750" cy="1495425"/>
          </a:xfrm>
          <a:prstGeom xmlns:a="http://schemas.openxmlformats.org/drawingml/2006/main" prst="roundRect">
            <a:avLst>
              <a:gd name="adj" fmla="val 6369"/>
            </a:avLst>
          </a:prstGeom>
          <a:solidFill xmlns:a="http://schemas.openxmlformats.org/drawingml/2006/main">
            <a:srgbClr val="101828"/>
          </a:solidFill>
          <a:ln xmlns:a="http://schemas.openxmlformats.org/drawingml/2006/main" w="0">
            <a:noFill/>
            <a:prstDash val="solid"/>
          </a:ln>
        </p:spPr>
      </p:sp>
      <p:sp>
        <p:nvSpPr>
          <p:cNvPr id="24" name="final-banner-kicker">
            <a:extLst xmlns:a="http://schemas.openxmlformats.org/drawingml/2006/main">
              <a:ext uri="{FF2B5EF4-FFF2-40B4-BE49-F238E27FC236}">
                <a16:creationId xmlns:a16="http://schemas.microsoft.com/office/drawing/2014/main" id="{46E94271-51AB-479C-9D21-3C3FBA1CD82E}"/>
              </a:ext>
            </a:extLst>
          </p:cNvPr>
          <p:cNvSpPr>
            <a:spLocks xmlns:a="http://schemas.openxmlformats.org/drawingml/2006/main" noGrp="1"/>
          </p:cNvSpPr>
          <p:nvPr/>
        </p:nvSpPr>
        <p:spPr>
          <a:xfrm xmlns:a="http://schemas.openxmlformats.org/drawingml/2006/main">
            <a:off x="8286750" y="4359910"/>
            <a:ext cx="3190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350" b="1">
                <a:solidFill>
                  <a:srgbClr val="6DCBF4"/>
                </a:solidFill>
                <a:latin typeface="STHeiti"/>
                <a:ea typeface="STHeiti"/>
                <a:cs typeface="STHeiti"/>
              </a:defRPr>
            </a:pPr>
            <a:r>
              <a:rPr sz="1350" b="1">
                <a:solidFill>
                  <a:srgbClr val="6DCBF4"/>
                </a:solidFill>
                <a:latin typeface="STHeiti"/>
                <a:ea typeface="STHeiti"/>
                <a:cs typeface="STHeiti"/>
              </a:rPr>
              <a:t>本轮能否超过2025</a:t>
            </a:r>
            <a:endParaRPr sz="1350" b="1">
              <a:solidFill>
                <a:srgbClr val="6DCBF4"/>
              </a:solidFill>
              <a:latin typeface="STHeiti"/>
              <a:ea typeface="STHeiti"/>
              <a:cs typeface="STHeiti"/>
            </a:endParaRPr>
          </a:p>
        </p:txBody>
      </p:sp>
      <p:sp>
        <p:nvSpPr>
          <p:cNvPr id="25" name="final-banner-main">
            <a:extLst xmlns:a="http://schemas.openxmlformats.org/drawingml/2006/main">
              <a:ext uri="{FF2B5EF4-FFF2-40B4-BE49-F238E27FC236}">
                <a16:creationId xmlns:a16="http://schemas.microsoft.com/office/drawing/2014/main" id="{5468F180-5619-4096-B3C7-15635C0B2D85}"/>
              </a:ext>
            </a:extLst>
          </p:cNvPr>
          <p:cNvSpPr>
            <a:spLocks xmlns:a="http://schemas.openxmlformats.org/drawingml/2006/main" noGrp="1"/>
          </p:cNvSpPr>
          <p:nvPr/>
        </p:nvSpPr>
        <p:spPr>
          <a:xfrm xmlns:a="http://schemas.openxmlformats.org/drawingml/2006/main">
            <a:off x="8286750" y="4683760"/>
            <a:ext cx="319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719"/>
          </a:bodyPr>
          <a:lstStyle xmlns:a="http://schemas.openxmlformats.org/drawingml/2006/main"/>
          <a:p xmlns:a="http://schemas.openxmlformats.org/drawingml/2006/main">
            <a:pPr algn="l">
              <a:lnSpc>
                <a:spcPct val="95000"/>
              </a:lnSpc>
              <a:buNone/>
              <a:defRPr sz="2325" b="1">
                <a:solidFill>
                  <a:srgbClr val="FFFFFF"/>
                </a:solidFill>
                <a:latin typeface="STHeiti"/>
                <a:ea typeface="STHeiti"/>
                <a:cs typeface="STHeiti"/>
              </a:defRPr>
            </a:pPr>
            <a:r>
              <a:rPr sz="2325" b="1">
                <a:solidFill>
                  <a:srgbClr val="FFFFFF"/>
                </a:solidFill>
                <a:latin typeface="STHeiti"/>
                <a:ea typeface="STHeiti"/>
                <a:cs typeface="STHeiti"/>
              </a:rPr>
              <a:t>取决于创新药</a:t>
            </a:r>
            <a:endParaRPr sz="2325" b="1">
              <a:solidFill>
                <a:srgbClr val="FFFFFF"/>
              </a:solidFill>
              <a:latin typeface="STHeiti"/>
              <a:ea typeface="STHeiti"/>
              <a:cs typeface="STHeiti"/>
            </a:endParaRPr>
          </a:p>
          <a:p xmlns:a="http://schemas.openxmlformats.org/drawingml/2006/main">
            <a:pPr algn="l">
              <a:lnSpc>
                <a:spcPct val="95000"/>
              </a:lnSpc>
              <a:buNone/>
              <a:defRPr sz="2325" b="1">
                <a:solidFill>
                  <a:srgbClr val="FFFFFF"/>
                </a:solidFill>
                <a:latin typeface="STHeiti"/>
                <a:ea typeface="STHeiti"/>
                <a:cs typeface="STHeiti"/>
              </a:defRPr>
            </a:pPr>
            <a:r>
              <a:rPr sz="2325" b="1">
                <a:solidFill>
                  <a:srgbClr val="FFFFFF"/>
                </a:solidFill>
                <a:latin typeface="STHeiti"/>
                <a:ea typeface="STHeiti"/>
                <a:cs typeface="STHeiti"/>
              </a:rPr>
              <a:t>能否接力CXO</a:t>
            </a:r>
            <a:endParaRPr sz="2325" b="1">
              <a:solidFill>
                <a:srgbClr val="FFFFFF"/>
              </a:solidFill>
              <a:latin typeface="STHeiti"/>
              <a:ea typeface="STHeiti"/>
              <a:cs typeface="STHeiti"/>
            </a:endParaRPr>
          </a:p>
        </p:txBody>
      </p:sp>
      <p:sp>
        <p:nvSpPr>
          <p:cNvPr id="26" name="final-banner-sub">
            <a:extLst xmlns:a="http://schemas.openxmlformats.org/drawingml/2006/main">
              <a:ext uri="{FF2B5EF4-FFF2-40B4-BE49-F238E27FC236}">
                <a16:creationId xmlns:a16="http://schemas.microsoft.com/office/drawing/2014/main" id="{D3D470BF-BD67-4B16-8FDA-11FAE268EDC1}"/>
              </a:ext>
            </a:extLst>
          </p:cNvPr>
          <p:cNvSpPr>
            <a:spLocks xmlns:a="http://schemas.openxmlformats.org/drawingml/2006/main" noGrp="1"/>
          </p:cNvSpPr>
          <p:nvPr/>
        </p:nvSpPr>
        <p:spPr>
          <a:xfrm xmlns:a="http://schemas.openxmlformats.org/drawingml/2006/main">
            <a:off x="8286750" y="5350510"/>
            <a:ext cx="3190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1090" b="0">
                <a:solidFill>
                  <a:srgbClr val="E4E7EC"/>
                </a:solidFill>
                <a:latin typeface="STHeiti"/>
                <a:ea typeface="STHeiti"/>
                <a:cs typeface="STHeiti"/>
              </a:defRPr>
            </a:pPr>
            <a:r>
              <a:rPr sz="1090" b="0">
                <a:solidFill>
                  <a:srgbClr val="E4E7EC"/>
                </a:solidFill>
                <a:latin typeface="STHeiti"/>
                <a:ea typeface="STHeiti"/>
                <a:cs typeface="STHeiti"/>
              </a:rPr>
              <a:t>CXO持有、不追斜率；增量关注盈利与数据催化</a:t>
            </a:r>
            <a:endParaRPr sz="1090" b="0">
              <a:solidFill>
                <a:srgbClr val="E4E7EC"/>
              </a:solidFill>
              <a:latin typeface="STHeiti"/>
              <a:ea typeface="STHeiti"/>
              <a:cs typeface="STHeiti"/>
            </a:endParaRPr>
          </a:p>
        </p:txBody>
      </p:sp>
      <p:sp>
        <p:nvSpPr>
          <p:cNvPr id="27" name="footer-rule-3">
            <a:extLst xmlns:a="http://schemas.openxmlformats.org/drawingml/2006/main">
              <a:ext uri="{FF2B5EF4-FFF2-40B4-BE49-F238E27FC236}">
                <a16:creationId xmlns:a16="http://schemas.microsoft.com/office/drawing/2014/main" id="{27500C09-E71B-4485-B5A3-9DF258734E7A}"/>
              </a:ext>
            </a:extLst>
          </p:cNvPr>
          <p:cNvSpPr>
            <a:spLocks xmlns:a="http://schemas.openxmlformats.org/drawingml/2006/main" noGrp="1"/>
          </p:cNvSpPr>
          <p:nvPr/>
        </p:nvSpPr>
        <p:spPr>
          <a:xfrm xmlns:a="http://schemas.openxmlformats.org/drawingml/2006/main">
            <a:off x="457200" y="5788660"/>
            <a:ext cx="112776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8" name="source-3">
            <a:extLst xmlns:a="http://schemas.openxmlformats.org/drawingml/2006/main">
              <a:ext uri="{FF2B5EF4-FFF2-40B4-BE49-F238E27FC236}">
                <a16:creationId xmlns:a16="http://schemas.microsoft.com/office/drawing/2014/main" id="{9D7E5B9A-6A8F-4853-A8B1-247CA274BB30}"/>
              </a:ext>
            </a:extLst>
          </p:cNvPr>
          <p:cNvSpPr>
            <a:spLocks xmlns:a="http://schemas.openxmlformats.org/drawingml/2006/main" noGrp="1"/>
          </p:cNvSpPr>
          <p:nvPr/>
        </p:nvSpPr>
        <p:spPr>
          <a:xfrm xmlns:a="http://schemas.openxmlformats.org/drawingml/2006/main">
            <a:off x="457200" y="5874385"/>
            <a:ext cx="1062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95000"/>
              </a:lnSpc>
              <a:buNone/>
              <a:defRPr sz="865" b="0">
                <a:solidFill>
                  <a:srgbClr val="667085"/>
                </a:solidFill>
                <a:latin typeface="STHeiti"/>
                <a:ea typeface="STHeiti"/>
                <a:cs typeface="STHeiti"/>
              </a:defRPr>
            </a:pPr>
            <a:r>
              <a:rPr sz="865" b="0">
                <a:solidFill>
                  <a:srgbClr val="667085"/>
                </a:solidFill>
                <a:latin typeface="STHeiti"/>
                <a:ea typeface="STHeiti"/>
                <a:cs typeface="STHeiti"/>
              </a:rPr>
              <a:t>来源：同花顺iFinD（估值截至2026/8/21）；药明康德2026H1；国金证券（2026/7/5）；浙商证券（2026/7/13）。评分为研究判断</a:t>
            </a:r>
            <a:endParaRPr sz="865" b="0">
              <a:solidFill>
                <a:srgbClr val="667085"/>
              </a:solidFill>
              <a:latin typeface="STHeiti"/>
              <a:ea typeface="STHeiti"/>
              <a:cs typeface="STHeiti"/>
            </a:endParaRPr>
          </a:p>
        </p:txBody>
      </p:sp>
      <p:sp>
        <p:nvSpPr>
          <p:cNvPr id="29" name="page-3">
            <a:extLst xmlns:a="http://schemas.openxmlformats.org/drawingml/2006/main">
              <a:ext uri="{FF2B5EF4-FFF2-40B4-BE49-F238E27FC236}">
                <a16:creationId xmlns:a16="http://schemas.microsoft.com/office/drawing/2014/main" id="{3C8505E5-214F-4DDF-9D86-157C5A340E3E}"/>
              </a:ext>
            </a:extLst>
          </p:cNvPr>
          <p:cNvSpPr>
            <a:spLocks xmlns:a="http://schemas.openxmlformats.org/drawingml/2006/main" noGrp="1"/>
          </p:cNvSpPr>
          <p:nvPr/>
        </p:nvSpPr>
        <p:spPr>
          <a:xfrm xmlns:a="http://schemas.openxmlformats.org/drawingml/2006/main">
            <a:off x="11239500" y="587438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r">
              <a:lnSpc>
                <a:spcPct val="95000"/>
              </a:lnSpc>
              <a:buNone/>
              <a:defRPr sz="975" b="1">
                <a:solidFill>
                  <a:srgbClr val="667085"/>
                </a:solidFill>
                <a:latin typeface="STHeiti"/>
                <a:ea typeface="STHeiti"/>
                <a:cs typeface="STHeiti"/>
              </a:defRPr>
            </a:pPr>
            <a:r>
              <a:rPr sz="975" b="1">
                <a:solidFill>
                  <a:srgbClr val="667085"/>
                </a:solidFill>
                <a:latin typeface="STHeiti"/>
                <a:ea typeface="STHeiti"/>
                <a:cs typeface="STHeiti"/>
              </a:rPr>
              <a:t>03</a:t>
            </a:r>
            <a:endParaRPr sz="975" b="1">
              <a:solidFill>
                <a:srgbClr val="667085"/>
              </a:solidFill>
              <a:latin typeface="STHeiti"/>
              <a:ea typeface="STHeiti"/>
              <a:cs typeface="STHeiti"/>
            </a:endParaRPr>
          </a:p>
        </p:txBody>
      </p:sp>
    </p:spTree>
    <p:extLst>
      <p:ext uri="{BB962C8B-B14F-4D97-AF65-F5344CB8AC3E}">
        <p14:creationId xmlns:p14="http://schemas.microsoft.com/office/powerpoint/2010/main" val="9441453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3">
            <a:extLst xmlns:a="http://schemas.openxmlformats.org/drawingml/2006/main">
              <a:ext uri="{FF2B5EF4-FFF2-40B4-BE49-F238E27FC236}">
                <a16:creationId xmlns:a16="http://schemas.microsoft.com/office/drawing/2014/main" id="{3A9EDE3B-CE8B-4F73-A638-13A470746670}"/>
              </a:ext>
            </a:extLst>
          </p:cNvPr>
          <p:cNvSpPr>
            <a:spLocks xmlns:a="http://schemas.openxmlformats.org/drawingml/2006/main" noGrp="1"/>
          </p:cNvSpPr>
          <p:nvPr/>
        </p:nvSpPr>
        <p:spPr>
          <a:xfrm xmlns:a="http://schemas.openxmlformats.org/drawingml/2006/main">
            <a:off x="457200" y="49530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95000"/>
              </a:lnSpc>
              <a:buNone/>
              <a:defRPr sz="3600" b="1">
                <a:solidFill>
                  <a:srgbClr val="101828"/>
                </a:solidFill>
                <a:latin typeface="STHeiti"/>
                <a:ea typeface="STHeiti"/>
                <a:cs typeface="STHeiti"/>
              </a:defRPr>
            </a:pPr>
            <a:r>
              <a:rPr sz="3600" b="1">
                <a:solidFill>
                  <a:srgbClr val="101828"/>
                </a:solidFill>
                <a:latin typeface="STHeiti"/>
                <a:ea typeface="STHeiti"/>
                <a:cs typeface="STHeiti"/>
              </a:rPr>
              <a:t>嘉实基金大健康组最新观点</a:t>
            </a:r>
            <a:endParaRPr sz="3600" b="1">
              <a:solidFill>
                <a:srgbClr val="101828"/>
              </a:solidFill>
              <a:latin typeface="STHeiti"/>
              <a:ea typeface="STHeiti"/>
              <a:cs typeface="STHeiti"/>
            </a:endParaRPr>
          </a:p>
        </p:txBody>
      </p:sp>
      <p:sp>
        <p:nvSpPr>
          <p:cNvPr id="3" name="accent-3">
            <a:extLst xmlns:a="http://schemas.openxmlformats.org/drawingml/2006/main">
              <a:ext uri="{FF2B5EF4-FFF2-40B4-BE49-F238E27FC236}">
                <a16:creationId xmlns:a16="http://schemas.microsoft.com/office/drawing/2014/main" id="{96270CF2-1AF7-4BA9-9DC8-A79C5FE285C3}"/>
              </a:ext>
            </a:extLst>
          </p:cNvPr>
          <p:cNvSpPr>
            <a:spLocks xmlns:a="http://schemas.openxmlformats.org/drawingml/2006/main" noGrp="1"/>
          </p:cNvSpPr>
          <p:nvPr/>
        </p:nvSpPr>
        <p:spPr>
          <a:xfrm xmlns:a="http://schemas.openxmlformats.org/drawingml/2006/main">
            <a:off x="457200" y="1162050"/>
            <a:ext cx="876300" cy="0"/>
          </a:xfrm>
          <a:prstGeom xmlns:a="http://schemas.openxmlformats.org/drawingml/2006/main" prst="line">
            <a:avLst/>
          </a:prstGeom>
          <a:noFill xmlns:a="http://schemas.openxmlformats.org/drawingml/2006/main"/>
          <a:ln xmlns:a="http://schemas.openxmlformats.org/drawingml/2006/main" w="47625">
            <a:solidFill>
              <a:srgbClr val="2F6BFF"/>
            </a:solidFill>
            <a:prstDash val="solid"/>
          </a:ln>
        </p:spPr>
      </p:sp>
      <p:sp>
        <p:nvSpPr>
          <p:cNvPr id="27" name="footer-rule-3">
            <a:extLst xmlns:a="http://schemas.openxmlformats.org/drawingml/2006/main">
              <a:ext uri="{FF2B5EF4-FFF2-40B4-BE49-F238E27FC236}">
                <a16:creationId xmlns:a16="http://schemas.microsoft.com/office/drawing/2014/main" id="{27500C09-E71B-4485-B5A3-9DF258734E7A}"/>
              </a:ext>
            </a:extLst>
          </p:cNvPr>
          <p:cNvSpPr>
            <a:spLocks xmlns:a="http://schemas.openxmlformats.org/drawingml/2006/main" noGrp="1"/>
          </p:cNvSpPr>
          <p:nvPr/>
        </p:nvSpPr>
        <p:spPr>
          <a:xfrm xmlns:a="http://schemas.openxmlformats.org/drawingml/2006/main">
            <a:off x="457200" y="5788660"/>
            <a:ext cx="112776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28" name="source-3">
            <a:extLst xmlns:a="http://schemas.openxmlformats.org/drawingml/2006/main">
              <a:ext uri="{FF2B5EF4-FFF2-40B4-BE49-F238E27FC236}">
                <a16:creationId xmlns:a16="http://schemas.microsoft.com/office/drawing/2014/main" id="{9D7E5B9A-6A8F-4853-A8B1-247CA274BB30}"/>
              </a:ext>
            </a:extLst>
          </p:cNvPr>
          <p:cNvSpPr>
            <a:spLocks xmlns:a="http://schemas.openxmlformats.org/drawingml/2006/main" noGrp="1"/>
          </p:cNvSpPr>
          <p:nvPr/>
        </p:nvSpPr>
        <p:spPr>
          <a:xfrm xmlns:a="http://schemas.openxmlformats.org/drawingml/2006/main">
            <a:off x="457200" y="5874385"/>
            <a:ext cx="10620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865" b="0">
                <a:solidFill>
                  <a:srgbClr val="667085"/>
                </a:solidFill>
                <a:latin typeface="STHeiti"/>
                <a:ea typeface="STHeiti"/>
                <a:cs typeface="STHeiti"/>
              </a:defRPr>
            </a:pPr>
            <a:r>
              <a:rPr sz="865" b="0">
                <a:solidFill>
                  <a:srgbClr val="667085"/>
                </a:solidFill>
                <a:latin typeface="STHeiti"/>
                <a:ea typeface="STHeiti"/>
                <a:cs typeface="STHeiti"/>
              </a:rPr>
              <a:t>来源：IMA《嘉实郝淼交流0821》；同花顺iFinD。收益/回撤截至2026/8/24；持仓截至2026/6/30；内部占比按前十大医药持仓归一化</a:t>
            </a:r>
            <a:endParaRPr sz="865" b="0">
              <a:solidFill>
                <a:srgbClr val="667085"/>
              </a:solidFill>
              <a:latin typeface="STHeiti"/>
              <a:ea typeface="STHeiti"/>
              <a:cs typeface="STHeiti"/>
            </a:endParaRPr>
          </a:p>
        </p:txBody>
      </p:sp>
      <p:sp>
        <p:nvSpPr>
          <p:cNvPr id="29" name="page-3">
            <a:extLst xmlns:a="http://schemas.openxmlformats.org/drawingml/2006/main">
              <a:ext uri="{FF2B5EF4-FFF2-40B4-BE49-F238E27FC236}">
                <a16:creationId xmlns:a16="http://schemas.microsoft.com/office/drawing/2014/main" id="{3C8505E5-214F-4DDF-9D86-157C5A340E3E}"/>
              </a:ext>
            </a:extLst>
          </p:cNvPr>
          <p:cNvSpPr>
            <a:spLocks xmlns:a="http://schemas.openxmlformats.org/drawingml/2006/main" noGrp="1"/>
          </p:cNvSpPr>
          <p:nvPr/>
        </p:nvSpPr>
        <p:spPr>
          <a:xfrm xmlns:a="http://schemas.openxmlformats.org/drawingml/2006/main">
            <a:off x="11239500" y="587438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5000"/>
              </a:lnSpc>
              <a:buNone/>
              <a:defRPr sz="975" b="1">
                <a:solidFill>
                  <a:srgbClr val="667085"/>
                </a:solidFill>
                <a:latin typeface="STHeiti"/>
                <a:ea typeface="STHeiti"/>
                <a:cs typeface="STHeiti"/>
              </a:defRPr>
            </a:pPr>
            <a:r>
              <a:rPr sz="975" b="1">
                <a:solidFill>
                  <a:srgbClr val="667085"/>
                </a:solidFill>
                <a:latin typeface="STHeiti"/>
                <a:ea typeface="STHeiti"/>
                <a:cs typeface="STHeiti"/>
              </a:rPr>
              <a:t>04</a:t>
            </a:r>
            <a:endParaRPr sz="975" b="1">
              <a:solidFill>
                <a:srgbClr val="667085"/>
              </a:solidFill>
              <a:latin typeface="STHeiti"/>
              <a:ea typeface="STHeiti"/>
              <a:cs typeface="STHeiti"/>
            </a:endParaRPr>
          </a:p>
        </p:txBody>
      </p:sp>
      <p:sp>
        <p:nvSpPr>
          <p:cNvPr id="30" name="viewpoint-industry-label">
            <a:extLst xmlns:a="http://schemas.openxmlformats.org/drawingml/2006/main">
              <a:ext uri="{FF2B5EF4-FFF2-40B4-BE49-F238E27FC236}">
                <a16:creationId xmlns:a16="http://schemas.microsoft.com/office/drawing/2014/main" id="{2C5764C6-472C-4280-840D-5A68BD011009}"/>
              </a:ext>
            </a:extLst>
          </p:cNvPr>
          <p:cNvSpPr>
            <a:spLocks xmlns:a="http://schemas.openxmlformats.org/drawingml/2006/main" noGrp="1"/>
          </p:cNvSpPr>
          <p:nvPr/>
        </p:nvSpPr>
        <p:spPr>
          <a:xfrm xmlns:a="http://schemas.openxmlformats.org/drawingml/2006/main">
            <a:off x="457200" y="1352550"/>
            <a:ext cx="5381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75" b="1">
                <a:solidFill>
                  <a:srgbClr val="2F6BFF"/>
                </a:solidFill>
                <a:latin typeface="STHeiti"/>
                <a:ea typeface="STHeiti"/>
                <a:cs typeface="STHeiti"/>
              </a:defRPr>
            </a:pPr>
            <a:r>
              <a:rPr sz="1275" b="1">
                <a:solidFill>
                  <a:srgbClr val="2F6BFF"/>
                </a:solidFill>
                <a:latin typeface="STHeiti"/>
                <a:ea typeface="STHeiti"/>
                <a:cs typeface="STHeiti"/>
              </a:rPr>
              <a:t>当前行业变化</a:t>
            </a:r>
          </a:p>
        </p:txBody>
      </p:sp>
      <p:sp>
        <p:nvSpPr>
          <p:cNvPr id="31" name="viewpoint-industry-body">
            <a:extLst xmlns:a="http://schemas.openxmlformats.org/drawingml/2006/main">
              <a:ext uri="{FF2B5EF4-FFF2-40B4-BE49-F238E27FC236}">
                <a16:creationId xmlns:a16="http://schemas.microsoft.com/office/drawing/2014/main" id="{AA82BC83-2ADF-41C7-A130-679D1D276C89}"/>
              </a:ext>
            </a:extLst>
          </p:cNvPr>
          <p:cNvSpPr>
            <a:spLocks xmlns:a="http://schemas.openxmlformats.org/drawingml/2006/main" noGrp="1"/>
          </p:cNvSpPr>
          <p:nvPr/>
        </p:nvSpPr>
        <p:spPr>
          <a:xfrm xmlns:a="http://schemas.openxmlformats.org/drawingml/2006/main">
            <a:off x="457200" y="1628775"/>
            <a:ext cx="5381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buNone/>
              <a:defRPr sz="1163" b="1">
                <a:solidFill>
                  <a:srgbClr val="344054"/>
                </a:solidFill>
                <a:latin typeface="STHeiti"/>
                <a:ea typeface="STHeiti"/>
                <a:cs typeface="STHeiti"/>
              </a:defRPr>
            </a:pPr>
            <a:r>
              <a:rPr sz="1163" b="1">
                <a:solidFill>
                  <a:srgbClr val="344054"/>
                </a:solidFill>
                <a:latin typeface="STHeiti"/>
                <a:ea typeface="STHeiti"/>
                <a:cs typeface="STHeiti"/>
              </a:rPr>
              <a:t>FDA改革落地，监管环境转向鼓励创新；A/H医药业绩延续增长，海外授权在高基数上继续扩张，全球医药风险偏好回升。</a:t>
            </a:r>
          </a:p>
        </p:txBody>
      </p:sp>
      <p:sp>
        <p:nvSpPr>
          <p:cNvPr id="32" name="viewpoint-divider">
            <a:extLst xmlns:a="http://schemas.openxmlformats.org/drawingml/2006/main">
              <a:ext uri="{FF2B5EF4-FFF2-40B4-BE49-F238E27FC236}">
                <a16:creationId xmlns:a16="http://schemas.microsoft.com/office/drawing/2014/main" id="{67C1FE22-4BFA-4393-A403-9CA7B3C1A2B1}"/>
              </a:ext>
            </a:extLst>
          </p:cNvPr>
          <p:cNvSpPr>
            <a:spLocks xmlns:a="http://schemas.openxmlformats.org/drawingml/2006/main" noGrp="1"/>
          </p:cNvSpPr>
          <p:nvPr/>
        </p:nvSpPr>
        <p:spPr>
          <a:xfrm xmlns:a="http://schemas.openxmlformats.org/drawingml/2006/main">
            <a:off x="6086475" y="1381125"/>
            <a:ext cx="9525" cy="733425"/>
          </a:xfrm>
          <a:prstGeom xmlns:a="http://schemas.openxmlformats.org/drawingml/2006/main" prst="rect">
            <a:avLst/>
          </a:prstGeom>
          <a:solidFill xmlns:a="http://schemas.openxmlformats.org/drawingml/2006/main">
            <a:srgbClr val="DDE3EA"/>
          </a:solidFill>
          <a:ln xmlns:a="http://schemas.openxmlformats.org/drawingml/2006/main" w="0">
            <a:noFill/>
            <a:prstDash val="solid"/>
          </a:ln>
        </p:spPr>
      </p:sp>
      <p:sp>
        <p:nvSpPr>
          <p:cNvPr id="33" name="viewpoint-investment-label">
            <a:extLst xmlns:a="http://schemas.openxmlformats.org/drawingml/2006/main">
              <a:ext uri="{FF2B5EF4-FFF2-40B4-BE49-F238E27FC236}">
                <a16:creationId xmlns:a16="http://schemas.microsoft.com/office/drawing/2014/main" id="{B243313C-3F6E-479D-B6E0-E2D562FF9983}"/>
              </a:ext>
            </a:extLst>
          </p:cNvPr>
          <p:cNvSpPr>
            <a:spLocks xmlns:a="http://schemas.openxmlformats.org/drawingml/2006/main" noGrp="1"/>
          </p:cNvSpPr>
          <p:nvPr/>
        </p:nvSpPr>
        <p:spPr>
          <a:xfrm xmlns:a="http://schemas.openxmlformats.org/drawingml/2006/main">
            <a:off x="6353175" y="1352550"/>
            <a:ext cx="5381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75" b="1">
                <a:solidFill>
                  <a:srgbClr val="F59E0B"/>
                </a:solidFill>
                <a:latin typeface="STHeiti"/>
                <a:ea typeface="STHeiti"/>
                <a:cs typeface="STHeiti"/>
              </a:defRPr>
            </a:pPr>
            <a:r>
              <a:rPr sz="1275" b="1">
                <a:solidFill>
                  <a:srgbClr val="F59E0B"/>
                </a:solidFill>
                <a:latin typeface="STHeiti"/>
                <a:ea typeface="STHeiti"/>
                <a:cs typeface="STHeiti"/>
              </a:rPr>
              <a:t>后续投资线索</a:t>
            </a:r>
          </a:p>
        </p:txBody>
      </p:sp>
      <p:sp>
        <p:nvSpPr>
          <p:cNvPr id="34" name="viewpoint-investment-body">
            <a:extLst xmlns:a="http://schemas.openxmlformats.org/drawingml/2006/main">
              <a:ext uri="{FF2B5EF4-FFF2-40B4-BE49-F238E27FC236}">
                <a16:creationId xmlns:a16="http://schemas.microsoft.com/office/drawing/2014/main" id="{9E39BD34-94C1-4DF7-AF2C-6098102F0443}"/>
              </a:ext>
            </a:extLst>
          </p:cNvPr>
          <p:cNvSpPr>
            <a:spLocks xmlns:a="http://schemas.openxmlformats.org/drawingml/2006/main" noGrp="1"/>
          </p:cNvSpPr>
          <p:nvPr/>
        </p:nvSpPr>
        <p:spPr>
          <a:xfrm xmlns:a="http://schemas.openxmlformats.org/drawingml/2006/main">
            <a:off x="6353175" y="1628775"/>
            <a:ext cx="5381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a:lnSpc>
                <a:spcPct val="104000"/>
              </a:lnSpc>
              <a:buNone/>
              <a:defRPr sz="1163" b="1">
                <a:solidFill>
                  <a:srgbClr val="344054"/>
                </a:solidFill>
                <a:latin typeface="STHeiti"/>
                <a:ea typeface="STHeiti"/>
                <a:cs typeface="STHeiti"/>
              </a:defRPr>
            </a:pPr>
            <a:r>
              <a:rPr sz="1163" b="1">
                <a:solidFill>
                  <a:srgbClr val="344054"/>
                </a:solidFill>
                <a:latin typeface="STHeiti"/>
                <a:ea typeface="STHeiti"/>
                <a:cs typeface="STHeiti"/>
              </a:rPr>
              <a:t>短期趋势尚未见拐点。CXO跟踪订单、收入和现金流兑现；创新药重点评估临床成功率与远期DCF。</a:t>
            </a:r>
          </a:p>
        </p:txBody>
      </p:sp>
      <p:sp>
        <p:nvSpPr>
          <p:cNvPr id="35" name="viewpoint-bottom-rule">
            <a:extLst xmlns:a="http://schemas.openxmlformats.org/drawingml/2006/main">
              <a:ext uri="{FF2B5EF4-FFF2-40B4-BE49-F238E27FC236}">
                <a16:creationId xmlns:a16="http://schemas.microsoft.com/office/drawing/2014/main" id="{5833770D-E5A5-4A38-B4F1-C0F349E76C1A}"/>
              </a:ext>
            </a:extLst>
          </p:cNvPr>
          <p:cNvSpPr>
            <a:spLocks xmlns:a="http://schemas.openxmlformats.org/drawingml/2006/main" noGrp="1"/>
          </p:cNvSpPr>
          <p:nvPr/>
        </p:nvSpPr>
        <p:spPr>
          <a:xfrm xmlns:a="http://schemas.openxmlformats.org/drawingml/2006/main">
            <a:off x="457200" y="2209800"/>
            <a:ext cx="11277600" cy="9525"/>
          </a:xfrm>
          <a:prstGeom xmlns:a="http://schemas.openxmlformats.org/drawingml/2006/main" prst="rect">
            <a:avLst/>
          </a:prstGeom>
          <a:solidFill xmlns:a="http://schemas.openxmlformats.org/drawingml/2006/main">
            <a:srgbClr val="E5EAF0"/>
          </a:solidFill>
          <a:ln xmlns:a="http://schemas.openxmlformats.org/drawingml/2006/main" w="0">
            <a:noFill/>
            <a:prstDash val="solid"/>
          </a:ln>
        </p:spPr>
      </p:sp>
      <p:sp>
        <p:nvSpPr>
          <p:cNvPr id="36" name="product-medical-care-card">
            <a:extLst xmlns:a="http://schemas.openxmlformats.org/drawingml/2006/main">
              <a:ext uri="{FF2B5EF4-FFF2-40B4-BE49-F238E27FC236}">
                <a16:creationId xmlns:a16="http://schemas.microsoft.com/office/drawing/2014/main" id="{C99866FD-86BC-43B4-BC96-C97619DB984E}"/>
              </a:ext>
            </a:extLst>
          </p:cNvPr>
          <p:cNvSpPr>
            <a:spLocks xmlns:a="http://schemas.openxmlformats.org/drawingml/2006/main" noGrp="1"/>
          </p:cNvSpPr>
          <p:nvPr/>
        </p:nvSpPr>
        <p:spPr>
          <a:xfrm xmlns:a="http://schemas.openxmlformats.org/drawingml/2006/main">
            <a:off x="457200" y="2324100"/>
            <a:ext cx="3581400" cy="3314700"/>
          </a:xfrm>
          <a:prstGeom xmlns:a="http://schemas.openxmlformats.org/drawingml/2006/main" prst="roundRect">
            <a:avLst>
              <a:gd name="adj" fmla="val 2299"/>
            </a:avLst>
          </a:prstGeom>
          <a:noFill xmlns:a="http://schemas.openxmlformats.org/drawingml/2006/main"/>
          <a:ln xmlns:a="http://schemas.openxmlformats.org/drawingml/2006/main" w="9525">
            <a:solidFill>
              <a:srgbClr val="DDE3EA"/>
            </a:solidFill>
            <a:prstDash val="solid"/>
          </a:ln>
        </p:spPr>
      </p:sp>
      <p:sp>
        <p:nvSpPr>
          <p:cNvPr id="37" name="product-medical-care-accent">
            <a:extLst xmlns:a="http://schemas.openxmlformats.org/drawingml/2006/main">
              <a:ext uri="{FF2B5EF4-FFF2-40B4-BE49-F238E27FC236}">
                <a16:creationId xmlns:a16="http://schemas.microsoft.com/office/drawing/2014/main" id="{9AB706E6-88FE-4F85-82BA-11ADFA798A2C}"/>
              </a:ext>
            </a:extLst>
          </p:cNvPr>
          <p:cNvSpPr>
            <a:spLocks xmlns:a="http://schemas.openxmlformats.org/drawingml/2006/main" noGrp="1"/>
          </p:cNvSpPr>
          <p:nvPr/>
        </p:nvSpPr>
        <p:spPr>
          <a:xfrm xmlns:a="http://schemas.openxmlformats.org/drawingml/2006/main">
            <a:off x="457200" y="2324100"/>
            <a:ext cx="3581400" cy="47625"/>
          </a:xfrm>
          <a:prstGeom xmlns:a="http://schemas.openxmlformats.org/drawingml/2006/main" prst="rect">
            <a:avLst/>
          </a:prstGeom>
          <a:solidFill xmlns:a="http://schemas.openxmlformats.org/drawingml/2006/main">
            <a:srgbClr val="2F6BFF"/>
          </a:solidFill>
          <a:ln xmlns:a="http://schemas.openxmlformats.org/drawingml/2006/main" w="0">
            <a:noFill/>
            <a:prstDash val="solid"/>
          </a:ln>
        </p:spPr>
      </p:sp>
      <p:sp>
        <p:nvSpPr>
          <p:cNvPr id="38" name="product-medical-care-fund">
            <a:extLst xmlns:a="http://schemas.openxmlformats.org/drawingml/2006/main">
              <a:ext uri="{FF2B5EF4-FFF2-40B4-BE49-F238E27FC236}">
                <a16:creationId xmlns:a16="http://schemas.microsoft.com/office/drawing/2014/main" id="{D5209273-374E-414D-BCBA-7A9C96A5F387}"/>
              </a:ext>
            </a:extLst>
          </p:cNvPr>
          <p:cNvSpPr>
            <a:spLocks xmlns:a="http://schemas.openxmlformats.org/drawingml/2006/main" noGrp="1"/>
          </p:cNvSpPr>
          <p:nvPr/>
        </p:nvSpPr>
        <p:spPr>
          <a:xfrm xmlns:a="http://schemas.openxmlformats.org/drawingml/2006/main">
            <a:off x="609600" y="241935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388" b="1">
                <a:solidFill>
                  <a:srgbClr val="101828"/>
                </a:solidFill>
                <a:latin typeface="STHeiti"/>
                <a:ea typeface="STHeiti"/>
                <a:cs typeface="STHeiti"/>
              </a:defRPr>
            </a:pPr>
            <a:r>
              <a:rPr sz="1388" b="1">
                <a:solidFill>
                  <a:srgbClr val="101828"/>
                </a:solidFill>
                <a:latin typeface="STHeiti"/>
                <a:ea typeface="STHeiti"/>
                <a:cs typeface="STHeiti"/>
              </a:rPr>
              <a:t>嘉实医疗保健</a:t>
            </a:r>
          </a:p>
        </p:txBody>
      </p:sp>
      <p:sp>
        <p:nvSpPr>
          <p:cNvPr id="39" name="product-medical-care-code">
            <a:extLst xmlns:a="http://schemas.openxmlformats.org/drawingml/2006/main">
              <a:ext uri="{FF2B5EF4-FFF2-40B4-BE49-F238E27FC236}">
                <a16:creationId xmlns:a16="http://schemas.microsoft.com/office/drawing/2014/main" id="{C9DDB08E-8FD2-4368-8940-3AD60AA6BD3B}"/>
              </a:ext>
            </a:extLst>
          </p:cNvPr>
          <p:cNvSpPr>
            <a:spLocks xmlns:a="http://schemas.openxmlformats.org/drawingml/2006/main" noGrp="1"/>
          </p:cNvSpPr>
          <p:nvPr/>
        </p:nvSpPr>
        <p:spPr>
          <a:xfrm xmlns:a="http://schemas.openxmlformats.org/drawingml/2006/main">
            <a:off x="2800350" y="2438400"/>
            <a:ext cx="1085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863">
                <a:solidFill>
                  <a:srgbClr val="667085"/>
                </a:solidFill>
                <a:latin typeface="STHeiti"/>
                <a:ea typeface="STHeiti"/>
                <a:cs typeface="STHeiti"/>
              </a:defRPr>
            </a:pPr>
            <a:r>
              <a:rPr sz="863">
                <a:solidFill>
                  <a:srgbClr val="667085"/>
                </a:solidFill>
                <a:latin typeface="STHeiti"/>
                <a:ea typeface="STHeiti"/>
                <a:cs typeface="STHeiti"/>
              </a:rPr>
              <a:t>000711</a:t>
            </a:r>
          </a:p>
        </p:txBody>
      </p:sp>
      <p:sp>
        <p:nvSpPr>
          <p:cNvPr id="40" name="product-medical-care-direction-band">
            <a:extLst xmlns:a="http://schemas.openxmlformats.org/drawingml/2006/main">
              <a:ext uri="{FF2B5EF4-FFF2-40B4-BE49-F238E27FC236}">
                <a16:creationId xmlns:a16="http://schemas.microsoft.com/office/drawing/2014/main" id="{3954BD46-7064-4637-B167-16C0B4F7DB2D}"/>
              </a:ext>
            </a:extLst>
          </p:cNvPr>
          <p:cNvSpPr>
            <a:spLocks xmlns:a="http://schemas.openxmlformats.org/drawingml/2006/main" noGrp="1"/>
          </p:cNvSpPr>
          <p:nvPr/>
        </p:nvSpPr>
        <p:spPr>
          <a:xfrm xmlns:a="http://schemas.openxmlformats.org/drawingml/2006/main">
            <a:off x="609600" y="2705100"/>
            <a:ext cx="3276600" cy="257175"/>
          </a:xfrm>
          <a:prstGeom xmlns:a="http://schemas.openxmlformats.org/drawingml/2006/main" prst="roundRect">
            <a:avLst>
              <a:gd name="adj" fmla="val 29630"/>
            </a:avLst>
          </a:prstGeom>
          <a:solidFill xmlns:a="http://schemas.openxmlformats.org/drawingml/2006/main">
            <a:srgbClr val="EAF0FF"/>
          </a:solidFill>
          <a:ln xmlns:a="http://schemas.openxmlformats.org/drawingml/2006/main" w="0">
            <a:noFill/>
            <a:prstDash val="solid"/>
          </a:ln>
        </p:spPr>
      </p:sp>
      <p:sp>
        <p:nvSpPr>
          <p:cNvPr id="41" name="product-medical-care-direction">
            <a:extLst xmlns:a="http://schemas.openxmlformats.org/drawingml/2006/main">
              <a:ext uri="{FF2B5EF4-FFF2-40B4-BE49-F238E27FC236}">
                <a16:creationId xmlns:a16="http://schemas.microsoft.com/office/drawing/2014/main" id="{86384C9F-7859-4A59-8AA6-D18AA098B0DB}"/>
              </a:ext>
            </a:extLst>
          </p:cNvPr>
          <p:cNvSpPr>
            <a:spLocks xmlns:a="http://schemas.openxmlformats.org/drawingml/2006/main" noGrp="1"/>
          </p:cNvSpPr>
          <p:nvPr/>
        </p:nvSpPr>
        <p:spPr>
          <a:xfrm xmlns:a="http://schemas.openxmlformats.org/drawingml/2006/main">
            <a:off x="685800" y="2743200"/>
            <a:ext cx="3124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60" b="1">
                <a:solidFill>
                  <a:srgbClr val="2F6BFF"/>
                </a:solidFill>
                <a:latin typeface="STHeiti"/>
                <a:ea typeface="STHeiti"/>
                <a:cs typeface="STHeiti"/>
              </a:defRPr>
            </a:pPr>
            <a:r>
              <a:rPr sz="960" b="1">
                <a:solidFill>
                  <a:srgbClr val="2F6BFF"/>
                </a:solidFill>
                <a:latin typeface="STHeiti"/>
                <a:ea typeface="STHeiti"/>
                <a:cs typeface="STHeiti"/>
              </a:rPr>
              <a:t>主投方向｜CXO为主，兼配创新药</a:t>
            </a:r>
          </a:p>
        </p:txBody>
      </p:sp>
      <p:sp>
        <p:nvSpPr>
          <p:cNvPr id="42" name="product-medical-care-return-box">
            <a:extLst xmlns:a="http://schemas.openxmlformats.org/drawingml/2006/main">
              <a:ext uri="{FF2B5EF4-FFF2-40B4-BE49-F238E27FC236}">
                <a16:creationId xmlns:a16="http://schemas.microsoft.com/office/drawing/2014/main" id="{3464CCE6-480F-4BE8-9DB4-B864D404CE6F}"/>
              </a:ext>
            </a:extLst>
          </p:cNvPr>
          <p:cNvSpPr>
            <a:spLocks xmlns:a="http://schemas.openxmlformats.org/drawingml/2006/main" noGrp="1"/>
          </p:cNvSpPr>
          <p:nvPr/>
        </p:nvSpPr>
        <p:spPr>
          <a:xfrm xmlns:a="http://schemas.openxmlformats.org/drawingml/2006/main">
            <a:off x="609600" y="3038475"/>
            <a:ext cx="1581150" cy="514350"/>
          </a:xfrm>
          <a:prstGeom xmlns:a="http://schemas.openxmlformats.org/drawingml/2006/main" prst="roundRect">
            <a:avLst>
              <a:gd name="adj" fmla="val 14815"/>
            </a:avLst>
          </a:prstGeom>
          <a:solidFill xmlns:a="http://schemas.openxmlformats.org/drawingml/2006/main">
            <a:srgbClr val="F7F9FC"/>
          </a:solidFill>
          <a:ln xmlns:a="http://schemas.openxmlformats.org/drawingml/2006/main" w="9525">
            <a:solidFill>
              <a:srgbClr val="E5EAF0"/>
            </a:solidFill>
            <a:prstDash val="solid"/>
          </a:ln>
        </p:spPr>
      </p:sp>
      <p:sp>
        <p:nvSpPr>
          <p:cNvPr id="43" name="product-medical-care-return-label">
            <a:extLst xmlns:a="http://schemas.openxmlformats.org/drawingml/2006/main">
              <a:ext uri="{FF2B5EF4-FFF2-40B4-BE49-F238E27FC236}">
                <a16:creationId xmlns:a16="http://schemas.microsoft.com/office/drawing/2014/main" id="{FD93081D-2520-47B3-A3DD-B801BD0AEC7D}"/>
              </a:ext>
            </a:extLst>
          </p:cNvPr>
          <p:cNvSpPr>
            <a:spLocks xmlns:a="http://schemas.openxmlformats.org/drawingml/2006/main" noGrp="1"/>
          </p:cNvSpPr>
          <p:nvPr/>
        </p:nvSpPr>
        <p:spPr>
          <a:xfrm xmlns:a="http://schemas.openxmlformats.org/drawingml/2006/main">
            <a:off x="676275" y="3105150"/>
            <a:ext cx="1447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15">
                <a:solidFill>
                  <a:srgbClr val="667085"/>
                </a:solidFill>
                <a:latin typeface="STHeiti"/>
                <a:ea typeface="STHeiti"/>
                <a:cs typeface="STHeiti"/>
              </a:defRPr>
            </a:pPr>
            <a:r>
              <a:rPr sz="915">
                <a:solidFill>
                  <a:srgbClr val="667085"/>
                </a:solidFill>
                <a:latin typeface="STHeiti"/>
                <a:ea typeface="STHeiti"/>
                <a:cs typeface="STHeiti"/>
              </a:rPr>
              <a:t>近1年收益</a:t>
            </a:r>
          </a:p>
        </p:txBody>
      </p:sp>
      <p:sp>
        <p:nvSpPr>
          <p:cNvPr id="44" name="product-medical-care-return-value">
            <a:extLst xmlns:a="http://schemas.openxmlformats.org/drawingml/2006/main">
              <a:ext uri="{FF2B5EF4-FFF2-40B4-BE49-F238E27FC236}">
                <a16:creationId xmlns:a16="http://schemas.microsoft.com/office/drawing/2014/main" id="{98A25B65-035F-4E09-AC39-9FA3A1D98DCA}"/>
              </a:ext>
            </a:extLst>
          </p:cNvPr>
          <p:cNvSpPr>
            <a:spLocks xmlns:a="http://schemas.openxmlformats.org/drawingml/2006/main" noGrp="1"/>
          </p:cNvSpPr>
          <p:nvPr/>
        </p:nvSpPr>
        <p:spPr>
          <a:xfrm xmlns:a="http://schemas.openxmlformats.org/drawingml/2006/main">
            <a:off x="676275" y="3276600"/>
            <a:ext cx="1447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909"/>
          </a:bodyPr>
          <a:lstStyle xmlns:a="http://schemas.openxmlformats.org/drawingml/2006/main"/>
          <a:p xmlns:a="http://schemas.openxmlformats.org/drawingml/2006/main">
            <a:pPr algn="ctr">
              <a:defRPr sz="1650" b="1">
                <a:solidFill>
                  <a:srgbClr val="2F6BFF"/>
                </a:solidFill>
                <a:latin typeface="STHeiti"/>
                <a:ea typeface="STHeiti"/>
                <a:cs typeface="STHeiti"/>
              </a:defRPr>
            </a:pPr>
            <a:r>
              <a:rPr sz="1650" b="1">
                <a:solidFill>
                  <a:srgbClr val="2F6BFF"/>
                </a:solidFill>
                <a:latin typeface="STHeiti"/>
                <a:ea typeface="STHeiti"/>
                <a:cs typeface="STHeiti"/>
              </a:rPr>
              <a:t>+15.5%</a:t>
            </a:r>
          </a:p>
        </p:txBody>
      </p:sp>
      <p:sp>
        <p:nvSpPr>
          <p:cNvPr id="45" name="product-medical-care-drawdown-box">
            <a:extLst xmlns:a="http://schemas.openxmlformats.org/drawingml/2006/main">
              <a:ext uri="{FF2B5EF4-FFF2-40B4-BE49-F238E27FC236}">
                <a16:creationId xmlns:a16="http://schemas.microsoft.com/office/drawing/2014/main" id="{2E6A2512-3189-41DA-9C1B-F94973FE124A}"/>
              </a:ext>
            </a:extLst>
          </p:cNvPr>
          <p:cNvSpPr>
            <a:spLocks xmlns:a="http://schemas.openxmlformats.org/drawingml/2006/main" noGrp="1"/>
          </p:cNvSpPr>
          <p:nvPr/>
        </p:nvSpPr>
        <p:spPr>
          <a:xfrm xmlns:a="http://schemas.openxmlformats.org/drawingml/2006/main">
            <a:off x="2305050" y="3038475"/>
            <a:ext cx="1581150" cy="514350"/>
          </a:xfrm>
          <a:prstGeom xmlns:a="http://schemas.openxmlformats.org/drawingml/2006/main" prst="roundRect">
            <a:avLst>
              <a:gd name="adj" fmla="val 14815"/>
            </a:avLst>
          </a:prstGeom>
          <a:solidFill xmlns:a="http://schemas.openxmlformats.org/drawingml/2006/main">
            <a:srgbClr val="F7F9FC"/>
          </a:solidFill>
          <a:ln xmlns:a="http://schemas.openxmlformats.org/drawingml/2006/main" w="9525">
            <a:solidFill>
              <a:srgbClr val="E5EAF0"/>
            </a:solidFill>
            <a:prstDash val="solid"/>
          </a:ln>
        </p:spPr>
      </p:sp>
      <p:sp>
        <p:nvSpPr>
          <p:cNvPr id="46" name="product-medical-care-drawdown-label">
            <a:extLst xmlns:a="http://schemas.openxmlformats.org/drawingml/2006/main">
              <a:ext uri="{FF2B5EF4-FFF2-40B4-BE49-F238E27FC236}">
                <a16:creationId xmlns:a16="http://schemas.microsoft.com/office/drawing/2014/main" id="{734330FA-2529-40D8-B81C-83A35ECD5307}"/>
              </a:ext>
            </a:extLst>
          </p:cNvPr>
          <p:cNvSpPr>
            <a:spLocks xmlns:a="http://schemas.openxmlformats.org/drawingml/2006/main" noGrp="1"/>
          </p:cNvSpPr>
          <p:nvPr/>
        </p:nvSpPr>
        <p:spPr>
          <a:xfrm xmlns:a="http://schemas.openxmlformats.org/drawingml/2006/main">
            <a:off x="2371725" y="3105150"/>
            <a:ext cx="1447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15">
                <a:solidFill>
                  <a:srgbClr val="667085"/>
                </a:solidFill>
                <a:latin typeface="STHeiti"/>
                <a:ea typeface="STHeiti"/>
                <a:cs typeface="STHeiti"/>
              </a:defRPr>
            </a:pPr>
            <a:r>
              <a:rPr sz="915">
                <a:solidFill>
                  <a:srgbClr val="667085"/>
                </a:solidFill>
                <a:latin typeface="STHeiti"/>
                <a:ea typeface="STHeiti"/>
                <a:cs typeface="STHeiti"/>
              </a:rPr>
              <a:t>近1年最大回撤</a:t>
            </a:r>
          </a:p>
        </p:txBody>
      </p:sp>
      <p:sp>
        <p:nvSpPr>
          <p:cNvPr id="47" name="product-medical-care-drawdown-value">
            <a:extLst xmlns:a="http://schemas.openxmlformats.org/drawingml/2006/main">
              <a:ext uri="{FF2B5EF4-FFF2-40B4-BE49-F238E27FC236}">
                <a16:creationId xmlns:a16="http://schemas.microsoft.com/office/drawing/2014/main" id="{DD8683B2-1452-40C2-A7E8-D0CFFBF85E98}"/>
              </a:ext>
            </a:extLst>
          </p:cNvPr>
          <p:cNvSpPr>
            <a:spLocks xmlns:a="http://schemas.openxmlformats.org/drawingml/2006/main" noGrp="1"/>
          </p:cNvSpPr>
          <p:nvPr/>
        </p:nvSpPr>
        <p:spPr>
          <a:xfrm xmlns:a="http://schemas.openxmlformats.org/drawingml/2006/main">
            <a:off x="2371725" y="3276600"/>
            <a:ext cx="1447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909"/>
          </a:bodyPr>
          <a:lstStyle xmlns:a="http://schemas.openxmlformats.org/drawingml/2006/main"/>
          <a:p xmlns:a="http://schemas.openxmlformats.org/drawingml/2006/main">
            <a:pPr algn="ctr">
              <a:defRPr sz="1650" b="1">
                <a:solidFill>
                  <a:srgbClr val="2F6BFF"/>
                </a:solidFill>
                <a:latin typeface="STHeiti"/>
                <a:ea typeface="STHeiti"/>
                <a:cs typeface="STHeiti"/>
              </a:defRPr>
            </a:pPr>
            <a:r>
              <a:rPr sz="1650" b="1">
                <a:solidFill>
                  <a:srgbClr val="2F6BFF"/>
                </a:solidFill>
                <a:latin typeface="STHeiti"/>
                <a:ea typeface="STHeiti"/>
                <a:cs typeface="STHeiti"/>
              </a:rPr>
              <a:t>24.4%</a:t>
            </a:r>
          </a:p>
        </p:txBody>
      </p:sp>
      <p:sp>
        <p:nvSpPr>
          <p:cNvPr id="48" name="product-medical-care-allocation-title">
            <a:extLst xmlns:a="http://schemas.openxmlformats.org/drawingml/2006/main">
              <a:ext uri="{FF2B5EF4-FFF2-40B4-BE49-F238E27FC236}">
                <a16:creationId xmlns:a16="http://schemas.microsoft.com/office/drawing/2014/main" id="{487F7BE4-AB2D-40A3-A3BE-C8BA7695930D}"/>
              </a:ext>
            </a:extLst>
          </p:cNvPr>
          <p:cNvSpPr>
            <a:spLocks xmlns:a="http://schemas.openxmlformats.org/drawingml/2006/main" noGrp="1"/>
          </p:cNvSpPr>
          <p:nvPr/>
        </p:nvSpPr>
        <p:spPr>
          <a:xfrm xmlns:a="http://schemas.openxmlformats.org/drawingml/2006/main">
            <a:off x="609600" y="3619500"/>
            <a:ext cx="3276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960" b="1">
                <a:solidFill>
                  <a:srgbClr val="344054"/>
                </a:solidFill>
                <a:latin typeface="STHeiti"/>
                <a:ea typeface="STHeiti"/>
                <a:cs typeface="STHeiti"/>
              </a:defRPr>
            </a:pPr>
            <a:r>
              <a:rPr sz="960" b="1">
                <a:solidFill>
                  <a:srgbClr val="344054"/>
                </a:solidFill>
                <a:latin typeface="STHeiti"/>
                <a:ea typeface="STHeiti"/>
                <a:cs typeface="STHeiti"/>
              </a:rPr>
              <a:t>前十大医药内部细分占比</a:t>
            </a:r>
          </a:p>
        </p:txBody>
      </p:sp>
      <p:sp>
        <p:nvSpPr>
          <p:cNvPr id="49" name="product-medical-care-allocation-1-label">
            <a:extLst xmlns:a="http://schemas.openxmlformats.org/drawingml/2006/main">
              <a:ext uri="{FF2B5EF4-FFF2-40B4-BE49-F238E27FC236}">
                <a16:creationId xmlns:a16="http://schemas.microsoft.com/office/drawing/2014/main" id="{8A5DB367-187A-49A0-91D2-F73D213AA1DF}"/>
              </a:ext>
            </a:extLst>
          </p:cNvPr>
          <p:cNvSpPr>
            <a:spLocks xmlns:a="http://schemas.openxmlformats.org/drawingml/2006/main" noGrp="1"/>
          </p:cNvSpPr>
          <p:nvPr/>
        </p:nvSpPr>
        <p:spPr>
          <a:xfrm xmlns:a="http://schemas.openxmlformats.org/drawingml/2006/main">
            <a:off x="609600" y="3905250"/>
            <a:ext cx="685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878" b="1">
                <a:solidFill>
                  <a:srgbClr val="344054"/>
                </a:solidFill>
                <a:latin typeface="STHeiti"/>
                <a:ea typeface="STHeiti"/>
                <a:cs typeface="STHeiti"/>
              </a:defRPr>
            </a:pPr>
            <a:r>
              <a:rPr sz="878" b="1">
                <a:solidFill>
                  <a:srgbClr val="344054"/>
                </a:solidFill>
                <a:latin typeface="STHeiti"/>
                <a:ea typeface="STHeiti"/>
                <a:cs typeface="STHeiti"/>
              </a:rPr>
              <a:t>CXO</a:t>
            </a:r>
          </a:p>
        </p:txBody>
      </p:sp>
      <p:sp>
        <p:nvSpPr>
          <p:cNvPr id="50" name="product-medical-care-allocation-1-track">
            <a:extLst xmlns:a="http://schemas.openxmlformats.org/drawingml/2006/main">
              <a:ext uri="{FF2B5EF4-FFF2-40B4-BE49-F238E27FC236}">
                <a16:creationId xmlns:a16="http://schemas.microsoft.com/office/drawing/2014/main" id="{33F56A6E-DF87-4BB7-BBAB-CD76B5235CFB}"/>
              </a:ext>
            </a:extLst>
          </p:cNvPr>
          <p:cNvSpPr>
            <a:spLocks xmlns:a="http://schemas.openxmlformats.org/drawingml/2006/main" noGrp="1"/>
          </p:cNvSpPr>
          <p:nvPr/>
        </p:nvSpPr>
        <p:spPr>
          <a:xfrm xmlns:a="http://schemas.openxmlformats.org/drawingml/2006/main">
            <a:off x="1333500" y="3952875"/>
            <a:ext cx="1676400" cy="66675"/>
          </a:xfrm>
          <a:prstGeom xmlns:a="http://schemas.openxmlformats.org/drawingml/2006/main" prst="roundRect">
            <a:avLst>
              <a:gd name="adj" fmla="val 50000"/>
            </a:avLst>
          </a:prstGeom>
          <a:solidFill xmlns:a="http://schemas.openxmlformats.org/drawingml/2006/main">
            <a:srgbClr val="E9EEF4"/>
          </a:solidFill>
          <a:ln xmlns:a="http://schemas.openxmlformats.org/drawingml/2006/main" w="0">
            <a:noFill/>
            <a:prstDash val="solid"/>
          </a:ln>
        </p:spPr>
      </p:sp>
      <p:sp>
        <p:nvSpPr>
          <p:cNvPr id="51" name="product-medical-care-allocation-1-fill">
            <a:extLst xmlns:a="http://schemas.openxmlformats.org/drawingml/2006/main">
              <a:ext uri="{FF2B5EF4-FFF2-40B4-BE49-F238E27FC236}">
                <a16:creationId xmlns:a16="http://schemas.microsoft.com/office/drawing/2014/main" id="{218D62FF-3F8D-4249-BCD8-C3F0000C07D7}"/>
              </a:ext>
            </a:extLst>
          </p:cNvPr>
          <p:cNvSpPr>
            <a:spLocks xmlns:a="http://schemas.openxmlformats.org/drawingml/2006/main" noGrp="1"/>
          </p:cNvSpPr>
          <p:nvPr/>
        </p:nvSpPr>
        <p:spPr>
          <a:xfrm xmlns:a="http://schemas.openxmlformats.org/drawingml/2006/main">
            <a:off x="1333500" y="3952875"/>
            <a:ext cx="1269035" cy="66675"/>
          </a:xfrm>
          <a:prstGeom xmlns:a="http://schemas.openxmlformats.org/drawingml/2006/main" prst="roundRect">
            <a:avLst>
              <a:gd name="adj" fmla="val 50000"/>
            </a:avLst>
          </a:prstGeom>
          <a:solidFill xmlns:a="http://schemas.openxmlformats.org/drawingml/2006/main">
            <a:srgbClr val="2F6BFF"/>
          </a:solidFill>
          <a:ln xmlns:a="http://schemas.openxmlformats.org/drawingml/2006/main" w="0">
            <a:noFill/>
            <a:prstDash val="solid"/>
          </a:ln>
        </p:spPr>
      </p:sp>
      <p:sp>
        <p:nvSpPr>
          <p:cNvPr id="52" name="product-medical-care-allocation-1-value">
            <a:extLst xmlns:a="http://schemas.openxmlformats.org/drawingml/2006/main">
              <a:ext uri="{FF2B5EF4-FFF2-40B4-BE49-F238E27FC236}">
                <a16:creationId xmlns:a16="http://schemas.microsoft.com/office/drawing/2014/main" id="{D8AB1048-E241-4D57-9ECC-ED62C9712BA6}"/>
              </a:ext>
            </a:extLst>
          </p:cNvPr>
          <p:cNvSpPr>
            <a:spLocks xmlns:a="http://schemas.openxmlformats.org/drawingml/2006/main" noGrp="1"/>
          </p:cNvSpPr>
          <p:nvPr/>
        </p:nvSpPr>
        <p:spPr>
          <a:xfrm xmlns:a="http://schemas.openxmlformats.org/drawingml/2006/main">
            <a:off x="3086100" y="3905250"/>
            <a:ext cx="647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878" b="1">
                <a:solidFill>
                  <a:srgbClr val="2F6BFF"/>
                </a:solidFill>
                <a:latin typeface="STHeiti"/>
                <a:ea typeface="STHeiti"/>
                <a:cs typeface="STHeiti"/>
              </a:defRPr>
            </a:pPr>
            <a:r>
              <a:rPr sz="878" b="1">
                <a:solidFill>
                  <a:srgbClr val="2F6BFF"/>
                </a:solidFill>
                <a:latin typeface="STHeiti"/>
                <a:ea typeface="STHeiti"/>
                <a:cs typeface="STHeiti"/>
              </a:rPr>
              <a:t>75.7%</a:t>
            </a:r>
          </a:p>
        </p:txBody>
      </p:sp>
      <p:sp>
        <p:nvSpPr>
          <p:cNvPr id="53" name="product-medical-care-allocation-2-label">
            <a:extLst xmlns:a="http://schemas.openxmlformats.org/drawingml/2006/main">
              <a:ext uri="{FF2B5EF4-FFF2-40B4-BE49-F238E27FC236}">
                <a16:creationId xmlns:a16="http://schemas.microsoft.com/office/drawing/2014/main" id="{6BB8319A-1FDF-4B66-9946-8AD00E47F6BA}"/>
              </a:ext>
            </a:extLst>
          </p:cNvPr>
          <p:cNvSpPr>
            <a:spLocks xmlns:a="http://schemas.openxmlformats.org/drawingml/2006/main" noGrp="1"/>
          </p:cNvSpPr>
          <p:nvPr/>
        </p:nvSpPr>
        <p:spPr>
          <a:xfrm xmlns:a="http://schemas.openxmlformats.org/drawingml/2006/main">
            <a:off x="609600" y="4095750"/>
            <a:ext cx="685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878" b="1">
                <a:solidFill>
                  <a:srgbClr val="344054"/>
                </a:solidFill>
                <a:latin typeface="STHeiti"/>
                <a:ea typeface="STHeiti"/>
                <a:cs typeface="STHeiti"/>
              </a:defRPr>
            </a:pPr>
            <a:r>
              <a:rPr sz="878" b="1">
                <a:solidFill>
                  <a:srgbClr val="344054"/>
                </a:solidFill>
                <a:latin typeface="STHeiti"/>
                <a:ea typeface="STHeiti"/>
                <a:cs typeface="STHeiti"/>
              </a:rPr>
              <a:t>创新药</a:t>
            </a:r>
          </a:p>
        </p:txBody>
      </p:sp>
      <p:sp>
        <p:nvSpPr>
          <p:cNvPr id="54" name="product-medical-care-allocation-2-track">
            <a:extLst xmlns:a="http://schemas.openxmlformats.org/drawingml/2006/main">
              <a:ext uri="{FF2B5EF4-FFF2-40B4-BE49-F238E27FC236}">
                <a16:creationId xmlns:a16="http://schemas.microsoft.com/office/drawing/2014/main" id="{F72CA19F-99A2-40BE-8D00-E65EE5EB993C}"/>
              </a:ext>
            </a:extLst>
          </p:cNvPr>
          <p:cNvSpPr>
            <a:spLocks xmlns:a="http://schemas.openxmlformats.org/drawingml/2006/main" noGrp="1"/>
          </p:cNvSpPr>
          <p:nvPr/>
        </p:nvSpPr>
        <p:spPr>
          <a:xfrm xmlns:a="http://schemas.openxmlformats.org/drawingml/2006/main">
            <a:off x="1333500" y="4143375"/>
            <a:ext cx="1676400" cy="66675"/>
          </a:xfrm>
          <a:prstGeom xmlns:a="http://schemas.openxmlformats.org/drawingml/2006/main" prst="roundRect">
            <a:avLst>
              <a:gd name="adj" fmla="val 50000"/>
            </a:avLst>
          </a:prstGeom>
          <a:solidFill xmlns:a="http://schemas.openxmlformats.org/drawingml/2006/main">
            <a:srgbClr val="E9EEF4"/>
          </a:solidFill>
          <a:ln xmlns:a="http://schemas.openxmlformats.org/drawingml/2006/main" w="0">
            <a:noFill/>
            <a:prstDash val="solid"/>
          </a:ln>
        </p:spPr>
      </p:sp>
      <p:sp>
        <p:nvSpPr>
          <p:cNvPr id="55" name="product-medical-care-allocation-2-fill">
            <a:extLst xmlns:a="http://schemas.openxmlformats.org/drawingml/2006/main">
              <a:ext uri="{FF2B5EF4-FFF2-40B4-BE49-F238E27FC236}">
                <a16:creationId xmlns:a16="http://schemas.microsoft.com/office/drawing/2014/main" id="{127C5FBE-F758-4B2D-A5ED-C469F3521158}"/>
              </a:ext>
            </a:extLst>
          </p:cNvPr>
          <p:cNvSpPr>
            <a:spLocks xmlns:a="http://schemas.openxmlformats.org/drawingml/2006/main" noGrp="1"/>
          </p:cNvSpPr>
          <p:nvPr/>
        </p:nvSpPr>
        <p:spPr>
          <a:xfrm xmlns:a="http://schemas.openxmlformats.org/drawingml/2006/main">
            <a:off x="1333500" y="4143375"/>
            <a:ext cx="407365" cy="66675"/>
          </a:xfrm>
          <a:prstGeom xmlns:a="http://schemas.openxmlformats.org/drawingml/2006/main" prst="roundRect">
            <a:avLst>
              <a:gd name="adj" fmla="val 50000"/>
            </a:avLst>
          </a:prstGeom>
          <a:solidFill xmlns:a="http://schemas.openxmlformats.org/drawingml/2006/main">
            <a:srgbClr val="2F6BFF"/>
          </a:solidFill>
          <a:ln xmlns:a="http://schemas.openxmlformats.org/drawingml/2006/main" w="0">
            <a:noFill/>
            <a:prstDash val="solid"/>
          </a:ln>
        </p:spPr>
      </p:sp>
      <p:sp>
        <p:nvSpPr>
          <p:cNvPr id="56" name="product-medical-care-allocation-2-value">
            <a:extLst xmlns:a="http://schemas.openxmlformats.org/drawingml/2006/main">
              <a:ext uri="{FF2B5EF4-FFF2-40B4-BE49-F238E27FC236}">
                <a16:creationId xmlns:a16="http://schemas.microsoft.com/office/drawing/2014/main" id="{4CEDD6E3-B118-4FD2-A18C-E858C754154A}"/>
              </a:ext>
            </a:extLst>
          </p:cNvPr>
          <p:cNvSpPr>
            <a:spLocks xmlns:a="http://schemas.openxmlformats.org/drawingml/2006/main" noGrp="1"/>
          </p:cNvSpPr>
          <p:nvPr/>
        </p:nvSpPr>
        <p:spPr>
          <a:xfrm xmlns:a="http://schemas.openxmlformats.org/drawingml/2006/main">
            <a:off x="3086100" y="4095750"/>
            <a:ext cx="647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878" b="1">
                <a:solidFill>
                  <a:srgbClr val="2F6BFF"/>
                </a:solidFill>
                <a:latin typeface="STHeiti"/>
                <a:ea typeface="STHeiti"/>
                <a:cs typeface="STHeiti"/>
              </a:defRPr>
            </a:pPr>
            <a:r>
              <a:rPr sz="878" b="1">
                <a:solidFill>
                  <a:srgbClr val="2F6BFF"/>
                </a:solidFill>
                <a:latin typeface="STHeiti"/>
                <a:ea typeface="STHeiti"/>
                <a:cs typeface="STHeiti"/>
              </a:rPr>
              <a:t>24.3%</a:t>
            </a:r>
          </a:p>
        </p:txBody>
      </p:sp>
      <p:sp>
        <p:nvSpPr>
          <p:cNvPr id="57" name="product-medical-care-holding-rule">
            <a:extLst xmlns:a="http://schemas.openxmlformats.org/drawingml/2006/main">
              <a:ext uri="{FF2B5EF4-FFF2-40B4-BE49-F238E27FC236}">
                <a16:creationId xmlns:a16="http://schemas.microsoft.com/office/drawing/2014/main" id="{A1D5059A-093E-450D-9806-D5B4BF83459D}"/>
              </a:ext>
            </a:extLst>
          </p:cNvPr>
          <p:cNvSpPr>
            <a:spLocks xmlns:a="http://schemas.openxmlformats.org/drawingml/2006/main" noGrp="1"/>
          </p:cNvSpPr>
          <p:nvPr/>
        </p:nvSpPr>
        <p:spPr>
          <a:xfrm xmlns:a="http://schemas.openxmlformats.org/drawingml/2006/main">
            <a:off x="609600" y="4391025"/>
            <a:ext cx="3276600" cy="9525"/>
          </a:xfrm>
          <a:prstGeom xmlns:a="http://schemas.openxmlformats.org/drawingml/2006/main" prst="rect">
            <a:avLst/>
          </a:prstGeom>
          <a:solidFill xmlns:a="http://schemas.openxmlformats.org/drawingml/2006/main">
            <a:srgbClr val="E5EAF0"/>
          </a:solidFill>
          <a:ln xmlns:a="http://schemas.openxmlformats.org/drawingml/2006/main" w="0">
            <a:noFill/>
            <a:prstDash val="solid"/>
          </a:ln>
        </p:spPr>
      </p:sp>
      <p:sp>
        <p:nvSpPr>
          <p:cNvPr id="58" name="product-medical-care-holding-title">
            <a:extLst xmlns:a="http://schemas.openxmlformats.org/drawingml/2006/main">
              <a:ext uri="{FF2B5EF4-FFF2-40B4-BE49-F238E27FC236}">
                <a16:creationId xmlns:a16="http://schemas.microsoft.com/office/drawing/2014/main" id="{8F5B5B28-CB7B-416B-B0FA-4628AB823BE4}"/>
              </a:ext>
            </a:extLst>
          </p:cNvPr>
          <p:cNvSpPr>
            <a:spLocks xmlns:a="http://schemas.openxmlformats.org/drawingml/2006/main" noGrp="1"/>
          </p:cNvSpPr>
          <p:nvPr/>
        </p:nvSpPr>
        <p:spPr>
          <a:xfrm xmlns:a="http://schemas.openxmlformats.org/drawingml/2006/main">
            <a:off x="609600" y="44577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960" b="1">
                <a:solidFill>
                  <a:srgbClr val="344054"/>
                </a:solidFill>
                <a:latin typeface="STHeiti"/>
                <a:ea typeface="STHeiti"/>
                <a:cs typeface="STHeiti"/>
              </a:defRPr>
            </a:pPr>
            <a:r>
              <a:rPr sz="960" b="1">
                <a:solidFill>
                  <a:srgbClr val="344054"/>
                </a:solidFill>
                <a:latin typeface="STHeiti"/>
                <a:ea typeface="STHeiti"/>
                <a:cs typeface="STHeiti"/>
              </a:rPr>
              <a:t>前十大持仓</a:t>
            </a:r>
          </a:p>
        </p:txBody>
      </p:sp>
      <p:sp>
        <p:nvSpPr>
          <p:cNvPr id="59" name="product-medical-care-holding-total">
            <a:extLst xmlns:a="http://schemas.openxmlformats.org/drawingml/2006/main">
              <a:ext uri="{FF2B5EF4-FFF2-40B4-BE49-F238E27FC236}">
                <a16:creationId xmlns:a16="http://schemas.microsoft.com/office/drawing/2014/main" id="{485704FB-96F2-4498-B3A3-48252418BC05}"/>
              </a:ext>
            </a:extLst>
          </p:cNvPr>
          <p:cNvSpPr>
            <a:spLocks xmlns:a="http://schemas.openxmlformats.org/drawingml/2006/main" noGrp="1"/>
          </p:cNvSpPr>
          <p:nvPr/>
        </p:nvSpPr>
        <p:spPr>
          <a:xfrm xmlns:a="http://schemas.openxmlformats.org/drawingml/2006/main">
            <a:off x="2476500" y="4448175"/>
            <a:ext cx="1409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013" b="1">
                <a:solidFill>
                  <a:srgbClr val="2F6BFF"/>
                </a:solidFill>
                <a:latin typeface="STHeiti"/>
                <a:ea typeface="STHeiti"/>
                <a:cs typeface="STHeiti"/>
              </a:defRPr>
            </a:pPr>
            <a:r>
              <a:rPr sz="1013" b="1">
                <a:solidFill>
                  <a:srgbClr val="2F6BFF"/>
                </a:solidFill>
                <a:latin typeface="STHeiti"/>
                <a:ea typeface="STHeiti"/>
                <a:cs typeface="STHeiti"/>
              </a:rPr>
              <a:t>合计 68.4%</a:t>
            </a:r>
          </a:p>
        </p:txBody>
      </p:sp>
      <p:sp>
        <p:nvSpPr>
          <p:cNvPr id="60" name="product-medical-care-holding-divider">
            <a:extLst xmlns:a="http://schemas.openxmlformats.org/drawingml/2006/main">
              <a:ext uri="{FF2B5EF4-FFF2-40B4-BE49-F238E27FC236}">
                <a16:creationId xmlns:a16="http://schemas.microsoft.com/office/drawing/2014/main" id="{D76AF5EC-9D04-4A3D-9074-7B79287A039B}"/>
              </a:ext>
            </a:extLst>
          </p:cNvPr>
          <p:cNvSpPr>
            <a:spLocks xmlns:a="http://schemas.openxmlformats.org/drawingml/2006/main" noGrp="1"/>
          </p:cNvSpPr>
          <p:nvPr/>
        </p:nvSpPr>
        <p:spPr>
          <a:xfrm xmlns:a="http://schemas.openxmlformats.org/drawingml/2006/main">
            <a:off x="2209800" y="4686300"/>
            <a:ext cx="9525" cy="800100"/>
          </a:xfrm>
          <a:prstGeom xmlns:a="http://schemas.openxmlformats.org/drawingml/2006/main" prst="rect">
            <a:avLst/>
          </a:prstGeom>
          <a:solidFill xmlns:a="http://schemas.openxmlformats.org/drawingml/2006/main">
            <a:srgbClr val="EEF1F5"/>
          </a:solidFill>
          <a:ln xmlns:a="http://schemas.openxmlformats.org/drawingml/2006/main" w="0">
            <a:noFill/>
            <a:prstDash val="solid"/>
          </a:ln>
        </p:spPr>
      </p:sp>
      <p:sp>
        <p:nvSpPr>
          <p:cNvPr id="61" name="product-medical-care-holding-1-name">
            <a:extLst xmlns:a="http://schemas.openxmlformats.org/drawingml/2006/main">
              <a:ext uri="{FF2B5EF4-FFF2-40B4-BE49-F238E27FC236}">
                <a16:creationId xmlns:a16="http://schemas.microsoft.com/office/drawing/2014/main" id="{EEA25819-527A-4C79-AB72-57EC43793A33}"/>
              </a:ext>
            </a:extLst>
          </p:cNvPr>
          <p:cNvSpPr>
            <a:spLocks xmlns:a="http://schemas.openxmlformats.org/drawingml/2006/main" noGrp="1"/>
          </p:cNvSpPr>
          <p:nvPr/>
        </p:nvSpPr>
        <p:spPr>
          <a:xfrm xmlns:a="http://schemas.openxmlformats.org/drawingml/2006/main">
            <a:off x="609600" y="468630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1. 凯莱英</a:t>
            </a:r>
          </a:p>
        </p:txBody>
      </p:sp>
      <p:sp>
        <p:nvSpPr>
          <p:cNvPr id="62" name="product-medical-care-holding-1-value">
            <a:extLst xmlns:a="http://schemas.openxmlformats.org/drawingml/2006/main">
              <a:ext uri="{FF2B5EF4-FFF2-40B4-BE49-F238E27FC236}">
                <a16:creationId xmlns:a16="http://schemas.microsoft.com/office/drawing/2014/main" id="{CAD9665E-8C41-439C-ACBD-0DCF8B773EB3}"/>
              </a:ext>
            </a:extLst>
          </p:cNvPr>
          <p:cNvSpPr>
            <a:spLocks xmlns:a="http://schemas.openxmlformats.org/drawingml/2006/main" noGrp="1"/>
          </p:cNvSpPr>
          <p:nvPr/>
        </p:nvSpPr>
        <p:spPr>
          <a:xfrm xmlns:a="http://schemas.openxmlformats.org/drawingml/2006/main">
            <a:off x="1714500" y="46863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2F6BFF"/>
                </a:solidFill>
                <a:latin typeface="STHeiti"/>
                <a:ea typeface="STHeiti"/>
                <a:cs typeface="STHeiti"/>
              </a:defRPr>
            </a:pPr>
            <a:r>
              <a:rPr sz="788" b="1">
                <a:solidFill>
                  <a:srgbClr val="2F6BFF"/>
                </a:solidFill>
                <a:latin typeface="STHeiti"/>
                <a:ea typeface="STHeiti"/>
                <a:cs typeface="STHeiti"/>
              </a:rPr>
              <a:t>9.9%</a:t>
            </a:r>
          </a:p>
        </p:txBody>
      </p:sp>
      <p:sp>
        <p:nvSpPr>
          <p:cNvPr id="63" name="product-medical-care-holding-2-name">
            <a:extLst xmlns:a="http://schemas.openxmlformats.org/drawingml/2006/main">
              <a:ext uri="{FF2B5EF4-FFF2-40B4-BE49-F238E27FC236}">
                <a16:creationId xmlns:a16="http://schemas.microsoft.com/office/drawing/2014/main" id="{2EF78154-8C22-4C69-9458-D8C60E571B1B}"/>
              </a:ext>
            </a:extLst>
          </p:cNvPr>
          <p:cNvSpPr>
            <a:spLocks xmlns:a="http://schemas.openxmlformats.org/drawingml/2006/main" noGrp="1"/>
          </p:cNvSpPr>
          <p:nvPr/>
        </p:nvSpPr>
        <p:spPr>
          <a:xfrm xmlns:a="http://schemas.openxmlformats.org/drawingml/2006/main">
            <a:off x="609600" y="485775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2. 药明康德</a:t>
            </a:r>
          </a:p>
        </p:txBody>
      </p:sp>
      <p:sp>
        <p:nvSpPr>
          <p:cNvPr id="64" name="product-medical-care-holding-2-value">
            <a:extLst xmlns:a="http://schemas.openxmlformats.org/drawingml/2006/main">
              <a:ext uri="{FF2B5EF4-FFF2-40B4-BE49-F238E27FC236}">
                <a16:creationId xmlns:a16="http://schemas.microsoft.com/office/drawing/2014/main" id="{FE6A5522-A6CE-4093-9B2C-83895C8834DC}"/>
              </a:ext>
            </a:extLst>
          </p:cNvPr>
          <p:cNvSpPr>
            <a:spLocks xmlns:a="http://schemas.openxmlformats.org/drawingml/2006/main" noGrp="1"/>
          </p:cNvSpPr>
          <p:nvPr/>
        </p:nvSpPr>
        <p:spPr>
          <a:xfrm xmlns:a="http://schemas.openxmlformats.org/drawingml/2006/main">
            <a:off x="1714500" y="485775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2F6BFF"/>
                </a:solidFill>
                <a:latin typeface="STHeiti"/>
                <a:ea typeface="STHeiti"/>
                <a:cs typeface="STHeiti"/>
              </a:defRPr>
            </a:pPr>
            <a:r>
              <a:rPr sz="788" b="1">
                <a:solidFill>
                  <a:srgbClr val="2F6BFF"/>
                </a:solidFill>
                <a:latin typeface="STHeiti"/>
                <a:ea typeface="STHeiti"/>
                <a:cs typeface="STHeiti"/>
              </a:rPr>
              <a:t>9.8%</a:t>
            </a:r>
          </a:p>
        </p:txBody>
      </p:sp>
      <p:sp>
        <p:nvSpPr>
          <p:cNvPr id="65" name="product-medical-care-holding-3-name">
            <a:extLst xmlns:a="http://schemas.openxmlformats.org/drawingml/2006/main">
              <a:ext uri="{FF2B5EF4-FFF2-40B4-BE49-F238E27FC236}">
                <a16:creationId xmlns:a16="http://schemas.microsoft.com/office/drawing/2014/main" id="{5F408995-FED7-4F1E-B1DD-1D4D30A02BD9}"/>
              </a:ext>
            </a:extLst>
          </p:cNvPr>
          <p:cNvSpPr>
            <a:spLocks xmlns:a="http://schemas.openxmlformats.org/drawingml/2006/main" noGrp="1"/>
          </p:cNvSpPr>
          <p:nvPr/>
        </p:nvSpPr>
        <p:spPr>
          <a:xfrm xmlns:a="http://schemas.openxmlformats.org/drawingml/2006/main">
            <a:off x="609600" y="502920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3. 泽璟制药</a:t>
            </a:r>
          </a:p>
        </p:txBody>
      </p:sp>
      <p:sp>
        <p:nvSpPr>
          <p:cNvPr id="66" name="product-medical-care-holding-3-value">
            <a:extLst xmlns:a="http://schemas.openxmlformats.org/drawingml/2006/main">
              <a:ext uri="{FF2B5EF4-FFF2-40B4-BE49-F238E27FC236}">
                <a16:creationId xmlns:a16="http://schemas.microsoft.com/office/drawing/2014/main" id="{10EA48D4-D7D1-4E1F-8091-48B2BE6A8442}"/>
              </a:ext>
            </a:extLst>
          </p:cNvPr>
          <p:cNvSpPr>
            <a:spLocks xmlns:a="http://schemas.openxmlformats.org/drawingml/2006/main" noGrp="1"/>
          </p:cNvSpPr>
          <p:nvPr/>
        </p:nvSpPr>
        <p:spPr>
          <a:xfrm xmlns:a="http://schemas.openxmlformats.org/drawingml/2006/main">
            <a:off x="1714500" y="50292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2F6BFF"/>
                </a:solidFill>
                <a:latin typeface="STHeiti"/>
                <a:ea typeface="STHeiti"/>
                <a:cs typeface="STHeiti"/>
              </a:defRPr>
            </a:pPr>
            <a:r>
              <a:rPr sz="788" b="1">
                <a:solidFill>
                  <a:srgbClr val="2F6BFF"/>
                </a:solidFill>
                <a:latin typeface="STHeiti"/>
                <a:ea typeface="STHeiti"/>
                <a:cs typeface="STHeiti"/>
              </a:rPr>
              <a:t>9.4%</a:t>
            </a:r>
          </a:p>
        </p:txBody>
      </p:sp>
      <p:sp>
        <p:nvSpPr>
          <p:cNvPr id="67" name="product-medical-care-holding-4-name">
            <a:extLst xmlns:a="http://schemas.openxmlformats.org/drawingml/2006/main">
              <a:ext uri="{FF2B5EF4-FFF2-40B4-BE49-F238E27FC236}">
                <a16:creationId xmlns:a16="http://schemas.microsoft.com/office/drawing/2014/main" id="{A7EA49DF-C37A-44F4-A2B6-26B106B66794}"/>
              </a:ext>
            </a:extLst>
          </p:cNvPr>
          <p:cNvSpPr>
            <a:spLocks xmlns:a="http://schemas.openxmlformats.org/drawingml/2006/main" noGrp="1"/>
          </p:cNvSpPr>
          <p:nvPr/>
        </p:nvSpPr>
        <p:spPr>
          <a:xfrm xmlns:a="http://schemas.openxmlformats.org/drawingml/2006/main">
            <a:off x="609600" y="520065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4. 恒瑞医药</a:t>
            </a:r>
          </a:p>
        </p:txBody>
      </p:sp>
      <p:sp>
        <p:nvSpPr>
          <p:cNvPr id="68" name="product-medical-care-holding-4-value">
            <a:extLst xmlns:a="http://schemas.openxmlformats.org/drawingml/2006/main">
              <a:ext uri="{FF2B5EF4-FFF2-40B4-BE49-F238E27FC236}">
                <a16:creationId xmlns:a16="http://schemas.microsoft.com/office/drawing/2014/main" id="{9C208A10-959F-4A2D-BA1F-E5A0A5A42F01}"/>
              </a:ext>
            </a:extLst>
          </p:cNvPr>
          <p:cNvSpPr>
            <a:spLocks xmlns:a="http://schemas.openxmlformats.org/drawingml/2006/main" noGrp="1"/>
          </p:cNvSpPr>
          <p:nvPr/>
        </p:nvSpPr>
        <p:spPr>
          <a:xfrm xmlns:a="http://schemas.openxmlformats.org/drawingml/2006/main">
            <a:off x="1714500" y="520065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2F6BFF"/>
                </a:solidFill>
                <a:latin typeface="STHeiti"/>
                <a:ea typeface="STHeiti"/>
                <a:cs typeface="STHeiti"/>
              </a:defRPr>
            </a:pPr>
            <a:r>
              <a:rPr sz="788" b="1">
                <a:solidFill>
                  <a:srgbClr val="2F6BFF"/>
                </a:solidFill>
                <a:latin typeface="STHeiti"/>
                <a:ea typeface="STHeiti"/>
                <a:cs typeface="STHeiti"/>
              </a:rPr>
              <a:t>7.2%</a:t>
            </a:r>
          </a:p>
        </p:txBody>
      </p:sp>
      <p:sp>
        <p:nvSpPr>
          <p:cNvPr id="69" name="product-medical-care-holding-5-name">
            <a:extLst xmlns:a="http://schemas.openxmlformats.org/drawingml/2006/main">
              <a:ext uri="{FF2B5EF4-FFF2-40B4-BE49-F238E27FC236}">
                <a16:creationId xmlns:a16="http://schemas.microsoft.com/office/drawing/2014/main" id="{B21C03BA-E375-4482-918C-02A367FD5B9F}"/>
              </a:ext>
            </a:extLst>
          </p:cNvPr>
          <p:cNvSpPr>
            <a:spLocks xmlns:a="http://schemas.openxmlformats.org/drawingml/2006/main" noGrp="1"/>
          </p:cNvSpPr>
          <p:nvPr/>
        </p:nvSpPr>
        <p:spPr>
          <a:xfrm xmlns:a="http://schemas.openxmlformats.org/drawingml/2006/main">
            <a:off x="609600" y="537210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5. 皓元医药</a:t>
            </a:r>
          </a:p>
        </p:txBody>
      </p:sp>
      <p:sp>
        <p:nvSpPr>
          <p:cNvPr id="70" name="product-medical-care-holding-5-value">
            <a:extLst xmlns:a="http://schemas.openxmlformats.org/drawingml/2006/main">
              <a:ext uri="{FF2B5EF4-FFF2-40B4-BE49-F238E27FC236}">
                <a16:creationId xmlns:a16="http://schemas.microsoft.com/office/drawing/2014/main" id="{D055D0B4-722C-4825-9F04-5FF8209BD2C5}"/>
              </a:ext>
            </a:extLst>
          </p:cNvPr>
          <p:cNvSpPr>
            <a:spLocks xmlns:a="http://schemas.openxmlformats.org/drawingml/2006/main" noGrp="1"/>
          </p:cNvSpPr>
          <p:nvPr/>
        </p:nvSpPr>
        <p:spPr>
          <a:xfrm xmlns:a="http://schemas.openxmlformats.org/drawingml/2006/main">
            <a:off x="1714500" y="53721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2F6BFF"/>
                </a:solidFill>
                <a:latin typeface="STHeiti"/>
                <a:ea typeface="STHeiti"/>
                <a:cs typeface="STHeiti"/>
              </a:defRPr>
            </a:pPr>
            <a:r>
              <a:rPr sz="788" b="1">
                <a:solidFill>
                  <a:srgbClr val="2F6BFF"/>
                </a:solidFill>
                <a:latin typeface="STHeiti"/>
                <a:ea typeface="STHeiti"/>
                <a:cs typeface="STHeiti"/>
              </a:rPr>
              <a:t>6.5%</a:t>
            </a:r>
          </a:p>
        </p:txBody>
      </p:sp>
      <p:sp>
        <p:nvSpPr>
          <p:cNvPr id="71" name="product-medical-care-holding-6-name">
            <a:extLst xmlns:a="http://schemas.openxmlformats.org/drawingml/2006/main">
              <a:ext uri="{FF2B5EF4-FFF2-40B4-BE49-F238E27FC236}">
                <a16:creationId xmlns:a16="http://schemas.microsoft.com/office/drawing/2014/main" id="{0BFCA274-88C5-4B14-9841-F207A62E5AF3}"/>
              </a:ext>
            </a:extLst>
          </p:cNvPr>
          <p:cNvSpPr>
            <a:spLocks xmlns:a="http://schemas.openxmlformats.org/drawingml/2006/main" noGrp="1"/>
          </p:cNvSpPr>
          <p:nvPr/>
        </p:nvSpPr>
        <p:spPr>
          <a:xfrm xmlns:a="http://schemas.openxmlformats.org/drawingml/2006/main">
            <a:off x="2324100" y="468630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6. 康龙化成</a:t>
            </a:r>
          </a:p>
        </p:txBody>
      </p:sp>
      <p:sp>
        <p:nvSpPr>
          <p:cNvPr id="72" name="product-medical-care-holding-6-value">
            <a:extLst xmlns:a="http://schemas.openxmlformats.org/drawingml/2006/main">
              <a:ext uri="{FF2B5EF4-FFF2-40B4-BE49-F238E27FC236}">
                <a16:creationId xmlns:a16="http://schemas.microsoft.com/office/drawing/2014/main" id="{E9B7B6CA-FD96-4057-9F01-807F94BA16EB}"/>
              </a:ext>
            </a:extLst>
          </p:cNvPr>
          <p:cNvSpPr>
            <a:spLocks xmlns:a="http://schemas.openxmlformats.org/drawingml/2006/main" noGrp="1"/>
          </p:cNvSpPr>
          <p:nvPr/>
        </p:nvSpPr>
        <p:spPr>
          <a:xfrm xmlns:a="http://schemas.openxmlformats.org/drawingml/2006/main">
            <a:off x="3429000" y="46863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2F6BFF"/>
                </a:solidFill>
                <a:latin typeface="STHeiti"/>
                <a:ea typeface="STHeiti"/>
                <a:cs typeface="STHeiti"/>
              </a:defRPr>
            </a:pPr>
            <a:r>
              <a:rPr sz="788" b="1">
                <a:solidFill>
                  <a:srgbClr val="2F6BFF"/>
                </a:solidFill>
                <a:latin typeface="STHeiti"/>
                <a:ea typeface="STHeiti"/>
                <a:cs typeface="STHeiti"/>
              </a:rPr>
              <a:t>6.3%</a:t>
            </a:r>
          </a:p>
        </p:txBody>
      </p:sp>
      <p:sp>
        <p:nvSpPr>
          <p:cNvPr id="73" name="product-medical-care-holding-7-name">
            <a:extLst xmlns:a="http://schemas.openxmlformats.org/drawingml/2006/main">
              <a:ext uri="{FF2B5EF4-FFF2-40B4-BE49-F238E27FC236}">
                <a16:creationId xmlns:a16="http://schemas.microsoft.com/office/drawing/2014/main" id="{F04D40A5-9AA8-46C6-ABF3-21430679994F}"/>
              </a:ext>
            </a:extLst>
          </p:cNvPr>
          <p:cNvSpPr>
            <a:spLocks xmlns:a="http://schemas.openxmlformats.org/drawingml/2006/main" noGrp="1"/>
          </p:cNvSpPr>
          <p:nvPr/>
        </p:nvSpPr>
        <p:spPr>
          <a:xfrm xmlns:a="http://schemas.openxmlformats.org/drawingml/2006/main">
            <a:off x="2324100" y="485775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7. 泰格医药</a:t>
            </a:r>
          </a:p>
        </p:txBody>
      </p:sp>
      <p:sp>
        <p:nvSpPr>
          <p:cNvPr id="74" name="product-medical-care-holding-7-value">
            <a:extLst xmlns:a="http://schemas.openxmlformats.org/drawingml/2006/main">
              <a:ext uri="{FF2B5EF4-FFF2-40B4-BE49-F238E27FC236}">
                <a16:creationId xmlns:a16="http://schemas.microsoft.com/office/drawing/2014/main" id="{33C0E884-7FBD-45F5-AFFD-C2D632E46044}"/>
              </a:ext>
            </a:extLst>
          </p:cNvPr>
          <p:cNvSpPr>
            <a:spLocks xmlns:a="http://schemas.openxmlformats.org/drawingml/2006/main" noGrp="1"/>
          </p:cNvSpPr>
          <p:nvPr/>
        </p:nvSpPr>
        <p:spPr>
          <a:xfrm xmlns:a="http://schemas.openxmlformats.org/drawingml/2006/main">
            <a:off x="3429000" y="485775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2F6BFF"/>
                </a:solidFill>
                <a:latin typeface="STHeiti"/>
                <a:ea typeface="STHeiti"/>
                <a:cs typeface="STHeiti"/>
              </a:defRPr>
            </a:pPr>
            <a:r>
              <a:rPr sz="788" b="1">
                <a:solidFill>
                  <a:srgbClr val="2F6BFF"/>
                </a:solidFill>
                <a:latin typeface="STHeiti"/>
                <a:ea typeface="STHeiti"/>
                <a:cs typeface="STHeiti"/>
              </a:rPr>
              <a:t>5.3%</a:t>
            </a:r>
          </a:p>
        </p:txBody>
      </p:sp>
      <p:sp>
        <p:nvSpPr>
          <p:cNvPr id="75" name="product-medical-care-holding-8-name">
            <a:extLst xmlns:a="http://schemas.openxmlformats.org/drawingml/2006/main">
              <a:ext uri="{FF2B5EF4-FFF2-40B4-BE49-F238E27FC236}">
                <a16:creationId xmlns:a16="http://schemas.microsoft.com/office/drawing/2014/main" id="{503DD623-4C1B-4F1D-82E4-2888FE335000}"/>
              </a:ext>
            </a:extLst>
          </p:cNvPr>
          <p:cNvSpPr>
            <a:spLocks xmlns:a="http://schemas.openxmlformats.org/drawingml/2006/main" noGrp="1"/>
          </p:cNvSpPr>
          <p:nvPr/>
        </p:nvSpPr>
        <p:spPr>
          <a:xfrm xmlns:a="http://schemas.openxmlformats.org/drawingml/2006/main">
            <a:off x="2324100" y="502920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8. 益诺思</a:t>
            </a:r>
          </a:p>
        </p:txBody>
      </p:sp>
      <p:sp>
        <p:nvSpPr>
          <p:cNvPr id="76" name="product-medical-care-holding-8-value">
            <a:extLst xmlns:a="http://schemas.openxmlformats.org/drawingml/2006/main">
              <a:ext uri="{FF2B5EF4-FFF2-40B4-BE49-F238E27FC236}">
                <a16:creationId xmlns:a16="http://schemas.microsoft.com/office/drawing/2014/main" id="{06DABFF4-C834-484A-97F8-1D68B91B09F6}"/>
              </a:ext>
            </a:extLst>
          </p:cNvPr>
          <p:cNvSpPr>
            <a:spLocks xmlns:a="http://schemas.openxmlformats.org/drawingml/2006/main" noGrp="1"/>
          </p:cNvSpPr>
          <p:nvPr/>
        </p:nvSpPr>
        <p:spPr>
          <a:xfrm xmlns:a="http://schemas.openxmlformats.org/drawingml/2006/main">
            <a:off x="3429000" y="50292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2F6BFF"/>
                </a:solidFill>
                <a:latin typeface="STHeiti"/>
                <a:ea typeface="STHeiti"/>
                <a:cs typeface="STHeiti"/>
              </a:defRPr>
            </a:pPr>
            <a:r>
              <a:rPr sz="788" b="1">
                <a:solidFill>
                  <a:srgbClr val="2F6BFF"/>
                </a:solidFill>
                <a:latin typeface="STHeiti"/>
                <a:ea typeface="STHeiti"/>
                <a:cs typeface="STHeiti"/>
              </a:rPr>
              <a:t>5.0%</a:t>
            </a:r>
          </a:p>
        </p:txBody>
      </p:sp>
      <p:sp>
        <p:nvSpPr>
          <p:cNvPr id="77" name="product-medical-care-holding-9-name">
            <a:extLst xmlns:a="http://schemas.openxmlformats.org/drawingml/2006/main">
              <a:ext uri="{FF2B5EF4-FFF2-40B4-BE49-F238E27FC236}">
                <a16:creationId xmlns:a16="http://schemas.microsoft.com/office/drawing/2014/main" id="{22BAC46F-4D8C-4072-89CF-175965BDC74C}"/>
              </a:ext>
            </a:extLst>
          </p:cNvPr>
          <p:cNvSpPr>
            <a:spLocks xmlns:a="http://schemas.openxmlformats.org/drawingml/2006/main" noGrp="1"/>
          </p:cNvSpPr>
          <p:nvPr/>
        </p:nvSpPr>
        <p:spPr>
          <a:xfrm xmlns:a="http://schemas.openxmlformats.org/drawingml/2006/main">
            <a:off x="2324100" y="520065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9. 昭衍新药</a:t>
            </a:r>
          </a:p>
        </p:txBody>
      </p:sp>
      <p:sp>
        <p:nvSpPr>
          <p:cNvPr id="78" name="product-medical-care-holding-9-value">
            <a:extLst xmlns:a="http://schemas.openxmlformats.org/drawingml/2006/main">
              <a:ext uri="{FF2B5EF4-FFF2-40B4-BE49-F238E27FC236}">
                <a16:creationId xmlns:a16="http://schemas.microsoft.com/office/drawing/2014/main" id="{F8D8CE55-9D31-47B9-A524-F7B807A4CD23}"/>
              </a:ext>
            </a:extLst>
          </p:cNvPr>
          <p:cNvSpPr>
            <a:spLocks xmlns:a="http://schemas.openxmlformats.org/drawingml/2006/main" noGrp="1"/>
          </p:cNvSpPr>
          <p:nvPr/>
        </p:nvSpPr>
        <p:spPr>
          <a:xfrm xmlns:a="http://schemas.openxmlformats.org/drawingml/2006/main">
            <a:off x="3429000" y="520065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2F6BFF"/>
                </a:solidFill>
                <a:latin typeface="STHeiti"/>
                <a:ea typeface="STHeiti"/>
                <a:cs typeface="STHeiti"/>
              </a:defRPr>
            </a:pPr>
            <a:r>
              <a:rPr sz="788" b="1">
                <a:solidFill>
                  <a:srgbClr val="2F6BFF"/>
                </a:solidFill>
                <a:latin typeface="STHeiti"/>
                <a:ea typeface="STHeiti"/>
                <a:cs typeface="STHeiti"/>
              </a:rPr>
              <a:t>4.7%</a:t>
            </a:r>
          </a:p>
        </p:txBody>
      </p:sp>
      <p:sp>
        <p:nvSpPr>
          <p:cNvPr id="79" name="product-medical-care-holding-10-name">
            <a:extLst xmlns:a="http://schemas.openxmlformats.org/drawingml/2006/main">
              <a:ext uri="{FF2B5EF4-FFF2-40B4-BE49-F238E27FC236}">
                <a16:creationId xmlns:a16="http://schemas.microsoft.com/office/drawing/2014/main" id="{6EEBBEF6-8F0B-4297-8DF7-A2CC3D78A8F7}"/>
              </a:ext>
            </a:extLst>
          </p:cNvPr>
          <p:cNvSpPr>
            <a:spLocks xmlns:a="http://schemas.openxmlformats.org/drawingml/2006/main" noGrp="1"/>
          </p:cNvSpPr>
          <p:nvPr/>
        </p:nvSpPr>
        <p:spPr>
          <a:xfrm xmlns:a="http://schemas.openxmlformats.org/drawingml/2006/main">
            <a:off x="2324100" y="537210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10. 奥浦迈</a:t>
            </a:r>
          </a:p>
        </p:txBody>
      </p:sp>
      <p:sp>
        <p:nvSpPr>
          <p:cNvPr id="80" name="product-medical-care-holding-10-value">
            <a:extLst xmlns:a="http://schemas.openxmlformats.org/drawingml/2006/main">
              <a:ext uri="{FF2B5EF4-FFF2-40B4-BE49-F238E27FC236}">
                <a16:creationId xmlns:a16="http://schemas.microsoft.com/office/drawing/2014/main" id="{2F825C12-CDA8-4280-859C-CF91ED109EC2}"/>
              </a:ext>
            </a:extLst>
          </p:cNvPr>
          <p:cNvSpPr>
            <a:spLocks xmlns:a="http://schemas.openxmlformats.org/drawingml/2006/main" noGrp="1"/>
          </p:cNvSpPr>
          <p:nvPr/>
        </p:nvSpPr>
        <p:spPr>
          <a:xfrm xmlns:a="http://schemas.openxmlformats.org/drawingml/2006/main">
            <a:off x="3429000" y="53721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2F6BFF"/>
                </a:solidFill>
                <a:latin typeface="STHeiti"/>
                <a:ea typeface="STHeiti"/>
                <a:cs typeface="STHeiti"/>
              </a:defRPr>
            </a:pPr>
            <a:r>
              <a:rPr sz="788" b="1">
                <a:solidFill>
                  <a:srgbClr val="2F6BFF"/>
                </a:solidFill>
                <a:latin typeface="STHeiti"/>
                <a:ea typeface="STHeiti"/>
                <a:cs typeface="STHeiti"/>
              </a:rPr>
              <a:t>4.3%</a:t>
            </a:r>
          </a:p>
        </p:txBody>
      </p:sp>
      <p:sp>
        <p:nvSpPr>
          <p:cNvPr id="81" name="product-medical-health-card">
            <a:extLst xmlns:a="http://schemas.openxmlformats.org/drawingml/2006/main">
              <a:ext uri="{FF2B5EF4-FFF2-40B4-BE49-F238E27FC236}">
                <a16:creationId xmlns:a16="http://schemas.microsoft.com/office/drawing/2014/main" id="{E6B85F77-EAA3-4403-9FBF-3AF7331B1F77}"/>
              </a:ext>
            </a:extLst>
          </p:cNvPr>
          <p:cNvSpPr>
            <a:spLocks xmlns:a="http://schemas.openxmlformats.org/drawingml/2006/main" noGrp="1"/>
          </p:cNvSpPr>
          <p:nvPr/>
        </p:nvSpPr>
        <p:spPr>
          <a:xfrm xmlns:a="http://schemas.openxmlformats.org/drawingml/2006/main">
            <a:off x="4305300" y="2324100"/>
            <a:ext cx="3581400" cy="3314700"/>
          </a:xfrm>
          <a:prstGeom xmlns:a="http://schemas.openxmlformats.org/drawingml/2006/main" prst="roundRect">
            <a:avLst>
              <a:gd name="adj" fmla="val 2299"/>
            </a:avLst>
          </a:prstGeom>
          <a:noFill xmlns:a="http://schemas.openxmlformats.org/drawingml/2006/main"/>
          <a:ln xmlns:a="http://schemas.openxmlformats.org/drawingml/2006/main" w="9525">
            <a:solidFill>
              <a:srgbClr val="DDE3EA"/>
            </a:solidFill>
            <a:prstDash val="solid"/>
          </a:ln>
        </p:spPr>
      </p:sp>
      <p:sp>
        <p:nvSpPr>
          <p:cNvPr id="82" name="product-medical-health-accent">
            <a:extLst xmlns:a="http://schemas.openxmlformats.org/drawingml/2006/main">
              <a:ext uri="{FF2B5EF4-FFF2-40B4-BE49-F238E27FC236}">
                <a16:creationId xmlns:a16="http://schemas.microsoft.com/office/drawing/2014/main" id="{8E0E1F3A-10C9-4841-9323-D908037CF4C5}"/>
              </a:ext>
            </a:extLst>
          </p:cNvPr>
          <p:cNvSpPr>
            <a:spLocks xmlns:a="http://schemas.openxmlformats.org/drawingml/2006/main" noGrp="1"/>
          </p:cNvSpPr>
          <p:nvPr/>
        </p:nvSpPr>
        <p:spPr>
          <a:xfrm xmlns:a="http://schemas.openxmlformats.org/drawingml/2006/main">
            <a:off x="4305300" y="2324100"/>
            <a:ext cx="3581400" cy="47625"/>
          </a:xfrm>
          <a:prstGeom xmlns:a="http://schemas.openxmlformats.org/drawingml/2006/main" prst="rect">
            <a:avLst/>
          </a:prstGeom>
          <a:solidFill xmlns:a="http://schemas.openxmlformats.org/drawingml/2006/main">
            <a:srgbClr val="00A68A"/>
          </a:solidFill>
          <a:ln xmlns:a="http://schemas.openxmlformats.org/drawingml/2006/main" w="0">
            <a:noFill/>
            <a:prstDash val="solid"/>
          </a:ln>
        </p:spPr>
      </p:sp>
      <p:sp>
        <p:nvSpPr>
          <p:cNvPr id="83" name="product-medical-health-fund">
            <a:extLst xmlns:a="http://schemas.openxmlformats.org/drawingml/2006/main">
              <a:ext uri="{FF2B5EF4-FFF2-40B4-BE49-F238E27FC236}">
                <a16:creationId xmlns:a16="http://schemas.microsoft.com/office/drawing/2014/main" id="{8FDFB834-5AEA-4C8F-AD04-63F1EE7A0F5C}"/>
              </a:ext>
            </a:extLst>
          </p:cNvPr>
          <p:cNvSpPr>
            <a:spLocks xmlns:a="http://schemas.openxmlformats.org/drawingml/2006/main" noGrp="1"/>
          </p:cNvSpPr>
          <p:nvPr/>
        </p:nvSpPr>
        <p:spPr>
          <a:xfrm xmlns:a="http://schemas.openxmlformats.org/drawingml/2006/main">
            <a:off x="4457700" y="241935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388" b="1">
                <a:solidFill>
                  <a:srgbClr val="101828"/>
                </a:solidFill>
                <a:latin typeface="STHeiti"/>
                <a:ea typeface="STHeiti"/>
                <a:cs typeface="STHeiti"/>
              </a:defRPr>
            </a:pPr>
            <a:r>
              <a:rPr sz="1388" b="1">
                <a:solidFill>
                  <a:srgbClr val="101828"/>
                </a:solidFill>
                <a:latin typeface="STHeiti"/>
                <a:ea typeface="STHeiti"/>
                <a:cs typeface="STHeiti"/>
              </a:rPr>
              <a:t>嘉实医药健康</a:t>
            </a:r>
          </a:p>
        </p:txBody>
      </p:sp>
      <p:sp>
        <p:nvSpPr>
          <p:cNvPr id="84" name="product-medical-health-code">
            <a:extLst xmlns:a="http://schemas.openxmlformats.org/drawingml/2006/main">
              <a:ext uri="{FF2B5EF4-FFF2-40B4-BE49-F238E27FC236}">
                <a16:creationId xmlns:a16="http://schemas.microsoft.com/office/drawing/2014/main" id="{1079DF0F-BBFD-463D-ACF0-F8D0410E3F09}"/>
              </a:ext>
            </a:extLst>
          </p:cNvPr>
          <p:cNvSpPr>
            <a:spLocks xmlns:a="http://schemas.openxmlformats.org/drawingml/2006/main" noGrp="1"/>
          </p:cNvSpPr>
          <p:nvPr/>
        </p:nvSpPr>
        <p:spPr>
          <a:xfrm xmlns:a="http://schemas.openxmlformats.org/drawingml/2006/main">
            <a:off x="6648450" y="2438400"/>
            <a:ext cx="1085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863">
                <a:solidFill>
                  <a:srgbClr val="667085"/>
                </a:solidFill>
                <a:latin typeface="STHeiti"/>
                <a:ea typeface="STHeiti"/>
                <a:cs typeface="STHeiti"/>
              </a:defRPr>
            </a:pPr>
            <a:r>
              <a:rPr sz="863">
                <a:solidFill>
                  <a:srgbClr val="667085"/>
                </a:solidFill>
                <a:latin typeface="STHeiti"/>
                <a:ea typeface="STHeiti"/>
                <a:cs typeface="STHeiti"/>
              </a:rPr>
              <a:t>005303</a:t>
            </a:r>
          </a:p>
        </p:txBody>
      </p:sp>
      <p:sp>
        <p:nvSpPr>
          <p:cNvPr id="85" name="product-medical-health-direction-band">
            <a:extLst xmlns:a="http://schemas.openxmlformats.org/drawingml/2006/main">
              <a:ext uri="{FF2B5EF4-FFF2-40B4-BE49-F238E27FC236}">
                <a16:creationId xmlns:a16="http://schemas.microsoft.com/office/drawing/2014/main" id="{7FCA1871-FA47-4BB9-A04D-5768C04255F0}"/>
              </a:ext>
            </a:extLst>
          </p:cNvPr>
          <p:cNvSpPr>
            <a:spLocks xmlns:a="http://schemas.openxmlformats.org/drawingml/2006/main" noGrp="1"/>
          </p:cNvSpPr>
          <p:nvPr/>
        </p:nvSpPr>
        <p:spPr>
          <a:xfrm xmlns:a="http://schemas.openxmlformats.org/drawingml/2006/main">
            <a:off x="4457700" y="2705100"/>
            <a:ext cx="3276600" cy="257175"/>
          </a:xfrm>
          <a:prstGeom xmlns:a="http://schemas.openxmlformats.org/drawingml/2006/main" prst="roundRect">
            <a:avLst>
              <a:gd name="adj" fmla="val 29630"/>
            </a:avLst>
          </a:prstGeom>
          <a:solidFill xmlns:a="http://schemas.openxmlformats.org/drawingml/2006/main">
            <a:srgbClr val="E5F7F3"/>
          </a:solidFill>
          <a:ln xmlns:a="http://schemas.openxmlformats.org/drawingml/2006/main" w="0">
            <a:noFill/>
            <a:prstDash val="solid"/>
          </a:ln>
        </p:spPr>
      </p:sp>
      <p:sp>
        <p:nvSpPr>
          <p:cNvPr id="86" name="product-medical-health-direction">
            <a:extLst xmlns:a="http://schemas.openxmlformats.org/drawingml/2006/main">
              <a:ext uri="{FF2B5EF4-FFF2-40B4-BE49-F238E27FC236}">
                <a16:creationId xmlns:a16="http://schemas.microsoft.com/office/drawing/2014/main" id="{1FAFA044-7AE8-458C-B37D-DF8B304E2E95}"/>
              </a:ext>
            </a:extLst>
          </p:cNvPr>
          <p:cNvSpPr>
            <a:spLocks xmlns:a="http://schemas.openxmlformats.org/drawingml/2006/main" noGrp="1"/>
          </p:cNvSpPr>
          <p:nvPr/>
        </p:nvSpPr>
        <p:spPr>
          <a:xfrm xmlns:a="http://schemas.openxmlformats.org/drawingml/2006/main">
            <a:off x="4533900" y="2743200"/>
            <a:ext cx="3124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60" b="1">
                <a:solidFill>
                  <a:srgbClr val="00A68A"/>
                </a:solidFill>
                <a:latin typeface="STHeiti"/>
                <a:ea typeface="STHeiti"/>
                <a:cs typeface="STHeiti"/>
              </a:defRPr>
            </a:pPr>
            <a:r>
              <a:rPr sz="960" b="1">
                <a:solidFill>
                  <a:srgbClr val="00A68A"/>
                </a:solidFill>
                <a:latin typeface="STHeiti"/>
                <a:ea typeface="STHeiti"/>
                <a:cs typeface="STHeiti"/>
              </a:rPr>
              <a:t>主投方向｜CXO为主，创新药+器械</a:t>
            </a:r>
          </a:p>
        </p:txBody>
      </p:sp>
      <p:sp>
        <p:nvSpPr>
          <p:cNvPr id="87" name="product-medical-health-return-box">
            <a:extLst xmlns:a="http://schemas.openxmlformats.org/drawingml/2006/main">
              <a:ext uri="{FF2B5EF4-FFF2-40B4-BE49-F238E27FC236}">
                <a16:creationId xmlns:a16="http://schemas.microsoft.com/office/drawing/2014/main" id="{8CB8DADB-4D6F-41CB-BBDF-622386411F0C}"/>
              </a:ext>
            </a:extLst>
          </p:cNvPr>
          <p:cNvSpPr>
            <a:spLocks xmlns:a="http://schemas.openxmlformats.org/drawingml/2006/main" noGrp="1"/>
          </p:cNvSpPr>
          <p:nvPr/>
        </p:nvSpPr>
        <p:spPr>
          <a:xfrm xmlns:a="http://schemas.openxmlformats.org/drawingml/2006/main">
            <a:off x="4457700" y="3038475"/>
            <a:ext cx="1581150" cy="514350"/>
          </a:xfrm>
          <a:prstGeom xmlns:a="http://schemas.openxmlformats.org/drawingml/2006/main" prst="roundRect">
            <a:avLst>
              <a:gd name="adj" fmla="val 14815"/>
            </a:avLst>
          </a:prstGeom>
          <a:solidFill xmlns:a="http://schemas.openxmlformats.org/drawingml/2006/main">
            <a:srgbClr val="F7F9FC"/>
          </a:solidFill>
          <a:ln xmlns:a="http://schemas.openxmlformats.org/drawingml/2006/main" w="9525">
            <a:solidFill>
              <a:srgbClr val="E5EAF0"/>
            </a:solidFill>
            <a:prstDash val="solid"/>
          </a:ln>
        </p:spPr>
      </p:sp>
      <p:sp>
        <p:nvSpPr>
          <p:cNvPr id="88" name="product-medical-health-return-label">
            <a:extLst xmlns:a="http://schemas.openxmlformats.org/drawingml/2006/main">
              <a:ext uri="{FF2B5EF4-FFF2-40B4-BE49-F238E27FC236}">
                <a16:creationId xmlns:a16="http://schemas.microsoft.com/office/drawing/2014/main" id="{4039AACE-8CC6-4FA7-882A-C82F348C74E7}"/>
              </a:ext>
            </a:extLst>
          </p:cNvPr>
          <p:cNvSpPr>
            <a:spLocks xmlns:a="http://schemas.openxmlformats.org/drawingml/2006/main" noGrp="1"/>
          </p:cNvSpPr>
          <p:nvPr/>
        </p:nvSpPr>
        <p:spPr>
          <a:xfrm xmlns:a="http://schemas.openxmlformats.org/drawingml/2006/main">
            <a:off x="4524375" y="3105150"/>
            <a:ext cx="1447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15">
                <a:solidFill>
                  <a:srgbClr val="667085"/>
                </a:solidFill>
                <a:latin typeface="STHeiti"/>
                <a:ea typeface="STHeiti"/>
                <a:cs typeface="STHeiti"/>
              </a:defRPr>
            </a:pPr>
            <a:r>
              <a:rPr sz="915">
                <a:solidFill>
                  <a:srgbClr val="667085"/>
                </a:solidFill>
                <a:latin typeface="STHeiti"/>
                <a:ea typeface="STHeiti"/>
                <a:cs typeface="STHeiti"/>
              </a:rPr>
              <a:t>近1年收益</a:t>
            </a:r>
          </a:p>
        </p:txBody>
      </p:sp>
      <p:sp>
        <p:nvSpPr>
          <p:cNvPr id="89" name="product-medical-health-return-value">
            <a:extLst xmlns:a="http://schemas.openxmlformats.org/drawingml/2006/main">
              <a:ext uri="{FF2B5EF4-FFF2-40B4-BE49-F238E27FC236}">
                <a16:creationId xmlns:a16="http://schemas.microsoft.com/office/drawing/2014/main" id="{7D24FBF6-1F85-4E6B-AC39-9593746D293F}"/>
              </a:ext>
            </a:extLst>
          </p:cNvPr>
          <p:cNvSpPr>
            <a:spLocks xmlns:a="http://schemas.openxmlformats.org/drawingml/2006/main" noGrp="1"/>
          </p:cNvSpPr>
          <p:nvPr/>
        </p:nvSpPr>
        <p:spPr>
          <a:xfrm xmlns:a="http://schemas.openxmlformats.org/drawingml/2006/main">
            <a:off x="4524375" y="3276600"/>
            <a:ext cx="1447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909"/>
          </a:bodyPr>
          <a:lstStyle xmlns:a="http://schemas.openxmlformats.org/drawingml/2006/main"/>
          <a:p xmlns:a="http://schemas.openxmlformats.org/drawingml/2006/main">
            <a:pPr algn="ctr">
              <a:defRPr sz="1650" b="1">
                <a:solidFill>
                  <a:srgbClr val="00A68A"/>
                </a:solidFill>
                <a:latin typeface="STHeiti"/>
                <a:ea typeface="STHeiti"/>
                <a:cs typeface="STHeiti"/>
              </a:defRPr>
            </a:pPr>
            <a:r>
              <a:rPr sz="1650" b="1">
                <a:solidFill>
                  <a:srgbClr val="00A68A"/>
                </a:solidFill>
                <a:latin typeface="STHeiti"/>
                <a:ea typeface="STHeiti"/>
                <a:cs typeface="STHeiti"/>
              </a:rPr>
              <a:t>+7.2%</a:t>
            </a:r>
          </a:p>
        </p:txBody>
      </p:sp>
      <p:sp>
        <p:nvSpPr>
          <p:cNvPr id="90" name="product-medical-health-drawdown-box">
            <a:extLst xmlns:a="http://schemas.openxmlformats.org/drawingml/2006/main">
              <a:ext uri="{FF2B5EF4-FFF2-40B4-BE49-F238E27FC236}">
                <a16:creationId xmlns:a16="http://schemas.microsoft.com/office/drawing/2014/main" id="{37A780DC-CA42-4312-A0A6-22A30E3749EA}"/>
              </a:ext>
            </a:extLst>
          </p:cNvPr>
          <p:cNvSpPr>
            <a:spLocks xmlns:a="http://schemas.openxmlformats.org/drawingml/2006/main" noGrp="1"/>
          </p:cNvSpPr>
          <p:nvPr/>
        </p:nvSpPr>
        <p:spPr>
          <a:xfrm xmlns:a="http://schemas.openxmlformats.org/drawingml/2006/main">
            <a:off x="6153150" y="3038475"/>
            <a:ext cx="1581150" cy="514350"/>
          </a:xfrm>
          <a:prstGeom xmlns:a="http://schemas.openxmlformats.org/drawingml/2006/main" prst="roundRect">
            <a:avLst>
              <a:gd name="adj" fmla="val 14815"/>
            </a:avLst>
          </a:prstGeom>
          <a:solidFill xmlns:a="http://schemas.openxmlformats.org/drawingml/2006/main">
            <a:srgbClr val="F7F9FC"/>
          </a:solidFill>
          <a:ln xmlns:a="http://schemas.openxmlformats.org/drawingml/2006/main" w="9525">
            <a:solidFill>
              <a:srgbClr val="E5EAF0"/>
            </a:solidFill>
            <a:prstDash val="solid"/>
          </a:ln>
        </p:spPr>
      </p:sp>
      <p:sp>
        <p:nvSpPr>
          <p:cNvPr id="91" name="product-medical-health-drawdown-label">
            <a:extLst xmlns:a="http://schemas.openxmlformats.org/drawingml/2006/main">
              <a:ext uri="{FF2B5EF4-FFF2-40B4-BE49-F238E27FC236}">
                <a16:creationId xmlns:a16="http://schemas.microsoft.com/office/drawing/2014/main" id="{424A7198-5D1A-42C4-984E-D081A4098ABE}"/>
              </a:ext>
            </a:extLst>
          </p:cNvPr>
          <p:cNvSpPr>
            <a:spLocks xmlns:a="http://schemas.openxmlformats.org/drawingml/2006/main" noGrp="1"/>
          </p:cNvSpPr>
          <p:nvPr/>
        </p:nvSpPr>
        <p:spPr>
          <a:xfrm xmlns:a="http://schemas.openxmlformats.org/drawingml/2006/main">
            <a:off x="6219825" y="3105150"/>
            <a:ext cx="1447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15">
                <a:solidFill>
                  <a:srgbClr val="667085"/>
                </a:solidFill>
                <a:latin typeface="STHeiti"/>
                <a:ea typeface="STHeiti"/>
                <a:cs typeface="STHeiti"/>
              </a:defRPr>
            </a:pPr>
            <a:r>
              <a:rPr sz="915">
                <a:solidFill>
                  <a:srgbClr val="667085"/>
                </a:solidFill>
                <a:latin typeface="STHeiti"/>
                <a:ea typeface="STHeiti"/>
                <a:cs typeface="STHeiti"/>
              </a:rPr>
              <a:t>近1年最大回撤</a:t>
            </a:r>
          </a:p>
        </p:txBody>
      </p:sp>
      <p:sp>
        <p:nvSpPr>
          <p:cNvPr id="92" name="product-medical-health-drawdown-value">
            <a:extLst xmlns:a="http://schemas.openxmlformats.org/drawingml/2006/main">
              <a:ext uri="{FF2B5EF4-FFF2-40B4-BE49-F238E27FC236}">
                <a16:creationId xmlns:a16="http://schemas.microsoft.com/office/drawing/2014/main" id="{B6D6CB30-7463-4AE0-B6C0-1F4A5841D425}"/>
              </a:ext>
            </a:extLst>
          </p:cNvPr>
          <p:cNvSpPr>
            <a:spLocks xmlns:a="http://schemas.openxmlformats.org/drawingml/2006/main" noGrp="1"/>
          </p:cNvSpPr>
          <p:nvPr/>
        </p:nvSpPr>
        <p:spPr>
          <a:xfrm xmlns:a="http://schemas.openxmlformats.org/drawingml/2006/main">
            <a:off x="6219825" y="3276600"/>
            <a:ext cx="1447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909"/>
          </a:bodyPr>
          <a:lstStyle xmlns:a="http://schemas.openxmlformats.org/drawingml/2006/main"/>
          <a:p xmlns:a="http://schemas.openxmlformats.org/drawingml/2006/main">
            <a:pPr algn="ctr">
              <a:defRPr sz="1650" b="1">
                <a:solidFill>
                  <a:srgbClr val="00A68A"/>
                </a:solidFill>
                <a:latin typeface="STHeiti"/>
                <a:ea typeface="STHeiti"/>
                <a:cs typeface="STHeiti"/>
              </a:defRPr>
            </a:pPr>
            <a:r>
              <a:rPr sz="1650" b="1">
                <a:solidFill>
                  <a:srgbClr val="00A68A"/>
                </a:solidFill>
                <a:latin typeface="STHeiti"/>
                <a:ea typeface="STHeiti"/>
                <a:cs typeface="STHeiti"/>
              </a:rPr>
              <a:t>24.8%</a:t>
            </a:r>
          </a:p>
        </p:txBody>
      </p:sp>
      <p:sp>
        <p:nvSpPr>
          <p:cNvPr id="93" name="product-medical-health-allocation-title">
            <a:extLst xmlns:a="http://schemas.openxmlformats.org/drawingml/2006/main">
              <a:ext uri="{FF2B5EF4-FFF2-40B4-BE49-F238E27FC236}">
                <a16:creationId xmlns:a16="http://schemas.microsoft.com/office/drawing/2014/main" id="{DE9B52B6-7170-4666-B9DE-9D9702C79240}"/>
              </a:ext>
            </a:extLst>
          </p:cNvPr>
          <p:cNvSpPr>
            <a:spLocks xmlns:a="http://schemas.openxmlformats.org/drawingml/2006/main" noGrp="1"/>
          </p:cNvSpPr>
          <p:nvPr/>
        </p:nvSpPr>
        <p:spPr>
          <a:xfrm xmlns:a="http://schemas.openxmlformats.org/drawingml/2006/main">
            <a:off x="4457700" y="3619500"/>
            <a:ext cx="3276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960" b="1">
                <a:solidFill>
                  <a:srgbClr val="344054"/>
                </a:solidFill>
                <a:latin typeface="STHeiti"/>
                <a:ea typeface="STHeiti"/>
                <a:cs typeface="STHeiti"/>
              </a:defRPr>
            </a:pPr>
            <a:r>
              <a:rPr sz="960" b="1">
                <a:solidFill>
                  <a:srgbClr val="344054"/>
                </a:solidFill>
                <a:latin typeface="STHeiti"/>
                <a:ea typeface="STHeiti"/>
                <a:cs typeface="STHeiti"/>
              </a:rPr>
              <a:t>前十大医药内部细分占比</a:t>
            </a:r>
          </a:p>
        </p:txBody>
      </p:sp>
      <p:sp>
        <p:nvSpPr>
          <p:cNvPr id="94" name="product-medical-health-allocation-1-label">
            <a:extLst xmlns:a="http://schemas.openxmlformats.org/drawingml/2006/main">
              <a:ext uri="{FF2B5EF4-FFF2-40B4-BE49-F238E27FC236}">
                <a16:creationId xmlns:a16="http://schemas.microsoft.com/office/drawing/2014/main" id="{9522801D-5E65-4B28-9C44-44EA75FD5520}"/>
              </a:ext>
            </a:extLst>
          </p:cNvPr>
          <p:cNvSpPr>
            <a:spLocks xmlns:a="http://schemas.openxmlformats.org/drawingml/2006/main" noGrp="1"/>
          </p:cNvSpPr>
          <p:nvPr/>
        </p:nvSpPr>
        <p:spPr>
          <a:xfrm xmlns:a="http://schemas.openxmlformats.org/drawingml/2006/main">
            <a:off x="4457700" y="3819525"/>
            <a:ext cx="685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878" b="1">
                <a:solidFill>
                  <a:srgbClr val="344054"/>
                </a:solidFill>
                <a:latin typeface="STHeiti"/>
                <a:ea typeface="STHeiti"/>
                <a:cs typeface="STHeiti"/>
              </a:defRPr>
            </a:pPr>
            <a:r>
              <a:rPr sz="878" b="1">
                <a:solidFill>
                  <a:srgbClr val="344054"/>
                </a:solidFill>
                <a:latin typeface="STHeiti"/>
                <a:ea typeface="STHeiti"/>
                <a:cs typeface="STHeiti"/>
              </a:rPr>
              <a:t>CXO</a:t>
            </a:r>
          </a:p>
        </p:txBody>
      </p:sp>
      <p:sp>
        <p:nvSpPr>
          <p:cNvPr id="95" name="product-medical-health-allocation-1-track">
            <a:extLst xmlns:a="http://schemas.openxmlformats.org/drawingml/2006/main">
              <a:ext uri="{FF2B5EF4-FFF2-40B4-BE49-F238E27FC236}">
                <a16:creationId xmlns:a16="http://schemas.microsoft.com/office/drawing/2014/main" id="{67F2095E-D542-479D-9447-1348D637FD55}"/>
              </a:ext>
            </a:extLst>
          </p:cNvPr>
          <p:cNvSpPr>
            <a:spLocks xmlns:a="http://schemas.openxmlformats.org/drawingml/2006/main" noGrp="1"/>
          </p:cNvSpPr>
          <p:nvPr/>
        </p:nvSpPr>
        <p:spPr>
          <a:xfrm xmlns:a="http://schemas.openxmlformats.org/drawingml/2006/main">
            <a:off x="5181600" y="3867150"/>
            <a:ext cx="1676400" cy="66675"/>
          </a:xfrm>
          <a:prstGeom xmlns:a="http://schemas.openxmlformats.org/drawingml/2006/main" prst="roundRect">
            <a:avLst>
              <a:gd name="adj" fmla="val 50000"/>
            </a:avLst>
          </a:prstGeom>
          <a:solidFill xmlns:a="http://schemas.openxmlformats.org/drawingml/2006/main">
            <a:srgbClr val="E9EEF4"/>
          </a:solidFill>
          <a:ln xmlns:a="http://schemas.openxmlformats.org/drawingml/2006/main" w="0">
            <a:noFill/>
            <a:prstDash val="solid"/>
          </a:ln>
        </p:spPr>
      </p:sp>
      <p:sp>
        <p:nvSpPr>
          <p:cNvPr id="96" name="product-medical-health-allocation-1-fill">
            <a:extLst xmlns:a="http://schemas.openxmlformats.org/drawingml/2006/main">
              <a:ext uri="{FF2B5EF4-FFF2-40B4-BE49-F238E27FC236}">
                <a16:creationId xmlns:a16="http://schemas.microsoft.com/office/drawing/2014/main" id="{1FAB696A-A556-4E27-A380-F171BE5C8867}"/>
              </a:ext>
            </a:extLst>
          </p:cNvPr>
          <p:cNvSpPr>
            <a:spLocks xmlns:a="http://schemas.openxmlformats.org/drawingml/2006/main" noGrp="1"/>
          </p:cNvSpPr>
          <p:nvPr/>
        </p:nvSpPr>
        <p:spPr>
          <a:xfrm xmlns:a="http://schemas.openxmlformats.org/drawingml/2006/main">
            <a:off x="5181600" y="3867150"/>
            <a:ext cx="982370" cy="66675"/>
          </a:xfrm>
          <a:prstGeom xmlns:a="http://schemas.openxmlformats.org/drawingml/2006/main" prst="roundRect">
            <a:avLst>
              <a:gd name="adj" fmla="val 50000"/>
            </a:avLst>
          </a:prstGeom>
          <a:solidFill xmlns:a="http://schemas.openxmlformats.org/drawingml/2006/main">
            <a:srgbClr val="00A68A"/>
          </a:solidFill>
          <a:ln xmlns:a="http://schemas.openxmlformats.org/drawingml/2006/main" w="0">
            <a:noFill/>
            <a:prstDash val="solid"/>
          </a:ln>
        </p:spPr>
      </p:sp>
      <p:sp>
        <p:nvSpPr>
          <p:cNvPr id="97" name="product-medical-health-allocation-1-value">
            <a:extLst xmlns:a="http://schemas.openxmlformats.org/drawingml/2006/main">
              <a:ext uri="{FF2B5EF4-FFF2-40B4-BE49-F238E27FC236}">
                <a16:creationId xmlns:a16="http://schemas.microsoft.com/office/drawing/2014/main" id="{8C4A1E80-8E8B-4527-9FA2-544612F4EAEB}"/>
              </a:ext>
            </a:extLst>
          </p:cNvPr>
          <p:cNvSpPr>
            <a:spLocks xmlns:a="http://schemas.openxmlformats.org/drawingml/2006/main" noGrp="1"/>
          </p:cNvSpPr>
          <p:nvPr/>
        </p:nvSpPr>
        <p:spPr>
          <a:xfrm xmlns:a="http://schemas.openxmlformats.org/drawingml/2006/main">
            <a:off x="6934200" y="3819525"/>
            <a:ext cx="647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878" b="1">
                <a:solidFill>
                  <a:srgbClr val="00A68A"/>
                </a:solidFill>
                <a:latin typeface="STHeiti"/>
                <a:ea typeface="STHeiti"/>
                <a:cs typeface="STHeiti"/>
              </a:defRPr>
            </a:pPr>
            <a:r>
              <a:rPr sz="878" b="1">
                <a:solidFill>
                  <a:srgbClr val="00A68A"/>
                </a:solidFill>
                <a:latin typeface="STHeiti"/>
                <a:ea typeface="STHeiti"/>
                <a:cs typeface="STHeiti"/>
              </a:rPr>
              <a:t>58.6%</a:t>
            </a:r>
          </a:p>
        </p:txBody>
      </p:sp>
      <p:sp>
        <p:nvSpPr>
          <p:cNvPr id="98" name="product-medical-health-allocation-2-label">
            <a:extLst xmlns:a="http://schemas.openxmlformats.org/drawingml/2006/main">
              <a:ext uri="{FF2B5EF4-FFF2-40B4-BE49-F238E27FC236}">
                <a16:creationId xmlns:a16="http://schemas.microsoft.com/office/drawing/2014/main" id="{1FAB4875-6782-4963-AF8C-7461638F1B91}"/>
              </a:ext>
            </a:extLst>
          </p:cNvPr>
          <p:cNvSpPr>
            <a:spLocks xmlns:a="http://schemas.openxmlformats.org/drawingml/2006/main" noGrp="1"/>
          </p:cNvSpPr>
          <p:nvPr/>
        </p:nvSpPr>
        <p:spPr>
          <a:xfrm xmlns:a="http://schemas.openxmlformats.org/drawingml/2006/main">
            <a:off x="4457700" y="3990975"/>
            <a:ext cx="685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878" b="1">
                <a:solidFill>
                  <a:srgbClr val="344054"/>
                </a:solidFill>
                <a:latin typeface="STHeiti"/>
                <a:ea typeface="STHeiti"/>
                <a:cs typeface="STHeiti"/>
              </a:defRPr>
            </a:pPr>
            <a:r>
              <a:rPr sz="878" b="1">
                <a:solidFill>
                  <a:srgbClr val="344054"/>
                </a:solidFill>
                <a:latin typeface="STHeiti"/>
                <a:ea typeface="STHeiti"/>
                <a:cs typeface="STHeiti"/>
              </a:rPr>
              <a:t>创新药</a:t>
            </a:r>
          </a:p>
        </p:txBody>
      </p:sp>
      <p:sp>
        <p:nvSpPr>
          <p:cNvPr id="99" name="product-medical-health-allocation-2-track">
            <a:extLst xmlns:a="http://schemas.openxmlformats.org/drawingml/2006/main">
              <a:ext uri="{FF2B5EF4-FFF2-40B4-BE49-F238E27FC236}">
                <a16:creationId xmlns:a16="http://schemas.microsoft.com/office/drawing/2014/main" id="{E118D7B5-0BCC-414C-A479-B1EA6D31163B}"/>
              </a:ext>
            </a:extLst>
          </p:cNvPr>
          <p:cNvSpPr>
            <a:spLocks xmlns:a="http://schemas.openxmlformats.org/drawingml/2006/main" noGrp="1"/>
          </p:cNvSpPr>
          <p:nvPr/>
        </p:nvSpPr>
        <p:spPr>
          <a:xfrm xmlns:a="http://schemas.openxmlformats.org/drawingml/2006/main">
            <a:off x="5181600" y="4038600"/>
            <a:ext cx="1676400" cy="66675"/>
          </a:xfrm>
          <a:prstGeom xmlns:a="http://schemas.openxmlformats.org/drawingml/2006/main" prst="roundRect">
            <a:avLst>
              <a:gd name="adj" fmla="val 50000"/>
            </a:avLst>
          </a:prstGeom>
          <a:solidFill xmlns:a="http://schemas.openxmlformats.org/drawingml/2006/main">
            <a:srgbClr val="E9EEF4"/>
          </a:solidFill>
          <a:ln xmlns:a="http://schemas.openxmlformats.org/drawingml/2006/main" w="0">
            <a:noFill/>
            <a:prstDash val="solid"/>
          </a:ln>
        </p:spPr>
      </p:sp>
      <p:sp>
        <p:nvSpPr>
          <p:cNvPr id="100" name="product-medical-health-allocation-2-fill">
            <a:extLst xmlns:a="http://schemas.openxmlformats.org/drawingml/2006/main">
              <a:ext uri="{FF2B5EF4-FFF2-40B4-BE49-F238E27FC236}">
                <a16:creationId xmlns:a16="http://schemas.microsoft.com/office/drawing/2014/main" id="{986C12EA-461C-4405-8138-DB22A0D31D5B}"/>
              </a:ext>
            </a:extLst>
          </p:cNvPr>
          <p:cNvSpPr>
            <a:spLocks xmlns:a="http://schemas.openxmlformats.org/drawingml/2006/main" noGrp="1"/>
          </p:cNvSpPr>
          <p:nvPr/>
        </p:nvSpPr>
        <p:spPr>
          <a:xfrm xmlns:a="http://schemas.openxmlformats.org/drawingml/2006/main">
            <a:off x="5181600" y="4038600"/>
            <a:ext cx="528066" cy="66675"/>
          </a:xfrm>
          <a:prstGeom xmlns:a="http://schemas.openxmlformats.org/drawingml/2006/main" prst="roundRect">
            <a:avLst>
              <a:gd name="adj" fmla="val 50000"/>
            </a:avLst>
          </a:prstGeom>
          <a:solidFill xmlns:a="http://schemas.openxmlformats.org/drawingml/2006/main">
            <a:srgbClr val="00A68A"/>
          </a:solidFill>
          <a:ln xmlns:a="http://schemas.openxmlformats.org/drawingml/2006/main" w="0">
            <a:noFill/>
            <a:prstDash val="solid"/>
          </a:ln>
        </p:spPr>
      </p:sp>
      <p:sp>
        <p:nvSpPr>
          <p:cNvPr id="101" name="product-medical-health-allocation-2-value">
            <a:extLst xmlns:a="http://schemas.openxmlformats.org/drawingml/2006/main">
              <a:ext uri="{FF2B5EF4-FFF2-40B4-BE49-F238E27FC236}">
                <a16:creationId xmlns:a16="http://schemas.microsoft.com/office/drawing/2014/main" id="{801F4389-590B-43D9-9D64-D75A3DC3EAA4}"/>
              </a:ext>
            </a:extLst>
          </p:cNvPr>
          <p:cNvSpPr>
            <a:spLocks xmlns:a="http://schemas.openxmlformats.org/drawingml/2006/main" noGrp="1"/>
          </p:cNvSpPr>
          <p:nvPr/>
        </p:nvSpPr>
        <p:spPr>
          <a:xfrm xmlns:a="http://schemas.openxmlformats.org/drawingml/2006/main">
            <a:off x="6934200" y="3990975"/>
            <a:ext cx="647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878" b="1">
                <a:solidFill>
                  <a:srgbClr val="00A68A"/>
                </a:solidFill>
                <a:latin typeface="STHeiti"/>
                <a:ea typeface="STHeiti"/>
                <a:cs typeface="STHeiti"/>
              </a:defRPr>
            </a:pPr>
            <a:r>
              <a:rPr sz="878" b="1">
                <a:solidFill>
                  <a:srgbClr val="00A68A"/>
                </a:solidFill>
                <a:latin typeface="STHeiti"/>
                <a:ea typeface="STHeiti"/>
                <a:cs typeface="STHeiti"/>
              </a:rPr>
              <a:t>31.5%</a:t>
            </a:r>
          </a:p>
        </p:txBody>
      </p:sp>
      <p:sp>
        <p:nvSpPr>
          <p:cNvPr id="102" name="product-medical-health-allocation-3-label">
            <a:extLst xmlns:a="http://schemas.openxmlformats.org/drawingml/2006/main">
              <a:ext uri="{FF2B5EF4-FFF2-40B4-BE49-F238E27FC236}">
                <a16:creationId xmlns:a16="http://schemas.microsoft.com/office/drawing/2014/main" id="{A54AB6F2-B005-4FB4-AF25-E06133371B59}"/>
              </a:ext>
            </a:extLst>
          </p:cNvPr>
          <p:cNvSpPr>
            <a:spLocks xmlns:a="http://schemas.openxmlformats.org/drawingml/2006/main" noGrp="1"/>
          </p:cNvSpPr>
          <p:nvPr/>
        </p:nvSpPr>
        <p:spPr>
          <a:xfrm xmlns:a="http://schemas.openxmlformats.org/drawingml/2006/main">
            <a:off x="4457700" y="4162425"/>
            <a:ext cx="685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878" b="1">
                <a:solidFill>
                  <a:srgbClr val="344054"/>
                </a:solidFill>
                <a:latin typeface="STHeiti"/>
                <a:ea typeface="STHeiti"/>
                <a:cs typeface="STHeiti"/>
              </a:defRPr>
            </a:pPr>
            <a:r>
              <a:rPr sz="878" b="1">
                <a:solidFill>
                  <a:srgbClr val="344054"/>
                </a:solidFill>
                <a:latin typeface="STHeiti"/>
                <a:ea typeface="STHeiti"/>
                <a:cs typeface="STHeiti"/>
              </a:rPr>
              <a:t>医疗器械</a:t>
            </a:r>
          </a:p>
        </p:txBody>
      </p:sp>
      <p:sp>
        <p:nvSpPr>
          <p:cNvPr id="103" name="product-medical-health-allocation-3-track">
            <a:extLst xmlns:a="http://schemas.openxmlformats.org/drawingml/2006/main">
              <a:ext uri="{FF2B5EF4-FFF2-40B4-BE49-F238E27FC236}">
                <a16:creationId xmlns:a16="http://schemas.microsoft.com/office/drawing/2014/main" id="{F6D3429D-9048-4543-B048-644C04912C20}"/>
              </a:ext>
            </a:extLst>
          </p:cNvPr>
          <p:cNvSpPr>
            <a:spLocks xmlns:a="http://schemas.openxmlformats.org/drawingml/2006/main" noGrp="1"/>
          </p:cNvSpPr>
          <p:nvPr/>
        </p:nvSpPr>
        <p:spPr>
          <a:xfrm xmlns:a="http://schemas.openxmlformats.org/drawingml/2006/main">
            <a:off x="5181600" y="4210050"/>
            <a:ext cx="1676400" cy="66675"/>
          </a:xfrm>
          <a:prstGeom xmlns:a="http://schemas.openxmlformats.org/drawingml/2006/main" prst="roundRect">
            <a:avLst>
              <a:gd name="adj" fmla="val 50000"/>
            </a:avLst>
          </a:prstGeom>
          <a:solidFill xmlns:a="http://schemas.openxmlformats.org/drawingml/2006/main">
            <a:srgbClr val="E9EEF4"/>
          </a:solidFill>
          <a:ln xmlns:a="http://schemas.openxmlformats.org/drawingml/2006/main" w="0">
            <a:noFill/>
            <a:prstDash val="solid"/>
          </a:ln>
        </p:spPr>
      </p:sp>
      <p:sp>
        <p:nvSpPr>
          <p:cNvPr id="104" name="product-medical-health-allocation-3-fill">
            <a:extLst xmlns:a="http://schemas.openxmlformats.org/drawingml/2006/main">
              <a:ext uri="{FF2B5EF4-FFF2-40B4-BE49-F238E27FC236}">
                <a16:creationId xmlns:a16="http://schemas.microsoft.com/office/drawing/2014/main" id="{481FBFF1-46FB-4109-9BC9-C498C54D4D90}"/>
              </a:ext>
            </a:extLst>
          </p:cNvPr>
          <p:cNvSpPr>
            <a:spLocks xmlns:a="http://schemas.openxmlformats.org/drawingml/2006/main" noGrp="1"/>
          </p:cNvSpPr>
          <p:nvPr/>
        </p:nvSpPr>
        <p:spPr>
          <a:xfrm xmlns:a="http://schemas.openxmlformats.org/drawingml/2006/main">
            <a:off x="5181600" y="4210050"/>
            <a:ext cx="165964" cy="66675"/>
          </a:xfrm>
          <a:prstGeom xmlns:a="http://schemas.openxmlformats.org/drawingml/2006/main" prst="roundRect">
            <a:avLst>
              <a:gd name="adj" fmla="val 50000"/>
            </a:avLst>
          </a:prstGeom>
          <a:solidFill xmlns:a="http://schemas.openxmlformats.org/drawingml/2006/main">
            <a:srgbClr val="00A68A"/>
          </a:solidFill>
          <a:ln xmlns:a="http://schemas.openxmlformats.org/drawingml/2006/main" w="0">
            <a:noFill/>
            <a:prstDash val="solid"/>
          </a:ln>
        </p:spPr>
      </p:sp>
      <p:sp>
        <p:nvSpPr>
          <p:cNvPr id="105" name="product-medical-health-allocation-3-value">
            <a:extLst xmlns:a="http://schemas.openxmlformats.org/drawingml/2006/main">
              <a:ext uri="{FF2B5EF4-FFF2-40B4-BE49-F238E27FC236}">
                <a16:creationId xmlns:a16="http://schemas.microsoft.com/office/drawing/2014/main" id="{D9F5212A-79A9-4B99-9FE9-C86D660CD57A}"/>
              </a:ext>
            </a:extLst>
          </p:cNvPr>
          <p:cNvSpPr>
            <a:spLocks xmlns:a="http://schemas.openxmlformats.org/drawingml/2006/main" noGrp="1"/>
          </p:cNvSpPr>
          <p:nvPr/>
        </p:nvSpPr>
        <p:spPr>
          <a:xfrm xmlns:a="http://schemas.openxmlformats.org/drawingml/2006/main">
            <a:off x="6934200" y="4162425"/>
            <a:ext cx="647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878" b="1">
                <a:solidFill>
                  <a:srgbClr val="00A68A"/>
                </a:solidFill>
                <a:latin typeface="STHeiti"/>
                <a:ea typeface="STHeiti"/>
                <a:cs typeface="STHeiti"/>
              </a:defRPr>
            </a:pPr>
            <a:r>
              <a:rPr sz="878" b="1">
                <a:solidFill>
                  <a:srgbClr val="00A68A"/>
                </a:solidFill>
                <a:latin typeface="STHeiti"/>
                <a:ea typeface="STHeiti"/>
                <a:cs typeface="STHeiti"/>
              </a:rPr>
              <a:t>9.9%</a:t>
            </a:r>
          </a:p>
        </p:txBody>
      </p:sp>
      <p:sp>
        <p:nvSpPr>
          <p:cNvPr id="106" name="product-medical-health-holding-rule">
            <a:extLst xmlns:a="http://schemas.openxmlformats.org/drawingml/2006/main">
              <a:ext uri="{FF2B5EF4-FFF2-40B4-BE49-F238E27FC236}">
                <a16:creationId xmlns:a16="http://schemas.microsoft.com/office/drawing/2014/main" id="{FDB64732-7565-40BD-8F2E-180EC15341AC}"/>
              </a:ext>
            </a:extLst>
          </p:cNvPr>
          <p:cNvSpPr>
            <a:spLocks xmlns:a="http://schemas.openxmlformats.org/drawingml/2006/main" noGrp="1"/>
          </p:cNvSpPr>
          <p:nvPr/>
        </p:nvSpPr>
        <p:spPr>
          <a:xfrm xmlns:a="http://schemas.openxmlformats.org/drawingml/2006/main">
            <a:off x="4457700" y="4391025"/>
            <a:ext cx="3276600" cy="9525"/>
          </a:xfrm>
          <a:prstGeom xmlns:a="http://schemas.openxmlformats.org/drawingml/2006/main" prst="rect">
            <a:avLst/>
          </a:prstGeom>
          <a:solidFill xmlns:a="http://schemas.openxmlformats.org/drawingml/2006/main">
            <a:srgbClr val="E5EAF0"/>
          </a:solidFill>
          <a:ln xmlns:a="http://schemas.openxmlformats.org/drawingml/2006/main" w="0">
            <a:noFill/>
            <a:prstDash val="solid"/>
          </a:ln>
        </p:spPr>
      </p:sp>
      <p:sp>
        <p:nvSpPr>
          <p:cNvPr id="107" name="product-medical-health-holding-title">
            <a:extLst xmlns:a="http://schemas.openxmlformats.org/drawingml/2006/main">
              <a:ext uri="{FF2B5EF4-FFF2-40B4-BE49-F238E27FC236}">
                <a16:creationId xmlns:a16="http://schemas.microsoft.com/office/drawing/2014/main" id="{400E3B96-7DDF-4A32-9462-51951798EE35}"/>
              </a:ext>
            </a:extLst>
          </p:cNvPr>
          <p:cNvSpPr>
            <a:spLocks xmlns:a="http://schemas.openxmlformats.org/drawingml/2006/main" noGrp="1"/>
          </p:cNvSpPr>
          <p:nvPr/>
        </p:nvSpPr>
        <p:spPr>
          <a:xfrm xmlns:a="http://schemas.openxmlformats.org/drawingml/2006/main">
            <a:off x="4457700" y="44577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960" b="1">
                <a:solidFill>
                  <a:srgbClr val="344054"/>
                </a:solidFill>
                <a:latin typeface="STHeiti"/>
                <a:ea typeface="STHeiti"/>
                <a:cs typeface="STHeiti"/>
              </a:defRPr>
            </a:pPr>
            <a:r>
              <a:rPr sz="960" b="1">
                <a:solidFill>
                  <a:srgbClr val="344054"/>
                </a:solidFill>
                <a:latin typeface="STHeiti"/>
                <a:ea typeface="STHeiti"/>
                <a:cs typeface="STHeiti"/>
              </a:rPr>
              <a:t>前十大持仓</a:t>
            </a:r>
          </a:p>
        </p:txBody>
      </p:sp>
      <p:sp>
        <p:nvSpPr>
          <p:cNvPr id="108" name="product-medical-health-holding-total">
            <a:extLst xmlns:a="http://schemas.openxmlformats.org/drawingml/2006/main">
              <a:ext uri="{FF2B5EF4-FFF2-40B4-BE49-F238E27FC236}">
                <a16:creationId xmlns:a16="http://schemas.microsoft.com/office/drawing/2014/main" id="{759F152A-C32F-4802-AAB5-27F6AB918144}"/>
              </a:ext>
            </a:extLst>
          </p:cNvPr>
          <p:cNvSpPr>
            <a:spLocks xmlns:a="http://schemas.openxmlformats.org/drawingml/2006/main" noGrp="1"/>
          </p:cNvSpPr>
          <p:nvPr/>
        </p:nvSpPr>
        <p:spPr>
          <a:xfrm xmlns:a="http://schemas.openxmlformats.org/drawingml/2006/main">
            <a:off x="6324600" y="4448175"/>
            <a:ext cx="1409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013" b="1">
                <a:solidFill>
                  <a:srgbClr val="00A68A"/>
                </a:solidFill>
                <a:latin typeface="STHeiti"/>
                <a:ea typeface="STHeiti"/>
                <a:cs typeface="STHeiti"/>
              </a:defRPr>
            </a:pPr>
            <a:r>
              <a:rPr sz="1013" b="1">
                <a:solidFill>
                  <a:srgbClr val="00A68A"/>
                </a:solidFill>
                <a:latin typeface="STHeiti"/>
                <a:ea typeface="STHeiti"/>
                <a:cs typeface="STHeiti"/>
              </a:rPr>
              <a:t>合计 58.1%</a:t>
            </a:r>
          </a:p>
        </p:txBody>
      </p:sp>
      <p:sp>
        <p:nvSpPr>
          <p:cNvPr id="109" name="product-medical-health-holding-divider">
            <a:extLst xmlns:a="http://schemas.openxmlformats.org/drawingml/2006/main">
              <a:ext uri="{FF2B5EF4-FFF2-40B4-BE49-F238E27FC236}">
                <a16:creationId xmlns:a16="http://schemas.microsoft.com/office/drawing/2014/main" id="{9F42071F-BF2E-438F-9945-9FDF55DF9D0A}"/>
              </a:ext>
            </a:extLst>
          </p:cNvPr>
          <p:cNvSpPr>
            <a:spLocks xmlns:a="http://schemas.openxmlformats.org/drawingml/2006/main" noGrp="1"/>
          </p:cNvSpPr>
          <p:nvPr/>
        </p:nvSpPr>
        <p:spPr>
          <a:xfrm xmlns:a="http://schemas.openxmlformats.org/drawingml/2006/main">
            <a:off x="6057900" y="4686300"/>
            <a:ext cx="9525" cy="800100"/>
          </a:xfrm>
          <a:prstGeom xmlns:a="http://schemas.openxmlformats.org/drawingml/2006/main" prst="rect">
            <a:avLst/>
          </a:prstGeom>
          <a:solidFill xmlns:a="http://schemas.openxmlformats.org/drawingml/2006/main">
            <a:srgbClr val="EEF1F5"/>
          </a:solidFill>
          <a:ln xmlns:a="http://schemas.openxmlformats.org/drawingml/2006/main" w="0">
            <a:noFill/>
            <a:prstDash val="solid"/>
          </a:ln>
        </p:spPr>
      </p:sp>
      <p:sp>
        <p:nvSpPr>
          <p:cNvPr id="110" name="product-medical-health-holding-1-name">
            <a:extLst xmlns:a="http://schemas.openxmlformats.org/drawingml/2006/main">
              <a:ext uri="{FF2B5EF4-FFF2-40B4-BE49-F238E27FC236}">
                <a16:creationId xmlns:a16="http://schemas.microsoft.com/office/drawing/2014/main" id="{4B545805-3BF3-4712-ACF2-5AF80EAE0664}"/>
              </a:ext>
            </a:extLst>
          </p:cNvPr>
          <p:cNvSpPr>
            <a:spLocks xmlns:a="http://schemas.openxmlformats.org/drawingml/2006/main" noGrp="1"/>
          </p:cNvSpPr>
          <p:nvPr/>
        </p:nvSpPr>
        <p:spPr>
          <a:xfrm xmlns:a="http://schemas.openxmlformats.org/drawingml/2006/main">
            <a:off x="4457700" y="468630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1. 药明康德</a:t>
            </a:r>
          </a:p>
        </p:txBody>
      </p:sp>
      <p:sp>
        <p:nvSpPr>
          <p:cNvPr id="111" name="product-medical-health-holding-1-value">
            <a:extLst xmlns:a="http://schemas.openxmlformats.org/drawingml/2006/main">
              <a:ext uri="{FF2B5EF4-FFF2-40B4-BE49-F238E27FC236}">
                <a16:creationId xmlns:a16="http://schemas.microsoft.com/office/drawing/2014/main" id="{053B0175-554B-4172-A1EC-EACE767BC818}"/>
              </a:ext>
            </a:extLst>
          </p:cNvPr>
          <p:cNvSpPr>
            <a:spLocks xmlns:a="http://schemas.openxmlformats.org/drawingml/2006/main" noGrp="1"/>
          </p:cNvSpPr>
          <p:nvPr/>
        </p:nvSpPr>
        <p:spPr>
          <a:xfrm xmlns:a="http://schemas.openxmlformats.org/drawingml/2006/main">
            <a:off x="5562600" y="46863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00A68A"/>
                </a:solidFill>
                <a:latin typeface="STHeiti"/>
                <a:ea typeface="STHeiti"/>
                <a:cs typeface="STHeiti"/>
              </a:defRPr>
            </a:pPr>
            <a:r>
              <a:rPr sz="788" b="1">
                <a:solidFill>
                  <a:srgbClr val="00A68A"/>
                </a:solidFill>
                <a:latin typeface="STHeiti"/>
                <a:ea typeface="STHeiti"/>
                <a:cs typeface="STHeiti"/>
              </a:rPr>
              <a:t>10.0%</a:t>
            </a:r>
          </a:p>
        </p:txBody>
      </p:sp>
      <p:sp>
        <p:nvSpPr>
          <p:cNvPr id="112" name="product-medical-health-holding-2-name">
            <a:extLst xmlns:a="http://schemas.openxmlformats.org/drawingml/2006/main">
              <a:ext uri="{FF2B5EF4-FFF2-40B4-BE49-F238E27FC236}">
                <a16:creationId xmlns:a16="http://schemas.microsoft.com/office/drawing/2014/main" id="{6C03F109-31D9-44F3-B8D0-1F7CFA9EF432}"/>
              </a:ext>
            </a:extLst>
          </p:cNvPr>
          <p:cNvSpPr>
            <a:spLocks xmlns:a="http://schemas.openxmlformats.org/drawingml/2006/main" noGrp="1"/>
          </p:cNvSpPr>
          <p:nvPr/>
        </p:nvSpPr>
        <p:spPr>
          <a:xfrm xmlns:a="http://schemas.openxmlformats.org/drawingml/2006/main">
            <a:off x="4457700" y="485775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2. 信达生物</a:t>
            </a:r>
          </a:p>
        </p:txBody>
      </p:sp>
      <p:sp>
        <p:nvSpPr>
          <p:cNvPr id="113" name="product-medical-health-holding-2-value">
            <a:extLst xmlns:a="http://schemas.openxmlformats.org/drawingml/2006/main">
              <a:ext uri="{FF2B5EF4-FFF2-40B4-BE49-F238E27FC236}">
                <a16:creationId xmlns:a16="http://schemas.microsoft.com/office/drawing/2014/main" id="{22C11994-4BF7-487A-BE69-8563DFAAE80C}"/>
              </a:ext>
            </a:extLst>
          </p:cNvPr>
          <p:cNvSpPr>
            <a:spLocks xmlns:a="http://schemas.openxmlformats.org/drawingml/2006/main" noGrp="1"/>
          </p:cNvSpPr>
          <p:nvPr/>
        </p:nvSpPr>
        <p:spPr>
          <a:xfrm xmlns:a="http://schemas.openxmlformats.org/drawingml/2006/main">
            <a:off x="5562600" y="485775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00A68A"/>
                </a:solidFill>
                <a:latin typeface="STHeiti"/>
                <a:ea typeface="STHeiti"/>
                <a:cs typeface="STHeiti"/>
              </a:defRPr>
            </a:pPr>
            <a:r>
              <a:rPr sz="788" b="1">
                <a:solidFill>
                  <a:srgbClr val="00A68A"/>
                </a:solidFill>
                <a:latin typeface="STHeiti"/>
                <a:ea typeface="STHeiti"/>
                <a:cs typeface="STHeiti"/>
              </a:rPr>
              <a:t>7.8%</a:t>
            </a:r>
          </a:p>
        </p:txBody>
      </p:sp>
      <p:sp>
        <p:nvSpPr>
          <p:cNvPr id="114" name="product-medical-health-holding-3-name">
            <a:extLst xmlns:a="http://schemas.openxmlformats.org/drawingml/2006/main">
              <a:ext uri="{FF2B5EF4-FFF2-40B4-BE49-F238E27FC236}">
                <a16:creationId xmlns:a16="http://schemas.microsoft.com/office/drawing/2014/main" id="{D6822590-F516-4B78-9CC4-BB32AF510653}"/>
              </a:ext>
            </a:extLst>
          </p:cNvPr>
          <p:cNvSpPr>
            <a:spLocks xmlns:a="http://schemas.openxmlformats.org/drawingml/2006/main" noGrp="1"/>
          </p:cNvSpPr>
          <p:nvPr/>
        </p:nvSpPr>
        <p:spPr>
          <a:xfrm xmlns:a="http://schemas.openxmlformats.org/drawingml/2006/main">
            <a:off x="4457700" y="502920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3. 皓元医药</a:t>
            </a:r>
          </a:p>
        </p:txBody>
      </p:sp>
      <p:sp>
        <p:nvSpPr>
          <p:cNvPr id="115" name="product-medical-health-holding-3-value">
            <a:extLst xmlns:a="http://schemas.openxmlformats.org/drawingml/2006/main">
              <a:ext uri="{FF2B5EF4-FFF2-40B4-BE49-F238E27FC236}">
                <a16:creationId xmlns:a16="http://schemas.microsoft.com/office/drawing/2014/main" id="{DA2C04C8-AC47-4387-88C3-117D1F86EDE9}"/>
              </a:ext>
            </a:extLst>
          </p:cNvPr>
          <p:cNvSpPr>
            <a:spLocks xmlns:a="http://schemas.openxmlformats.org/drawingml/2006/main" noGrp="1"/>
          </p:cNvSpPr>
          <p:nvPr/>
        </p:nvSpPr>
        <p:spPr>
          <a:xfrm xmlns:a="http://schemas.openxmlformats.org/drawingml/2006/main">
            <a:off x="5562600" y="50292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00A68A"/>
                </a:solidFill>
                <a:latin typeface="STHeiti"/>
                <a:ea typeface="STHeiti"/>
                <a:cs typeface="STHeiti"/>
              </a:defRPr>
            </a:pPr>
            <a:r>
              <a:rPr sz="788" b="1">
                <a:solidFill>
                  <a:srgbClr val="00A68A"/>
                </a:solidFill>
                <a:latin typeface="STHeiti"/>
                <a:ea typeface="STHeiti"/>
                <a:cs typeface="STHeiti"/>
              </a:rPr>
              <a:t>7.0%</a:t>
            </a:r>
          </a:p>
        </p:txBody>
      </p:sp>
      <p:sp>
        <p:nvSpPr>
          <p:cNvPr id="116" name="product-medical-health-holding-4-name">
            <a:extLst xmlns:a="http://schemas.openxmlformats.org/drawingml/2006/main">
              <a:ext uri="{FF2B5EF4-FFF2-40B4-BE49-F238E27FC236}">
                <a16:creationId xmlns:a16="http://schemas.microsoft.com/office/drawing/2014/main" id="{C82D936C-2412-4726-AC7E-9BD1655346AD}"/>
              </a:ext>
            </a:extLst>
          </p:cNvPr>
          <p:cNvSpPr>
            <a:spLocks xmlns:a="http://schemas.openxmlformats.org/drawingml/2006/main" noGrp="1"/>
          </p:cNvSpPr>
          <p:nvPr/>
        </p:nvSpPr>
        <p:spPr>
          <a:xfrm xmlns:a="http://schemas.openxmlformats.org/drawingml/2006/main">
            <a:off x="4457700" y="520065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4. 惠泰医疗</a:t>
            </a:r>
          </a:p>
        </p:txBody>
      </p:sp>
      <p:sp>
        <p:nvSpPr>
          <p:cNvPr id="117" name="product-medical-health-holding-4-value">
            <a:extLst xmlns:a="http://schemas.openxmlformats.org/drawingml/2006/main">
              <a:ext uri="{FF2B5EF4-FFF2-40B4-BE49-F238E27FC236}">
                <a16:creationId xmlns:a16="http://schemas.microsoft.com/office/drawing/2014/main" id="{188DAD3D-3FEF-4CE7-8F9C-34B08B1EA09F}"/>
              </a:ext>
            </a:extLst>
          </p:cNvPr>
          <p:cNvSpPr>
            <a:spLocks xmlns:a="http://schemas.openxmlformats.org/drawingml/2006/main" noGrp="1"/>
          </p:cNvSpPr>
          <p:nvPr/>
        </p:nvSpPr>
        <p:spPr>
          <a:xfrm xmlns:a="http://schemas.openxmlformats.org/drawingml/2006/main">
            <a:off x="5562600" y="520065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00A68A"/>
                </a:solidFill>
                <a:latin typeface="STHeiti"/>
                <a:ea typeface="STHeiti"/>
                <a:cs typeface="STHeiti"/>
              </a:defRPr>
            </a:pPr>
            <a:r>
              <a:rPr sz="788" b="1">
                <a:solidFill>
                  <a:srgbClr val="00A68A"/>
                </a:solidFill>
                <a:latin typeface="STHeiti"/>
                <a:ea typeface="STHeiti"/>
                <a:cs typeface="STHeiti"/>
              </a:rPr>
              <a:t>5.8%</a:t>
            </a:r>
          </a:p>
        </p:txBody>
      </p:sp>
      <p:sp>
        <p:nvSpPr>
          <p:cNvPr id="118" name="product-medical-health-holding-5-name">
            <a:extLst xmlns:a="http://schemas.openxmlformats.org/drawingml/2006/main">
              <a:ext uri="{FF2B5EF4-FFF2-40B4-BE49-F238E27FC236}">
                <a16:creationId xmlns:a16="http://schemas.microsoft.com/office/drawing/2014/main" id="{B8FB0E1D-2509-4071-A038-A6E78B33291E}"/>
              </a:ext>
            </a:extLst>
          </p:cNvPr>
          <p:cNvSpPr>
            <a:spLocks xmlns:a="http://schemas.openxmlformats.org/drawingml/2006/main" noGrp="1"/>
          </p:cNvSpPr>
          <p:nvPr/>
        </p:nvSpPr>
        <p:spPr>
          <a:xfrm xmlns:a="http://schemas.openxmlformats.org/drawingml/2006/main">
            <a:off x="4457700" y="537210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5. 泽璟制药</a:t>
            </a:r>
          </a:p>
        </p:txBody>
      </p:sp>
      <p:sp>
        <p:nvSpPr>
          <p:cNvPr id="119" name="product-medical-health-holding-5-value">
            <a:extLst xmlns:a="http://schemas.openxmlformats.org/drawingml/2006/main">
              <a:ext uri="{FF2B5EF4-FFF2-40B4-BE49-F238E27FC236}">
                <a16:creationId xmlns:a16="http://schemas.microsoft.com/office/drawing/2014/main" id="{8576BB2D-1004-4BDC-BAA8-78CED45CD275}"/>
              </a:ext>
            </a:extLst>
          </p:cNvPr>
          <p:cNvSpPr>
            <a:spLocks xmlns:a="http://schemas.openxmlformats.org/drawingml/2006/main" noGrp="1"/>
          </p:cNvSpPr>
          <p:nvPr/>
        </p:nvSpPr>
        <p:spPr>
          <a:xfrm xmlns:a="http://schemas.openxmlformats.org/drawingml/2006/main">
            <a:off x="5562600" y="53721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00A68A"/>
                </a:solidFill>
                <a:latin typeface="STHeiti"/>
                <a:ea typeface="STHeiti"/>
                <a:cs typeface="STHeiti"/>
              </a:defRPr>
            </a:pPr>
            <a:r>
              <a:rPr sz="788" b="1">
                <a:solidFill>
                  <a:srgbClr val="00A68A"/>
                </a:solidFill>
                <a:latin typeface="STHeiti"/>
                <a:ea typeface="STHeiti"/>
                <a:cs typeface="STHeiti"/>
              </a:rPr>
              <a:t>5.4%</a:t>
            </a:r>
          </a:p>
        </p:txBody>
      </p:sp>
      <p:sp>
        <p:nvSpPr>
          <p:cNvPr id="120" name="product-medical-health-holding-6-name">
            <a:extLst xmlns:a="http://schemas.openxmlformats.org/drawingml/2006/main">
              <a:ext uri="{FF2B5EF4-FFF2-40B4-BE49-F238E27FC236}">
                <a16:creationId xmlns:a16="http://schemas.microsoft.com/office/drawing/2014/main" id="{D00B48A1-741C-43EB-BC23-0CAD66F957A7}"/>
              </a:ext>
            </a:extLst>
          </p:cNvPr>
          <p:cNvSpPr>
            <a:spLocks xmlns:a="http://schemas.openxmlformats.org/drawingml/2006/main" noGrp="1"/>
          </p:cNvSpPr>
          <p:nvPr/>
        </p:nvSpPr>
        <p:spPr>
          <a:xfrm xmlns:a="http://schemas.openxmlformats.org/drawingml/2006/main">
            <a:off x="6172200" y="468630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6. 恒瑞医药</a:t>
            </a:r>
          </a:p>
        </p:txBody>
      </p:sp>
      <p:sp>
        <p:nvSpPr>
          <p:cNvPr id="121" name="product-medical-health-holding-6-value">
            <a:extLst xmlns:a="http://schemas.openxmlformats.org/drawingml/2006/main">
              <a:ext uri="{FF2B5EF4-FFF2-40B4-BE49-F238E27FC236}">
                <a16:creationId xmlns:a16="http://schemas.microsoft.com/office/drawing/2014/main" id="{E36F298C-8480-4640-B268-56C1161CB8D3}"/>
              </a:ext>
            </a:extLst>
          </p:cNvPr>
          <p:cNvSpPr>
            <a:spLocks xmlns:a="http://schemas.openxmlformats.org/drawingml/2006/main" noGrp="1"/>
          </p:cNvSpPr>
          <p:nvPr/>
        </p:nvSpPr>
        <p:spPr>
          <a:xfrm xmlns:a="http://schemas.openxmlformats.org/drawingml/2006/main">
            <a:off x="7277100" y="46863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00A68A"/>
                </a:solidFill>
                <a:latin typeface="STHeiti"/>
                <a:ea typeface="STHeiti"/>
                <a:cs typeface="STHeiti"/>
              </a:defRPr>
            </a:pPr>
            <a:r>
              <a:rPr sz="788" b="1">
                <a:solidFill>
                  <a:srgbClr val="00A68A"/>
                </a:solidFill>
                <a:latin typeface="STHeiti"/>
                <a:ea typeface="STHeiti"/>
                <a:cs typeface="STHeiti"/>
              </a:rPr>
              <a:t>5.1%</a:t>
            </a:r>
          </a:p>
        </p:txBody>
      </p:sp>
      <p:sp>
        <p:nvSpPr>
          <p:cNvPr id="122" name="product-medical-health-holding-7-name">
            <a:extLst xmlns:a="http://schemas.openxmlformats.org/drawingml/2006/main">
              <a:ext uri="{FF2B5EF4-FFF2-40B4-BE49-F238E27FC236}">
                <a16:creationId xmlns:a16="http://schemas.microsoft.com/office/drawing/2014/main" id="{D7364176-E58A-4236-B487-FB410C82C31D}"/>
              </a:ext>
            </a:extLst>
          </p:cNvPr>
          <p:cNvSpPr>
            <a:spLocks xmlns:a="http://schemas.openxmlformats.org/drawingml/2006/main" noGrp="1"/>
          </p:cNvSpPr>
          <p:nvPr/>
        </p:nvSpPr>
        <p:spPr>
          <a:xfrm xmlns:a="http://schemas.openxmlformats.org/drawingml/2006/main">
            <a:off x="6172200" y="485775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7. 泰格医药</a:t>
            </a:r>
          </a:p>
        </p:txBody>
      </p:sp>
      <p:sp>
        <p:nvSpPr>
          <p:cNvPr id="123" name="product-medical-health-holding-7-value">
            <a:extLst xmlns:a="http://schemas.openxmlformats.org/drawingml/2006/main">
              <a:ext uri="{FF2B5EF4-FFF2-40B4-BE49-F238E27FC236}">
                <a16:creationId xmlns:a16="http://schemas.microsoft.com/office/drawing/2014/main" id="{546880FC-0537-4284-B071-5D173B068BF1}"/>
              </a:ext>
            </a:extLst>
          </p:cNvPr>
          <p:cNvSpPr>
            <a:spLocks xmlns:a="http://schemas.openxmlformats.org/drawingml/2006/main" noGrp="1"/>
          </p:cNvSpPr>
          <p:nvPr/>
        </p:nvSpPr>
        <p:spPr>
          <a:xfrm xmlns:a="http://schemas.openxmlformats.org/drawingml/2006/main">
            <a:off x="7277100" y="485775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00A68A"/>
                </a:solidFill>
                <a:latin typeface="STHeiti"/>
                <a:ea typeface="STHeiti"/>
                <a:cs typeface="STHeiti"/>
              </a:defRPr>
            </a:pPr>
            <a:r>
              <a:rPr sz="788" b="1">
                <a:solidFill>
                  <a:srgbClr val="00A68A"/>
                </a:solidFill>
                <a:latin typeface="STHeiti"/>
                <a:ea typeface="STHeiti"/>
                <a:cs typeface="STHeiti"/>
              </a:rPr>
              <a:t>5.0%</a:t>
            </a:r>
          </a:p>
        </p:txBody>
      </p:sp>
      <p:sp>
        <p:nvSpPr>
          <p:cNvPr id="124" name="product-medical-health-holding-8-name">
            <a:extLst xmlns:a="http://schemas.openxmlformats.org/drawingml/2006/main">
              <a:ext uri="{FF2B5EF4-FFF2-40B4-BE49-F238E27FC236}">
                <a16:creationId xmlns:a16="http://schemas.microsoft.com/office/drawing/2014/main" id="{1284DCCC-D363-44C8-A746-F21A668C8285}"/>
              </a:ext>
            </a:extLst>
          </p:cNvPr>
          <p:cNvSpPr>
            <a:spLocks xmlns:a="http://schemas.openxmlformats.org/drawingml/2006/main" noGrp="1"/>
          </p:cNvSpPr>
          <p:nvPr/>
        </p:nvSpPr>
        <p:spPr>
          <a:xfrm xmlns:a="http://schemas.openxmlformats.org/drawingml/2006/main">
            <a:off x="6172200" y="502920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8. 凯莱英</a:t>
            </a:r>
          </a:p>
        </p:txBody>
      </p:sp>
      <p:sp>
        <p:nvSpPr>
          <p:cNvPr id="125" name="product-medical-health-holding-8-value">
            <a:extLst xmlns:a="http://schemas.openxmlformats.org/drawingml/2006/main">
              <a:ext uri="{FF2B5EF4-FFF2-40B4-BE49-F238E27FC236}">
                <a16:creationId xmlns:a16="http://schemas.microsoft.com/office/drawing/2014/main" id="{988BD2D5-D362-4C1C-BE44-223AFE0C0420}"/>
              </a:ext>
            </a:extLst>
          </p:cNvPr>
          <p:cNvSpPr>
            <a:spLocks xmlns:a="http://schemas.openxmlformats.org/drawingml/2006/main" noGrp="1"/>
          </p:cNvSpPr>
          <p:nvPr/>
        </p:nvSpPr>
        <p:spPr>
          <a:xfrm xmlns:a="http://schemas.openxmlformats.org/drawingml/2006/main">
            <a:off x="7277100" y="50292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00A68A"/>
                </a:solidFill>
                <a:latin typeface="STHeiti"/>
                <a:ea typeface="STHeiti"/>
                <a:cs typeface="STHeiti"/>
              </a:defRPr>
            </a:pPr>
            <a:r>
              <a:rPr sz="788" b="1">
                <a:solidFill>
                  <a:srgbClr val="00A68A"/>
                </a:solidFill>
                <a:latin typeface="STHeiti"/>
                <a:ea typeface="STHeiti"/>
                <a:cs typeface="STHeiti"/>
              </a:rPr>
              <a:t>4.3%</a:t>
            </a:r>
          </a:p>
        </p:txBody>
      </p:sp>
      <p:sp>
        <p:nvSpPr>
          <p:cNvPr id="126" name="product-medical-health-holding-9-name">
            <a:extLst xmlns:a="http://schemas.openxmlformats.org/drawingml/2006/main">
              <a:ext uri="{FF2B5EF4-FFF2-40B4-BE49-F238E27FC236}">
                <a16:creationId xmlns:a16="http://schemas.microsoft.com/office/drawing/2014/main" id="{13DCC876-03D3-4D51-8DCD-F4701C47D301}"/>
              </a:ext>
            </a:extLst>
          </p:cNvPr>
          <p:cNvSpPr>
            <a:spLocks xmlns:a="http://schemas.openxmlformats.org/drawingml/2006/main" noGrp="1"/>
          </p:cNvSpPr>
          <p:nvPr/>
        </p:nvSpPr>
        <p:spPr>
          <a:xfrm xmlns:a="http://schemas.openxmlformats.org/drawingml/2006/main">
            <a:off x="6172200" y="520065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9. 益诺思</a:t>
            </a:r>
          </a:p>
        </p:txBody>
      </p:sp>
      <p:sp>
        <p:nvSpPr>
          <p:cNvPr id="127" name="product-medical-health-holding-9-value">
            <a:extLst xmlns:a="http://schemas.openxmlformats.org/drawingml/2006/main">
              <a:ext uri="{FF2B5EF4-FFF2-40B4-BE49-F238E27FC236}">
                <a16:creationId xmlns:a16="http://schemas.microsoft.com/office/drawing/2014/main" id="{742334F3-D1ED-40DC-AEBE-F19CF5DF7791}"/>
              </a:ext>
            </a:extLst>
          </p:cNvPr>
          <p:cNvSpPr>
            <a:spLocks xmlns:a="http://schemas.openxmlformats.org/drawingml/2006/main" noGrp="1"/>
          </p:cNvSpPr>
          <p:nvPr/>
        </p:nvSpPr>
        <p:spPr>
          <a:xfrm xmlns:a="http://schemas.openxmlformats.org/drawingml/2006/main">
            <a:off x="7277100" y="520065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00A68A"/>
                </a:solidFill>
                <a:latin typeface="STHeiti"/>
                <a:ea typeface="STHeiti"/>
                <a:cs typeface="STHeiti"/>
              </a:defRPr>
            </a:pPr>
            <a:r>
              <a:rPr sz="788" b="1">
                <a:solidFill>
                  <a:srgbClr val="00A68A"/>
                </a:solidFill>
                <a:latin typeface="STHeiti"/>
                <a:ea typeface="STHeiti"/>
                <a:cs typeface="STHeiti"/>
              </a:rPr>
              <a:t>4.3%</a:t>
            </a:r>
          </a:p>
        </p:txBody>
      </p:sp>
      <p:sp>
        <p:nvSpPr>
          <p:cNvPr id="128" name="product-medical-health-holding-10-name">
            <a:extLst xmlns:a="http://schemas.openxmlformats.org/drawingml/2006/main">
              <a:ext uri="{FF2B5EF4-FFF2-40B4-BE49-F238E27FC236}">
                <a16:creationId xmlns:a16="http://schemas.microsoft.com/office/drawing/2014/main" id="{931D2CC9-2CC4-4047-B222-71E166822F68}"/>
              </a:ext>
            </a:extLst>
          </p:cNvPr>
          <p:cNvSpPr>
            <a:spLocks xmlns:a="http://schemas.openxmlformats.org/drawingml/2006/main" noGrp="1"/>
          </p:cNvSpPr>
          <p:nvPr/>
        </p:nvSpPr>
        <p:spPr>
          <a:xfrm xmlns:a="http://schemas.openxmlformats.org/drawingml/2006/main">
            <a:off x="6172200" y="537210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10. 康龙化成</a:t>
            </a:r>
          </a:p>
        </p:txBody>
      </p:sp>
      <p:sp>
        <p:nvSpPr>
          <p:cNvPr id="129" name="product-medical-health-holding-10-value">
            <a:extLst xmlns:a="http://schemas.openxmlformats.org/drawingml/2006/main">
              <a:ext uri="{FF2B5EF4-FFF2-40B4-BE49-F238E27FC236}">
                <a16:creationId xmlns:a16="http://schemas.microsoft.com/office/drawing/2014/main" id="{73DAB942-A78D-4409-A107-91177372A634}"/>
              </a:ext>
            </a:extLst>
          </p:cNvPr>
          <p:cNvSpPr>
            <a:spLocks xmlns:a="http://schemas.openxmlformats.org/drawingml/2006/main" noGrp="1"/>
          </p:cNvSpPr>
          <p:nvPr/>
        </p:nvSpPr>
        <p:spPr>
          <a:xfrm xmlns:a="http://schemas.openxmlformats.org/drawingml/2006/main">
            <a:off x="7277100" y="53721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00A68A"/>
                </a:solidFill>
                <a:latin typeface="STHeiti"/>
                <a:ea typeface="STHeiti"/>
                <a:cs typeface="STHeiti"/>
              </a:defRPr>
            </a:pPr>
            <a:r>
              <a:rPr sz="788" b="1">
                <a:solidFill>
                  <a:srgbClr val="00A68A"/>
                </a:solidFill>
                <a:latin typeface="STHeiti"/>
                <a:ea typeface="STHeiti"/>
                <a:cs typeface="STHeiti"/>
              </a:rPr>
              <a:t>3.6%</a:t>
            </a:r>
          </a:p>
        </p:txBody>
      </p:sp>
      <p:sp>
        <p:nvSpPr>
          <p:cNvPr id="130" name="product-mutual-selection-card">
            <a:extLst xmlns:a="http://schemas.openxmlformats.org/drawingml/2006/main">
              <a:ext uri="{FF2B5EF4-FFF2-40B4-BE49-F238E27FC236}">
                <a16:creationId xmlns:a16="http://schemas.microsoft.com/office/drawing/2014/main" id="{9C66008B-8918-4FAC-896A-57631C094BD2}"/>
              </a:ext>
            </a:extLst>
          </p:cNvPr>
          <p:cNvSpPr>
            <a:spLocks xmlns:a="http://schemas.openxmlformats.org/drawingml/2006/main" noGrp="1"/>
          </p:cNvSpPr>
          <p:nvPr/>
        </p:nvSpPr>
        <p:spPr>
          <a:xfrm xmlns:a="http://schemas.openxmlformats.org/drawingml/2006/main">
            <a:off x="8153400" y="2324100"/>
            <a:ext cx="3581400" cy="3314700"/>
          </a:xfrm>
          <a:prstGeom xmlns:a="http://schemas.openxmlformats.org/drawingml/2006/main" prst="roundRect">
            <a:avLst>
              <a:gd name="adj" fmla="val 2299"/>
            </a:avLst>
          </a:prstGeom>
          <a:noFill xmlns:a="http://schemas.openxmlformats.org/drawingml/2006/main"/>
          <a:ln xmlns:a="http://schemas.openxmlformats.org/drawingml/2006/main" w="9525">
            <a:solidFill>
              <a:srgbClr val="DDE3EA"/>
            </a:solidFill>
            <a:prstDash val="solid"/>
          </a:ln>
        </p:spPr>
      </p:sp>
      <p:sp>
        <p:nvSpPr>
          <p:cNvPr id="131" name="product-mutual-selection-accent">
            <a:extLst xmlns:a="http://schemas.openxmlformats.org/drawingml/2006/main">
              <a:ext uri="{FF2B5EF4-FFF2-40B4-BE49-F238E27FC236}">
                <a16:creationId xmlns:a16="http://schemas.microsoft.com/office/drawing/2014/main" id="{111DCD16-3A49-4999-8D11-A0B68B5F1CCB}"/>
              </a:ext>
            </a:extLst>
          </p:cNvPr>
          <p:cNvSpPr>
            <a:spLocks xmlns:a="http://schemas.openxmlformats.org/drawingml/2006/main" noGrp="1"/>
          </p:cNvSpPr>
          <p:nvPr/>
        </p:nvSpPr>
        <p:spPr>
          <a:xfrm xmlns:a="http://schemas.openxmlformats.org/drawingml/2006/main">
            <a:off x="8153400" y="2324100"/>
            <a:ext cx="3581400" cy="47625"/>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132" name="product-mutual-selection-fund">
            <a:extLst xmlns:a="http://schemas.openxmlformats.org/drawingml/2006/main">
              <a:ext uri="{FF2B5EF4-FFF2-40B4-BE49-F238E27FC236}">
                <a16:creationId xmlns:a16="http://schemas.microsoft.com/office/drawing/2014/main" id="{68194322-F64C-4573-9DB1-4151FE865857}"/>
              </a:ext>
            </a:extLst>
          </p:cNvPr>
          <p:cNvSpPr>
            <a:spLocks xmlns:a="http://schemas.openxmlformats.org/drawingml/2006/main" noGrp="1"/>
          </p:cNvSpPr>
          <p:nvPr/>
        </p:nvSpPr>
        <p:spPr>
          <a:xfrm xmlns:a="http://schemas.openxmlformats.org/drawingml/2006/main">
            <a:off x="8305800" y="241935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388" b="1">
                <a:solidFill>
                  <a:srgbClr val="101828"/>
                </a:solidFill>
                <a:latin typeface="STHeiti"/>
                <a:ea typeface="STHeiti"/>
                <a:cs typeface="STHeiti"/>
              </a:defRPr>
            </a:pPr>
            <a:r>
              <a:rPr sz="1388" b="1">
                <a:solidFill>
                  <a:srgbClr val="101828"/>
                </a:solidFill>
                <a:latin typeface="STHeiti"/>
                <a:ea typeface="STHeiti"/>
                <a:cs typeface="STHeiti"/>
              </a:rPr>
              <a:t>嘉实互融精选</a:t>
            </a:r>
          </a:p>
        </p:txBody>
      </p:sp>
      <p:sp>
        <p:nvSpPr>
          <p:cNvPr id="133" name="product-mutual-selection-code">
            <a:extLst xmlns:a="http://schemas.openxmlformats.org/drawingml/2006/main">
              <a:ext uri="{FF2B5EF4-FFF2-40B4-BE49-F238E27FC236}">
                <a16:creationId xmlns:a16="http://schemas.microsoft.com/office/drawing/2014/main" id="{DB80585B-8AD4-4505-BDAF-D52A69306054}"/>
              </a:ext>
            </a:extLst>
          </p:cNvPr>
          <p:cNvSpPr>
            <a:spLocks xmlns:a="http://schemas.openxmlformats.org/drawingml/2006/main" noGrp="1"/>
          </p:cNvSpPr>
          <p:nvPr/>
        </p:nvSpPr>
        <p:spPr>
          <a:xfrm xmlns:a="http://schemas.openxmlformats.org/drawingml/2006/main">
            <a:off x="10496550" y="2438400"/>
            <a:ext cx="1085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863">
                <a:solidFill>
                  <a:srgbClr val="667085"/>
                </a:solidFill>
                <a:latin typeface="STHeiti"/>
                <a:ea typeface="STHeiti"/>
                <a:cs typeface="STHeiti"/>
              </a:defRPr>
            </a:pPr>
            <a:r>
              <a:rPr sz="863">
                <a:solidFill>
                  <a:srgbClr val="667085"/>
                </a:solidFill>
                <a:latin typeface="STHeiti"/>
                <a:ea typeface="STHeiti"/>
                <a:cs typeface="STHeiti"/>
              </a:rPr>
              <a:t>006603</a:t>
            </a:r>
          </a:p>
        </p:txBody>
      </p:sp>
      <p:sp>
        <p:nvSpPr>
          <p:cNvPr id="134" name="product-mutual-selection-direction-band">
            <a:extLst xmlns:a="http://schemas.openxmlformats.org/drawingml/2006/main">
              <a:ext uri="{FF2B5EF4-FFF2-40B4-BE49-F238E27FC236}">
                <a16:creationId xmlns:a16="http://schemas.microsoft.com/office/drawing/2014/main" id="{6FF3FE06-EE53-494F-9C4B-7392E0C26D9E}"/>
              </a:ext>
            </a:extLst>
          </p:cNvPr>
          <p:cNvSpPr>
            <a:spLocks xmlns:a="http://schemas.openxmlformats.org/drawingml/2006/main" noGrp="1"/>
          </p:cNvSpPr>
          <p:nvPr/>
        </p:nvSpPr>
        <p:spPr>
          <a:xfrm xmlns:a="http://schemas.openxmlformats.org/drawingml/2006/main">
            <a:off x="8305800" y="2705100"/>
            <a:ext cx="3276600" cy="257175"/>
          </a:xfrm>
          <a:prstGeom xmlns:a="http://schemas.openxmlformats.org/drawingml/2006/main" prst="roundRect">
            <a:avLst>
              <a:gd name="adj" fmla="val 29630"/>
            </a:avLst>
          </a:prstGeom>
          <a:solidFill xmlns:a="http://schemas.openxmlformats.org/drawingml/2006/main">
            <a:srgbClr val="FFF3D9"/>
          </a:solidFill>
          <a:ln xmlns:a="http://schemas.openxmlformats.org/drawingml/2006/main" w="0">
            <a:noFill/>
            <a:prstDash val="solid"/>
          </a:ln>
        </p:spPr>
      </p:sp>
      <p:sp>
        <p:nvSpPr>
          <p:cNvPr id="135" name="product-mutual-selection-direction">
            <a:extLst xmlns:a="http://schemas.openxmlformats.org/drawingml/2006/main">
              <a:ext uri="{FF2B5EF4-FFF2-40B4-BE49-F238E27FC236}">
                <a16:creationId xmlns:a16="http://schemas.microsoft.com/office/drawing/2014/main" id="{24FAE630-47FE-421C-A102-F72BE67C2129}"/>
              </a:ext>
            </a:extLst>
          </p:cNvPr>
          <p:cNvSpPr>
            <a:spLocks xmlns:a="http://schemas.openxmlformats.org/drawingml/2006/main" noGrp="1"/>
          </p:cNvSpPr>
          <p:nvPr/>
        </p:nvSpPr>
        <p:spPr>
          <a:xfrm xmlns:a="http://schemas.openxmlformats.org/drawingml/2006/main">
            <a:off x="8382000" y="2743200"/>
            <a:ext cx="3124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60" b="1">
                <a:solidFill>
                  <a:srgbClr val="F59E0B"/>
                </a:solidFill>
                <a:latin typeface="STHeiti"/>
                <a:ea typeface="STHeiti"/>
                <a:cs typeface="STHeiti"/>
              </a:defRPr>
            </a:pPr>
            <a:r>
              <a:rPr sz="960" b="1">
                <a:solidFill>
                  <a:srgbClr val="F59E0B"/>
                </a:solidFill>
                <a:latin typeface="STHeiti"/>
                <a:ea typeface="STHeiti"/>
                <a:cs typeface="STHeiti"/>
              </a:rPr>
              <a:t>主投方向｜创新药主导，A/H共同配置</a:t>
            </a:r>
          </a:p>
        </p:txBody>
      </p:sp>
      <p:sp>
        <p:nvSpPr>
          <p:cNvPr id="136" name="product-mutual-selection-return-box">
            <a:extLst xmlns:a="http://schemas.openxmlformats.org/drawingml/2006/main">
              <a:ext uri="{FF2B5EF4-FFF2-40B4-BE49-F238E27FC236}">
                <a16:creationId xmlns:a16="http://schemas.microsoft.com/office/drawing/2014/main" id="{FBEF8655-069E-4402-9DBE-CF7496DEA98C}"/>
              </a:ext>
            </a:extLst>
          </p:cNvPr>
          <p:cNvSpPr>
            <a:spLocks xmlns:a="http://schemas.openxmlformats.org/drawingml/2006/main" noGrp="1"/>
          </p:cNvSpPr>
          <p:nvPr/>
        </p:nvSpPr>
        <p:spPr>
          <a:xfrm xmlns:a="http://schemas.openxmlformats.org/drawingml/2006/main">
            <a:off x="8305800" y="3038475"/>
            <a:ext cx="1581150" cy="514350"/>
          </a:xfrm>
          <a:prstGeom xmlns:a="http://schemas.openxmlformats.org/drawingml/2006/main" prst="roundRect">
            <a:avLst>
              <a:gd name="adj" fmla="val 14815"/>
            </a:avLst>
          </a:prstGeom>
          <a:solidFill xmlns:a="http://schemas.openxmlformats.org/drawingml/2006/main">
            <a:srgbClr val="F7F9FC"/>
          </a:solidFill>
          <a:ln xmlns:a="http://schemas.openxmlformats.org/drawingml/2006/main" w="9525">
            <a:solidFill>
              <a:srgbClr val="E5EAF0"/>
            </a:solidFill>
            <a:prstDash val="solid"/>
          </a:ln>
        </p:spPr>
      </p:sp>
      <p:sp>
        <p:nvSpPr>
          <p:cNvPr id="137" name="product-mutual-selection-return-label">
            <a:extLst xmlns:a="http://schemas.openxmlformats.org/drawingml/2006/main">
              <a:ext uri="{FF2B5EF4-FFF2-40B4-BE49-F238E27FC236}">
                <a16:creationId xmlns:a16="http://schemas.microsoft.com/office/drawing/2014/main" id="{DAC024E5-AC1B-406E-B259-597FB5F7CBCA}"/>
              </a:ext>
            </a:extLst>
          </p:cNvPr>
          <p:cNvSpPr>
            <a:spLocks xmlns:a="http://schemas.openxmlformats.org/drawingml/2006/main" noGrp="1"/>
          </p:cNvSpPr>
          <p:nvPr/>
        </p:nvSpPr>
        <p:spPr>
          <a:xfrm xmlns:a="http://schemas.openxmlformats.org/drawingml/2006/main">
            <a:off x="8372475" y="3105150"/>
            <a:ext cx="1447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15">
                <a:solidFill>
                  <a:srgbClr val="667085"/>
                </a:solidFill>
                <a:latin typeface="STHeiti"/>
                <a:ea typeface="STHeiti"/>
                <a:cs typeface="STHeiti"/>
              </a:defRPr>
            </a:pPr>
            <a:r>
              <a:rPr sz="915">
                <a:solidFill>
                  <a:srgbClr val="667085"/>
                </a:solidFill>
                <a:latin typeface="STHeiti"/>
                <a:ea typeface="STHeiti"/>
                <a:cs typeface="STHeiti"/>
              </a:rPr>
              <a:t>近1年收益</a:t>
            </a:r>
          </a:p>
        </p:txBody>
      </p:sp>
      <p:sp>
        <p:nvSpPr>
          <p:cNvPr id="138" name="product-mutual-selection-return-value">
            <a:extLst xmlns:a="http://schemas.openxmlformats.org/drawingml/2006/main">
              <a:ext uri="{FF2B5EF4-FFF2-40B4-BE49-F238E27FC236}">
                <a16:creationId xmlns:a16="http://schemas.microsoft.com/office/drawing/2014/main" id="{101E3038-6065-4D54-A30B-860ED6CF524B}"/>
              </a:ext>
            </a:extLst>
          </p:cNvPr>
          <p:cNvSpPr>
            <a:spLocks xmlns:a="http://schemas.openxmlformats.org/drawingml/2006/main" noGrp="1"/>
          </p:cNvSpPr>
          <p:nvPr/>
        </p:nvSpPr>
        <p:spPr>
          <a:xfrm xmlns:a="http://schemas.openxmlformats.org/drawingml/2006/main">
            <a:off x="8372475" y="3276600"/>
            <a:ext cx="1447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909"/>
          </a:bodyPr>
          <a:lstStyle xmlns:a="http://schemas.openxmlformats.org/drawingml/2006/main"/>
          <a:p xmlns:a="http://schemas.openxmlformats.org/drawingml/2006/main">
            <a:pPr algn="ctr">
              <a:defRPr sz="1650" b="1">
                <a:solidFill>
                  <a:srgbClr val="F59E0B"/>
                </a:solidFill>
                <a:latin typeface="STHeiti"/>
                <a:ea typeface="STHeiti"/>
                <a:cs typeface="STHeiti"/>
              </a:defRPr>
            </a:pPr>
            <a:r>
              <a:rPr sz="1650" b="1">
                <a:solidFill>
                  <a:srgbClr val="F59E0B"/>
                </a:solidFill>
                <a:latin typeface="STHeiti"/>
                <a:ea typeface="STHeiti"/>
                <a:cs typeface="STHeiti"/>
              </a:rPr>
              <a:t>-15.2%</a:t>
            </a:r>
          </a:p>
        </p:txBody>
      </p:sp>
      <p:sp>
        <p:nvSpPr>
          <p:cNvPr id="139" name="product-mutual-selection-drawdown-box">
            <a:extLst xmlns:a="http://schemas.openxmlformats.org/drawingml/2006/main">
              <a:ext uri="{FF2B5EF4-FFF2-40B4-BE49-F238E27FC236}">
                <a16:creationId xmlns:a16="http://schemas.microsoft.com/office/drawing/2014/main" id="{D10BAD94-7130-4427-B0EB-2FCCCDCF5569}"/>
              </a:ext>
            </a:extLst>
          </p:cNvPr>
          <p:cNvSpPr>
            <a:spLocks xmlns:a="http://schemas.openxmlformats.org/drawingml/2006/main" noGrp="1"/>
          </p:cNvSpPr>
          <p:nvPr/>
        </p:nvSpPr>
        <p:spPr>
          <a:xfrm xmlns:a="http://schemas.openxmlformats.org/drawingml/2006/main">
            <a:off x="10001250" y="3038475"/>
            <a:ext cx="1581150" cy="514350"/>
          </a:xfrm>
          <a:prstGeom xmlns:a="http://schemas.openxmlformats.org/drawingml/2006/main" prst="roundRect">
            <a:avLst>
              <a:gd name="adj" fmla="val 14815"/>
            </a:avLst>
          </a:prstGeom>
          <a:solidFill xmlns:a="http://schemas.openxmlformats.org/drawingml/2006/main">
            <a:srgbClr val="F7F9FC"/>
          </a:solidFill>
          <a:ln xmlns:a="http://schemas.openxmlformats.org/drawingml/2006/main" w="9525">
            <a:solidFill>
              <a:srgbClr val="E5EAF0"/>
            </a:solidFill>
            <a:prstDash val="solid"/>
          </a:ln>
        </p:spPr>
      </p:sp>
      <p:sp>
        <p:nvSpPr>
          <p:cNvPr id="140" name="product-mutual-selection-drawdown-label">
            <a:extLst xmlns:a="http://schemas.openxmlformats.org/drawingml/2006/main">
              <a:ext uri="{FF2B5EF4-FFF2-40B4-BE49-F238E27FC236}">
                <a16:creationId xmlns:a16="http://schemas.microsoft.com/office/drawing/2014/main" id="{F62B5BD5-26D2-4D70-BC79-3959F04854FD}"/>
              </a:ext>
            </a:extLst>
          </p:cNvPr>
          <p:cNvSpPr>
            <a:spLocks xmlns:a="http://schemas.openxmlformats.org/drawingml/2006/main" noGrp="1"/>
          </p:cNvSpPr>
          <p:nvPr/>
        </p:nvSpPr>
        <p:spPr>
          <a:xfrm xmlns:a="http://schemas.openxmlformats.org/drawingml/2006/main">
            <a:off x="10067925" y="3105150"/>
            <a:ext cx="1447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15">
                <a:solidFill>
                  <a:srgbClr val="667085"/>
                </a:solidFill>
                <a:latin typeface="STHeiti"/>
                <a:ea typeface="STHeiti"/>
                <a:cs typeface="STHeiti"/>
              </a:defRPr>
            </a:pPr>
            <a:r>
              <a:rPr sz="915">
                <a:solidFill>
                  <a:srgbClr val="667085"/>
                </a:solidFill>
                <a:latin typeface="STHeiti"/>
                <a:ea typeface="STHeiti"/>
                <a:cs typeface="STHeiti"/>
              </a:rPr>
              <a:t>近1年最大回撤</a:t>
            </a:r>
          </a:p>
        </p:txBody>
      </p:sp>
      <p:sp>
        <p:nvSpPr>
          <p:cNvPr id="141" name="product-mutual-selection-drawdown-value">
            <a:extLst xmlns:a="http://schemas.openxmlformats.org/drawingml/2006/main">
              <a:ext uri="{FF2B5EF4-FFF2-40B4-BE49-F238E27FC236}">
                <a16:creationId xmlns:a16="http://schemas.microsoft.com/office/drawing/2014/main" id="{A186DF40-59F0-4FD0-89AE-3A123EA45CAC}"/>
              </a:ext>
            </a:extLst>
          </p:cNvPr>
          <p:cNvSpPr>
            <a:spLocks xmlns:a="http://schemas.openxmlformats.org/drawingml/2006/main" noGrp="1"/>
          </p:cNvSpPr>
          <p:nvPr/>
        </p:nvSpPr>
        <p:spPr>
          <a:xfrm xmlns:a="http://schemas.openxmlformats.org/drawingml/2006/main">
            <a:off x="10067925" y="3276600"/>
            <a:ext cx="1447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909"/>
          </a:bodyPr>
          <a:lstStyle xmlns:a="http://schemas.openxmlformats.org/drawingml/2006/main"/>
          <a:p xmlns:a="http://schemas.openxmlformats.org/drawingml/2006/main">
            <a:pPr algn="ctr">
              <a:defRPr sz="1650" b="1">
                <a:solidFill>
                  <a:srgbClr val="F59E0B"/>
                </a:solidFill>
                <a:latin typeface="STHeiti"/>
                <a:ea typeface="STHeiti"/>
                <a:cs typeface="STHeiti"/>
              </a:defRPr>
            </a:pPr>
            <a:r>
              <a:rPr sz="1650" b="1">
                <a:solidFill>
                  <a:srgbClr val="F59E0B"/>
                </a:solidFill>
                <a:latin typeface="STHeiti"/>
                <a:ea typeface="STHeiti"/>
                <a:cs typeface="STHeiti"/>
              </a:rPr>
              <a:t>35.7%</a:t>
            </a:r>
          </a:p>
        </p:txBody>
      </p:sp>
      <p:sp>
        <p:nvSpPr>
          <p:cNvPr id="142" name="product-mutual-selection-allocation-title">
            <a:extLst xmlns:a="http://schemas.openxmlformats.org/drawingml/2006/main">
              <a:ext uri="{FF2B5EF4-FFF2-40B4-BE49-F238E27FC236}">
                <a16:creationId xmlns:a16="http://schemas.microsoft.com/office/drawing/2014/main" id="{BE0EE979-73A8-423F-9BDF-4BFE1D9E7C83}"/>
              </a:ext>
            </a:extLst>
          </p:cNvPr>
          <p:cNvSpPr>
            <a:spLocks xmlns:a="http://schemas.openxmlformats.org/drawingml/2006/main" noGrp="1"/>
          </p:cNvSpPr>
          <p:nvPr/>
        </p:nvSpPr>
        <p:spPr>
          <a:xfrm xmlns:a="http://schemas.openxmlformats.org/drawingml/2006/main">
            <a:off x="8305800" y="3619500"/>
            <a:ext cx="3276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960" b="1">
                <a:solidFill>
                  <a:srgbClr val="344054"/>
                </a:solidFill>
                <a:latin typeface="STHeiti"/>
                <a:ea typeface="STHeiti"/>
                <a:cs typeface="STHeiti"/>
              </a:defRPr>
            </a:pPr>
            <a:r>
              <a:rPr sz="960" b="1">
                <a:solidFill>
                  <a:srgbClr val="344054"/>
                </a:solidFill>
                <a:latin typeface="STHeiti"/>
                <a:ea typeface="STHeiti"/>
                <a:cs typeface="STHeiti"/>
              </a:rPr>
              <a:t>前十大医药内部细分占比</a:t>
            </a:r>
          </a:p>
        </p:txBody>
      </p:sp>
      <p:sp>
        <p:nvSpPr>
          <p:cNvPr id="143" name="product-mutual-selection-allocation-1-label">
            <a:extLst xmlns:a="http://schemas.openxmlformats.org/drawingml/2006/main">
              <a:ext uri="{FF2B5EF4-FFF2-40B4-BE49-F238E27FC236}">
                <a16:creationId xmlns:a16="http://schemas.microsoft.com/office/drawing/2014/main" id="{0EA3C8FF-4950-4C78-BF7B-B5492DA811D8}"/>
              </a:ext>
            </a:extLst>
          </p:cNvPr>
          <p:cNvSpPr>
            <a:spLocks xmlns:a="http://schemas.openxmlformats.org/drawingml/2006/main" noGrp="1"/>
          </p:cNvSpPr>
          <p:nvPr/>
        </p:nvSpPr>
        <p:spPr>
          <a:xfrm xmlns:a="http://schemas.openxmlformats.org/drawingml/2006/main">
            <a:off x="8305800" y="3905250"/>
            <a:ext cx="685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878" b="1">
                <a:solidFill>
                  <a:srgbClr val="344054"/>
                </a:solidFill>
                <a:latin typeface="STHeiti"/>
                <a:ea typeface="STHeiti"/>
                <a:cs typeface="STHeiti"/>
              </a:defRPr>
            </a:pPr>
            <a:r>
              <a:rPr sz="878" b="1">
                <a:solidFill>
                  <a:srgbClr val="344054"/>
                </a:solidFill>
                <a:latin typeface="STHeiti"/>
                <a:ea typeface="STHeiti"/>
                <a:cs typeface="STHeiti"/>
              </a:rPr>
              <a:t>创新药</a:t>
            </a:r>
          </a:p>
        </p:txBody>
      </p:sp>
      <p:sp>
        <p:nvSpPr>
          <p:cNvPr id="144" name="product-mutual-selection-allocation-1-track">
            <a:extLst xmlns:a="http://schemas.openxmlformats.org/drawingml/2006/main">
              <a:ext uri="{FF2B5EF4-FFF2-40B4-BE49-F238E27FC236}">
                <a16:creationId xmlns:a16="http://schemas.microsoft.com/office/drawing/2014/main" id="{5077A0BD-6688-47ED-A823-D8833339BFB1}"/>
              </a:ext>
            </a:extLst>
          </p:cNvPr>
          <p:cNvSpPr>
            <a:spLocks xmlns:a="http://schemas.openxmlformats.org/drawingml/2006/main" noGrp="1"/>
          </p:cNvSpPr>
          <p:nvPr/>
        </p:nvSpPr>
        <p:spPr>
          <a:xfrm xmlns:a="http://schemas.openxmlformats.org/drawingml/2006/main">
            <a:off x="9029700" y="3952875"/>
            <a:ext cx="1676400" cy="66675"/>
          </a:xfrm>
          <a:prstGeom xmlns:a="http://schemas.openxmlformats.org/drawingml/2006/main" prst="roundRect">
            <a:avLst>
              <a:gd name="adj" fmla="val 50000"/>
            </a:avLst>
          </a:prstGeom>
          <a:solidFill xmlns:a="http://schemas.openxmlformats.org/drawingml/2006/main">
            <a:srgbClr val="E9EEF4"/>
          </a:solidFill>
          <a:ln xmlns:a="http://schemas.openxmlformats.org/drawingml/2006/main" w="0">
            <a:noFill/>
            <a:prstDash val="solid"/>
          </a:ln>
        </p:spPr>
      </p:sp>
      <p:sp>
        <p:nvSpPr>
          <p:cNvPr id="145" name="product-mutual-selection-allocation-1-fill">
            <a:extLst xmlns:a="http://schemas.openxmlformats.org/drawingml/2006/main">
              <a:ext uri="{FF2B5EF4-FFF2-40B4-BE49-F238E27FC236}">
                <a16:creationId xmlns:a16="http://schemas.microsoft.com/office/drawing/2014/main" id="{A408998E-2BEC-48AE-A389-3DF81AABA37D}"/>
              </a:ext>
            </a:extLst>
          </p:cNvPr>
          <p:cNvSpPr>
            <a:spLocks xmlns:a="http://schemas.openxmlformats.org/drawingml/2006/main" noGrp="1"/>
          </p:cNvSpPr>
          <p:nvPr/>
        </p:nvSpPr>
        <p:spPr>
          <a:xfrm xmlns:a="http://schemas.openxmlformats.org/drawingml/2006/main">
            <a:off x="9029700" y="3952875"/>
            <a:ext cx="1530553" cy="66675"/>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prstDash val="solid"/>
          </a:ln>
        </p:spPr>
      </p:sp>
      <p:sp>
        <p:nvSpPr>
          <p:cNvPr id="146" name="product-mutual-selection-allocation-1-value">
            <a:extLst xmlns:a="http://schemas.openxmlformats.org/drawingml/2006/main">
              <a:ext uri="{FF2B5EF4-FFF2-40B4-BE49-F238E27FC236}">
                <a16:creationId xmlns:a16="http://schemas.microsoft.com/office/drawing/2014/main" id="{3439E701-398A-4778-AD85-609000C58730}"/>
              </a:ext>
            </a:extLst>
          </p:cNvPr>
          <p:cNvSpPr>
            <a:spLocks xmlns:a="http://schemas.openxmlformats.org/drawingml/2006/main" noGrp="1"/>
          </p:cNvSpPr>
          <p:nvPr/>
        </p:nvSpPr>
        <p:spPr>
          <a:xfrm xmlns:a="http://schemas.openxmlformats.org/drawingml/2006/main">
            <a:off x="10782300" y="3905250"/>
            <a:ext cx="647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878" b="1">
                <a:solidFill>
                  <a:srgbClr val="F59E0B"/>
                </a:solidFill>
                <a:latin typeface="STHeiti"/>
                <a:ea typeface="STHeiti"/>
                <a:cs typeface="STHeiti"/>
              </a:defRPr>
            </a:pPr>
            <a:r>
              <a:rPr sz="878" b="1">
                <a:solidFill>
                  <a:srgbClr val="F59E0B"/>
                </a:solidFill>
                <a:latin typeface="STHeiti"/>
                <a:ea typeface="STHeiti"/>
                <a:cs typeface="STHeiti"/>
              </a:rPr>
              <a:t>91.3%</a:t>
            </a:r>
          </a:p>
        </p:txBody>
      </p:sp>
      <p:sp>
        <p:nvSpPr>
          <p:cNvPr id="147" name="product-mutual-selection-allocation-2-label">
            <a:extLst xmlns:a="http://schemas.openxmlformats.org/drawingml/2006/main">
              <a:ext uri="{FF2B5EF4-FFF2-40B4-BE49-F238E27FC236}">
                <a16:creationId xmlns:a16="http://schemas.microsoft.com/office/drawing/2014/main" id="{189B0BAC-60F6-413B-8625-9BBE81352DFC}"/>
              </a:ext>
            </a:extLst>
          </p:cNvPr>
          <p:cNvSpPr>
            <a:spLocks xmlns:a="http://schemas.openxmlformats.org/drawingml/2006/main" noGrp="1"/>
          </p:cNvSpPr>
          <p:nvPr/>
        </p:nvSpPr>
        <p:spPr>
          <a:xfrm xmlns:a="http://schemas.openxmlformats.org/drawingml/2006/main">
            <a:off x="8305800" y="4095750"/>
            <a:ext cx="685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878" b="1">
                <a:solidFill>
                  <a:srgbClr val="344054"/>
                </a:solidFill>
                <a:latin typeface="STHeiti"/>
                <a:ea typeface="STHeiti"/>
                <a:cs typeface="STHeiti"/>
              </a:defRPr>
            </a:pPr>
            <a:r>
              <a:rPr sz="878" b="1">
                <a:solidFill>
                  <a:srgbClr val="344054"/>
                </a:solidFill>
                <a:latin typeface="STHeiti"/>
                <a:ea typeface="STHeiti"/>
                <a:cs typeface="STHeiti"/>
              </a:rPr>
              <a:t>综合制药</a:t>
            </a:r>
          </a:p>
        </p:txBody>
      </p:sp>
      <p:sp>
        <p:nvSpPr>
          <p:cNvPr id="148" name="product-mutual-selection-allocation-2-track">
            <a:extLst xmlns:a="http://schemas.openxmlformats.org/drawingml/2006/main">
              <a:ext uri="{FF2B5EF4-FFF2-40B4-BE49-F238E27FC236}">
                <a16:creationId xmlns:a16="http://schemas.microsoft.com/office/drawing/2014/main" id="{7879BCB1-8BEC-4865-AC59-BA7B27BA6A50}"/>
              </a:ext>
            </a:extLst>
          </p:cNvPr>
          <p:cNvSpPr>
            <a:spLocks xmlns:a="http://schemas.openxmlformats.org/drawingml/2006/main" noGrp="1"/>
          </p:cNvSpPr>
          <p:nvPr/>
        </p:nvSpPr>
        <p:spPr>
          <a:xfrm xmlns:a="http://schemas.openxmlformats.org/drawingml/2006/main">
            <a:off x="9029700" y="4143375"/>
            <a:ext cx="1676400" cy="66675"/>
          </a:xfrm>
          <a:prstGeom xmlns:a="http://schemas.openxmlformats.org/drawingml/2006/main" prst="roundRect">
            <a:avLst>
              <a:gd name="adj" fmla="val 50000"/>
            </a:avLst>
          </a:prstGeom>
          <a:solidFill xmlns:a="http://schemas.openxmlformats.org/drawingml/2006/main">
            <a:srgbClr val="E9EEF4"/>
          </a:solidFill>
          <a:ln xmlns:a="http://schemas.openxmlformats.org/drawingml/2006/main" w="0">
            <a:noFill/>
            <a:prstDash val="solid"/>
          </a:ln>
        </p:spPr>
      </p:sp>
      <p:sp>
        <p:nvSpPr>
          <p:cNvPr id="149" name="product-mutual-selection-allocation-2-fill">
            <a:extLst xmlns:a="http://schemas.openxmlformats.org/drawingml/2006/main">
              <a:ext uri="{FF2B5EF4-FFF2-40B4-BE49-F238E27FC236}">
                <a16:creationId xmlns:a16="http://schemas.microsoft.com/office/drawing/2014/main" id="{BC79A7DE-B9F3-4EA7-AC6E-4893A5558B29}"/>
              </a:ext>
            </a:extLst>
          </p:cNvPr>
          <p:cNvSpPr>
            <a:spLocks xmlns:a="http://schemas.openxmlformats.org/drawingml/2006/main" noGrp="1"/>
          </p:cNvSpPr>
          <p:nvPr/>
        </p:nvSpPr>
        <p:spPr>
          <a:xfrm xmlns:a="http://schemas.openxmlformats.org/drawingml/2006/main">
            <a:off x="9029700" y="4143375"/>
            <a:ext cx="145847" cy="66675"/>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prstDash val="solid"/>
          </a:ln>
        </p:spPr>
      </p:sp>
      <p:sp>
        <p:nvSpPr>
          <p:cNvPr id="150" name="product-mutual-selection-allocation-2-value">
            <a:extLst xmlns:a="http://schemas.openxmlformats.org/drawingml/2006/main">
              <a:ext uri="{FF2B5EF4-FFF2-40B4-BE49-F238E27FC236}">
                <a16:creationId xmlns:a16="http://schemas.microsoft.com/office/drawing/2014/main" id="{C1A45115-45F3-4DA2-8636-3229FAB2ADBD}"/>
              </a:ext>
            </a:extLst>
          </p:cNvPr>
          <p:cNvSpPr>
            <a:spLocks xmlns:a="http://schemas.openxmlformats.org/drawingml/2006/main" noGrp="1"/>
          </p:cNvSpPr>
          <p:nvPr/>
        </p:nvSpPr>
        <p:spPr>
          <a:xfrm xmlns:a="http://schemas.openxmlformats.org/drawingml/2006/main">
            <a:off x="10782300" y="4095750"/>
            <a:ext cx="647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878" b="1">
                <a:solidFill>
                  <a:srgbClr val="F59E0B"/>
                </a:solidFill>
                <a:latin typeface="STHeiti"/>
                <a:ea typeface="STHeiti"/>
                <a:cs typeface="STHeiti"/>
              </a:defRPr>
            </a:pPr>
            <a:r>
              <a:rPr sz="878" b="1">
                <a:solidFill>
                  <a:srgbClr val="F59E0B"/>
                </a:solidFill>
                <a:latin typeface="STHeiti"/>
                <a:ea typeface="STHeiti"/>
                <a:cs typeface="STHeiti"/>
              </a:rPr>
              <a:t>8.7%</a:t>
            </a:r>
          </a:p>
        </p:txBody>
      </p:sp>
      <p:sp>
        <p:nvSpPr>
          <p:cNvPr id="151" name="product-mutual-selection-holding-rule">
            <a:extLst xmlns:a="http://schemas.openxmlformats.org/drawingml/2006/main">
              <a:ext uri="{FF2B5EF4-FFF2-40B4-BE49-F238E27FC236}">
                <a16:creationId xmlns:a16="http://schemas.microsoft.com/office/drawing/2014/main" id="{7E157BC1-6A7B-4BD6-A693-6825D80D0707}"/>
              </a:ext>
            </a:extLst>
          </p:cNvPr>
          <p:cNvSpPr>
            <a:spLocks xmlns:a="http://schemas.openxmlformats.org/drawingml/2006/main" noGrp="1"/>
          </p:cNvSpPr>
          <p:nvPr/>
        </p:nvSpPr>
        <p:spPr>
          <a:xfrm xmlns:a="http://schemas.openxmlformats.org/drawingml/2006/main">
            <a:off x="8305800" y="4391025"/>
            <a:ext cx="3276600" cy="9525"/>
          </a:xfrm>
          <a:prstGeom xmlns:a="http://schemas.openxmlformats.org/drawingml/2006/main" prst="rect">
            <a:avLst/>
          </a:prstGeom>
          <a:solidFill xmlns:a="http://schemas.openxmlformats.org/drawingml/2006/main">
            <a:srgbClr val="E5EAF0"/>
          </a:solidFill>
          <a:ln xmlns:a="http://schemas.openxmlformats.org/drawingml/2006/main" w="0">
            <a:noFill/>
            <a:prstDash val="solid"/>
          </a:ln>
        </p:spPr>
      </p:sp>
      <p:sp>
        <p:nvSpPr>
          <p:cNvPr id="152" name="product-mutual-selection-holding-title">
            <a:extLst xmlns:a="http://schemas.openxmlformats.org/drawingml/2006/main">
              <a:ext uri="{FF2B5EF4-FFF2-40B4-BE49-F238E27FC236}">
                <a16:creationId xmlns:a16="http://schemas.microsoft.com/office/drawing/2014/main" id="{CADFFF6C-A73A-43F1-88F9-2D8580A068BB}"/>
              </a:ext>
            </a:extLst>
          </p:cNvPr>
          <p:cNvSpPr>
            <a:spLocks xmlns:a="http://schemas.openxmlformats.org/drawingml/2006/main" noGrp="1"/>
          </p:cNvSpPr>
          <p:nvPr/>
        </p:nvSpPr>
        <p:spPr>
          <a:xfrm xmlns:a="http://schemas.openxmlformats.org/drawingml/2006/main">
            <a:off x="8305800" y="44577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960" b="1">
                <a:solidFill>
                  <a:srgbClr val="344054"/>
                </a:solidFill>
                <a:latin typeface="STHeiti"/>
                <a:ea typeface="STHeiti"/>
                <a:cs typeface="STHeiti"/>
              </a:defRPr>
            </a:pPr>
            <a:r>
              <a:rPr sz="960" b="1">
                <a:solidFill>
                  <a:srgbClr val="344054"/>
                </a:solidFill>
                <a:latin typeface="STHeiti"/>
                <a:ea typeface="STHeiti"/>
                <a:cs typeface="STHeiti"/>
              </a:rPr>
              <a:t>前十大持仓</a:t>
            </a:r>
          </a:p>
        </p:txBody>
      </p:sp>
      <p:sp>
        <p:nvSpPr>
          <p:cNvPr id="153" name="product-mutual-selection-holding-total">
            <a:extLst xmlns:a="http://schemas.openxmlformats.org/drawingml/2006/main">
              <a:ext uri="{FF2B5EF4-FFF2-40B4-BE49-F238E27FC236}">
                <a16:creationId xmlns:a16="http://schemas.microsoft.com/office/drawing/2014/main" id="{C040B045-9CE3-4E99-987D-3159F964DF01}"/>
              </a:ext>
            </a:extLst>
          </p:cNvPr>
          <p:cNvSpPr>
            <a:spLocks xmlns:a="http://schemas.openxmlformats.org/drawingml/2006/main" noGrp="1"/>
          </p:cNvSpPr>
          <p:nvPr/>
        </p:nvSpPr>
        <p:spPr>
          <a:xfrm xmlns:a="http://schemas.openxmlformats.org/drawingml/2006/main">
            <a:off x="10172700" y="4448175"/>
            <a:ext cx="1409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013" b="1">
                <a:solidFill>
                  <a:srgbClr val="F59E0B"/>
                </a:solidFill>
                <a:latin typeface="STHeiti"/>
                <a:ea typeface="STHeiti"/>
                <a:cs typeface="STHeiti"/>
              </a:defRPr>
            </a:pPr>
            <a:r>
              <a:rPr sz="1013" b="1">
                <a:solidFill>
                  <a:srgbClr val="F59E0B"/>
                </a:solidFill>
                <a:latin typeface="STHeiti"/>
                <a:ea typeface="STHeiti"/>
                <a:cs typeface="STHeiti"/>
              </a:rPr>
              <a:t>合计 69.8%</a:t>
            </a:r>
          </a:p>
        </p:txBody>
      </p:sp>
      <p:sp>
        <p:nvSpPr>
          <p:cNvPr id="154" name="product-mutual-selection-holding-divider">
            <a:extLst xmlns:a="http://schemas.openxmlformats.org/drawingml/2006/main">
              <a:ext uri="{FF2B5EF4-FFF2-40B4-BE49-F238E27FC236}">
                <a16:creationId xmlns:a16="http://schemas.microsoft.com/office/drawing/2014/main" id="{74D95512-F224-47B9-941A-F75F777383E0}"/>
              </a:ext>
            </a:extLst>
          </p:cNvPr>
          <p:cNvSpPr>
            <a:spLocks xmlns:a="http://schemas.openxmlformats.org/drawingml/2006/main" noGrp="1"/>
          </p:cNvSpPr>
          <p:nvPr/>
        </p:nvSpPr>
        <p:spPr>
          <a:xfrm xmlns:a="http://schemas.openxmlformats.org/drawingml/2006/main">
            <a:off x="9906000" y="4686300"/>
            <a:ext cx="9525" cy="800100"/>
          </a:xfrm>
          <a:prstGeom xmlns:a="http://schemas.openxmlformats.org/drawingml/2006/main" prst="rect">
            <a:avLst/>
          </a:prstGeom>
          <a:solidFill xmlns:a="http://schemas.openxmlformats.org/drawingml/2006/main">
            <a:srgbClr val="EEF1F5"/>
          </a:solidFill>
          <a:ln xmlns:a="http://schemas.openxmlformats.org/drawingml/2006/main" w="0">
            <a:noFill/>
            <a:prstDash val="solid"/>
          </a:ln>
        </p:spPr>
      </p:sp>
      <p:sp>
        <p:nvSpPr>
          <p:cNvPr id="155" name="product-mutual-selection-holding-1-name">
            <a:extLst xmlns:a="http://schemas.openxmlformats.org/drawingml/2006/main">
              <a:ext uri="{FF2B5EF4-FFF2-40B4-BE49-F238E27FC236}">
                <a16:creationId xmlns:a16="http://schemas.microsoft.com/office/drawing/2014/main" id="{98647F5D-1CFC-4A4A-9441-AD26F7F7418E}"/>
              </a:ext>
            </a:extLst>
          </p:cNvPr>
          <p:cNvSpPr>
            <a:spLocks xmlns:a="http://schemas.openxmlformats.org/drawingml/2006/main" noGrp="1"/>
          </p:cNvSpPr>
          <p:nvPr/>
        </p:nvSpPr>
        <p:spPr>
          <a:xfrm xmlns:a="http://schemas.openxmlformats.org/drawingml/2006/main">
            <a:off x="8305800" y="468630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1. 泽璟制药</a:t>
            </a:r>
          </a:p>
        </p:txBody>
      </p:sp>
      <p:sp>
        <p:nvSpPr>
          <p:cNvPr id="156" name="product-mutual-selection-holding-1-value">
            <a:extLst xmlns:a="http://schemas.openxmlformats.org/drawingml/2006/main">
              <a:ext uri="{FF2B5EF4-FFF2-40B4-BE49-F238E27FC236}">
                <a16:creationId xmlns:a16="http://schemas.microsoft.com/office/drawing/2014/main" id="{428D429A-4B7C-4C1C-8E62-C26C496B4B46}"/>
              </a:ext>
            </a:extLst>
          </p:cNvPr>
          <p:cNvSpPr>
            <a:spLocks xmlns:a="http://schemas.openxmlformats.org/drawingml/2006/main" noGrp="1"/>
          </p:cNvSpPr>
          <p:nvPr/>
        </p:nvSpPr>
        <p:spPr>
          <a:xfrm xmlns:a="http://schemas.openxmlformats.org/drawingml/2006/main">
            <a:off x="9410700" y="46863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F59E0B"/>
                </a:solidFill>
                <a:latin typeface="STHeiti"/>
                <a:ea typeface="STHeiti"/>
                <a:cs typeface="STHeiti"/>
              </a:defRPr>
            </a:pPr>
            <a:r>
              <a:rPr sz="788" b="1">
                <a:solidFill>
                  <a:srgbClr val="F59E0B"/>
                </a:solidFill>
                <a:latin typeface="STHeiti"/>
                <a:ea typeface="STHeiti"/>
                <a:cs typeface="STHeiti"/>
              </a:rPr>
              <a:t>9.9%</a:t>
            </a:r>
          </a:p>
        </p:txBody>
      </p:sp>
      <p:sp>
        <p:nvSpPr>
          <p:cNvPr id="157" name="product-mutual-selection-holding-2-name">
            <a:extLst xmlns:a="http://schemas.openxmlformats.org/drawingml/2006/main">
              <a:ext uri="{FF2B5EF4-FFF2-40B4-BE49-F238E27FC236}">
                <a16:creationId xmlns:a16="http://schemas.microsoft.com/office/drawing/2014/main" id="{042A3331-C8E5-48DE-89C9-2AF82E01C505}"/>
              </a:ext>
            </a:extLst>
          </p:cNvPr>
          <p:cNvSpPr>
            <a:spLocks xmlns:a="http://schemas.openxmlformats.org/drawingml/2006/main" noGrp="1"/>
          </p:cNvSpPr>
          <p:nvPr/>
        </p:nvSpPr>
        <p:spPr>
          <a:xfrm xmlns:a="http://schemas.openxmlformats.org/drawingml/2006/main">
            <a:off x="8305800" y="485775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2. 科伦博泰生物</a:t>
            </a:r>
          </a:p>
        </p:txBody>
      </p:sp>
      <p:sp>
        <p:nvSpPr>
          <p:cNvPr id="158" name="product-mutual-selection-holding-2-value">
            <a:extLst xmlns:a="http://schemas.openxmlformats.org/drawingml/2006/main">
              <a:ext uri="{FF2B5EF4-FFF2-40B4-BE49-F238E27FC236}">
                <a16:creationId xmlns:a16="http://schemas.microsoft.com/office/drawing/2014/main" id="{FC3749B8-D2AF-40D1-8734-188BCC9A8FE2}"/>
              </a:ext>
            </a:extLst>
          </p:cNvPr>
          <p:cNvSpPr>
            <a:spLocks xmlns:a="http://schemas.openxmlformats.org/drawingml/2006/main" noGrp="1"/>
          </p:cNvSpPr>
          <p:nvPr/>
        </p:nvSpPr>
        <p:spPr>
          <a:xfrm xmlns:a="http://schemas.openxmlformats.org/drawingml/2006/main">
            <a:off x="9410700" y="485775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F59E0B"/>
                </a:solidFill>
                <a:latin typeface="STHeiti"/>
                <a:ea typeface="STHeiti"/>
                <a:cs typeface="STHeiti"/>
              </a:defRPr>
            </a:pPr>
            <a:r>
              <a:rPr sz="788" b="1">
                <a:solidFill>
                  <a:srgbClr val="F59E0B"/>
                </a:solidFill>
                <a:latin typeface="STHeiti"/>
                <a:ea typeface="STHeiti"/>
                <a:cs typeface="STHeiti"/>
              </a:rPr>
              <a:t>9.9%</a:t>
            </a:r>
          </a:p>
        </p:txBody>
      </p:sp>
      <p:sp>
        <p:nvSpPr>
          <p:cNvPr id="159" name="product-mutual-selection-holding-3-name">
            <a:extLst xmlns:a="http://schemas.openxmlformats.org/drawingml/2006/main">
              <a:ext uri="{FF2B5EF4-FFF2-40B4-BE49-F238E27FC236}">
                <a16:creationId xmlns:a16="http://schemas.microsoft.com/office/drawing/2014/main" id="{033A775D-DD61-4CA2-9231-5BD499428901}"/>
              </a:ext>
            </a:extLst>
          </p:cNvPr>
          <p:cNvSpPr>
            <a:spLocks xmlns:a="http://schemas.openxmlformats.org/drawingml/2006/main" noGrp="1"/>
          </p:cNvSpPr>
          <p:nvPr/>
        </p:nvSpPr>
        <p:spPr>
          <a:xfrm xmlns:a="http://schemas.openxmlformats.org/drawingml/2006/main">
            <a:off x="8305800" y="502920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3. 信达生物</a:t>
            </a:r>
          </a:p>
        </p:txBody>
      </p:sp>
      <p:sp>
        <p:nvSpPr>
          <p:cNvPr id="160" name="product-mutual-selection-holding-3-value">
            <a:extLst xmlns:a="http://schemas.openxmlformats.org/drawingml/2006/main">
              <a:ext uri="{FF2B5EF4-FFF2-40B4-BE49-F238E27FC236}">
                <a16:creationId xmlns:a16="http://schemas.microsoft.com/office/drawing/2014/main" id="{32F9F34B-F191-4E13-85AB-9EFCBDCA9E63}"/>
              </a:ext>
            </a:extLst>
          </p:cNvPr>
          <p:cNvSpPr>
            <a:spLocks xmlns:a="http://schemas.openxmlformats.org/drawingml/2006/main" noGrp="1"/>
          </p:cNvSpPr>
          <p:nvPr/>
        </p:nvSpPr>
        <p:spPr>
          <a:xfrm xmlns:a="http://schemas.openxmlformats.org/drawingml/2006/main">
            <a:off x="9410700" y="50292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F59E0B"/>
                </a:solidFill>
                <a:latin typeface="STHeiti"/>
                <a:ea typeface="STHeiti"/>
                <a:cs typeface="STHeiti"/>
              </a:defRPr>
            </a:pPr>
            <a:r>
              <a:rPr sz="788" b="1">
                <a:solidFill>
                  <a:srgbClr val="F59E0B"/>
                </a:solidFill>
                <a:latin typeface="STHeiti"/>
                <a:ea typeface="STHeiti"/>
                <a:cs typeface="STHeiti"/>
              </a:rPr>
              <a:t>9.7%</a:t>
            </a:r>
          </a:p>
        </p:txBody>
      </p:sp>
      <p:sp>
        <p:nvSpPr>
          <p:cNvPr id="161" name="product-mutual-selection-holding-4-name">
            <a:extLst xmlns:a="http://schemas.openxmlformats.org/drawingml/2006/main">
              <a:ext uri="{FF2B5EF4-FFF2-40B4-BE49-F238E27FC236}">
                <a16:creationId xmlns:a16="http://schemas.microsoft.com/office/drawing/2014/main" id="{9D0AFB61-87AC-4AD2-BDFF-C796D85ADD0D}"/>
              </a:ext>
            </a:extLst>
          </p:cNvPr>
          <p:cNvSpPr>
            <a:spLocks xmlns:a="http://schemas.openxmlformats.org/drawingml/2006/main" noGrp="1"/>
          </p:cNvSpPr>
          <p:nvPr/>
        </p:nvSpPr>
        <p:spPr>
          <a:xfrm xmlns:a="http://schemas.openxmlformats.org/drawingml/2006/main">
            <a:off x="8305800" y="520065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4. 百济神州</a:t>
            </a:r>
          </a:p>
        </p:txBody>
      </p:sp>
      <p:sp>
        <p:nvSpPr>
          <p:cNvPr id="162" name="product-mutual-selection-holding-4-value">
            <a:extLst xmlns:a="http://schemas.openxmlformats.org/drawingml/2006/main">
              <a:ext uri="{FF2B5EF4-FFF2-40B4-BE49-F238E27FC236}">
                <a16:creationId xmlns:a16="http://schemas.microsoft.com/office/drawing/2014/main" id="{2CF337E4-B518-4B0A-9860-9B58ED34EF4B}"/>
              </a:ext>
            </a:extLst>
          </p:cNvPr>
          <p:cNvSpPr>
            <a:spLocks xmlns:a="http://schemas.openxmlformats.org/drawingml/2006/main" noGrp="1"/>
          </p:cNvSpPr>
          <p:nvPr/>
        </p:nvSpPr>
        <p:spPr>
          <a:xfrm xmlns:a="http://schemas.openxmlformats.org/drawingml/2006/main">
            <a:off x="9410700" y="520065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F59E0B"/>
                </a:solidFill>
                <a:latin typeface="STHeiti"/>
                <a:ea typeface="STHeiti"/>
                <a:cs typeface="STHeiti"/>
              </a:defRPr>
            </a:pPr>
            <a:r>
              <a:rPr sz="788" b="1">
                <a:solidFill>
                  <a:srgbClr val="F59E0B"/>
                </a:solidFill>
                <a:latin typeface="STHeiti"/>
                <a:ea typeface="STHeiti"/>
                <a:cs typeface="STHeiti"/>
              </a:rPr>
              <a:t>6.9%</a:t>
            </a:r>
          </a:p>
        </p:txBody>
      </p:sp>
      <p:sp>
        <p:nvSpPr>
          <p:cNvPr id="163" name="product-mutual-selection-holding-5-name">
            <a:extLst xmlns:a="http://schemas.openxmlformats.org/drawingml/2006/main">
              <a:ext uri="{FF2B5EF4-FFF2-40B4-BE49-F238E27FC236}">
                <a16:creationId xmlns:a16="http://schemas.microsoft.com/office/drawing/2014/main" id="{DF137A94-DC9D-4196-9F2A-4A65E31DD69E}"/>
              </a:ext>
            </a:extLst>
          </p:cNvPr>
          <p:cNvSpPr>
            <a:spLocks xmlns:a="http://schemas.openxmlformats.org/drawingml/2006/main" noGrp="1"/>
          </p:cNvSpPr>
          <p:nvPr/>
        </p:nvSpPr>
        <p:spPr>
          <a:xfrm xmlns:a="http://schemas.openxmlformats.org/drawingml/2006/main">
            <a:off x="8305800" y="537210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5. 康诺亚-B</a:t>
            </a:r>
          </a:p>
        </p:txBody>
      </p:sp>
      <p:sp>
        <p:nvSpPr>
          <p:cNvPr id="164" name="product-mutual-selection-holding-5-value">
            <a:extLst xmlns:a="http://schemas.openxmlformats.org/drawingml/2006/main">
              <a:ext uri="{FF2B5EF4-FFF2-40B4-BE49-F238E27FC236}">
                <a16:creationId xmlns:a16="http://schemas.microsoft.com/office/drawing/2014/main" id="{DE3586BB-DD51-4814-984F-92A70FE223EA}"/>
              </a:ext>
            </a:extLst>
          </p:cNvPr>
          <p:cNvSpPr>
            <a:spLocks xmlns:a="http://schemas.openxmlformats.org/drawingml/2006/main" noGrp="1"/>
          </p:cNvSpPr>
          <p:nvPr/>
        </p:nvSpPr>
        <p:spPr>
          <a:xfrm xmlns:a="http://schemas.openxmlformats.org/drawingml/2006/main">
            <a:off x="9410700" y="53721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F59E0B"/>
                </a:solidFill>
                <a:latin typeface="STHeiti"/>
                <a:ea typeface="STHeiti"/>
                <a:cs typeface="STHeiti"/>
              </a:defRPr>
            </a:pPr>
            <a:r>
              <a:rPr sz="788" b="1">
                <a:solidFill>
                  <a:srgbClr val="F59E0B"/>
                </a:solidFill>
                <a:latin typeface="STHeiti"/>
                <a:ea typeface="STHeiti"/>
                <a:cs typeface="STHeiti"/>
              </a:rPr>
              <a:t>6.3%</a:t>
            </a:r>
          </a:p>
        </p:txBody>
      </p:sp>
      <p:sp>
        <p:nvSpPr>
          <p:cNvPr id="165" name="product-mutual-selection-holding-6-name">
            <a:extLst xmlns:a="http://schemas.openxmlformats.org/drawingml/2006/main">
              <a:ext uri="{FF2B5EF4-FFF2-40B4-BE49-F238E27FC236}">
                <a16:creationId xmlns:a16="http://schemas.microsoft.com/office/drawing/2014/main" id="{79A02941-A6EB-494B-B141-038C89C63C84}"/>
              </a:ext>
            </a:extLst>
          </p:cNvPr>
          <p:cNvSpPr>
            <a:spLocks xmlns:a="http://schemas.openxmlformats.org/drawingml/2006/main" noGrp="1"/>
          </p:cNvSpPr>
          <p:nvPr/>
        </p:nvSpPr>
        <p:spPr>
          <a:xfrm xmlns:a="http://schemas.openxmlformats.org/drawingml/2006/main">
            <a:off x="10020300" y="468630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6. 石药集团</a:t>
            </a:r>
          </a:p>
        </p:txBody>
      </p:sp>
      <p:sp>
        <p:nvSpPr>
          <p:cNvPr id="166" name="product-mutual-selection-holding-6-value">
            <a:extLst xmlns:a="http://schemas.openxmlformats.org/drawingml/2006/main">
              <a:ext uri="{FF2B5EF4-FFF2-40B4-BE49-F238E27FC236}">
                <a16:creationId xmlns:a16="http://schemas.microsoft.com/office/drawing/2014/main" id="{E347DCF4-3A78-4255-B6B4-D91B21845C07}"/>
              </a:ext>
            </a:extLst>
          </p:cNvPr>
          <p:cNvSpPr>
            <a:spLocks xmlns:a="http://schemas.openxmlformats.org/drawingml/2006/main" noGrp="1"/>
          </p:cNvSpPr>
          <p:nvPr/>
        </p:nvSpPr>
        <p:spPr>
          <a:xfrm xmlns:a="http://schemas.openxmlformats.org/drawingml/2006/main">
            <a:off x="11125200" y="46863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F59E0B"/>
                </a:solidFill>
                <a:latin typeface="STHeiti"/>
                <a:ea typeface="STHeiti"/>
                <a:cs typeface="STHeiti"/>
              </a:defRPr>
            </a:pPr>
            <a:r>
              <a:rPr sz="788" b="1">
                <a:solidFill>
                  <a:srgbClr val="F59E0B"/>
                </a:solidFill>
                <a:latin typeface="STHeiti"/>
                <a:ea typeface="STHeiti"/>
                <a:cs typeface="STHeiti"/>
              </a:rPr>
              <a:t>6.0%</a:t>
            </a:r>
          </a:p>
        </p:txBody>
      </p:sp>
      <p:sp>
        <p:nvSpPr>
          <p:cNvPr id="167" name="product-mutual-selection-holding-7-name">
            <a:extLst xmlns:a="http://schemas.openxmlformats.org/drawingml/2006/main">
              <a:ext uri="{FF2B5EF4-FFF2-40B4-BE49-F238E27FC236}">
                <a16:creationId xmlns:a16="http://schemas.microsoft.com/office/drawing/2014/main" id="{AEA3BC7B-3B0B-4250-9A70-E5D963B687B9}"/>
              </a:ext>
            </a:extLst>
          </p:cNvPr>
          <p:cNvSpPr>
            <a:spLocks xmlns:a="http://schemas.openxmlformats.org/drawingml/2006/main" noGrp="1"/>
          </p:cNvSpPr>
          <p:nvPr/>
        </p:nvSpPr>
        <p:spPr>
          <a:xfrm xmlns:a="http://schemas.openxmlformats.org/drawingml/2006/main">
            <a:off x="10020300" y="485775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7. 康方生物</a:t>
            </a:r>
          </a:p>
        </p:txBody>
      </p:sp>
      <p:sp>
        <p:nvSpPr>
          <p:cNvPr id="168" name="product-mutual-selection-holding-7-value">
            <a:extLst xmlns:a="http://schemas.openxmlformats.org/drawingml/2006/main">
              <a:ext uri="{FF2B5EF4-FFF2-40B4-BE49-F238E27FC236}">
                <a16:creationId xmlns:a16="http://schemas.microsoft.com/office/drawing/2014/main" id="{68B48419-F241-4FB1-AA08-92ACF5434983}"/>
              </a:ext>
            </a:extLst>
          </p:cNvPr>
          <p:cNvSpPr>
            <a:spLocks xmlns:a="http://schemas.openxmlformats.org/drawingml/2006/main" noGrp="1"/>
          </p:cNvSpPr>
          <p:nvPr/>
        </p:nvSpPr>
        <p:spPr>
          <a:xfrm xmlns:a="http://schemas.openxmlformats.org/drawingml/2006/main">
            <a:off x="11125200" y="485775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F59E0B"/>
                </a:solidFill>
                <a:latin typeface="STHeiti"/>
                <a:ea typeface="STHeiti"/>
                <a:cs typeface="STHeiti"/>
              </a:defRPr>
            </a:pPr>
            <a:r>
              <a:rPr sz="788" b="1">
                <a:solidFill>
                  <a:srgbClr val="F59E0B"/>
                </a:solidFill>
                <a:latin typeface="STHeiti"/>
                <a:ea typeface="STHeiti"/>
                <a:cs typeface="STHeiti"/>
              </a:rPr>
              <a:t>5.8%</a:t>
            </a:r>
          </a:p>
        </p:txBody>
      </p:sp>
      <p:sp>
        <p:nvSpPr>
          <p:cNvPr id="169" name="product-mutual-selection-holding-8-name">
            <a:extLst xmlns:a="http://schemas.openxmlformats.org/drawingml/2006/main">
              <a:ext uri="{FF2B5EF4-FFF2-40B4-BE49-F238E27FC236}">
                <a16:creationId xmlns:a16="http://schemas.microsoft.com/office/drawing/2014/main" id="{5A2AA43B-192C-403F-ABA2-D26E7D74FD41}"/>
              </a:ext>
            </a:extLst>
          </p:cNvPr>
          <p:cNvSpPr>
            <a:spLocks xmlns:a="http://schemas.openxmlformats.org/drawingml/2006/main" noGrp="1"/>
          </p:cNvSpPr>
          <p:nvPr/>
        </p:nvSpPr>
        <p:spPr>
          <a:xfrm xmlns:a="http://schemas.openxmlformats.org/drawingml/2006/main">
            <a:off x="10020300" y="502920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8. 恒瑞医药</a:t>
            </a:r>
          </a:p>
        </p:txBody>
      </p:sp>
      <p:sp>
        <p:nvSpPr>
          <p:cNvPr id="170" name="product-mutual-selection-holding-8-value">
            <a:extLst xmlns:a="http://schemas.openxmlformats.org/drawingml/2006/main">
              <a:ext uri="{FF2B5EF4-FFF2-40B4-BE49-F238E27FC236}">
                <a16:creationId xmlns:a16="http://schemas.microsoft.com/office/drawing/2014/main" id="{7BD50BF6-D96F-419B-A4EA-050AE2017665}"/>
              </a:ext>
            </a:extLst>
          </p:cNvPr>
          <p:cNvSpPr>
            <a:spLocks xmlns:a="http://schemas.openxmlformats.org/drawingml/2006/main" noGrp="1"/>
          </p:cNvSpPr>
          <p:nvPr/>
        </p:nvSpPr>
        <p:spPr>
          <a:xfrm xmlns:a="http://schemas.openxmlformats.org/drawingml/2006/main">
            <a:off x="11125200" y="50292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F59E0B"/>
                </a:solidFill>
                <a:latin typeface="STHeiti"/>
                <a:ea typeface="STHeiti"/>
                <a:cs typeface="STHeiti"/>
              </a:defRPr>
            </a:pPr>
            <a:r>
              <a:rPr sz="788" b="1">
                <a:solidFill>
                  <a:srgbClr val="F59E0B"/>
                </a:solidFill>
                <a:latin typeface="STHeiti"/>
                <a:ea typeface="STHeiti"/>
                <a:cs typeface="STHeiti"/>
              </a:rPr>
              <a:t>5.8%</a:t>
            </a:r>
          </a:p>
        </p:txBody>
      </p:sp>
      <p:sp>
        <p:nvSpPr>
          <p:cNvPr id="171" name="product-mutual-selection-holding-9-name">
            <a:extLst xmlns:a="http://schemas.openxmlformats.org/drawingml/2006/main">
              <a:ext uri="{FF2B5EF4-FFF2-40B4-BE49-F238E27FC236}">
                <a16:creationId xmlns:a16="http://schemas.microsoft.com/office/drawing/2014/main" id="{836B985E-1A43-4F10-9C0B-CE712F5D72F4}"/>
              </a:ext>
            </a:extLst>
          </p:cNvPr>
          <p:cNvSpPr>
            <a:spLocks xmlns:a="http://schemas.openxmlformats.org/drawingml/2006/main" noGrp="1"/>
          </p:cNvSpPr>
          <p:nvPr/>
        </p:nvSpPr>
        <p:spPr>
          <a:xfrm xmlns:a="http://schemas.openxmlformats.org/drawingml/2006/main">
            <a:off x="10020300" y="520065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9. 益方生物</a:t>
            </a:r>
          </a:p>
        </p:txBody>
      </p:sp>
      <p:sp>
        <p:nvSpPr>
          <p:cNvPr id="172" name="product-mutual-selection-holding-9-value">
            <a:extLst xmlns:a="http://schemas.openxmlformats.org/drawingml/2006/main">
              <a:ext uri="{FF2B5EF4-FFF2-40B4-BE49-F238E27FC236}">
                <a16:creationId xmlns:a16="http://schemas.microsoft.com/office/drawing/2014/main" id="{59403022-7666-4E10-89DA-0BF6321791AD}"/>
              </a:ext>
            </a:extLst>
          </p:cNvPr>
          <p:cNvSpPr>
            <a:spLocks xmlns:a="http://schemas.openxmlformats.org/drawingml/2006/main" noGrp="1"/>
          </p:cNvSpPr>
          <p:nvPr/>
        </p:nvSpPr>
        <p:spPr>
          <a:xfrm xmlns:a="http://schemas.openxmlformats.org/drawingml/2006/main">
            <a:off x="11125200" y="520065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F59E0B"/>
                </a:solidFill>
                <a:latin typeface="STHeiti"/>
                <a:ea typeface="STHeiti"/>
                <a:cs typeface="STHeiti"/>
              </a:defRPr>
            </a:pPr>
            <a:r>
              <a:rPr sz="788" b="1">
                <a:solidFill>
                  <a:srgbClr val="F59E0B"/>
                </a:solidFill>
                <a:latin typeface="STHeiti"/>
                <a:ea typeface="STHeiti"/>
                <a:cs typeface="STHeiti"/>
              </a:rPr>
              <a:t>5.4%</a:t>
            </a:r>
          </a:p>
        </p:txBody>
      </p:sp>
      <p:sp>
        <p:nvSpPr>
          <p:cNvPr id="173" name="product-mutual-selection-holding-10-name">
            <a:extLst xmlns:a="http://schemas.openxmlformats.org/drawingml/2006/main">
              <a:ext uri="{FF2B5EF4-FFF2-40B4-BE49-F238E27FC236}">
                <a16:creationId xmlns:a16="http://schemas.microsoft.com/office/drawing/2014/main" id="{4B13F2E8-7530-45D8-925D-CE00B8E5D21A}"/>
              </a:ext>
            </a:extLst>
          </p:cNvPr>
          <p:cNvSpPr>
            <a:spLocks xmlns:a="http://schemas.openxmlformats.org/drawingml/2006/main" noGrp="1"/>
          </p:cNvSpPr>
          <p:nvPr/>
        </p:nvSpPr>
        <p:spPr>
          <a:xfrm xmlns:a="http://schemas.openxmlformats.org/drawingml/2006/main">
            <a:off x="10020300" y="5372100"/>
            <a:ext cx="11049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788">
                <a:solidFill>
                  <a:srgbClr val="344054"/>
                </a:solidFill>
                <a:latin typeface="STHeiti"/>
                <a:ea typeface="STHeiti"/>
                <a:cs typeface="STHeiti"/>
              </a:defRPr>
            </a:pPr>
            <a:r>
              <a:rPr sz="788">
                <a:solidFill>
                  <a:srgbClr val="344054"/>
                </a:solidFill>
                <a:latin typeface="STHeiti"/>
                <a:ea typeface="STHeiti"/>
                <a:cs typeface="STHeiti"/>
              </a:rPr>
              <a:t>10. 三生制药</a:t>
            </a:r>
          </a:p>
        </p:txBody>
      </p:sp>
      <p:sp>
        <p:nvSpPr>
          <p:cNvPr id="174" name="product-mutual-selection-holding-10-value">
            <a:extLst xmlns:a="http://schemas.openxmlformats.org/drawingml/2006/main">
              <a:ext uri="{FF2B5EF4-FFF2-40B4-BE49-F238E27FC236}">
                <a16:creationId xmlns:a16="http://schemas.microsoft.com/office/drawing/2014/main" id="{DD9A87D6-45CC-4ADF-988C-DE333B877160}"/>
              </a:ext>
            </a:extLst>
          </p:cNvPr>
          <p:cNvSpPr>
            <a:spLocks xmlns:a="http://schemas.openxmlformats.org/drawingml/2006/main" noGrp="1"/>
          </p:cNvSpPr>
          <p:nvPr/>
        </p:nvSpPr>
        <p:spPr>
          <a:xfrm xmlns:a="http://schemas.openxmlformats.org/drawingml/2006/main">
            <a:off x="11125200" y="53721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788" b="1">
                <a:solidFill>
                  <a:srgbClr val="F59E0B"/>
                </a:solidFill>
                <a:latin typeface="STHeiti"/>
                <a:ea typeface="STHeiti"/>
                <a:cs typeface="STHeiti"/>
              </a:defRPr>
            </a:pPr>
            <a:r>
              <a:rPr sz="788" b="1">
                <a:solidFill>
                  <a:srgbClr val="F59E0B"/>
                </a:solidFill>
                <a:latin typeface="STHeiti"/>
                <a:ea typeface="STHeiti"/>
                <a:cs typeface="STHeiti"/>
              </a:rPr>
              <a:t>4.0%</a:t>
            </a:r>
          </a:p>
        </p:txBody>
      </p:sp>
    </p:spTree>
    <p:extLst>
      <p:ext uri="{BB962C8B-B14F-4D97-AF65-F5344CB8AC3E}">
        <p14:creationId xmlns:p14="http://schemas.microsoft.com/office/powerpoint/2010/main" val="9441453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2026-08-25T02:21:56.7170000Z</dcterms:created>
  <dcterms:modified xsi:type="dcterms:W3CDTF">2026-08-25T02:21:56.7170000Z</dcterms:modified>
</coreProperties>
</file>