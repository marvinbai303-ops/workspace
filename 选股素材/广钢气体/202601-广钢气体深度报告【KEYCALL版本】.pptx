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theme/themeOverride1.xml" ContentType="application/vnd.openxmlformats-officedocument.themeOverrid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2.xml" ContentType="application/vnd.openxmlformats-officedocument.themeOverrid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charts/chart15.xml" ContentType="application/vnd.openxmlformats-officedocument.drawingml.chart+xml"/>
  <Override PartName="/ppt/charts/chart16.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7.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Lst>
  <p:notesMasterIdLst>
    <p:notesMasterId r:id="rId47"/>
  </p:notesMasterIdLst>
  <p:handoutMasterIdLst>
    <p:handoutMasterId r:id="rId48"/>
  </p:handoutMasterIdLst>
  <p:sldIdLst>
    <p:sldId id="325" r:id="rId3"/>
    <p:sldId id="278" r:id="rId4"/>
    <p:sldId id="262" r:id="rId5"/>
    <p:sldId id="331" r:id="rId6"/>
    <p:sldId id="302" r:id="rId7"/>
    <p:sldId id="266" r:id="rId8"/>
    <p:sldId id="263" r:id="rId9"/>
    <p:sldId id="288" r:id="rId10"/>
    <p:sldId id="286" r:id="rId11"/>
    <p:sldId id="264" r:id="rId12"/>
    <p:sldId id="280" r:id="rId13"/>
    <p:sldId id="329" r:id="rId14"/>
    <p:sldId id="330" r:id="rId15"/>
    <p:sldId id="285" r:id="rId16"/>
    <p:sldId id="265" r:id="rId17"/>
    <p:sldId id="292" r:id="rId18"/>
    <p:sldId id="293" r:id="rId19"/>
    <p:sldId id="294" r:id="rId20"/>
    <p:sldId id="295" r:id="rId21"/>
    <p:sldId id="296" r:id="rId22"/>
    <p:sldId id="334" r:id="rId23"/>
    <p:sldId id="297" r:id="rId24"/>
    <p:sldId id="298" r:id="rId25"/>
    <p:sldId id="299" r:id="rId26"/>
    <p:sldId id="300" r:id="rId27"/>
    <p:sldId id="308" r:id="rId28"/>
    <p:sldId id="309" r:id="rId29"/>
    <p:sldId id="310" r:id="rId30"/>
    <p:sldId id="313" r:id="rId31"/>
    <p:sldId id="312" r:id="rId32"/>
    <p:sldId id="335" r:id="rId33"/>
    <p:sldId id="336" r:id="rId34"/>
    <p:sldId id="311" r:id="rId35"/>
    <p:sldId id="333" r:id="rId36"/>
    <p:sldId id="301" r:id="rId37"/>
    <p:sldId id="303" r:id="rId38"/>
    <p:sldId id="332" r:id="rId39"/>
    <p:sldId id="304" r:id="rId40"/>
    <p:sldId id="316" r:id="rId41"/>
    <p:sldId id="314" r:id="rId42"/>
    <p:sldId id="315" r:id="rId43"/>
    <p:sldId id="318" r:id="rId44"/>
    <p:sldId id="326" r:id="rId45"/>
    <p:sldId id="327" r:id="rId46"/>
  </p:sldIdLst>
  <p:sldSz cx="9144000" cy="5143500" type="screen16x9"/>
  <p:notesSz cx="6858000" cy="9144000"/>
  <p:custDataLst>
    <p:tags r:id="rId49"/>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64" userDrawn="1">
          <p15:clr>
            <a:srgbClr val="A4A3A4"/>
          </p15:clr>
        </p15:guide>
        <p15:guide id="2" pos="28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EECE1"/>
    <a:srgbClr val="F4F8FD"/>
    <a:srgbClr val="60B9EC"/>
    <a:srgbClr val="EFCE45"/>
    <a:srgbClr val="0677D5"/>
    <a:srgbClr val="005FA2"/>
    <a:srgbClr val="AF7401"/>
    <a:srgbClr val="066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47" autoAdjust="0"/>
    <p:restoredTop sz="94660"/>
  </p:normalViewPr>
  <p:slideViewPr>
    <p:cSldViewPr snapToGrid="0" showGuides="1">
      <p:cViewPr varScale="1">
        <p:scale>
          <a:sx n="138" d="100"/>
          <a:sy n="138" d="100"/>
        </p:scale>
        <p:origin x="84" y="140"/>
      </p:cViewPr>
      <p:guideLst>
        <p:guide orient="horz" pos="1564"/>
        <p:guide pos="2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41228-&#24191;&#38050;&#27668;&#20307;&#26680;&#24515;&#25968;&#25454;&#24213;&#3129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C:\Users\&#36213;&#29605;&#28828;\Nutstore\1\&#28023;&#36890;&#26426;&#26800;\1&#25104;&#21592;&#25991;&#20214;&#20849;&#20139;&#65306;&#25253;&#21578;&#12289;&#25968;&#25454;&#24211;&#12289;&#32426;&#35201;&#31561;\&#36213;&#29605;&#28828;\2&#35838;&#39064;\&#20013;&#27431;&#22522;&#37329;\&#20013;&#38271;&#26399;&#27979;&#31639;-202511-&#24191;&#38050;&#27668;&#20307;&#24213;&#31295;.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013;&#38271;&#26399;&#27979;&#31639;-202511-&#24191;&#38050;&#27668;&#20307;&#24213;&#31295;.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1"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s>
</file>

<file path=ppt/charts/_rels/chart8.xml.rels><?xml version="1.0" encoding="UTF-8" standalone="yes"?>
<Relationships xmlns="http://schemas.openxmlformats.org/package/2006/relationships"><Relationship Id="rId2" Type="http://schemas.openxmlformats.org/officeDocument/2006/relationships/oleObject" Target="file:///C:\Users\&#36213;&#29605;&#28828;\Nutstore\1\&#28023;&#36890;&#26426;&#26800;\1&#25104;&#21592;&#25991;&#20214;&#20849;&#20139;&#65306;&#25253;&#21578;&#12289;&#25968;&#25454;&#24211;&#12289;&#32426;&#35201;&#31561;\&#36213;&#29605;&#28828;\0&#26495;&#22359;&#12289;&#20844;&#21496;&#36164;&#26009;\1&#24037;&#19994;&#27668;&#20307;\&#37325;&#28857;&#20844;&#21496;\&#24191;&#38050;&#27668;&#20307;\&#24191;&#38050;&#27668;&#20307;&#28145;&#24230;PPT\&#24191;&#38050;&#27668;&#20307;&#28145;&#24230;&#25253;&#21578;&#21450;&#24213;&#31295;\202510-&#28145;&#24230;&#26356;&#26032;\202510-&#24191;&#38050;&#27668;&#20307;&#24213;&#31295;.xlsx" TargetMode="External"/><Relationship Id="rId1" Type="http://schemas.openxmlformats.org/officeDocument/2006/relationships/themeOverride" Target="../theme/themeOverride1.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___1.xlsx"/></Relationships>
</file>

<file path=ppt/charts/_rels/chart10.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0&#26495;&#22359;&#12289;&#20844;&#21496;&#36164;&#26009;\1&#24037;&#19994;&#27668;&#20307;\&#37325;&#28857;&#20844;&#21496;\&#24191;&#38050;&#27668;&#20307;\&#35838;&#39064;\20241224-&#24191;&#38050;&#27668;&#20307;PPT&#24213;&#31295;.xlsx" TargetMode="External"/><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0&#26495;&#22359;&#12289;&#20844;&#21496;&#36164;&#26009;\1&#24037;&#19994;&#27668;&#20307;\&#37325;&#28857;&#20844;&#21496;\&#24191;&#38050;&#27668;&#20307;\&#24191;&#38050;&#27668;&#20307;&#28145;&#24230;PPT\&#24191;&#38050;&#27668;&#20307;&#28145;&#24230;&#25253;&#21578;&#21450;&#24213;&#31295;\&#27686;&#27668;&#19987;&#39064;&#25968;&#25454;&#24213;&#31295;\20250813-&#27686;&#27668;&#19987;&#39064;&#25968;&#25454;&#24213;&#31295;.xlsx" TargetMode="External"/><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0&#26495;&#22359;&#12289;&#20844;&#21496;&#36164;&#26009;\1&#24037;&#19994;&#27668;&#20307;\&#37325;&#28857;&#20844;&#21496;\&#24191;&#38050;&#27668;&#20307;\&#24191;&#38050;&#27668;&#20307;&#28145;&#24230;PPT\&#24191;&#38050;&#27668;&#20307;&#28145;&#24230;&#25253;&#21578;&#21450;&#24213;&#31295;\&#27686;&#27668;&#19987;&#39064;&#25968;&#25454;&#24213;&#31295;\20250813-&#27686;&#27668;&#19987;&#39064;&#25968;&#25454;&#24213;&#31295;.xlsx" TargetMode="External"/><Relationship Id="rId2" Type="http://schemas.microsoft.com/office/2011/relationships/chartColorStyle" Target="colors10.xml"/><Relationship Id="rId1" Type="http://schemas.microsoft.com/office/2011/relationships/chartStyle" Target="style10.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11.xml"/><Relationship Id="rId1" Type="http://schemas.microsoft.com/office/2011/relationships/chartStyle" Target="style11.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s>
</file>

<file path=ppt/charts/_rels/chart16.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12.xml"/><Relationship Id="rId1" Type="http://schemas.microsoft.com/office/2011/relationships/chartStyle" Target="style12.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36213;&#29605;&#28828;\Nutstore\1\&#28023;&#36890;&#26426;&#26800;\1&#25104;&#21592;&#25991;&#20214;&#20849;&#20139;&#65306;&#25253;&#21578;&#12289;&#25968;&#25454;&#24211;&#12289;&#32426;&#35201;&#31561;\&#36213;&#29605;&#28828;\2&#35838;&#39064;\&#20013;&#27431;&#22522;&#37329;\202509-&#24191;&#38050;&#27668;&#20307;&#24213;&#31295;.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220821038156723"/>
          <c:y val="7.4415733244612023E-2"/>
          <c:w val="0.40826019630369853"/>
          <c:h val="0.75378285460796268"/>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6489-441B-A3FE-8053DDEE6551}"/>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6489-441B-A3FE-8053DDEE6551}"/>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6489-441B-A3FE-8053DDEE6551}"/>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6489-441B-A3FE-8053DDEE6551}"/>
              </c:ext>
            </c:extLst>
          </c:dPt>
          <c:dPt>
            <c:idx val="4"/>
            <c:bubble3D val="0"/>
            <c:spPr>
              <a:solidFill>
                <a:schemeClr val="accent5"/>
              </a:solidFill>
              <a:ln w="19050">
                <a:solidFill>
                  <a:schemeClr val="lt1"/>
                </a:solidFill>
              </a:ln>
              <a:effectLst/>
            </c:spPr>
            <c:extLst xmlns:c16r2="http://schemas.microsoft.com/office/drawing/2015/06/chart">
              <c:ext xmlns:c16="http://schemas.microsoft.com/office/drawing/2014/chart" uri="{C3380CC4-5D6E-409C-BE32-E72D297353CC}">
                <c16:uniqueId val="{00000009-6489-441B-A3FE-8053DDEE6551}"/>
              </c:ext>
            </c:extLst>
          </c:dPt>
          <c:dLbls>
            <c:dLbl>
              <c:idx val="4"/>
              <c:layout>
                <c:manualLayout>
                  <c:x val="7.371179451981838E-2"/>
                  <c:y val="5.8685446009389672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9-6489-441B-A3FE-8053DDEE6551}"/>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业务营收比例!$K$4:$K$8</c:f>
              <c:strCache>
                <c:ptCount val="5"/>
                <c:pt idx="0">
                  <c:v>电子-现场制气</c:v>
                </c:pt>
                <c:pt idx="1">
                  <c:v>电子-零售供气</c:v>
                </c:pt>
                <c:pt idx="2">
                  <c:v>工业-现场制气</c:v>
                </c:pt>
                <c:pt idx="3">
                  <c:v>工业-零售供气</c:v>
                </c:pt>
                <c:pt idx="4">
                  <c:v>其他业务</c:v>
                </c:pt>
              </c:strCache>
            </c:strRef>
          </c:cat>
          <c:val>
            <c:numRef>
              <c:f>业务营收比例!$M$4:$M$8</c:f>
              <c:numCache>
                <c:formatCode>0%</c:formatCode>
                <c:ptCount val="5"/>
                <c:pt idx="0">
                  <c:v>0.51515378178623406</c:v>
                </c:pt>
                <c:pt idx="1">
                  <c:v>0.191999194205034</c:v>
                </c:pt>
                <c:pt idx="2">
                  <c:v>4.6126449393927398E-2</c:v>
                </c:pt>
                <c:pt idx="3">
                  <c:v>0.18388958154441701</c:v>
                </c:pt>
                <c:pt idx="4">
                  <c:v>6.2830993070387295E-2</c:v>
                </c:pt>
              </c:numCache>
            </c:numRef>
          </c:val>
          <c:extLst xmlns:c16r2="http://schemas.microsoft.com/office/drawing/2015/06/chart">
            <c:ext xmlns:c16="http://schemas.microsoft.com/office/drawing/2014/chart" uri="{C3380CC4-5D6E-409C-BE32-E72D297353CC}">
              <c16:uniqueId val="{0000000A-6489-441B-A3FE-8053DDEE6551}"/>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64426672027223508"/>
          <c:y val="9.0610328638497648E-2"/>
          <c:w val="0.34773333333333301"/>
          <c:h val="0.7075117370892019"/>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0ad990cd-44c1-41f9-8265-b9935d16cf96}"/>
      </c:ext>
    </c:extLst>
  </c:chart>
  <c:spPr>
    <a:noFill/>
    <a:ln w="9525" cap="flat" cmpd="sng" algn="ctr">
      <a:noFill/>
      <a:round/>
    </a:ln>
    <a:effectLst/>
  </c:spPr>
  <c:txPr>
    <a:bodyPr/>
    <a:lstStyle/>
    <a:p>
      <a:pPr>
        <a:defRPr lang="zh-CN" sz="900"/>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208055966683302"/>
          <c:y val="0.112709405330958"/>
          <c:w val="0.42589028470677798"/>
          <c:h val="0.78857423740760302"/>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AB47-444A-988C-61B81358F995}"/>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AB47-444A-988C-61B81358F995}"/>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AB47-444A-988C-61B81358F995}"/>
              </c:ext>
            </c:extLst>
          </c:dPt>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核心财务数据!$B$18:$B$20</c:f>
              <c:strCache>
                <c:ptCount val="3"/>
                <c:pt idx="0">
                  <c:v>大宗电子气</c:v>
                </c:pt>
                <c:pt idx="1">
                  <c:v>通用工业气</c:v>
                </c:pt>
                <c:pt idx="2">
                  <c:v>其他</c:v>
                </c:pt>
              </c:strCache>
            </c:strRef>
          </c:cat>
          <c:val>
            <c:numRef>
              <c:f>核心财务数据!$D$18:$D$20</c:f>
              <c:numCache>
                <c:formatCode>0.00%</c:formatCode>
                <c:ptCount val="3"/>
                <c:pt idx="0">
                  <c:v>0.76639275285659503</c:v>
                </c:pt>
                <c:pt idx="1">
                  <c:v>0.12767364289631</c:v>
                </c:pt>
                <c:pt idx="2">
                  <c:v>0.105933604247094</c:v>
                </c:pt>
              </c:numCache>
            </c:numRef>
          </c:val>
          <c:extLst xmlns:c16r2="http://schemas.microsoft.com/office/drawing/2015/06/chart">
            <c:ext xmlns:c16="http://schemas.microsoft.com/office/drawing/2014/chart" uri="{C3380CC4-5D6E-409C-BE32-E72D297353CC}">
              <c16:uniqueId val="{00000006-AB47-444A-988C-61B81358F995}"/>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656064690026954"/>
          <c:y val="0.28261851015801398"/>
          <c:w val="0.33584905660377401"/>
          <c:h val="0.5218961625282170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9b973fc3-7821-41cb-b621-fc9648e15e88}"/>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015507436570428"/>
          <c:y val="5.1400554097404488E-2"/>
          <c:w val="0.8218842957130359"/>
          <c:h val="0.81505030621172359"/>
        </c:manualLayout>
      </c:layout>
      <c:barChart>
        <c:barDir val="col"/>
        <c:grouping val="clustered"/>
        <c:varyColors val="0"/>
        <c:ser>
          <c:idx val="0"/>
          <c:order val="0"/>
          <c:tx>
            <c:strRef>
              <c:f>电子大宗气体的特点与财务数据变化情况!$D$4</c:f>
              <c:strCache>
                <c:ptCount val="1"/>
                <c:pt idx="0">
                  <c:v>营收（万元，左轴）</c:v>
                </c:pt>
              </c:strCache>
            </c:strRef>
          </c:tx>
          <c:invertIfNegative val="0"/>
          <c:cat>
            <c:strRef>
              <c:f>电子大宗气体的特点与财务数据变化情况!$E$1:$I$1</c:f>
              <c:strCache>
                <c:ptCount val="5"/>
                <c:pt idx="0">
                  <c:v>第1年</c:v>
                </c:pt>
                <c:pt idx="1">
                  <c:v>第2年</c:v>
                </c:pt>
                <c:pt idx="2">
                  <c:v>第3年</c:v>
                </c:pt>
                <c:pt idx="4">
                  <c:v>第15+年</c:v>
                </c:pt>
              </c:strCache>
            </c:strRef>
          </c:cat>
          <c:val>
            <c:numRef>
              <c:f>电子大宗气体的特点与财务数据变化情况!$E$4:$I$4</c:f>
              <c:numCache>
                <c:formatCode>General</c:formatCode>
                <c:ptCount val="5"/>
                <c:pt idx="0">
                  <c:v>4000</c:v>
                </c:pt>
                <c:pt idx="1">
                  <c:v>7000</c:v>
                </c:pt>
                <c:pt idx="2">
                  <c:v>10000</c:v>
                </c:pt>
                <c:pt idx="4">
                  <c:v>10000</c:v>
                </c:pt>
              </c:numCache>
            </c:numRef>
          </c:val>
          <c:extLst xmlns:c16r2="http://schemas.microsoft.com/office/drawing/2015/06/chart">
            <c:ext xmlns:c16="http://schemas.microsoft.com/office/drawing/2014/chart" uri="{C3380CC4-5D6E-409C-BE32-E72D297353CC}">
              <c16:uniqueId val="{00000000-A881-4929-98D7-1AE2F001F345}"/>
            </c:ext>
          </c:extLst>
        </c:ser>
        <c:dLbls>
          <c:showLegendKey val="0"/>
          <c:showVal val="0"/>
          <c:showCatName val="0"/>
          <c:showSerName val="0"/>
          <c:showPercent val="0"/>
          <c:showBubbleSize val="0"/>
        </c:dLbls>
        <c:gapWidth val="150"/>
        <c:axId val="831480080"/>
        <c:axId val="831477360"/>
      </c:barChart>
      <c:lineChart>
        <c:grouping val="standard"/>
        <c:varyColors val="0"/>
        <c:ser>
          <c:idx val="1"/>
          <c:order val="1"/>
          <c:tx>
            <c:strRef>
              <c:f>电子大宗气体的特点与财务数据变化情况!$D$2</c:f>
              <c:strCache>
                <c:ptCount val="1"/>
                <c:pt idx="0">
                  <c:v>毛利率（右轴）</c:v>
                </c:pt>
              </c:strCache>
            </c:strRef>
          </c:tx>
          <c:dLbls>
            <c:spPr>
              <a:noFill/>
              <a:ln>
                <a:noFill/>
              </a:ln>
              <a:effectLst/>
            </c:sp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电子大宗气体的特点与财务数据变化情况!$E$1:$I$1</c:f>
              <c:strCache>
                <c:ptCount val="5"/>
                <c:pt idx="0">
                  <c:v>第1年</c:v>
                </c:pt>
                <c:pt idx="1">
                  <c:v>第2年</c:v>
                </c:pt>
                <c:pt idx="2">
                  <c:v>第3年</c:v>
                </c:pt>
                <c:pt idx="4">
                  <c:v>第15+年</c:v>
                </c:pt>
              </c:strCache>
            </c:strRef>
          </c:cat>
          <c:val>
            <c:numRef>
              <c:f>电子大宗气体的特点与财务数据变化情况!$E$2:$I$2</c:f>
              <c:numCache>
                <c:formatCode>0%</c:formatCode>
                <c:ptCount val="5"/>
                <c:pt idx="0">
                  <c:v>0.12038333333333345</c:v>
                </c:pt>
                <c:pt idx="1">
                  <c:v>0.31556190476190471</c:v>
                </c:pt>
                <c:pt idx="2">
                  <c:v>0.39363333333333339</c:v>
                </c:pt>
                <c:pt idx="4">
                  <c:v>0.52029999999999998</c:v>
                </c:pt>
              </c:numCache>
            </c:numRef>
          </c:val>
          <c:smooth val="0"/>
          <c:extLst xmlns:c16r2="http://schemas.microsoft.com/office/drawing/2015/06/chart">
            <c:ext xmlns:c16="http://schemas.microsoft.com/office/drawing/2014/chart" uri="{C3380CC4-5D6E-409C-BE32-E72D297353CC}">
              <c16:uniqueId val="{00000001-A881-4929-98D7-1AE2F001F345}"/>
            </c:ext>
          </c:extLst>
        </c:ser>
        <c:dLbls>
          <c:showLegendKey val="0"/>
          <c:showVal val="0"/>
          <c:showCatName val="0"/>
          <c:showSerName val="0"/>
          <c:showPercent val="0"/>
          <c:showBubbleSize val="0"/>
        </c:dLbls>
        <c:marker val="1"/>
        <c:smooth val="0"/>
        <c:axId val="831472464"/>
        <c:axId val="831480624"/>
      </c:lineChart>
      <c:catAx>
        <c:axId val="831480080"/>
        <c:scaling>
          <c:orientation val="minMax"/>
        </c:scaling>
        <c:delete val="0"/>
        <c:axPos val="b"/>
        <c:numFmt formatCode="General" sourceLinked="0"/>
        <c:majorTickMark val="out"/>
        <c:minorTickMark val="none"/>
        <c:tickLblPos val="nextTo"/>
        <c:crossAx val="831477360"/>
        <c:crosses val="autoZero"/>
        <c:auto val="1"/>
        <c:lblAlgn val="ctr"/>
        <c:lblOffset val="100"/>
        <c:noMultiLvlLbl val="0"/>
      </c:catAx>
      <c:valAx>
        <c:axId val="831477360"/>
        <c:scaling>
          <c:orientation val="minMax"/>
          <c:max val="7000"/>
        </c:scaling>
        <c:delete val="0"/>
        <c:axPos val="l"/>
        <c:numFmt formatCode="General" sourceLinked="1"/>
        <c:majorTickMark val="out"/>
        <c:minorTickMark val="none"/>
        <c:tickLblPos val="nextTo"/>
        <c:crossAx val="831480080"/>
        <c:crosses val="autoZero"/>
        <c:crossBetween val="between"/>
      </c:valAx>
      <c:valAx>
        <c:axId val="831480624"/>
        <c:scaling>
          <c:orientation val="minMax"/>
        </c:scaling>
        <c:delete val="0"/>
        <c:axPos val="r"/>
        <c:numFmt formatCode="0%" sourceLinked="1"/>
        <c:majorTickMark val="out"/>
        <c:minorTickMark val="none"/>
        <c:tickLblPos val="nextTo"/>
        <c:crossAx val="831472464"/>
        <c:crosses val="max"/>
        <c:crossBetween val="between"/>
      </c:valAx>
      <c:catAx>
        <c:axId val="831472464"/>
        <c:scaling>
          <c:orientation val="minMax"/>
        </c:scaling>
        <c:delete val="1"/>
        <c:axPos val="b"/>
        <c:numFmt formatCode="General" sourceLinked="1"/>
        <c:majorTickMark val="out"/>
        <c:minorTickMark val="none"/>
        <c:tickLblPos val="nextTo"/>
        <c:crossAx val="831480624"/>
        <c:crosses val="autoZero"/>
        <c:auto val="1"/>
        <c:lblAlgn val="ctr"/>
        <c:lblOffset val="100"/>
        <c:noMultiLvlLbl val="0"/>
      </c:catAx>
    </c:plotArea>
    <c:legend>
      <c:legendPos val="r"/>
      <c:layout>
        <c:manualLayout>
          <c:xMode val="edge"/>
          <c:yMode val="edge"/>
          <c:x val="8.6111144472868648E-2"/>
          <c:y val="4.2459752859591538E-3"/>
          <c:w val="0.76388888888888884"/>
          <c:h val="0.16743438320209975"/>
        </c:manualLayout>
      </c:layout>
      <c:overlay val="0"/>
    </c:legend>
    <c:plotVisOnly val="1"/>
    <c:dispBlanksAs val="gap"/>
    <c:showDLblsOverMax val="0"/>
  </c:chart>
  <c:spPr>
    <a:ln>
      <a:noFill/>
    </a:ln>
  </c:spPr>
  <c:txPr>
    <a:bodyPr/>
    <a:lstStyle/>
    <a:p>
      <a:pPr>
        <a:defRPr>
          <a:latin typeface="Arial" pitchFamily="34" charset="0"/>
          <a:ea typeface="楷体_GB2312" pitchFamily="49" charset="-122"/>
          <a:cs typeface="Arial" pitchFamily="34" charset="0"/>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2886482939632541E-2"/>
          <c:y val="8.2755176436278804E-2"/>
          <c:w val="0.89655796150481193"/>
          <c:h val="0.80428988043161276"/>
        </c:manualLayout>
      </c:layout>
      <c:barChart>
        <c:barDir val="col"/>
        <c:grouping val="clustered"/>
        <c:varyColors val="0"/>
        <c:ser>
          <c:idx val="0"/>
          <c:order val="0"/>
          <c:tx>
            <c:strRef>
              <c:f>单万方用气量与壁垒情况!$C$1</c:f>
              <c:strCache>
                <c:ptCount val="1"/>
                <c:pt idx="0">
                  <c:v>1万片/月晶圆产能对应用气量（万方/h）</c:v>
                </c:pt>
              </c:strCache>
            </c:strRef>
          </c:tx>
          <c:spPr>
            <a:solidFill>
              <a:schemeClr val="accent1"/>
            </a:solidFill>
            <a:ln>
              <a:noFill/>
            </a:ln>
            <a:effectLst/>
          </c:spPr>
          <c:invertIfNegative val="0"/>
          <c:dLbls>
            <c:dLbl>
              <c:idx val="1"/>
              <c:tx>
                <c:rich>
                  <a:bodyPr/>
                  <a:lstStyle/>
                  <a:p>
                    <a:r>
                      <a:rPr lang="en-US" altLang="zh-CN"/>
                      <a:t>1-1.5</a:t>
                    </a:r>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6058-4BAB-BE40-CCA0A2FC4384}"/>
                </c:ext>
                <c:ext xmlns:c15="http://schemas.microsoft.com/office/drawing/2012/chart" uri="{CE6537A1-D6FC-4f65-9D91-7224C49458BB}"/>
              </c:extLst>
            </c:dLbl>
            <c:dLbl>
              <c:idx val="2"/>
              <c:tx>
                <c:rich>
                  <a:bodyPr/>
                  <a:lstStyle/>
                  <a:p>
                    <a:r>
                      <a:rPr lang="en-US" altLang="zh-CN"/>
                      <a:t>2-3</a:t>
                    </a:r>
                  </a:p>
                </c:rich>
              </c:tx>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6058-4BAB-BE40-CCA0A2FC4384}"/>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单万方用气量与壁垒情况!$B$2:$B$4</c:f>
              <c:strCache>
                <c:ptCount val="3"/>
                <c:pt idx="0">
                  <c:v>23年及以前</c:v>
                </c:pt>
                <c:pt idx="1">
                  <c:v>24-25年</c:v>
                </c:pt>
                <c:pt idx="2">
                  <c:v>先进制程</c:v>
                </c:pt>
              </c:strCache>
            </c:strRef>
          </c:cat>
          <c:val>
            <c:numRef>
              <c:f>单万方用气量与壁垒情况!$C$2:$C$4</c:f>
              <c:numCache>
                <c:formatCode>General</c:formatCode>
                <c:ptCount val="3"/>
                <c:pt idx="0">
                  <c:v>0.3</c:v>
                </c:pt>
                <c:pt idx="1">
                  <c:v>1.2</c:v>
                </c:pt>
                <c:pt idx="2">
                  <c:v>2.5</c:v>
                </c:pt>
              </c:numCache>
            </c:numRef>
          </c:val>
          <c:extLst xmlns:c16r2="http://schemas.microsoft.com/office/drawing/2015/06/chart">
            <c:ext xmlns:c16="http://schemas.microsoft.com/office/drawing/2014/chart" uri="{C3380CC4-5D6E-409C-BE32-E72D297353CC}">
              <c16:uniqueId val="{00000002-6058-4BAB-BE40-CCA0A2FC4384}"/>
            </c:ext>
          </c:extLst>
        </c:ser>
        <c:dLbls>
          <c:showLegendKey val="0"/>
          <c:showVal val="0"/>
          <c:showCatName val="0"/>
          <c:showSerName val="0"/>
          <c:showPercent val="0"/>
          <c:showBubbleSize val="0"/>
        </c:dLbls>
        <c:gapWidth val="219"/>
        <c:overlap val="-27"/>
        <c:axId val="831473008"/>
        <c:axId val="831475728"/>
      </c:barChart>
      <c:catAx>
        <c:axId val="8314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831475728"/>
        <c:crosses val="autoZero"/>
        <c:auto val="1"/>
        <c:lblAlgn val="ctr"/>
        <c:lblOffset val="100"/>
        <c:noMultiLvlLbl val="0"/>
      </c:catAx>
      <c:valAx>
        <c:axId val="831475728"/>
        <c:scaling>
          <c:orientation val="minMax"/>
        </c:scaling>
        <c:delete val="0"/>
        <c:axPos val="l"/>
        <c:numFmt formatCode="General" sourceLinked="1"/>
        <c:majorTickMark val="out"/>
        <c:minorTickMark val="none"/>
        <c:tickLblPos val="nextTo"/>
        <c:spPr>
          <a:noFill/>
          <a:ln>
            <a:solidFill>
              <a:schemeClr val="tx1">
                <a:lumMod val="50000"/>
                <a:lumOff val="50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831473008"/>
        <c:crosses val="autoZero"/>
        <c:crossBetween val="between"/>
      </c:valAx>
      <c:spPr>
        <a:noFill/>
        <a:ln>
          <a:noFill/>
        </a:ln>
        <a:effectLst/>
      </c:spPr>
    </c:plotArea>
    <c:legend>
      <c:legendPos val="t"/>
      <c:layout>
        <c:manualLayout>
          <c:xMode val="edge"/>
          <c:yMode val="edge"/>
          <c:x val="6.3442556782739509E-2"/>
          <c:y val="0.12313353019346872"/>
          <c:w val="0.89999971774455323"/>
          <c:h val="0.122745102079029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8034268029676599E-2"/>
          <c:y val="9.8658831148747007E-3"/>
          <c:w val="0.92667960669161498"/>
          <c:h val="0.85890257750148002"/>
        </c:manualLayout>
      </c:layout>
      <c:ofPieChart>
        <c:ofPieType val="bar"/>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8C09-477F-A00A-138A88E3D47C}"/>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8C09-477F-A00A-138A88E3D47C}"/>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8C09-477F-A00A-138A88E3D47C}"/>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8C09-477F-A00A-138A88E3D47C}"/>
              </c:ext>
            </c:extLst>
          </c:dPt>
          <c:dPt>
            <c:idx val="4"/>
            <c:bubble3D val="0"/>
            <c:spPr>
              <a:solidFill>
                <a:schemeClr val="accent5"/>
              </a:solidFill>
              <a:ln w="19050">
                <a:solidFill>
                  <a:schemeClr val="lt1"/>
                </a:solidFill>
              </a:ln>
              <a:effectLst/>
            </c:spPr>
            <c:extLst xmlns:c16r2="http://schemas.microsoft.com/office/drawing/2015/06/chart">
              <c:ext xmlns:c16="http://schemas.microsoft.com/office/drawing/2014/chart" uri="{C3380CC4-5D6E-409C-BE32-E72D297353CC}">
                <c16:uniqueId val="{00000009-8C09-477F-A00A-138A88E3D47C}"/>
              </c:ext>
            </c:extLst>
          </c:dPt>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'PPT-大陆晶圆厂产能布局——扩建、在建、计划'!$K$59:$K$62</c:f>
              <c:strCache>
                <c:ptCount val="4"/>
                <c:pt idx="0">
                  <c:v>外资</c:v>
                </c:pt>
                <c:pt idx="1">
                  <c:v>广钢气体</c:v>
                </c:pt>
                <c:pt idx="2">
                  <c:v>金宏气体</c:v>
                </c:pt>
                <c:pt idx="3">
                  <c:v>杭氧股份</c:v>
                </c:pt>
              </c:strCache>
            </c:strRef>
          </c:cat>
          <c:val>
            <c:numRef>
              <c:f>'PPT-大陆晶圆厂产能布局——扩建、在建、计划'!$L$59:$L$62</c:f>
              <c:numCache>
                <c:formatCode>0.0%</c:formatCode>
                <c:ptCount val="4"/>
                <c:pt idx="0">
                  <c:v>0.87681326272162097</c:v>
                </c:pt>
                <c:pt idx="1">
                  <c:v>9.7858623071609502E-2</c:v>
                </c:pt>
                <c:pt idx="2">
                  <c:v>1.3815335021874301E-2</c:v>
                </c:pt>
                <c:pt idx="3">
                  <c:v>1.1512779184895201E-2</c:v>
                </c:pt>
              </c:numCache>
            </c:numRef>
          </c:val>
          <c:extLst xmlns:c16r2="http://schemas.microsoft.com/office/drawing/2015/06/chart">
            <c:ext xmlns:c16="http://schemas.microsoft.com/office/drawing/2014/chart" uri="{C3380CC4-5D6E-409C-BE32-E72D297353CC}">
              <c16:uniqueId val="{0000000A-8C09-477F-A00A-138A88E3D47C}"/>
            </c:ext>
          </c:extLst>
        </c:ser>
        <c:dLbls>
          <c:showLegendKey val="0"/>
          <c:showVal val="0"/>
          <c:showCatName val="0"/>
          <c:showSerName val="0"/>
          <c:showPercent val="0"/>
          <c:showBubbleSize val="0"/>
          <c:showLeaderLines val="1"/>
        </c:dLbls>
        <c:gapWidth val="100"/>
        <c:splitType val="pos"/>
        <c:splitPos val="3"/>
        <c:secondPieSize val="75"/>
        <c:serLines>
          <c:spPr>
            <a:ln w="9525" cap="flat" cmpd="sng" algn="ctr">
              <a:solidFill>
                <a:schemeClr val="tx1">
                  <a:lumMod val="35000"/>
                  <a:lumOff val="65000"/>
                </a:schemeClr>
              </a:solidFill>
              <a:round/>
            </a:ln>
            <a:effectLst/>
          </c:spPr>
        </c:serLines>
      </c:ofPieChart>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22101929818888399"/>
          <c:y val="0.887624443164588"/>
          <c:w val="0.55182042869641301"/>
          <c:h val="8.2520879899135896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5b5e4aba-cc3f-430b-8169-4298f7894ea8}"/>
      </c:ext>
    </c:extLst>
  </c:chart>
  <c:spPr>
    <a:noFill/>
    <a:ln w="9525" cap="flat" cmpd="sng" algn="ctr">
      <a:noFill/>
      <a:round/>
    </a:ln>
    <a:effectLst/>
  </c:spPr>
  <c:txPr>
    <a:bodyPr/>
    <a:lstStyle/>
    <a:p>
      <a:pPr>
        <a:defRPr lang="zh-CN">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7478657658125E-2"/>
          <c:y val="4.6413502109704602E-2"/>
          <c:w val="0.86673211619343105"/>
          <c:h val="0.81319246486594199"/>
        </c:manualLayout>
      </c:layout>
      <c:barChart>
        <c:barDir val="col"/>
        <c:grouping val="clustered"/>
        <c:varyColors val="0"/>
        <c:ser>
          <c:idx val="0"/>
          <c:order val="0"/>
          <c:tx>
            <c:strRef>
              <c:f>'2024年新增市场市占率'!$F$14</c:f>
              <c:strCache>
                <c:ptCount val="1"/>
                <c:pt idx="0">
                  <c:v>中标项目（万方/h）</c:v>
                </c:pt>
              </c:strCache>
            </c:strRef>
          </c:tx>
          <c:spPr>
            <a:solidFill>
              <a:schemeClr val="accent1"/>
            </a:solidFill>
            <a:ln>
              <a:noFill/>
            </a:ln>
            <a:effectLst/>
          </c:spPr>
          <c:invertIfNegative val="0"/>
          <c:dPt>
            <c:idx val="0"/>
            <c:invertIfNegative val="0"/>
            <c:bubble3D val="0"/>
            <c:spPr>
              <a:solidFill>
                <a:srgbClr val="C00000"/>
              </a:solidFill>
              <a:ln>
                <a:noFill/>
              </a:ln>
              <a:effectLst/>
            </c:spPr>
            <c:extLst xmlns:c16r2="http://schemas.microsoft.com/office/drawing/2015/06/chart">
              <c:ext xmlns:c16="http://schemas.microsoft.com/office/drawing/2014/chart" uri="{C3380CC4-5D6E-409C-BE32-E72D297353CC}">
                <c16:uniqueId val="{00000001-6EA3-4F84-804C-9320EACE874F}"/>
              </c:ext>
            </c:extLst>
          </c:dPt>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'2024年新增市场市占率'!$E$15:$E$19</c:f>
              <c:strCache>
                <c:ptCount val="5"/>
                <c:pt idx="0">
                  <c:v>广钢气体</c:v>
                </c:pt>
                <c:pt idx="1">
                  <c:v>梅塞尔</c:v>
                </c:pt>
                <c:pt idx="2">
                  <c:v>法液空</c:v>
                </c:pt>
                <c:pt idx="3">
                  <c:v>杭氧股份</c:v>
                </c:pt>
                <c:pt idx="4">
                  <c:v>合计</c:v>
                </c:pt>
              </c:strCache>
            </c:strRef>
          </c:cat>
          <c:val>
            <c:numRef>
              <c:f>'2024年新增市场市占率'!$F$15:$F$19</c:f>
              <c:numCache>
                <c:formatCode>General</c:formatCode>
                <c:ptCount val="5"/>
                <c:pt idx="0">
                  <c:v>13.5</c:v>
                </c:pt>
                <c:pt idx="1">
                  <c:v>10</c:v>
                </c:pt>
                <c:pt idx="2">
                  <c:v>7.2</c:v>
                </c:pt>
                <c:pt idx="3">
                  <c:v>1.5</c:v>
                </c:pt>
                <c:pt idx="4">
                  <c:v>32.200000000000003</c:v>
                </c:pt>
              </c:numCache>
            </c:numRef>
          </c:val>
          <c:extLst xmlns:c16r2="http://schemas.microsoft.com/office/drawing/2015/06/chart">
            <c:ext xmlns:c16="http://schemas.microsoft.com/office/drawing/2014/chart" uri="{C3380CC4-5D6E-409C-BE32-E72D297353CC}">
              <c16:uniqueId val="{00000002-6EA3-4F84-804C-9320EACE874F}"/>
            </c:ext>
          </c:extLst>
        </c:ser>
        <c:dLbls>
          <c:showLegendKey val="0"/>
          <c:showVal val="0"/>
          <c:showCatName val="0"/>
          <c:showSerName val="0"/>
          <c:showPercent val="0"/>
          <c:showBubbleSize val="0"/>
        </c:dLbls>
        <c:gapWidth val="219"/>
        <c:overlap val="-27"/>
        <c:axId val="831483344"/>
        <c:axId val="831476272"/>
      </c:barChart>
      <c:lineChart>
        <c:grouping val="standard"/>
        <c:varyColors val="0"/>
        <c:ser>
          <c:idx val="1"/>
          <c:order val="1"/>
          <c:tx>
            <c:strRef>
              <c:f>'2024年新增市场市占率'!$G$14</c:f>
              <c:strCache>
                <c:ptCount val="1"/>
                <c:pt idx="0">
                  <c:v>市占率</c:v>
                </c:pt>
              </c:strCache>
            </c:strRef>
          </c:tx>
          <c:spPr>
            <a:ln w="28575" cap="rnd">
              <a:noFill/>
              <a:round/>
            </a:ln>
            <a:effectLst/>
          </c:spPr>
          <c:marker>
            <c:symbol val="triangle"/>
            <c:size val="7"/>
            <c:spPr>
              <a:solidFill>
                <a:schemeClr val="accent2"/>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'2024年新增市场市占率'!$E$15:$E$19</c:f>
              <c:strCache>
                <c:ptCount val="5"/>
                <c:pt idx="0">
                  <c:v>广钢气体</c:v>
                </c:pt>
                <c:pt idx="1">
                  <c:v>梅塞尔</c:v>
                </c:pt>
                <c:pt idx="2">
                  <c:v>法液空</c:v>
                </c:pt>
                <c:pt idx="3">
                  <c:v>杭氧股份</c:v>
                </c:pt>
                <c:pt idx="4">
                  <c:v>合计</c:v>
                </c:pt>
              </c:strCache>
            </c:strRef>
          </c:cat>
          <c:val>
            <c:numRef>
              <c:f>'2024年新增市场市占率'!$G$15:$G$19</c:f>
              <c:numCache>
                <c:formatCode>0%</c:formatCode>
                <c:ptCount val="5"/>
                <c:pt idx="0">
                  <c:v>0.41925465838509302</c:v>
                </c:pt>
                <c:pt idx="1">
                  <c:v>0.31055900621117999</c:v>
                </c:pt>
                <c:pt idx="2">
                  <c:v>0.22360248447205</c:v>
                </c:pt>
                <c:pt idx="3">
                  <c:v>4.6583850931677002E-2</c:v>
                </c:pt>
              </c:numCache>
            </c:numRef>
          </c:val>
          <c:smooth val="0"/>
          <c:extLst xmlns:c16r2="http://schemas.microsoft.com/office/drawing/2015/06/chart">
            <c:ext xmlns:c16="http://schemas.microsoft.com/office/drawing/2014/chart" uri="{C3380CC4-5D6E-409C-BE32-E72D297353CC}">
              <c16:uniqueId val="{00000003-6EA3-4F84-804C-9320EACE874F}"/>
            </c:ext>
          </c:extLst>
        </c:ser>
        <c:dLbls>
          <c:showLegendKey val="0"/>
          <c:showVal val="0"/>
          <c:showCatName val="0"/>
          <c:showSerName val="0"/>
          <c:showPercent val="0"/>
          <c:showBubbleSize val="0"/>
        </c:dLbls>
        <c:marker val="1"/>
        <c:smooth val="0"/>
        <c:axId val="831476816"/>
        <c:axId val="830558400"/>
      </c:lineChart>
      <c:catAx>
        <c:axId val="83148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crossAx val="831476272"/>
        <c:crosses val="autoZero"/>
        <c:auto val="1"/>
        <c:lblAlgn val="ctr"/>
        <c:lblOffset val="100"/>
        <c:noMultiLvlLbl val="0"/>
      </c:catAx>
      <c:valAx>
        <c:axId val="831476272"/>
        <c:scaling>
          <c:orientation val="minMax"/>
        </c:scaling>
        <c:delete val="0"/>
        <c:axPos val="l"/>
        <c:numFmt formatCode="General" sourceLinked="1"/>
        <c:majorTickMark val="none"/>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831483344"/>
        <c:crosses val="autoZero"/>
        <c:crossBetween val="between"/>
      </c:valAx>
      <c:catAx>
        <c:axId val="831476816"/>
        <c:scaling>
          <c:orientation val="minMax"/>
        </c:scaling>
        <c:delete val="1"/>
        <c:axPos val="b"/>
        <c:numFmt formatCode="General" sourceLinked="1"/>
        <c:majorTickMark val="out"/>
        <c:minorTickMark val="none"/>
        <c:tickLblPos val="nextTo"/>
        <c:crossAx val="830558400"/>
        <c:crosses val="autoZero"/>
        <c:auto val="1"/>
        <c:lblAlgn val="ctr"/>
        <c:lblOffset val="100"/>
        <c:noMultiLvlLbl val="0"/>
      </c:catAx>
      <c:valAx>
        <c:axId val="830558400"/>
        <c:scaling>
          <c:orientation val="minMax"/>
        </c:scaling>
        <c:delete val="0"/>
        <c:axPos val="r"/>
        <c:numFmt formatCode="0%" sourceLinked="1"/>
        <c:majorTickMark val="out"/>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831476816"/>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24724752060222299"/>
          <c:y val="5.5379248480015998E-2"/>
          <c:w val="0.46855670188860699"/>
          <c:h val="7.1203030000996703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95484ca7-cdf2-48f1-a59c-18fb7770bc9e}"/>
      </c:ext>
    </c:extLst>
  </c:chart>
  <c:spPr>
    <a:noFill/>
    <a:ln w="9525" cap="flat" cmpd="sng" algn="ctr">
      <a:noFill/>
      <a:round/>
    </a:ln>
    <a:effectLst/>
  </c:spPr>
  <c:txPr>
    <a:bodyPr/>
    <a:lstStyle/>
    <a:p>
      <a:pPr>
        <a:defRPr lang="zh-CN">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849518810148703E-2"/>
          <c:y val="5.1400554097404502E-2"/>
          <c:w val="0.87763801399825003"/>
          <c:h val="0.82893919510061198"/>
        </c:manualLayout>
      </c:layout>
      <c:barChart>
        <c:barDir val="col"/>
        <c:grouping val="clustered"/>
        <c:varyColors val="0"/>
        <c:ser>
          <c:idx val="0"/>
          <c:order val="0"/>
          <c:tx>
            <c:strRef>
              <c:f>'PPT-大陆晶圆厂产能布局——扩建、在建、计划'!$P$2</c:f>
              <c:strCache>
                <c:ptCount val="1"/>
                <c:pt idx="0">
                  <c:v>国产厂获取项目比例（按晶圆产能）</c:v>
                </c:pt>
              </c:strCache>
            </c:strRef>
          </c:tx>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'PPT-大陆晶圆厂产能布局——扩建、在建、计划'!$O$3:$O$5</c:f>
              <c:strCache>
                <c:ptCount val="3"/>
                <c:pt idx="0">
                  <c:v>建成项目</c:v>
                </c:pt>
                <c:pt idx="1">
                  <c:v>在建产能</c:v>
                </c:pt>
                <c:pt idx="2">
                  <c:v>计划产能</c:v>
                </c:pt>
              </c:strCache>
            </c:strRef>
          </c:cat>
          <c:val>
            <c:numRef>
              <c:f>'PPT-大陆晶圆厂产能布局——扩建、在建、计划'!$P$3:$P$5</c:f>
              <c:numCache>
                <c:formatCode>0.0%</c:formatCode>
                <c:ptCount val="3"/>
                <c:pt idx="0">
                  <c:v>0.123186737278379</c:v>
                </c:pt>
                <c:pt idx="1">
                  <c:v>0.40565012676566498</c:v>
                </c:pt>
                <c:pt idx="2">
                  <c:v>0.55405405405405395</c:v>
                </c:pt>
              </c:numCache>
            </c:numRef>
          </c:val>
          <c:extLst xmlns:c16r2="http://schemas.microsoft.com/office/drawing/2015/06/chart">
            <c:ext xmlns:c16="http://schemas.microsoft.com/office/drawing/2014/chart" uri="{C3380CC4-5D6E-409C-BE32-E72D297353CC}">
              <c16:uniqueId val="{00000000-8EA3-4727-9A24-6111223D074D}"/>
            </c:ext>
          </c:extLst>
        </c:ser>
        <c:dLbls>
          <c:showLegendKey val="0"/>
          <c:showVal val="0"/>
          <c:showCatName val="0"/>
          <c:showSerName val="0"/>
          <c:showPercent val="0"/>
          <c:showBubbleSize val="0"/>
        </c:dLbls>
        <c:gapWidth val="150"/>
        <c:axId val="829600368"/>
        <c:axId val="1087501744"/>
      </c:barChart>
      <c:catAx>
        <c:axId val="829600368"/>
        <c:scaling>
          <c:orientation val="minMax"/>
        </c:scaling>
        <c:delete val="0"/>
        <c:axPos val="b"/>
        <c:numFmt formatCode="General" sourceLinked="0"/>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crossAx val="1087501744"/>
        <c:crosses val="autoZero"/>
        <c:auto val="1"/>
        <c:lblAlgn val="ctr"/>
        <c:lblOffset val="100"/>
        <c:noMultiLvlLbl val="0"/>
      </c:catAx>
      <c:valAx>
        <c:axId val="1087501744"/>
        <c:scaling>
          <c:orientation val="minMax"/>
        </c:scaling>
        <c:delete val="0"/>
        <c:axPos val="l"/>
        <c:numFmt formatCode="0%" sourceLinked="0"/>
        <c:majorTickMark val="out"/>
        <c:minorTickMark val="none"/>
        <c:tickLblPos val="nextTo"/>
        <c:txPr>
          <a:bodyPr rot="-60000000" spcFirstLastPara="0" vertOverflow="ellipsis" vert="horz" wrap="square" anchor="ctr" anchorCtr="1"/>
          <a:lstStyle/>
          <a:p>
            <a:pPr>
              <a:defRPr lang="zh-CN" sz="1000" b="0" i="0" u="none" strike="noStrike" kern="1200" baseline="0">
                <a:solidFill>
                  <a:schemeClr val="tx1"/>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crossAx val="829600368"/>
        <c:crosses val="autoZero"/>
        <c:crossBetween val="between"/>
      </c:valAx>
    </c:plotArea>
    <c:legend>
      <c:legendPos val="r"/>
      <c:legendEntry>
        <c:idx val="0"/>
        <c:txPr>
          <a:bodyPr rot="0" spcFirstLastPara="0" vertOverflow="ellipsis" vert="horz" wrap="square" anchor="ctr" anchorCtr="1"/>
          <a:lstStyle/>
          <a:p>
            <a:pPr>
              <a:defRPr lang="zh-CN" sz="1000" b="0" i="0" u="none" strike="noStrike" kern="1200" baseline="0">
                <a:solidFill>
                  <a:schemeClr val="tx1"/>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21782439513646301"/>
          <c:y val="2.34500777909685E-3"/>
          <c:w val="0.55836779202934705"/>
          <c:h val="7.8996427529892096E-2"/>
        </c:manualLayout>
      </c:layout>
      <c:overlay val="0"/>
      <c:txPr>
        <a:bodyPr rot="0" spcFirstLastPara="0" vertOverflow="ellipsis" vert="horz" wrap="square" anchor="ctr" anchorCtr="1"/>
        <a:lstStyle/>
        <a:p>
          <a:pPr>
            <a:defRPr lang="zh-CN" sz="1000" b="0" i="0" u="none" strike="noStrike" kern="1200" baseline="0">
              <a:solidFill>
                <a:schemeClr val="tx1"/>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296d498e-2663-4c7f-9a44-34f2db85a880}"/>
      </c:ext>
    </c:extLst>
  </c:chart>
  <c:spPr>
    <a:ln>
      <a:noFill/>
    </a:ln>
  </c:spPr>
  <c:txPr>
    <a:bodyPr/>
    <a:lstStyle/>
    <a:p>
      <a:pPr>
        <a:defRPr lang="zh-CN">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1849518810148731E-2"/>
          <c:y val="5.1400554097404488E-2"/>
          <c:w val="0.87763801399825025"/>
          <c:h val="0.8326195683872849"/>
        </c:manualLayout>
      </c:layout>
      <c:barChart>
        <c:barDir val="col"/>
        <c:grouping val="clustered"/>
        <c:varyColors val="0"/>
        <c:ser>
          <c:idx val="0"/>
          <c:order val="0"/>
          <c:tx>
            <c:strRef>
              <c:f>广钢气体各年电子大宗新增市场市占率!$B$6</c:f>
              <c:strCache>
                <c:ptCount val="1"/>
                <c:pt idx="0">
                  <c:v>新增市场市占率及预测</c:v>
                </c:pt>
              </c:strCache>
            </c:strRef>
          </c:tx>
          <c:invertIfNegative val="0"/>
          <c:dLbls>
            <c:spPr>
              <a:noFill/>
              <a:ln>
                <a:noFill/>
              </a:ln>
              <a:effectLst/>
            </c:sp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ext>
            </c:extLst>
          </c:dLbls>
          <c:cat>
            <c:strRef>
              <c:f>广钢气体各年电子大宗新增市场市占率!$C$2:$H$2</c:f>
              <c:strCache>
                <c:ptCount val="5"/>
                <c:pt idx="0">
                  <c:v>2022</c:v>
                </c:pt>
                <c:pt idx="1">
                  <c:v>2023</c:v>
                </c:pt>
                <c:pt idx="2">
                  <c:v>2024</c:v>
                </c:pt>
                <c:pt idx="3">
                  <c:v>2025E</c:v>
                </c:pt>
                <c:pt idx="4">
                  <c:v>2026E</c:v>
                </c:pt>
              </c:strCache>
            </c:strRef>
          </c:cat>
          <c:val>
            <c:numRef>
              <c:f>广钢气体各年电子大宗新增市场市占率!$C$6:$H$6</c:f>
              <c:numCache>
                <c:formatCode>0%</c:formatCode>
                <c:ptCount val="5"/>
                <c:pt idx="0">
                  <c:v>0.48</c:v>
                </c:pt>
                <c:pt idx="1">
                  <c:v>0.30632173913043481</c:v>
                </c:pt>
                <c:pt idx="2">
                  <c:v>0.42586750788643535</c:v>
                </c:pt>
                <c:pt idx="3">
                  <c:v>0.4</c:v>
                </c:pt>
                <c:pt idx="4">
                  <c:v>0.54547329346256967</c:v>
                </c:pt>
              </c:numCache>
            </c:numRef>
          </c:val>
          <c:extLst xmlns:c16r2="http://schemas.microsoft.com/office/drawing/2015/06/chart">
            <c:ext xmlns:c16="http://schemas.microsoft.com/office/drawing/2014/chart" uri="{C3380CC4-5D6E-409C-BE32-E72D297353CC}">
              <c16:uniqueId val="{00000000-8F4A-4653-8A1B-0C465692AEF2}"/>
            </c:ext>
          </c:extLst>
        </c:ser>
        <c:dLbls>
          <c:showLegendKey val="0"/>
          <c:showVal val="0"/>
          <c:showCatName val="0"/>
          <c:showSerName val="0"/>
          <c:showPercent val="0"/>
          <c:showBubbleSize val="0"/>
        </c:dLbls>
        <c:gapWidth val="150"/>
        <c:axId val="1087497936"/>
        <c:axId val="1087502288"/>
      </c:barChart>
      <c:catAx>
        <c:axId val="1087497936"/>
        <c:scaling>
          <c:orientation val="minMax"/>
        </c:scaling>
        <c:delete val="0"/>
        <c:axPos val="b"/>
        <c:numFmt formatCode="General" sourceLinked="0"/>
        <c:majorTickMark val="out"/>
        <c:minorTickMark val="none"/>
        <c:tickLblPos val="nextTo"/>
        <c:crossAx val="1087502288"/>
        <c:crosses val="autoZero"/>
        <c:auto val="1"/>
        <c:lblAlgn val="ctr"/>
        <c:lblOffset val="100"/>
        <c:noMultiLvlLbl val="0"/>
      </c:catAx>
      <c:valAx>
        <c:axId val="1087502288"/>
        <c:scaling>
          <c:orientation val="minMax"/>
        </c:scaling>
        <c:delete val="0"/>
        <c:axPos val="l"/>
        <c:numFmt formatCode="0%" sourceLinked="0"/>
        <c:majorTickMark val="out"/>
        <c:minorTickMark val="none"/>
        <c:tickLblPos val="nextTo"/>
        <c:crossAx val="1087497936"/>
        <c:crosses val="autoZero"/>
        <c:crossBetween val="between"/>
      </c:valAx>
    </c:plotArea>
    <c:legend>
      <c:legendPos val="r"/>
      <c:layout>
        <c:manualLayout>
          <c:xMode val="edge"/>
          <c:yMode val="edge"/>
          <c:x val="0.31846228360295031"/>
          <c:y val="2.7585625870840218E-2"/>
          <c:w val="0.37030661149781591"/>
          <c:h val="9.6164522644545961E-2"/>
        </c:manualLayout>
      </c:layout>
      <c:overlay val="0"/>
    </c:legend>
    <c:plotVisOnly val="1"/>
    <c:dispBlanksAs val="gap"/>
    <c:showDLblsOverMax val="0"/>
  </c:chart>
  <c:spPr>
    <a:ln>
      <a:noFill/>
    </a:ln>
  </c:spPr>
  <c:txPr>
    <a:bodyPr/>
    <a:lstStyle/>
    <a:p>
      <a:pPr>
        <a:defRPr sz="800">
          <a:latin typeface="+mn-ea"/>
          <a:ea typeface="+mn-ea"/>
          <a:cs typeface="Arial" pitchFamily="34" charset="0"/>
        </a:defRPr>
      </a:pPr>
      <a:endParaRPr lang="zh-CN"/>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7791752399604657E-2"/>
          <c:y val="5.0925925925925923E-2"/>
          <c:w val="0.85126381013819918"/>
          <c:h val="0.83299358413531654"/>
        </c:manualLayout>
      </c:layout>
      <c:barChart>
        <c:barDir val="col"/>
        <c:grouping val="clustered"/>
        <c:varyColors val="0"/>
        <c:ser>
          <c:idx val="0"/>
          <c:order val="0"/>
          <c:tx>
            <c:strRef>
              <c:f>广钢气体各年电子大宗新增市场市占率!$B$3</c:f>
              <c:strCache>
                <c:ptCount val="1"/>
                <c:pt idx="0">
                  <c:v>广钢气体中标装机量及预测（万方/h）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广钢气体各年电子大宗新增市场市占率!$C$2:$H$2</c:f>
              <c:strCache>
                <c:ptCount val="5"/>
                <c:pt idx="0">
                  <c:v>2022</c:v>
                </c:pt>
                <c:pt idx="1">
                  <c:v>2023</c:v>
                </c:pt>
                <c:pt idx="2">
                  <c:v>2024</c:v>
                </c:pt>
                <c:pt idx="3">
                  <c:v>2025E</c:v>
                </c:pt>
                <c:pt idx="4">
                  <c:v>2026E</c:v>
                </c:pt>
              </c:strCache>
            </c:strRef>
          </c:cat>
          <c:val>
            <c:numRef>
              <c:f>广钢气体各年电子大宗新增市场市占率!$C$3:$H$3</c:f>
              <c:numCache>
                <c:formatCode>0</c:formatCode>
                <c:ptCount val="5"/>
                <c:pt idx="0">
                  <c:v>29.05</c:v>
                </c:pt>
                <c:pt idx="1">
                  <c:v>7.0454000000000008</c:v>
                </c:pt>
                <c:pt idx="2">
                  <c:v>13.5</c:v>
                </c:pt>
                <c:pt idx="3" formatCode="0_ ">
                  <c:v>14</c:v>
                </c:pt>
                <c:pt idx="4" formatCode="0_ ">
                  <c:v>33.0625</c:v>
                </c:pt>
              </c:numCache>
            </c:numRef>
          </c:val>
          <c:extLst xmlns:c16r2="http://schemas.microsoft.com/office/drawing/2015/06/chart">
            <c:ext xmlns:c16="http://schemas.microsoft.com/office/drawing/2014/chart" uri="{C3380CC4-5D6E-409C-BE32-E72D297353CC}">
              <c16:uniqueId val="{00000000-A49B-48AD-B4B8-EEBEDF1D74E0}"/>
            </c:ext>
          </c:extLst>
        </c:ser>
        <c:dLbls>
          <c:showLegendKey val="0"/>
          <c:showVal val="0"/>
          <c:showCatName val="0"/>
          <c:showSerName val="0"/>
          <c:showPercent val="0"/>
          <c:showBubbleSize val="0"/>
        </c:dLbls>
        <c:gapWidth val="219"/>
        <c:axId val="1087509360"/>
        <c:axId val="1087506640"/>
      </c:barChart>
      <c:lineChart>
        <c:grouping val="standard"/>
        <c:varyColors val="0"/>
        <c:ser>
          <c:idx val="1"/>
          <c:order val="1"/>
          <c:tx>
            <c:strRef>
              <c:f>广钢气体各年电子大宗新增市场市占率!$B$4</c:f>
              <c:strCache>
                <c:ptCount val="1"/>
                <c:pt idx="0">
                  <c:v>YOY</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ea"/>
                    <a:ea typeface="+mn-ea"/>
                    <a:cs typeface="+mn-cs"/>
                  </a:defRPr>
                </a:pPr>
                <a:endParaRPr lang="zh-CN"/>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广钢气体各年电子大宗新增市场市占率!$C$2:$H$2</c:f>
              <c:strCache>
                <c:ptCount val="5"/>
                <c:pt idx="0">
                  <c:v>2022</c:v>
                </c:pt>
                <c:pt idx="1">
                  <c:v>2023</c:v>
                </c:pt>
                <c:pt idx="2">
                  <c:v>2024</c:v>
                </c:pt>
                <c:pt idx="3">
                  <c:v>2025E</c:v>
                </c:pt>
                <c:pt idx="4">
                  <c:v>2026E</c:v>
                </c:pt>
              </c:strCache>
            </c:strRef>
          </c:cat>
          <c:val>
            <c:numRef>
              <c:f>广钢气体各年电子大宗新增市场市占率!$C$4:$H$4</c:f>
              <c:numCache>
                <c:formatCode>0.0%</c:formatCode>
                <c:ptCount val="5"/>
                <c:pt idx="1">
                  <c:v>-0.75747332185886407</c:v>
                </c:pt>
                <c:pt idx="2">
                  <c:v>0.91614386692025973</c:v>
                </c:pt>
                <c:pt idx="3">
                  <c:v>3.7037037037036979E-2</c:v>
                </c:pt>
                <c:pt idx="4">
                  <c:v>1.3616071428571428</c:v>
                </c:pt>
              </c:numCache>
            </c:numRef>
          </c:val>
          <c:smooth val="1"/>
          <c:extLst xmlns:c16r2="http://schemas.microsoft.com/office/drawing/2015/06/chart">
            <c:ext xmlns:c16="http://schemas.microsoft.com/office/drawing/2014/chart" uri="{C3380CC4-5D6E-409C-BE32-E72D297353CC}">
              <c16:uniqueId val="{00000001-A49B-48AD-B4B8-EEBEDF1D74E0}"/>
            </c:ext>
          </c:extLst>
        </c:ser>
        <c:dLbls>
          <c:showLegendKey val="0"/>
          <c:showVal val="0"/>
          <c:showCatName val="0"/>
          <c:showSerName val="0"/>
          <c:showPercent val="0"/>
          <c:showBubbleSize val="0"/>
        </c:dLbls>
        <c:marker val="1"/>
        <c:smooth val="0"/>
        <c:axId val="1087503376"/>
        <c:axId val="1087499568"/>
      </c:lineChart>
      <c:catAx>
        <c:axId val="1087509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ea"/>
                <a:ea typeface="+mn-ea"/>
                <a:cs typeface="+mn-cs"/>
              </a:defRPr>
            </a:pPr>
            <a:endParaRPr lang="zh-CN"/>
          </a:p>
        </c:txPr>
        <c:crossAx val="1087506640"/>
        <c:crosses val="autoZero"/>
        <c:auto val="1"/>
        <c:lblAlgn val="ctr"/>
        <c:lblOffset val="100"/>
        <c:noMultiLvlLbl val="0"/>
      </c:catAx>
      <c:valAx>
        <c:axId val="1087506640"/>
        <c:scaling>
          <c:orientation val="minMax"/>
        </c:scaling>
        <c:delete val="0"/>
        <c:axPos val="l"/>
        <c:numFmt formatCode="0" sourceLinked="1"/>
        <c:majorTickMark val="none"/>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ea"/>
                <a:ea typeface="+mn-ea"/>
                <a:cs typeface="+mn-cs"/>
              </a:defRPr>
            </a:pPr>
            <a:endParaRPr lang="zh-CN"/>
          </a:p>
        </c:txPr>
        <c:crossAx val="1087509360"/>
        <c:crosses val="autoZero"/>
        <c:crossBetween val="between"/>
      </c:valAx>
      <c:valAx>
        <c:axId val="1087499568"/>
        <c:scaling>
          <c:orientation val="minMax"/>
          <c:max val="3"/>
          <c:min val="-1.2"/>
        </c:scaling>
        <c:delete val="0"/>
        <c:axPos val="r"/>
        <c:numFmt formatCode="0%" sourceLinked="0"/>
        <c:majorTickMark val="none"/>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ea"/>
                <a:ea typeface="+mn-ea"/>
                <a:cs typeface="+mn-cs"/>
              </a:defRPr>
            </a:pPr>
            <a:endParaRPr lang="zh-CN"/>
          </a:p>
        </c:txPr>
        <c:crossAx val="1087503376"/>
        <c:crosses val="max"/>
        <c:crossBetween val="between"/>
        <c:majorUnit val="0.5"/>
      </c:valAx>
      <c:catAx>
        <c:axId val="1087503376"/>
        <c:scaling>
          <c:orientation val="minMax"/>
        </c:scaling>
        <c:delete val="1"/>
        <c:axPos val="b"/>
        <c:numFmt formatCode="General" sourceLinked="1"/>
        <c:majorTickMark val="out"/>
        <c:minorTickMark val="none"/>
        <c:tickLblPos val="nextTo"/>
        <c:crossAx val="1087499568"/>
        <c:crossesAt val="-1"/>
        <c:auto val="1"/>
        <c:lblAlgn val="ctr"/>
        <c:lblOffset val="100"/>
        <c:noMultiLvlLbl val="0"/>
      </c:catAx>
      <c:spPr>
        <a:noFill/>
        <a:ln>
          <a:noFill/>
        </a:ln>
        <a:effectLst/>
      </c:spPr>
    </c:plotArea>
    <c:legend>
      <c:legendPos val="b"/>
      <c:layout>
        <c:manualLayout>
          <c:xMode val="edge"/>
          <c:yMode val="edge"/>
          <c:x val="0.2305338610141085"/>
          <c:y val="3.7615193934091531E-2"/>
          <c:w val="0.62187360341850872"/>
          <c:h val="7.8125546806649182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ea"/>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800">
          <a:latin typeface="+mn-ea"/>
          <a:ea typeface="+mn-ea"/>
        </a:defRPr>
      </a:pPr>
      <a:endParaRPr lang="zh-CN"/>
    </a:p>
  </c:txPr>
  <c:externalData r:id="rId4">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580927384077004E-2"/>
          <c:y val="4.5943531312340136E-2"/>
          <c:w val="0.90286351706036705"/>
          <c:h val="0.81788527867547167"/>
        </c:manualLayout>
      </c:layout>
      <c:barChart>
        <c:barDir val="col"/>
        <c:grouping val="clustered"/>
        <c:varyColors val="0"/>
        <c:ser>
          <c:idx val="0"/>
          <c:order val="0"/>
          <c:tx>
            <c:strRef>
              <c:f>中标单体最大规模（万方/h）</c:f>
              <c:strCache>
                <c:ptCount val="1"/>
                <c:pt idx="0">
                  <c:v>中标单体最大规模（万方/h）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'公司装机量（年底）梳理项目-截至2024年12月31日'!$F$82:$F$87</c:f>
              <c:numCache>
                <c:formatCode>@</c:formatCode>
                <c:ptCount val="6"/>
                <c:pt idx="0">
                  <c:v>2018</c:v>
                </c:pt>
                <c:pt idx="1">
                  <c:v>2020</c:v>
                </c:pt>
                <c:pt idx="2">
                  <c:v>2021</c:v>
                </c:pt>
                <c:pt idx="3">
                  <c:v>2022</c:v>
                </c:pt>
                <c:pt idx="4">
                  <c:v>2023</c:v>
                </c:pt>
                <c:pt idx="5">
                  <c:v>2024</c:v>
                </c:pt>
              </c:numCache>
            </c:numRef>
          </c:cat>
          <c:val>
            <c:numRef>
              <c:f>'公司装机量（年底）梳理项目-截至2024年12月31日'!$G$82:$G$87</c:f>
              <c:numCache>
                <c:formatCode>0.0_);[Red]\(0.0\)</c:formatCode>
                <c:ptCount val="6"/>
                <c:pt idx="0">
                  <c:v>1.35</c:v>
                </c:pt>
                <c:pt idx="1">
                  <c:v>1.35</c:v>
                </c:pt>
                <c:pt idx="2">
                  <c:v>7.5</c:v>
                </c:pt>
                <c:pt idx="3">
                  <c:v>6.4</c:v>
                </c:pt>
                <c:pt idx="4">
                  <c:v>1.9</c:v>
                </c:pt>
                <c:pt idx="5">
                  <c:v>11</c:v>
                </c:pt>
              </c:numCache>
            </c:numRef>
          </c:val>
          <c:extLst xmlns:c16r2="http://schemas.microsoft.com/office/drawing/2015/06/chart">
            <c:ext xmlns:c16="http://schemas.microsoft.com/office/drawing/2014/chart" uri="{C3380CC4-5D6E-409C-BE32-E72D297353CC}">
              <c16:uniqueId val="{00000000-E31F-4A89-A96F-4B63A45BE16A}"/>
            </c:ext>
          </c:extLst>
        </c:ser>
        <c:dLbls>
          <c:showLegendKey val="0"/>
          <c:showVal val="1"/>
          <c:showCatName val="0"/>
          <c:showSerName val="0"/>
          <c:showPercent val="0"/>
          <c:showBubbleSize val="0"/>
        </c:dLbls>
        <c:gapWidth val="75"/>
        <c:axId val="1087499024"/>
        <c:axId val="1087509904"/>
      </c:barChart>
      <c:catAx>
        <c:axId val="1087499024"/>
        <c:scaling>
          <c:orientation val="minMax"/>
        </c:scaling>
        <c:delete val="0"/>
        <c:axPos val="b"/>
        <c:numFmt formatCode="@"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09904"/>
        <c:crosses val="autoZero"/>
        <c:auto val="1"/>
        <c:lblAlgn val="ctr"/>
        <c:lblOffset val="100"/>
        <c:noMultiLvlLbl val="0"/>
      </c:catAx>
      <c:valAx>
        <c:axId val="1087509904"/>
        <c:scaling>
          <c:orientation val="minMax"/>
        </c:scaling>
        <c:delete val="0"/>
        <c:axPos val="l"/>
        <c:numFmt formatCode="General" sourceLinked="0"/>
        <c:majorTickMark val="none"/>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49902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30373614643418001"/>
          <c:y val="1.0649152189731901E-3"/>
          <c:w val="0.42030511811023602"/>
          <c:h val="7.8125546806649196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e27bb0c3-b5b1-4215-9946-7bc6df631ba3}"/>
      </c:ext>
    </c:extLst>
  </c:chart>
  <c:spPr>
    <a:noFill/>
    <a:ln w="9525" cap="flat" cmpd="sng" algn="ctr">
      <a:noFill/>
      <a:round/>
    </a:ln>
    <a:effectLst/>
  </c:spPr>
  <c:txPr>
    <a:bodyPr/>
    <a:lstStyle/>
    <a:p>
      <a:pPr>
        <a:defRPr lang="zh-CN">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20338161343453"/>
          <c:y val="7.8760583012282004E-3"/>
          <c:w val="0.36335023678307998"/>
          <c:h val="0.89216910626716805"/>
        </c:manualLayout>
      </c:layout>
      <c:pieChart>
        <c:varyColors val="1"/>
        <c:ser>
          <c:idx val="0"/>
          <c:order val="0"/>
          <c:dPt>
            <c:idx val="0"/>
            <c:bubble3D val="0"/>
            <c:explosion val="7"/>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6772-43C5-86A6-A51FAACC9086}"/>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6772-43C5-86A6-A51FAACC9086}"/>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6772-43C5-86A6-A51FAACC9086}"/>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6772-43C5-86A6-A51FAACC9086}"/>
              </c:ext>
            </c:extLst>
          </c:dPt>
          <c:dLbls>
            <c:dLbl>
              <c:idx val="1"/>
              <c:layout>
                <c:manualLayout>
                  <c:x val="-4.1568441233247898E-2"/>
                  <c:y val="0"/>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772-43C5-86A6-A51FAACC9086}"/>
                </c:ext>
                <c:ext xmlns:c15="http://schemas.microsoft.com/office/drawing/2012/chart" uri="{CE6537A1-D6FC-4f65-9D91-7224C49458BB}"/>
              </c:extLst>
            </c:dLbl>
            <c:dLbl>
              <c:idx val="2"/>
              <c:layout>
                <c:manualLayout>
                  <c:x val="-2.3165299497097499E-2"/>
                  <c:y val="-2.6018387307193102E-19"/>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6772-43C5-86A6-A51FAACC9086}"/>
                </c:ext>
                <c:ext xmlns:c15="http://schemas.microsoft.com/office/drawing/2012/chart" uri="{CE6537A1-D6FC-4f65-9D91-7224C49458BB}"/>
              </c:extLst>
            </c:dLbl>
            <c:dLbl>
              <c:idx val="3"/>
              <c:layout>
                <c:manualLayout>
                  <c:x val="4.8361910221026198E-2"/>
                  <c:y val="0"/>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6772-43C5-86A6-A51FAACC9086}"/>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'PPT-大陆晶圆厂产能布局——扩建、在建、计划'!$K$59:$K$62</c:f>
              <c:strCache>
                <c:ptCount val="4"/>
                <c:pt idx="0">
                  <c:v>外资</c:v>
                </c:pt>
                <c:pt idx="1">
                  <c:v>广钢气体</c:v>
                </c:pt>
                <c:pt idx="2">
                  <c:v>金宏气体</c:v>
                </c:pt>
                <c:pt idx="3">
                  <c:v>杭氧股份</c:v>
                </c:pt>
              </c:strCache>
            </c:strRef>
          </c:cat>
          <c:val>
            <c:numRef>
              <c:f>'PPT-大陆晶圆厂产能布局——扩建、在建、计划'!$L$59:$L$62</c:f>
              <c:numCache>
                <c:formatCode>0.0%</c:formatCode>
                <c:ptCount val="4"/>
                <c:pt idx="0">
                  <c:v>0.87681326272162097</c:v>
                </c:pt>
                <c:pt idx="1">
                  <c:v>9.7858623071609502E-2</c:v>
                </c:pt>
                <c:pt idx="2">
                  <c:v>1.3815335021874301E-2</c:v>
                </c:pt>
                <c:pt idx="3">
                  <c:v>1.1512779184895201E-2</c:v>
                </c:pt>
              </c:numCache>
            </c:numRef>
          </c:val>
          <c:extLst xmlns:c16r2="http://schemas.microsoft.com/office/drawing/2015/06/chart">
            <c:ext xmlns:c16="http://schemas.microsoft.com/office/drawing/2014/chart" uri="{C3380CC4-5D6E-409C-BE32-E72D297353CC}">
              <c16:uniqueId val="{00000008-6772-43C5-86A6-A51FAACC9086}"/>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74708376795884202"/>
          <c:y val="0.225763860953133"/>
          <c:w val="0.19407946534755099"/>
          <c:h val="0.54360960292168004"/>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08d103ce-9783-4abb-a332-f76f6121d707}"/>
      </c:ext>
    </c:extLst>
  </c:chart>
  <c:spPr>
    <a:noFill/>
    <a:ln>
      <a:noFill/>
    </a:ln>
    <a:effectLst/>
  </c:spPr>
  <c:txPr>
    <a:bodyPr/>
    <a:lstStyle/>
    <a:p>
      <a:pPr>
        <a:defRPr lang="zh-CN">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024259355004"/>
          <c:y val="0.169140235634407"/>
          <c:w val="0.840141995954368"/>
          <c:h val="0.525622082244941"/>
        </c:manualLayout>
      </c:layout>
      <c:barChart>
        <c:barDir val="col"/>
        <c:grouping val="clustered"/>
        <c:varyColors val="0"/>
        <c:ser>
          <c:idx val="0"/>
          <c:order val="0"/>
          <c:tx>
            <c:strRef>
              <c:f>氦气情况!$C$3</c:f>
              <c:strCache>
                <c:ptCount val="1"/>
                <c:pt idx="0">
                  <c:v>2023（万立方米）</c:v>
                </c:pt>
              </c:strCache>
            </c:strRef>
          </c:tx>
          <c:spPr>
            <a:solidFill>
              <a:schemeClr val="accent1"/>
            </a:solidFill>
            <a:ln>
              <a:noFill/>
            </a:ln>
            <a:effectLst/>
          </c:spPr>
          <c:invertIfNegative val="0"/>
          <c:dLbls>
            <c:dLbl>
              <c:idx val="0"/>
              <c:layout>
                <c:manualLayout>
                  <c:x val="0.12328093770324999"/>
                  <c:y val="4.5740715143911301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2A82-4B6B-B3C1-00057D69068D}"/>
                </c:ext>
                <c:ext xmlns:c15="http://schemas.microsoft.com/office/drawing/2012/chart" uri="{CE6537A1-D6FC-4f65-9D91-7224C49458BB}"/>
              </c:extLst>
            </c:dLbl>
            <c:dLbl>
              <c:idx val="1"/>
              <c:layout>
                <c:manualLayout>
                  <c:x val="-1.51521731556942E-2"/>
                  <c:y val="0"/>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2A82-4B6B-B3C1-00057D69068D}"/>
                </c:ext>
                <c:ext xmlns:c15="http://schemas.microsoft.com/office/drawing/2012/chart" uri="{CE6537A1-D6FC-4f65-9D91-7224C49458BB}"/>
              </c:extLst>
            </c:dLbl>
            <c:dLbl>
              <c:idx val="2"/>
              <c:layout>
                <c:manualLayout>
                  <c:x val="-1.51521731556942E-2"/>
                  <c:y val="-6.94630180532743E-3"/>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2A82-4B6B-B3C1-00057D69068D}"/>
                </c:ext>
                <c:ext xmlns:c15="http://schemas.microsoft.com/office/drawing/2012/chart" uri="{CE6537A1-D6FC-4f65-9D91-7224C49458BB}"/>
              </c:extLst>
            </c:dLbl>
            <c:dLbl>
              <c:idx val="3"/>
              <c:layout>
                <c:manualLayout>
                  <c:x val="-1.2121738524555401E-2"/>
                  <c:y val="-6.36736976515127E-17"/>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2A82-4B6B-B3C1-00057D69068D}"/>
                </c:ext>
                <c:ext xmlns:c15="http://schemas.microsoft.com/office/drawing/2012/chart" uri="{CE6537A1-D6FC-4f65-9D91-7224C49458BB}"/>
              </c:extLst>
            </c:dLbl>
            <c:dLbl>
              <c:idx val="6"/>
              <c:layout>
                <c:manualLayout>
                  <c:x val="-3.0710201066521601E-4"/>
                  <c:y val="-5.5558367268822198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2A82-4B6B-B3C1-00057D69068D}"/>
                </c:ext>
                <c:ext xmlns:c15="http://schemas.microsoft.com/office/drawing/2012/chart" uri="{CE6537A1-D6FC-4f65-9D91-7224C49458BB}"/>
              </c:extLst>
            </c:dLbl>
            <c:dLbl>
              <c:idx val="7"/>
              <c:delete val="1"/>
              <c:extLst xmlns:c16r2="http://schemas.microsoft.com/office/drawing/2015/06/chart">
                <c:ext xmlns:c16="http://schemas.microsoft.com/office/drawing/2014/chart" uri="{C3380CC4-5D6E-409C-BE32-E72D297353CC}">
                  <c16:uniqueId val="{00000005-2A82-4B6B-B3C1-00057D69068D}"/>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氦气情况!$A$4:$A$12</c:f>
              <c:strCache>
                <c:ptCount val="7"/>
                <c:pt idx="0">
                  <c:v>整体</c:v>
                </c:pt>
                <c:pt idx="1">
                  <c:v>卡特尔</c:v>
                </c:pt>
                <c:pt idx="2">
                  <c:v>美国</c:v>
                </c:pt>
                <c:pt idx="3">
                  <c:v>阿尔及利亚</c:v>
                </c:pt>
                <c:pt idx="4">
                  <c:v>俄罗斯</c:v>
                </c:pt>
                <c:pt idx="5">
                  <c:v>加拿大</c:v>
                </c:pt>
                <c:pt idx="6">
                  <c:v>波兰</c:v>
                </c:pt>
              </c:strCache>
            </c:strRef>
          </c:cat>
          <c:val>
            <c:numRef>
              <c:f>氦气情况!$C$4:$C$13</c:f>
              <c:numCache>
                <c:formatCode>General</c:formatCode>
                <c:ptCount val="8"/>
                <c:pt idx="0">
                  <c:v>17174</c:v>
                </c:pt>
                <c:pt idx="1">
                  <c:v>6600</c:v>
                </c:pt>
                <c:pt idx="2">
                  <c:v>7900</c:v>
                </c:pt>
                <c:pt idx="3">
                  <c:v>1000</c:v>
                </c:pt>
                <c:pt idx="4">
                  <c:v>800</c:v>
                </c:pt>
                <c:pt idx="5">
                  <c:v>400</c:v>
                </c:pt>
                <c:pt idx="6">
                  <c:v>300</c:v>
                </c:pt>
                <c:pt idx="7">
                  <c:v>100</c:v>
                </c:pt>
              </c:numCache>
            </c:numRef>
          </c:val>
          <c:extLst xmlns:c16r2="http://schemas.microsoft.com/office/drawing/2015/06/chart">
            <c:ext xmlns:c16="http://schemas.microsoft.com/office/drawing/2014/chart" uri="{C3380CC4-5D6E-409C-BE32-E72D297353CC}">
              <c16:uniqueId val="{00000006-2A82-4B6B-B3C1-00057D69068D}"/>
            </c:ext>
          </c:extLst>
        </c:ser>
        <c:ser>
          <c:idx val="1"/>
          <c:order val="1"/>
          <c:tx>
            <c:strRef>
              <c:f>氦气情况!$D$3</c:f>
              <c:strCache>
                <c:ptCount val="1"/>
                <c:pt idx="0">
                  <c:v>2024（万立方米）</c:v>
                </c:pt>
              </c:strCache>
            </c:strRef>
          </c:tx>
          <c:spPr>
            <a:solidFill>
              <a:schemeClr val="accent2"/>
            </a:solidFill>
            <a:ln>
              <a:noFill/>
            </a:ln>
            <a:effectLst/>
          </c:spPr>
          <c:invertIfNegative val="0"/>
          <c:dLbls>
            <c:dLbl>
              <c:idx val="0"/>
              <c:layout>
                <c:manualLayout>
                  <c:x val="1.51521731556942E-2"/>
                  <c:y val="-4.8624112637292001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2A82-4B6B-B3C1-00057D69068D}"/>
                </c:ext>
                <c:ext xmlns:c15="http://schemas.microsoft.com/office/drawing/2012/chart" uri="{CE6537A1-D6FC-4f65-9D91-7224C49458BB}"/>
              </c:extLst>
            </c:dLbl>
            <c:dLbl>
              <c:idx val="1"/>
              <c:layout>
                <c:manualLayout>
                  <c:x val="9.0913038934165094E-3"/>
                  <c:y val="2.0838905415982299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2A82-4B6B-B3C1-00057D69068D}"/>
                </c:ext>
                <c:ext xmlns:c15="http://schemas.microsoft.com/office/drawing/2012/chart" uri="{CE6537A1-D6FC-4f65-9D91-7224C49458BB}"/>
              </c:extLst>
            </c:dLbl>
            <c:dLbl>
              <c:idx val="2"/>
              <c:layout>
                <c:manualLayout>
                  <c:x val="2.1213042417971801E-2"/>
                  <c:y val="-6.94630180532743E-3"/>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9-2A82-4B6B-B3C1-00057D69068D}"/>
                </c:ext>
                <c:ext xmlns:c15="http://schemas.microsoft.com/office/drawing/2012/chart" uri="{CE6537A1-D6FC-4f65-9D91-7224C49458BB}"/>
              </c:extLst>
            </c:dLbl>
            <c:dLbl>
              <c:idx val="3"/>
              <c:layout>
                <c:manualLayout>
                  <c:x val="9.0913038934165701E-3"/>
                  <c:y val="-2.77852072213098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A-2A82-4B6B-B3C1-00057D69068D}"/>
                </c:ext>
                <c:ext xmlns:c15="http://schemas.microsoft.com/office/drawing/2012/chart" uri="{CE6537A1-D6FC-4f65-9D91-7224C49458BB}"/>
              </c:extLst>
            </c:dLbl>
            <c:dLbl>
              <c:idx val="4"/>
              <c:layout>
                <c:manualLayout>
                  <c:x val="9.0913038934165094E-3"/>
                  <c:y val="-2.7785207221309699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B-2A82-4B6B-B3C1-00057D69068D}"/>
                </c:ext>
                <c:ext xmlns:c15="http://schemas.microsoft.com/office/drawing/2012/chart" uri="{CE6537A1-D6FC-4f65-9D91-7224C49458BB}"/>
              </c:extLst>
            </c:dLbl>
            <c:dLbl>
              <c:idx val="5"/>
              <c:layout>
                <c:manualLayout>
                  <c:x val="1.21217385245553E-2"/>
                  <c:y val="-4.1677810831964597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C-2A82-4B6B-B3C1-00057D69068D}"/>
                </c:ext>
                <c:ext xmlns:c15="http://schemas.microsoft.com/office/drawing/2012/chart" uri="{CE6537A1-D6FC-4f65-9D91-7224C49458BB}"/>
              </c:extLst>
            </c:dLbl>
            <c:dLbl>
              <c:idx val="6"/>
              <c:layout>
                <c:manualLayout>
                  <c:x val="5.3012447084271497E-2"/>
                  <c:y val="-6.9464439506225304E-3"/>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D-2A82-4B6B-B3C1-00057D69068D}"/>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氦气情况!$A$4:$A$12</c:f>
              <c:strCache>
                <c:ptCount val="7"/>
                <c:pt idx="0">
                  <c:v>整体</c:v>
                </c:pt>
                <c:pt idx="1">
                  <c:v>卡特尔</c:v>
                </c:pt>
                <c:pt idx="2">
                  <c:v>美国</c:v>
                </c:pt>
                <c:pt idx="3">
                  <c:v>阿尔及利亚</c:v>
                </c:pt>
                <c:pt idx="4">
                  <c:v>俄罗斯</c:v>
                </c:pt>
                <c:pt idx="5">
                  <c:v>加拿大</c:v>
                </c:pt>
                <c:pt idx="6">
                  <c:v>波兰</c:v>
                </c:pt>
              </c:strCache>
            </c:strRef>
          </c:cat>
          <c:val>
            <c:numRef>
              <c:f>氦气情况!$D$4:$D$12</c:f>
              <c:numCache>
                <c:formatCode>General</c:formatCode>
                <c:ptCount val="7"/>
                <c:pt idx="0">
                  <c:v>18200</c:v>
                </c:pt>
                <c:pt idx="1">
                  <c:v>6400</c:v>
                </c:pt>
                <c:pt idx="2">
                  <c:v>8100</c:v>
                </c:pt>
                <c:pt idx="3">
                  <c:v>1100</c:v>
                </c:pt>
                <c:pt idx="4">
                  <c:v>1700</c:v>
                </c:pt>
                <c:pt idx="5">
                  <c:v>600</c:v>
                </c:pt>
                <c:pt idx="6">
                  <c:v>300</c:v>
                </c:pt>
              </c:numCache>
            </c:numRef>
          </c:val>
          <c:extLst xmlns:c16r2="http://schemas.microsoft.com/office/drawing/2015/06/chart">
            <c:ext xmlns:c16="http://schemas.microsoft.com/office/drawing/2014/chart" uri="{C3380CC4-5D6E-409C-BE32-E72D297353CC}">
              <c16:uniqueId val="{0000000E-2A82-4B6B-B3C1-00057D69068D}"/>
            </c:ext>
          </c:extLst>
        </c:ser>
        <c:dLbls>
          <c:showLegendKey val="0"/>
          <c:showVal val="0"/>
          <c:showCatName val="0"/>
          <c:showSerName val="0"/>
          <c:showPercent val="0"/>
          <c:showBubbleSize val="0"/>
        </c:dLbls>
        <c:gapWidth val="219"/>
        <c:overlap val="-27"/>
        <c:axId val="1087500112"/>
        <c:axId val="1087510448"/>
      </c:barChart>
      <c:catAx>
        <c:axId val="1087500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crossAx val="1087510448"/>
        <c:crosses val="autoZero"/>
        <c:auto val="1"/>
        <c:lblAlgn val="ctr"/>
        <c:lblOffset val="100"/>
        <c:noMultiLvlLbl val="0"/>
      </c:catAx>
      <c:valAx>
        <c:axId val="1087510448"/>
        <c:scaling>
          <c:orientation val="minMax"/>
        </c:scaling>
        <c:delete val="0"/>
        <c:axPos val="l"/>
        <c:numFmt formatCode="General" sourceLinked="1"/>
        <c:majorTickMark val="none"/>
        <c:minorTickMark val="none"/>
        <c:tickLblPos val="nextTo"/>
        <c:spPr>
          <a:noFill/>
          <a:ln>
            <a:solidFill>
              <a:schemeClr val="bg1">
                <a:lumMod val="6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00112"/>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j-lt"/>
                <a:ea typeface="+mj-lt"/>
                <a:cs typeface="+mj-lt"/>
                <a:sym typeface="+mj-lt"/>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j-lt"/>
                <a:ea typeface="+mj-lt"/>
                <a:cs typeface="+mj-lt"/>
                <a:sym typeface="+mj-lt"/>
              </a:defRPr>
            </a:pPr>
            <a:endParaRPr lang="zh-CN"/>
          </a:p>
        </c:txPr>
      </c:legendEntry>
      <c:layout>
        <c:manualLayout>
          <c:xMode val="edge"/>
          <c:yMode val="edge"/>
          <c:x val="0.21649735206826001"/>
          <c:y val="4.1677810831964597E-2"/>
          <c:w val="0.59730964217486904"/>
          <c:h val="0.117219663394247"/>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j-lt"/>
              <a:ea typeface="+mj-lt"/>
              <a:cs typeface="+mj-lt"/>
              <a:sym typeface="+mj-lt"/>
            </a:defRPr>
          </a:pPr>
          <a:endParaRPr lang="zh-CN"/>
        </a:p>
      </c:txPr>
    </c:legend>
    <c:plotVisOnly val="1"/>
    <c:dispBlanksAs val="gap"/>
    <c:showDLblsOverMax val="0"/>
    <c:extLst xmlns:c16r2="http://schemas.microsoft.com/office/drawing/2015/06/chart">
      <c:ext uri="{0b15fc19-7d7d-44ad-8c2d-2c3a37ce22c3}">
        <chartProps xmlns="https://web.wps.cn/et/2018/main" chartId="{94950094-636e-4eb3-90c3-6989a9df9038}"/>
      </c:ext>
    </c:extLst>
  </c:chart>
  <c:spPr>
    <a:noFill/>
    <a:ln w="9525" cap="flat" cmpd="sng" algn="ctr">
      <a:noFill/>
      <a:round/>
    </a:ln>
    <a:effectLst/>
  </c:spPr>
  <c:txPr>
    <a:bodyPr/>
    <a:lstStyle/>
    <a:p>
      <a:pPr>
        <a:defRPr lang="zh-CN">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914260717410295E-2"/>
          <c:y val="0.11311358631978199"/>
          <c:w val="0.83385192475940495"/>
          <c:h val="0.74210218131300099"/>
        </c:manualLayout>
      </c:layout>
      <c:barChart>
        <c:barDir val="col"/>
        <c:grouping val="clustered"/>
        <c:varyColors val="0"/>
        <c:ser>
          <c:idx val="0"/>
          <c:order val="0"/>
          <c:tx>
            <c:strRef>
              <c:f>氦气情况!$A$25</c:f>
              <c:strCache>
                <c:ptCount val="1"/>
                <c:pt idx="0">
                  <c:v>供给（万方）</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氦气情况!$B$22:$F$22</c:f>
              <c:numCache>
                <c:formatCode>General</c:formatCode>
                <c:ptCount val="5"/>
                <c:pt idx="0">
                  <c:v>2020</c:v>
                </c:pt>
                <c:pt idx="1">
                  <c:v>2021</c:v>
                </c:pt>
                <c:pt idx="2">
                  <c:v>2022</c:v>
                </c:pt>
                <c:pt idx="3">
                  <c:v>2023</c:v>
                </c:pt>
                <c:pt idx="4">
                  <c:v>2024</c:v>
                </c:pt>
              </c:numCache>
            </c:numRef>
          </c:cat>
          <c:val>
            <c:numRef>
              <c:f>氦气情况!$B$25:$F$25</c:f>
              <c:numCache>
                <c:formatCode>0</c:formatCode>
                <c:ptCount val="5"/>
                <c:pt idx="0">
                  <c:v>2116</c:v>
                </c:pt>
                <c:pt idx="1">
                  <c:v>2160</c:v>
                </c:pt>
                <c:pt idx="2">
                  <c:v>2404.1</c:v>
                </c:pt>
                <c:pt idx="3">
                  <c:v>2573.6</c:v>
                </c:pt>
                <c:pt idx="4">
                  <c:v>2485.8168067226902</c:v>
                </c:pt>
              </c:numCache>
            </c:numRef>
          </c:val>
          <c:extLst xmlns:c16r2="http://schemas.microsoft.com/office/drawing/2015/06/chart">
            <c:ext xmlns:c16="http://schemas.microsoft.com/office/drawing/2014/chart" uri="{C3380CC4-5D6E-409C-BE32-E72D297353CC}">
              <c16:uniqueId val="{00000000-9DB1-417B-BE5B-B035C754FDEB}"/>
            </c:ext>
          </c:extLst>
        </c:ser>
        <c:ser>
          <c:idx val="1"/>
          <c:order val="1"/>
          <c:tx>
            <c:strRef>
              <c:f>氦气情况!$A$26</c:f>
              <c:strCache>
                <c:ptCount val="1"/>
                <c:pt idx="0">
                  <c:v>需求（万方）</c:v>
                </c:pt>
              </c:strCache>
            </c:strRef>
          </c:tx>
          <c:spPr>
            <a:solidFill>
              <a:schemeClr val="accent2"/>
            </a:solidFill>
            <a:ln>
              <a:noFill/>
            </a:ln>
            <a:effectLst/>
          </c:spPr>
          <c:invertIfNegative val="0"/>
          <c:cat>
            <c:numRef>
              <c:f>氦气情况!$B$22:$F$22</c:f>
              <c:numCache>
                <c:formatCode>General</c:formatCode>
                <c:ptCount val="5"/>
                <c:pt idx="0">
                  <c:v>2020</c:v>
                </c:pt>
                <c:pt idx="1">
                  <c:v>2021</c:v>
                </c:pt>
                <c:pt idx="2">
                  <c:v>2022</c:v>
                </c:pt>
                <c:pt idx="3">
                  <c:v>2023</c:v>
                </c:pt>
                <c:pt idx="4">
                  <c:v>2024</c:v>
                </c:pt>
              </c:numCache>
            </c:numRef>
          </c:cat>
          <c:val>
            <c:numRef>
              <c:f>氦气情况!$B$26:$F$26</c:f>
              <c:numCache>
                <c:formatCode>General</c:formatCode>
                <c:ptCount val="5"/>
                <c:pt idx="0">
                  <c:v>2129</c:v>
                </c:pt>
                <c:pt idx="1">
                  <c:v>2118</c:v>
                </c:pt>
                <c:pt idx="2" formatCode="0">
                  <c:v>2380</c:v>
                </c:pt>
                <c:pt idx="3">
                  <c:v>2565</c:v>
                </c:pt>
                <c:pt idx="4" formatCode="0">
                  <c:v>2414.1</c:v>
                </c:pt>
              </c:numCache>
            </c:numRef>
          </c:val>
          <c:extLst xmlns:c16r2="http://schemas.microsoft.com/office/drawing/2015/06/chart">
            <c:ext xmlns:c16="http://schemas.microsoft.com/office/drawing/2014/chart" uri="{C3380CC4-5D6E-409C-BE32-E72D297353CC}">
              <c16:uniqueId val="{00000001-9DB1-417B-BE5B-B035C754FDEB}"/>
            </c:ext>
          </c:extLst>
        </c:ser>
        <c:dLbls>
          <c:showLegendKey val="0"/>
          <c:showVal val="0"/>
          <c:showCatName val="0"/>
          <c:showSerName val="0"/>
          <c:showPercent val="0"/>
          <c:showBubbleSize val="0"/>
        </c:dLbls>
        <c:gapWidth val="219"/>
        <c:overlap val="-27"/>
        <c:axId val="1087500656"/>
        <c:axId val="1087502832"/>
      </c:barChart>
      <c:barChart>
        <c:barDir val="col"/>
        <c:grouping val="clustered"/>
        <c:varyColors val="0"/>
        <c:ser>
          <c:idx val="2"/>
          <c:order val="2"/>
          <c:tx>
            <c:strRef>
              <c:f>氦气情况!$A$27</c:f>
              <c:strCache>
                <c:ptCount val="1"/>
                <c:pt idx="0">
                  <c:v>需求缺口（万方，右轴）</c:v>
                </c:pt>
              </c:strCache>
            </c:strRef>
          </c:tx>
          <c:spPr>
            <a:solidFill>
              <a:schemeClr val="accent3"/>
            </a:solidFill>
            <a:ln>
              <a:noFill/>
            </a:ln>
            <a:effectLst/>
          </c:spPr>
          <c:invertIfNegative val="0"/>
          <c:dLbls>
            <c:dLbl>
              <c:idx val="0"/>
              <c:layout>
                <c:manualLayout>
                  <c:x val="-2.3640388842745099E-17"/>
                  <c:y val="8.7962962962963104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9DB1-417B-BE5B-B035C754FDEB}"/>
                </c:ext>
                <c:ext xmlns:c15="http://schemas.microsoft.com/office/drawing/2012/chart" uri="{CE6537A1-D6FC-4f65-9D91-7224C49458BB}"/>
              </c:extLst>
            </c:dLbl>
            <c:dLbl>
              <c:idx val="1"/>
              <c:layout>
                <c:manualLayout>
                  <c:x val="-4.72807776854901E-17"/>
                  <c:y val="9.2592592592592601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9DB1-417B-BE5B-B035C754FDEB}"/>
                </c:ext>
                <c:ext xmlns:c15="http://schemas.microsoft.com/office/drawing/2012/chart" uri="{CE6537A1-D6FC-4f65-9D91-7224C49458BB}"/>
              </c:extLst>
            </c:dLbl>
            <c:dLbl>
              <c:idx val="2"/>
              <c:layout>
                <c:manualLayout>
                  <c:x val="-7.7369439071566697E-3"/>
                  <c:y val="0.106481481481481"/>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9DB1-417B-BE5B-B035C754FDEB}"/>
                </c:ext>
                <c:ext xmlns:c15="http://schemas.microsoft.com/office/drawing/2012/chart" uri="{CE6537A1-D6FC-4f65-9D91-7224C49458BB}"/>
              </c:extLst>
            </c:dLbl>
            <c:dLbl>
              <c:idx val="3"/>
              <c:layout>
                <c:manualLayout>
                  <c:x val="-2.5789813023855599E-3"/>
                  <c:y val="9.2592592592592601E-2"/>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9DB1-417B-BE5B-B035C754FDEB}"/>
                </c:ext>
                <c:ext xmlns:c15="http://schemas.microsoft.com/office/drawing/2012/chart" uri="{CE6537A1-D6FC-4f65-9D91-7224C49458BB}"/>
              </c:extLst>
            </c:dLbl>
            <c:dLbl>
              <c:idx val="4"/>
              <c:layout>
                <c:manualLayout>
                  <c:x val="0"/>
                  <c:y val="0.16666666666666699"/>
                </c:manualLayout>
              </c:layout>
              <c:dLblPos val="outEnd"/>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9DB1-417B-BE5B-B035C754FDEB}"/>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氦气情况!$B$22:$F$22</c:f>
              <c:numCache>
                <c:formatCode>General</c:formatCode>
                <c:ptCount val="5"/>
                <c:pt idx="0">
                  <c:v>2020</c:v>
                </c:pt>
                <c:pt idx="1">
                  <c:v>2021</c:v>
                </c:pt>
                <c:pt idx="2">
                  <c:v>2022</c:v>
                </c:pt>
                <c:pt idx="3">
                  <c:v>2023</c:v>
                </c:pt>
                <c:pt idx="4">
                  <c:v>2024</c:v>
                </c:pt>
              </c:numCache>
            </c:numRef>
          </c:cat>
          <c:val>
            <c:numRef>
              <c:f>氦气情况!$B$27:$F$27</c:f>
              <c:numCache>
                <c:formatCode>0</c:formatCode>
                <c:ptCount val="5"/>
                <c:pt idx="0">
                  <c:v>-13</c:v>
                </c:pt>
                <c:pt idx="1">
                  <c:v>42</c:v>
                </c:pt>
                <c:pt idx="2">
                  <c:v>24.099999999999898</c:v>
                </c:pt>
                <c:pt idx="3">
                  <c:v>8.5999999999999108</c:v>
                </c:pt>
                <c:pt idx="4">
                  <c:v>71.716806722689398</c:v>
                </c:pt>
              </c:numCache>
            </c:numRef>
          </c:val>
          <c:extLst xmlns:c16r2="http://schemas.microsoft.com/office/drawing/2015/06/chart">
            <c:ext xmlns:c16="http://schemas.microsoft.com/office/drawing/2014/chart" uri="{C3380CC4-5D6E-409C-BE32-E72D297353CC}">
              <c16:uniqueId val="{00000007-9DB1-417B-BE5B-B035C754FDEB}"/>
            </c:ext>
          </c:extLst>
        </c:ser>
        <c:dLbls>
          <c:showLegendKey val="0"/>
          <c:showVal val="0"/>
          <c:showCatName val="0"/>
          <c:showSerName val="0"/>
          <c:showPercent val="0"/>
          <c:showBubbleSize val="0"/>
        </c:dLbls>
        <c:gapWidth val="219"/>
        <c:overlap val="-27"/>
        <c:axId val="1087503920"/>
        <c:axId val="1087505552"/>
      </c:barChart>
      <c:catAx>
        <c:axId val="1087500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02832"/>
        <c:crosses val="autoZero"/>
        <c:auto val="1"/>
        <c:lblAlgn val="ctr"/>
        <c:lblOffset val="100"/>
        <c:noMultiLvlLbl val="0"/>
      </c:catAx>
      <c:valAx>
        <c:axId val="1087502832"/>
        <c:scaling>
          <c:orientation val="minMax"/>
        </c:scaling>
        <c:delete val="0"/>
        <c:axPos val="l"/>
        <c:numFmt formatCode="0" sourceLinked="1"/>
        <c:majorTickMark val="none"/>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00656"/>
        <c:crosses val="autoZero"/>
        <c:crossBetween val="between"/>
      </c:valAx>
      <c:catAx>
        <c:axId val="1087503920"/>
        <c:scaling>
          <c:orientation val="minMax"/>
        </c:scaling>
        <c:delete val="1"/>
        <c:axPos val="b"/>
        <c:numFmt formatCode="General" sourceLinked="1"/>
        <c:majorTickMark val="out"/>
        <c:minorTickMark val="none"/>
        <c:tickLblPos val="nextTo"/>
        <c:crossAx val="1087505552"/>
        <c:crosses val="autoZero"/>
        <c:auto val="1"/>
        <c:lblAlgn val="ctr"/>
        <c:lblOffset val="100"/>
        <c:noMultiLvlLbl val="0"/>
      </c:catAx>
      <c:valAx>
        <c:axId val="1087505552"/>
        <c:scaling>
          <c:orientation val="minMax"/>
        </c:scaling>
        <c:delete val="0"/>
        <c:axPos val="r"/>
        <c:numFmt formatCode="0" sourceLinked="1"/>
        <c:majorTickMark val="out"/>
        <c:minorTickMark val="none"/>
        <c:tickLblPos val="nextTo"/>
        <c:spPr>
          <a:noFill/>
          <a:ln>
            <a:solidFill>
              <a:schemeClr val="bg1">
                <a:lumMod val="75000"/>
              </a:schemeClr>
            </a:solid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03920"/>
        <c:crosses val="max"/>
        <c:crossBetween val="between"/>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121831373126293"/>
          <c:y val="4.3593256434287997E-3"/>
          <c:w val="0.78886526684164504"/>
          <c:h val="7.8125697345589898E-2"/>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410cc844-d2d0-4561-b0d2-18cfc831f753}"/>
      </c:ext>
    </c:extLst>
  </c:chart>
  <c:spPr>
    <a:noFill/>
    <a:ln w="9525" cap="flat" cmpd="sng" algn="ctr">
      <a:noFill/>
      <a:round/>
    </a:ln>
    <a:effectLst/>
  </c:spPr>
  <c:txPr>
    <a:bodyPr/>
    <a:lstStyle/>
    <a:p>
      <a:pPr>
        <a:defRPr lang="zh-CN">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080402449693801"/>
          <c:y val="5.3666225274448802E-2"/>
          <c:w val="0.50283639545056902"/>
          <c:h val="0.88315629625446601"/>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D926-4342-836D-4F6E1DB1E1EC}"/>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D926-4342-836D-4F6E1DB1E1EC}"/>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D926-4342-836D-4F6E1DB1E1EC}"/>
              </c:ext>
            </c:extLst>
          </c:dPt>
          <c:dLbls>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'24年1-12月氦气详情表'!$A$4:$A$6</c:f>
              <c:strCache>
                <c:ptCount val="3"/>
                <c:pt idx="0">
                  <c:v>卡塔尔</c:v>
                </c:pt>
                <c:pt idx="1">
                  <c:v>欧洲某国家</c:v>
                </c:pt>
                <c:pt idx="2">
                  <c:v>美国</c:v>
                </c:pt>
              </c:strCache>
            </c:strRef>
          </c:cat>
          <c:val>
            <c:numRef>
              <c:f>'24年1-12月氦气详情表'!$E$4:$E$6</c:f>
              <c:numCache>
                <c:formatCode>0.00%</c:formatCode>
                <c:ptCount val="3"/>
                <c:pt idx="0">
                  <c:v>0.62029517537390599</c:v>
                </c:pt>
                <c:pt idx="1">
                  <c:v>0.33492515934758299</c:v>
                </c:pt>
                <c:pt idx="2">
                  <c:v>4.47796652785106E-2</c:v>
                </c:pt>
              </c:numCache>
            </c:numRef>
          </c:val>
          <c:extLst xmlns:c16r2="http://schemas.microsoft.com/office/drawing/2015/06/chart">
            <c:ext xmlns:c16="http://schemas.microsoft.com/office/drawing/2014/chart" uri="{C3380CC4-5D6E-409C-BE32-E72D297353CC}">
              <c16:uniqueId val="{00000006-D926-4342-836D-4F6E1DB1E1EC}"/>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75755249343831998"/>
          <c:y val="0.205010358695523"/>
          <c:w val="0.162672572178478"/>
          <c:h val="0.50714352392334305"/>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be2fa50a-5967-4a95-a01a-4b74da980f3d}"/>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56666666666699"/>
          <c:y val="6.7257050730087795E-2"/>
          <c:w val="0.80177973856209195"/>
          <c:h val="0.57812435127114303"/>
        </c:manualLayout>
      </c:layout>
      <c:lineChart>
        <c:grouping val="standard"/>
        <c:varyColors val="0"/>
        <c:ser>
          <c:idx val="0"/>
          <c:order val="0"/>
          <c:tx>
            <c:strRef>
              <c:f>'稀有价格追踪-全国均价（周）-氦气等'!$B$61</c:f>
              <c:strCache>
                <c:ptCount val="1"/>
                <c:pt idx="0">
                  <c:v>高纯氦气价格（元/瓶）</c:v>
                </c:pt>
              </c:strCache>
            </c:strRef>
          </c:tx>
          <c:spPr>
            <a:ln w="28575" cap="rnd" cmpd="sng" algn="ctr">
              <a:solidFill>
                <a:schemeClr val="accent1"/>
              </a:solidFill>
              <a:prstDash val="solid"/>
              <a:round/>
            </a:ln>
            <a:effectLst/>
          </c:spPr>
          <c:marker>
            <c:symbol val="none"/>
          </c:marker>
          <c:cat>
            <c:numRef>
              <c:f>'稀有价格追踪-全国均价（周）-氦气等'!$C$4:$C$500</c:f>
              <c:numCache>
                <c:formatCode>yyyy/m/d</c:formatCode>
                <c:ptCount val="497"/>
                <c:pt idx="0">
                  <c:v>44280</c:v>
                </c:pt>
                <c:pt idx="1">
                  <c:v>44287</c:v>
                </c:pt>
                <c:pt idx="2">
                  <c:v>44294</c:v>
                </c:pt>
                <c:pt idx="3">
                  <c:v>44302</c:v>
                </c:pt>
                <c:pt idx="4">
                  <c:v>44309</c:v>
                </c:pt>
                <c:pt idx="5">
                  <c:v>44329</c:v>
                </c:pt>
                <c:pt idx="6">
                  <c:v>44336</c:v>
                </c:pt>
                <c:pt idx="7">
                  <c:v>44343</c:v>
                </c:pt>
                <c:pt idx="8">
                  <c:v>44351</c:v>
                </c:pt>
                <c:pt idx="9">
                  <c:v>44358</c:v>
                </c:pt>
                <c:pt idx="10">
                  <c:v>44365</c:v>
                </c:pt>
                <c:pt idx="11">
                  <c:v>44371</c:v>
                </c:pt>
                <c:pt idx="12">
                  <c:v>44379</c:v>
                </c:pt>
                <c:pt idx="13">
                  <c:v>44385</c:v>
                </c:pt>
                <c:pt idx="14">
                  <c:v>44392</c:v>
                </c:pt>
                <c:pt idx="15">
                  <c:v>44399</c:v>
                </c:pt>
                <c:pt idx="16">
                  <c:v>44406</c:v>
                </c:pt>
                <c:pt idx="17">
                  <c:v>44413</c:v>
                </c:pt>
                <c:pt idx="18">
                  <c:v>44420</c:v>
                </c:pt>
                <c:pt idx="19">
                  <c:v>44427</c:v>
                </c:pt>
                <c:pt idx="20">
                  <c:v>44434</c:v>
                </c:pt>
                <c:pt idx="21">
                  <c:v>44441</c:v>
                </c:pt>
                <c:pt idx="22">
                  <c:v>44448</c:v>
                </c:pt>
                <c:pt idx="23">
                  <c:v>44455</c:v>
                </c:pt>
                <c:pt idx="24">
                  <c:v>44490</c:v>
                </c:pt>
                <c:pt idx="25">
                  <c:v>44497</c:v>
                </c:pt>
                <c:pt idx="26">
                  <c:v>44504</c:v>
                </c:pt>
                <c:pt idx="27">
                  <c:v>44511</c:v>
                </c:pt>
                <c:pt idx="28">
                  <c:v>44518</c:v>
                </c:pt>
                <c:pt idx="29">
                  <c:v>44525</c:v>
                </c:pt>
                <c:pt idx="30">
                  <c:v>44532</c:v>
                </c:pt>
                <c:pt idx="31">
                  <c:v>44539</c:v>
                </c:pt>
                <c:pt idx="32">
                  <c:v>44546</c:v>
                </c:pt>
                <c:pt idx="33">
                  <c:v>44553</c:v>
                </c:pt>
                <c:pt idx="34">
                  <c:v>44567</c:v>
                </c:pt>
                <c:pt idx="35">
                  <c:v>44574</c:v>
                </c:pt>
                <c:pt idx="36">
                  <c:v>44581</c:v>
                </c:pt>
                <c:pt idx="37">
                  <c:v>44602</c:v>
                </c:pt>
                <c:pt idx="38">
                  <c:v>44609</c:v>
                </c:pt>
                <c:pt idx="39">
                  <c:v>44616</c:v>
                </c:pt>
                <c:pt idx="40">
                  <c:v>44623</c:v>
                </c:pt>
                <c:pt idx="41">
                  <c:v>44630</c:v>
                </c:pt>
                <c:pt idx="42">
                  <c:v>44637</c:v>
                </c:pt>
                <c:pt idx="43">
                  <c:v>44644</c:v>
                </c:pt>
                <c:pt idx="44">
                  <c:v>44651</c:v>
                </c:pt>
                <c:pt idx="45">
                  <c:v>44658</c:v>
                </c:pt>
                <c:pt idx="46">
                  <c:v>44665</c:v>
                </c:pt>
                <c:pt idx="47">
                  <c:v>44672</c:v>
                </c:pt>
                <c:pt idx="48">
                  <c:v>44680</c:v>
                </c:pt>
                <c:pt idx="49">
                  <c:v>44694</c:v>
                </c:pt>
                <c:pt idx="50">
                  <c:v>44701</c:v>
                </c:pt>
                <c:pt idx="51">
                  <c:v>44708</c:v>
                </c:pt>
                <c:pt idx="52">
                  <c:v>44722</c:v>
                </c:pt>
                <c:pt idx="53">
                  <c:v>44729</c:v>
                </c:pt>
                <c:pt idx="54">
                  <c:v>44736</c:v>
                </c:pt>
                <c:pt idx="55">
                  <c:v>44743</c:v>
                </c:pt>
                <c:pt idx="56">
                  <c:v>44750</c:v>
                </c:pt>
                <c:pt idx="57">
                  <c:v>44757</c:v>
                </c:pt>
                <c:pt idx="58">
                  <c:v>44764</c:v>
                </c:pt>
                <c:pt idx="59">
                  <c:v>44771</c:v>
                </c:pt>
                <c:pt idx="60">
                  <c:v>44778</c:v>
                </c:pt>
                <c:pt idx="61">
                  <c:v>44785</c:v>
                </c:pt>
                <c:pt idx="62">
                  <c:v>44799</c:v>
                </c:pt>
                <c:pt idx="63">
                  <c:v>44806</c:v>
                </c:pt>
                <c:pt idx="64">
                  <c:v>44820</c:v>
                </c:pt>
                <c:pt idx="65">
                  <c:v>44827</c:v>
                </c:pt>
                <c:pt idx="66">
                  <c:v>44834</c:v>
                </c:pt>
                <c:pt idx="67">
                  <c:v>44855</c:v>
                </c:pt>
                <c:pt idx="68">
                  <c:v>44862</c:v>
                </c:pt>
                <c:pt idx="69">
                  <c:v>44869</c:v>
                </c:pt>
                <c:pt idx="70">
                  <c:v>44876</c:v>
                </c:pt>
                <c:pt idx="71">
                  <c:v>44890</c:v>
                </c:pt>
                <c:pt idx="72">
                  <c:v>44897</c:v>
                </c:pt>
                <c:pt idx="73">
                  <c:v>44918</c:v>
                </c:pt>
                <c:pt idx="74">
                  <c:v>44925</c:v>
                </c:pt>
                <c:pt idx="75">
                  <c:v>44932</c:v>
                </c:pt>
                <c:pt idx="76">
                  <c:v>44946</c:v>
                </c:pt>
                <c:pt idx="77">
                  <c:v>44953</c:v>
                </c:pt>
                <c:pt idx="78">
                  <c:v>44967</c:v>
                </c:pt>
                <c:pt idx="79">
                  <c:v>44974</c:v>
                </c:pt>
                <c:pt idx="80">
                  <c:v>44981</c:v>
                </c:pt>
                <c:pt idx="81">
                  <c:v>44988</c:v>
                </c:pt>
                <c:pt idx="82">
                  <c:v>44995</c:v>
                </c:pt>
                <c:pt idx="83">
                  <c:v>45002</c:v>
                </c:pt>
                <c:pt idx="84">
                  <c:v>45009</c:v>
                </c:pt>
                <c:pt idx="85">
                  <c:v>45016</c:v>
                </c:pt>
                <c:pt idx="86">
                  <c:v>45023</c:v>
                </c:pt>
                <c:pt idx="87">
                  <c:v>45030</c:v>
                </c:pt>
                <c:pt idx="88">
                  <c:v>45037</c:v>
                </c:pt>
                <c:pt idx="89">
                  <c:v>45044</c:v>
                </c:pt>
                <c:pt idx="90">
                  <c:v>45058</c:v>
                </c:pt>
                <c:pt idx="91">
                  <c:v>45065</c:v>
                </c:pt>
                <c:pt idx="92">
                  <c:v>45072</c:v>
                </c:pt>
                <c:pt idx="93">
                  <c:v>45079</c:v>
                </c:pt>
                <c:pt idx="94">
                  <c:v>45086</c:v>
                </c:pt>
                <c:pt idx="95">
                  <c:v>45093</c:v>
                </c:pt>
                <c:pt idx="96">
                  <c:v>45100</c:v>
                </c:pt>
                <c:pt idx="97">
                  <c:v>45107</c:v>
                </c:pt>
                <c:pt idx="98">
                  <c:v>45114</c:v>
                </c:pt>
                <c:pt idx="99">
                  <c:v>45121</c:v>
                </c:pt>
                <c:pt idx="100">
                  <c:v>45128</c:v>
                </c:pt>
                <c:pt idx="101">
                  <c:v>45135</c:v>
                </c:pt>
                <c:pt idx="102">
                  <c:v>45142</c:v>
                </c:pt>
                <c:pt idx="103">
                  <c:v>45149</c:v>
                </c:pt>
                <c:pt idx="104">
                  <c:v>45156</c:v>
                </c:pt>
                <c:pt idx="105">
                  <c:v>45163</c:v>
                </c:pt>
                <c:pt idx="106">
                  <c:v>45170</c:v>
                </c:pt>
                <c:pt idx="107">
                  <c:v>45176</c:v>
                </c:pt>
                <c:pt idx="108">
                  <c:v>45183</c:v>
                </c:pt>
                <c:pt idx="109">
                  <c:v>45190</c:v>
                </c:pt>
                <c:pt idx="110">
                  <c:v>45197</c:v>
                </c:pt>
                <c:pt idx="111">
                  <c:v>45211</c:v>
                </c:pt>
                <c:pt idx="112">
                  <c:v>45218</c:v>
                </c:pt>
                <c:pt idx="113">
                  <c:v>45225</c:v>
                </c:pt>
                <c:pt idx="114">
                  <c:v>45233</c:v>
                </c:pt>
                <c:pt idx="115">
                  <c:v>45240</c:v>
                </c:pt>
                <c:pt idx="116">
                  <c:v>45247</c:v>
                </c:pt>
                <c:pt idx="117">
                  <c:v>45254</c:v>
                </c:pt>
                <c:pt idx="118">
                  <c:v>45260</c:v>
                </c:pt>
                <c:pt idx="119">
                  <c:v>45267</c:v>
                </c:pt>
                <c:pt idx="120">
                  <c:v>45274</c:v>
                </c:pt>
                <c:pt idx="121">
                  <c:v>45281</c:v>
                </c:pt>
                <c:pt idx="122">
                  <c:v>45288</c:v>
                </c:pt>
                <c:pt idx="123">
                  <c:v>45295</c:v>
                </c:pt>
                <c:pt idx="124">
                  <c:v>45302</c:v>
                </c:pt>
                <c:pt idx="125">
                  <c:v>45309</c:v>
                </c:pt>
                <c:pt idx="126">
                  <c:v>45316</c:v>
                </c:pt>
                <c:pt idx="127">
                  <c:v>45323</c:v>
                </c:pt>
                <c:pt idx="128">
                  <c:v>45330</c:v>
                </c:pt>
                <c:pt idx="129">
                  <c:v>45344</c:v>
                </c:pt>
                <c:pt idx="130">
                  <c:v>45351</c:v>
                </c:pt>
                <c:pt idx="131">
                  <c:v>45358</c:v>
                </c:pt>
                <c:pt idx="132">
                  <c:v>45365</c:v>
                </c:pt>
                <c:pt idx="133">
                  <c:v>45372</c:v>
                </c:pt>
                <c:pt idx="134">
                  <c:v>45379</c:v>
                </c:pt>
                <c:pt idx="135">
                  <c:v>45386</c:v>
                </c:pt>
                <c:pt idx="136">
                  <c:v>45393</c:v>
                </c:pt>
                <c:pt idx="137">
                  <c:v>45400</c:v>
                </c:pt>
                <c:pt idx="138">
                  <c:v>45407</c:v>
                </c:pt>
                <c:pt idx="139">
                  <c:v>45412</c:v>
                </c:pt>
                <c:pt idx="140">
                  <c:v>45421</c:v>
                </c:pt>
                <c:pt idx="141">
                  <c:v>45428</c:v>
                </c:pt>
                <c:pt idx="142">
                  <c:v>45435</c:v>
                </c:pt>
                <c:pt idx="143">
                  <c:v>45442</c:v>
                </c:pt>
                <c:pt idx="144">
                  <c:v>45449</c:v>
                </c:pt>
                <c:pt idx="145">
                  <c:v>45456</c:v>
                </c:pt>
                <c:pt idx="146">
                  <c:v>45463</c:v>
                </c:pt>
                <c:pt idx="147">
                  <c:v>45470</c:v>
                </c:pt>
                <c:pt idx="148">
                  <c:v>45477</c:v>
                </c:pt>
                <c:pt idx="149">
                  <c:v>45484</c:v>
                </c:pt>
                <c:pt idx="150">
                  <c:v>45491</c:v>
                </c:pt>
                <c:pt idx="151">
                  <c:v>45498</c:v>
                </c:pt>
                <c:pt idx="152">
                  <c:v>45505</c:v>
                </c:pt>
                <c:pt idx="153">
                  <c:v>45512</c:v>
                </c:pt>
                <c:pt idx="154">
                  <c:v>45519</c:v>
                </c:pt>
                <c:pt idx="155">
                  <c:v>45526</c:v>
                </c:pt>
                <c:pt idx="156">
                  <c:v>45533</c:v>
                </c:pt>
                <c:pt idx="157">
                  <c:v>45540</c:v>
                </c:pt>
                <c:pt idx="158">
                  <c:v>45547</c:v>
                </c:pt>
                <c:pt idx="159">
                  <c:v>45554</c:v>
                </c:pt>
                <c:pt idx="160">
                  <c:v>45561</c:v>
                </c:pt>
                <c:pt idx="161">
                  <c:v>45575</c:v>
                </c:pt>
                <c:pt idx="162">
                  <c:v>45582</c:v>
                </c:pt>
                <c:pt idx="163">
                  <c:v>45589</c:v>
                </c:pt>
                <c:pt idx="164">
                  <c:v>45596</c:v>
                </c:pt>
                <c:pt idx="165">
                  <c:v>45603</c:v>
                </c:pt>
                <c:pt idx="166">
                  <c:v>45610</c:v>
                </c:pt>
                <c:pt idx="167" formatCode="yyyy/m/d;@">
                  <c:v>45617</c:v>
                </c:pt>
                <c:pt idx="168">
                  <c:v>45624</c:v>
                </c:pt>
                <c:pt idx="169">
                  <c:v>45631</c:v>
                </c:pt>
                <c:pt idx="170">
                  <c:v>45638</c:v>
                </c:pt>
                <c:pt idx="171">
                  <c:v>45645</c:v>
                </c:pt>
                <c:pt idx="172">
                  <c:v>45652</c:v>
                </c:pt>
                <c:pt idx="173">
                  <c:v>45659</c:v>
                </c:pt>
                <c:pt idx="174">
                  <c:v>45666</c:v>
                </c:pt>
                <c:pt idx="175">
                  <c:v>45673</c:v>
                </c:pt>
                <c:pt idx="176">
                  <c:v>45680</c:v>
                </c:pt>
                <c:pt idx="177">
                  <c:v>45694</c:v>
                </c:pt>
                <c:pt idx="178">
                  <c:v>45701</c:v>
                </c:pt>
                <c:pt idx="179">
                  <c:v>45708</c:v>
                </c:pt>
                <c:pt idx="180">
                  <c:v>45715</c:v>
                </c:pt>
                <c:pt idx="181">
                  <c:v>45722</c:v>
                </c:pt>
                <c:pt idx="182">
                  <c:v>45729</c:v>
                </c:pt>
                <c:pt idx="183">
                  <c:v>45736</c:v>
                </c:pt>
                <c:pt idx="184">
                  <c:v>45743</c:v>
                </c:pt>
                <c:pt idx="185">
                  <c:v>45750</c:v>
                </c:pt>
                <c:pt idx="186">
                  <c:v>45757</c:v>
                </c:pt>
                <c:pt idx="187">
                  <c:v>45764</c:v>
                </c:pt>
                <c:pt idx="188">
                  <c:v>45771</c:v>
                </c:pt>
                <c:pt idx="189">
                  <c:v>45777</c:v>
                </c:pt>
                <c:pt idx="190">
                  <c:v>45785</c:v>
                </c:pt>
                <c:pt idx="191">
                  <c:v>45792</c:v>
                </c:pt>
                <c:pt idx="192">
                  <c:v>45799</c:v>
                </c:pt>
                <c:pt idx="193">
                  <c:v>45806</c:v>
                </c:pt>
                <c:pt idx="194">
                  <c:v>45813</c:v>
                </c:pt>
                <c:pt idx="195">
                  <c:v>45820</c:v>
                </c:pt>
                <c:pt idx="196">
                  <c:v>45827</c:v>
                </c:pt>
                <c:pt idx="197">
                  <c:v>45834</c:v>
                </c:pt>
                <c:pt idx="198">
                  <c:v>45841</c:v>
                </c:pt>
                <c:pt idx="199">
                  <c:v>45848</c:v>
                </c:pt>
                <c:pt idx="200">
                  <c:v>45855</c:v>
                </c:pt>
                <c:pt idx="201">
                  <c:v>45862</c:v>
                </c:pt>
                <c:pt idx="202">
                  <c:v>45869</c:v>
                </c:pt>
                <c:pt idx="203">
                  <c:v>45876</c:v>
                </c:pt>
                <c:pt idx="204">
                  <c:v>45883</c:v>
                </c:pt>
                <c:pt idx="205">
                  <c:v>45890</c:v>
                </c:pt>
                <c:pt idx="206">
                  <c:v>45897</c:v>
                </c:pt>
                <c:pt idx="207">
                  <c:v>45904</c:v>
                </c:pt>
                <c:pt idx="208">
                  <c:v>45911</c:v>
                </c:pt>
                <c:pt idx="209">
                  <c:v>45918</c:v>
                </c:pt>
                <c:pt idx="210">
                  <c:v>45925</c:v>
                </c:pt>
              </c:numCache>
            </c:numRef>
          </c:cat>
          <c:val>
            <c:numRef>
              <c:f>'稀有价格追踪-全国均价（周）-氦气等'!$R$4:$R$500</c:f>
              <c:numCache>
                <c:formatCode>0_);[Red]\(0\)</c:formatCode>
                <c:ptCount val="497"/>
                <c:pt idx="0">
                  <c:v>1150</c:v>
                </c:pt>
                <c:pt idx="1">
                  <c:v>1150</c:v>
                </c:pt>
                <c:pt idx="2">
                  <c:v>1150</c:v>
                </c:pt>
                <c:pt idx="3">
                  <c:v>1150</c:v>
                </c:pt>
                <c:pt idx="4">
                  <c:v>1200</c:v>
                </c:pt>
                <c:pt idx="5">
                  <c:v>1200</c:v>
                </c:pt>
                <c:pt idx="6">
                  <c:v>1200</c:v>
                </c:pt>
                <c:pt idx="7">
                  <c:v>1200</c:v>
                </c:pt>
                <c:pt idx="8">
                  <c:v>1200</c:v>
                </c:pt>
                <c:pt idx="9">
                  <c:v>1200</c:v>
                </c:pt>
                <c:pt idx="10">
                  <c:v>1200</c:v>
                </c:pt>
                <c:pt idx="11">
                  <c:v>1200</c:v>
                </c:pt>
                <c:pt idx="12">
                  <c:v>1200</c:v>
                </c:pt>
                <c:pt idx="13">
                  <c:v>1200</c:v>
                </c:pt>
                <c:pt idx="14">
                  <c:v>1200</c:v>
                </c:pt>
                <c:pt idx="15">
                  <c:v>1200</c:v>
                </c:pt>
                <c:pt idx="16">
                  <c:v>1200</c:v>
                </c:pt>
                <c:pt idx="17">
                  <c:v>1200</c:v>
                </c:pt>
                <c:pt idx="18">
                  <c:v>1200</c:v>
                </c:pt>
                <c:pt idx="19">
                  <c:v>1200</c:v>
                </c:pt>
                <c:pt idx="20">
                  <c:v>1200</c:v>
                </c:pt>
                <c:pt idx="21">
                  <c:v>1300</c:v>
                </c:pt>
                <c:pt idx="22">
                  <c:v>1300</c:v>
                </c:pt>
                <c:pt idx="23">
                  <c:v>1300</c:v>
                </c:pt>
                <c:pt idx="24">
                  <c:v>1300</c:v>
                </c:pt>
                <c:pt idx="25">
                  <c:v>1300</c:v>
                </c:pt>
                <c:pt idx="26">
                  <c:v>1300</c:v>
                </c:pt>
                <c:pt idx="27">
                  <c:v>1300</c:v>
                </c:pt>
                <c:pt idx="28">
                  <c:v>1550</c:v>
                </c:pt>
                <c:pt idx="29">
                  <c:v>1550</c:v>
                </c:pt>
                <c:pt idx="30">
                  <c:v>1550</c:v>
                </c:pt>
                <c:pt idx="31">
                  <c:v>1550</c:v>
                </c:pt>
                <c:pt idx="32">
                  <c:v>1550</c:v>
                </c:pt>
                <c:pt idx="33">
                  <c:v>1550</c:v>
                </c:pt>
                <c:pt idx="34">
                  <c:v>2250</c:v>
                </c:pt>
                <c:pt idx="35">
                  <c:v>2250</c:v>
                </c:pt>
                <c:pt idx="36">
                  <c:v>2250</c:v>
                </c:pt>
                <c:pt idx="37">
                  <c:v>2250</c:v>
                </c:pt>
                <c:pt idx="38">
                  <c:v>3450</c:v>
                </c:pt>
                <c:pt idx="39">
                  <c:v>3500</c:v>
                </c:pt>
                <c:pt idx="40">
                  <c:v>3700</c:v>
                </c:pt>
                <c:pt idx="41">
                  <c:v>3900</c:v>
                </c:pt>
                <c:pt idx="42">
                  <c:v>3950</c:v>
                </c:pt>
                <c:pt idx="43">
                  <c:v>3950</c:v>
                </c:pt>
                <c:pt idx="44">
                  <c:v>3950</c:v>
                </c:pt>
                <c:pt idx="45">
                  <c:v>3650</c:v>
                </c:pt>
                <c:pt idx="46">
                  <c:v>2650</c:v>
                </c:pt>
                <c:pt idx="47">
                  <c:v>2550</c:v>
                </c:pt>
                <c:pt idx="48">
                  <c:v>2450</c:v>
                </c:pt>
                <c:pt idx="49">
                  <c:v>2500</c:v>
                </c:pt>
                <c:pt idx="50">
                  <c:v>2600</c:v>
                </c:pt>
                <c:pt idx="51">
                  <c:v>2600</c:v>
                </c:pt>
                <c:pt idx="52">
                  <c:v>2750</c:v>
                </c:pt>
                <c:pt idx="53">
                  <c:v>2750</c:v>
                </c:pt>
                <c:pt idx="54">
                  <c:v>2750</c:v>
                </c:pt>
                <c:pt idx="55">
                  <c:v>2750</c:v>
                </c:pt>
                <c:pt idx="56">
                  <c:v>2600</c:v>
                </c:pt>
                <c:pt idx="57">
                  <c:v>2500</c:v>
                </c:pt>
                <c:pt idx="58">
                  <c:v>2200</c:v>
                </c:pt>
                <c:pt idx="59">
                  <c:v>2150</c:v>
                </c:pt>
                <c:pt idx="60">
                  <c:v>2150</c:v>
                </c:pt>
                <c:pt idx="61">
                  <c:v>2200</c:v>
                </c:pt>
                <c:pt idx="62">
                  <c:v>2300</c:v>
                </c:pt>
                <c:pt idx="63">
                  <c:v>2300</c:v>
                </c:pt>
                <c:pt idx="64">
                  <c:v>2300</c:v>
                </c:pt>
                <c:pt idx="65">
                  <c:v>2300</c:v>
                </c:pt>
                <c:pt idx="66">
                  <c:v>2300</c:v>
                </c:pt>
                <c:pt idx="67">
                  <c:v>2500</c:v>
                </c:pt>
                <c:pt idx="68">
                  <c:v>2500</c:v>
                </c:pt>
                <c:pt idx="69">
                  <c:v>2500</c:v>
                </c:pt>
                <c:pt idx="70">
                  <c:v>2650</c:v>
                </c:pt>
                <c:pt idx="71">
                  <c:v>2650</c:v>
                </c:pt>
                <c:pt idx="72">
                  <c:v>2500</c:v>
                </c:pt>
                <c:pt idx="73">
                  <c:v>2400</c:v>
                </c:pt>
                <c:pt idx="74">
                  <c:v>2400</c:v>
                </c:pt>
                <c:pt idx="75">
                  <c:v>2350</c:v>
                </c:pt>
                <c:pt idx="76">
                  <c:v>2350</c:v>
                </c:pt>
                <c:pt idx="77">
                  <c:v>2350</c:v>
                </c:pt>
                <c:pt idx="78">
                  <c:v>2350</c:v>
                </c:pt>
                <c:pt idx="79">
                  <c:v>2350</c:v>
                </c:pt>
                <c:pt idx="80">
                  <c:v>2350</c:v>
                </c:pt>
                <c:pt idx="81">
                  <c:v>2350</c:v>
                </c:pt>
                <c:pt idx="82">
                  <c:v>2350</c:v>
                </c:pt>
                <c:pt idx="83">
                  <c:v>2350</c:v>
                </c:pt>
                <c:pt idx="84">
                  <c:v>2350</c:v>
                </c:pt>
                <c:pt idx="85">
                  <c:v>2350</c:v>
                </c:pt>
                <c:pt idx="86">
                  <c:v>2350</c:v>
                </c:pt>
                <c:pt idx="87">
                  <c:v>2100</c:v>
                </c:pt>
                <c:pt idx="88">
                  <c:v>2000</c:v>
                </c:pt>
                <c:pt idx="89" formatCode="0.00_);[Red]\(0.00\)">
                  <c:v>1900</c:v>
                </c:pt>
                <c:pt idx="90" formatCode="0.00_);[Red]\(0.00\)">
                  <c:v>1900</c:v>
                </c:pt>
                <c:pt idx="91" formatCode="0.00_);[Red]\(0.00\)">
                  <c:v>1900</c:v>
                </c:pt>
                <c:pt idx="92" formatCode="0.00_);[Red]\(0.00\)">
                  <c:v>1700</c:v>
                </c:pt>
                <c:pt idx="93" formatCode="0.00_);[Red]\(0.00\)">
                  <c:v>1600</c:v>
                </c:pt>
                <c:pt idx="94" formatCode="0.00_);[Red]\(0.00\)">
                  <c:v>1550</c:v>
                </c:pt>
                <c:pt idx="95" formatCode="0.00_);[Red]\(0.00\)">
                  <c:v>1500</c:v>
                </c:pt>
                <c:pt idx="96" formatCode="0.00_);[Red]\(0.00\)">
                  <c:v>1473.21</c:v>
                </c:pt>
                <c:pt idx="97" formatCode="0.00_);[Red]\(0.00\)">
                  <c:v>1500</c:v>
                </c:pt>
                <c:pt idx="98" formatCode="0.00_);[Red]\(0.00\)">
                  <c:v>1500</c:v>
                </c:pt>
                <c:pt idx="99" formatCode="0.00_);[Red]\(0.00\)">
                  <c:v>1390.82</c:v>
                </c:pt>
                <c:pt idx="100" formatCode="0.00_);[Red]\(0.00\)">
                  <c:v>1500</c:v>
                </c:pt>
                <c:pt idx="101" formatCode="0.00_);[Red]\(0.00\)">
                  <c:v>1391.82</c:v>
                </c:pt>
                <c:pt idx="102" formatCode="0.00_);[Red]\(0.00\)">
                  <c:v>1350</c:v>
                </c:pt>
                <c:pt idx="103" formatCode="0.00_);[Red]\(0.00\)">
                  <c:v>1350</c:v>
                </c:pt>
                <c:pt idx="104" formatCode="0.00_);[Red]\(0.00\)">
                  <c:v>1275</c:v>
                </c:pt>
                <c:pt idx="105" formatCode="0.00_);[Red]\(0.00\)">
                  <c:v>1275</c:v>
                </c:pt>
                <c:pt idx="106" formatCode="0.00_);[Red]\(0.00\)">
                  <c:v>1214.03</c:v>
                </c:pt>
                <c:pt idx="107" formatCode="0.00_);[Red]\(0.00\)">
                  <c:v>1204.3399999999999</c:v>
                </c:pt>
                <c:pt idx="108" formatCode="0.00_);[Red]\(0.00\)">
                  <c:v>1177.81</c:v>
                </c:pt>
                <c:pt idx="109" formatCode="0.00_);[Red]\(0.00\)">
                  <c:v>1150</c:v>
                </c:pt>
                <c:pt idx="110" formatCode="0.00_);[Red]\(0.00\)">
                  <c:v>1150</c:v>
                </c:pt>
                <c:pt idx="111" formatCode="0.00_);[Red]\(0.00\)">
                  <c:v>1126.19</c:v>
                </c:pt>
                <c:pt idx="112" formatCode="0.00_);[Red]\(0.00\)">
                  <c:v>1113.78</c:v>
                </c:pt>
                <c:pt idx="113" formatCode="0.00_);[Red]\(0.00\)">
                  <c:v>1200</c:v>
                </c:pt>
                <c:pt idx="114" formatCode="0.00_);[Red]\(0.00\)">
                  <c:v>1150</c:v>
                </c:pt>
                <c:pt idx="115" formatCode="0.00_);[Red]\(0.00\)">
                  <c:v>1097.19</c:v>
                </c:pt>
                <c:pt idx="116" formatCode="0.00_);[Red]\(0.00\)">
                  <c:v>1150</c:v>
                </c:pt>
                <c:pt idx="117" formatCode="0.00_);[Red]\(0.00\)">
                  <c:v>1051.02</c:v>
                </c:pt>
                <c:pt idx="118" formatCode="0.00_);[Red]\(0.00\)">
                  <c:v>1006.89</c:v>
                </c:pt>
                <c:pt idx="119" formatCode="0.00_);[Red]\(0.00\)">
                  <c:v>964.54</c:v>
                </c:pt>
                <c:pt idx="120" formatCode="0.00_);[Red]\(0.00\)">
                  <c:v>946.43</c:v>
                </c:pt>
                <c:pt idx="121" formatCode="0.00_);[Red]\(0.00\)">
                  <c:v>925.26</c:v>
                </c:pt>
                <c:pt idx="122" formatCode="0.00_);[Red]\(0.00\)">
                  <c:v>919.13</c:v>
                </c:pt>
                <c:pt idx="123" formatCode="0.00_);[Red]\(0.00\)">
                  <c:v>914.29</c:v>
                </c:pt>
                <c:pt idx="124" formatCode="0.00_);[Red]\(0.00\)">
                  <c:v>905.87</c:v>
                </c:pt>
                <c:pt idx="125" formatCode="0.00_);[Red]\(0.00\)">
                  <c:v>876.28</c:v>
                </c:pt>
                <c:pt idx="126" formatCode="0.00_);[Red]\(0.00\)">
                  <c:v>851.02</c:v>
                </c:pt>
                <c:pt idx="127" formatCode="0.00_);[Red]\(0.00\)">
                  <c:v>842.35</c:v>
                </c:pt>
                <c:pt idx="128" formatCode="0.00_);[Red]\(0.00\)">
                  <c:v>837.76</c:v>
                </c:pt>
                <c:pt idx="129" formatCode="0.00_);[Red]\(0.00\)">
                  <c:v>834.44</c:v>
                </c:pt>
                <c:pt idx="130" formatCode="0.00_);[Red]\(0.00\)">
                  <c:v>832.91</c:v>
                </c:pt>
                <c:pt idx="131" formatCode="0.00_);[Red]\(0.00\)">
                  <c:v>819.13</c:v>
                </c:pt>
                <c:pt idx="132" formatCode="0.00_);[Red]\(0.00\)">
                  <c:v>794.13</c:v>
                </c:pt>
                <c:pt idx="133" formatCode="0.00_);[Red]\(0.00\)">
                  <c:v>792.86</c:v>
                </c:pt>
                <c:pt idx="134" formatCode="0.00_);[Red]\(0.00\)">
                  <c:v>790.82</c:v>
                </c:pt>
                <c:pt idx="135" formatCode="0.00_);[Red]\(0.00\)">
                  <c:v>775.6</c:v>
                </c:pt>
                <c:pt idx="136" formatCode="0.00_);[Red]\(0.00\)">
                  <c:v>753.57</c:v>
                </c:pt>
                <c:pt idx="137" formatCode="0.00_);[Red]\(0.00\)">
                  <c:v>751.79</c:v>
                </c:pt>
                <c:pt idx="138" formatCode="0.00_);[Red]\(0.00\)">
                  <c:v>746.43</c:v>
                </c:pt>
                <c:pt idx="139" formatCode="0.00_);[Red]\(0.00\)">
                  <c:v>746.43</c:v>
                </c:pt>
                <c:pt idx="140" formatCode="0.00_);[Red]\(0.00\)">
                  <c:v>746.43</c:v>
                </c:pt>
                <c:pt idx="141" formatCode="0.00_);[Red]\(0.00\)">
                  <c:v>743.62</c:v>
                </c:pt>
                <c:pt idx="142" formatCode="0.00_);[Red]\(0.00\)">
                  <c:v>726.79</c:v>
                </c:pt>
                <c:pt idx="143" formatCode="0.00_);[Red]\(0.00\)">
                  <c:v>726.79</c:v>
                </c:pt>
                <c:pt idx="144" formatCode="0.00_);[Red]\(0.00\)">
                  <c:v>721.99</c:v>
                </c:pt>
                <c:pt idx="145" formatCode="0.00_);[Red]\(0.00\)">
                  <c:v>709.49</c:v>
                </c:pt>
                <c:pt idx="146" formatCode="0.00_);[Red]\(0.00\)">
                  <c:v>707.7</c:v>
                </c:pt>
                <c:pt idx="147" formatCode="0.00_);[Red]\(0.00\)">
                  <c:v>701.33</c:v>
                </c:pt>
                <c:pt idx="148" formatCode="0.00_);[Red]\(0.00\)">
                  <c:v>696.99</c:v>
                </c:pt>
                <c:pt idx="149" formatCode="0.00_);[Red]\(0.00\)">
                  <c:v>695.71</c:v>
                </c:pt>
                <c:pt idx="150" formatCode="0.00_);[Red]\(0.00\)">
                  <c:v>695.71</c:v>
                </c:pt>
                <c:pt idx="151" formatCode="0.00_);[Red]\(0.00\)">
                  <c:v>695.2</c:v>
                </c:pt>
                <c:pt idx="152" formatCode="0.00_);[Red]\(0.00\)">
                  <c:v>693.93</c:v>
                </c:pt>
                <c:pt idx="153" formatCode="0.00_);[Red]\(0.00\)">
                  <c:v>693.93</c:v>
                </c:pt>
                <c:pt idx="154" formatCode="0.00_);[Red]\(0.00\)">
                  <c:v>693.93</c:v>
                </c:pt>
                <c:pt idx="155" formatCode="0.00_);[Red]\(0.00\)">
                  <c:v>693.93</c:v>
                </c:pt>
                <c:pt idx="156" formatCode="0.00_);[Red]\(0.00\)">
                  <c:v>691.07</c:v>
                </c:pt>
                <c:pt idx="157" formatCode="0.00_);[Red]\(0.00\)">
                  <c:v>689.03</c:v>
                </c:pt>
                <c:pt idx="158" formatCode="0.00_);[Red]\(0.00\)">
                  <c:v>684.44</c:v>
                </c:pt>
                <c:pt idx="159" formatCode="0.00_);[Red]\(0.00\)">
                  <c:v>676.79</c:v>
                </c:pt>
                <c:pt idx="160" formatCode="0.00_);[Red]\(0.00\)">
                  <c:v>658.93</c:v>
                </c:pt>
                <c:pt idx="161" formatCode="0.00_);[Red]\(0.00\)">
                  <c:v>658.93</c:v>
                </c:pt>
                <c:pt idx="162" formatCode="0.00_);[Red]\(0.00\)">
                  <c:v>658.93</c:v>
                </c:pt>
                <c:pt idx="163" formatCode="0.00_);[Red]\(0.00\)">
                  <c:v>658.93</c:v>
                </c:pt>
                <c:pt idx="164" formatCode="0.00_);[Red]\(0.00\)">
                  <c:v>658.93</c:v>
                </c:pt>
                <c:pt idx="165" formatCode="0.00_);[Red]\(0.00\)">
                  <c:v>658.93</c:v>
                </c:pt>
                <c:pt idx="166" formatCode="0.00_);[Red]\(0.00\)">
                  <c:v>658.93</c:v>
                </c:pt>
                <c:pt idx="167" formatCode="0.00_);[Red]\(0.00\)">
                  <c:v>658.93</c:v>
                </c:pt>
                <c:pt idx="168" formatCode="0.00_);[Red]\(0.00\)">
                  <c:v>658.93</c:v>
                </c:pt>
                <c:pt idx="169" formatCode="0.00_);[Red]\(0.00\)">
                  <c:v>658.93</c:v>
                </c:pt>
                <c:pt idx="170" formatCode="0.00_);[Red]\(0.00\)">
                  <c:v>658.93</c:v>
                </c:pt>
                <c:pt idx="171" formatCode="0.00_);[Red]\(0.00\)">
                  <c:v>658.93</c:v>
                </c:pt>
                <c:pt idx="172" formatCode="0.00_);[Red]\(0.00\)">
                  <c:v>658.93</c:v>
                </c:pt>
                <c:pt idx="173" formatCode="0.00_);[Red]\(0.00\)">
                  <c:v>658.93</c:v>
                </c:pt>
                <c:pt idx="174" formatCode="0.00_);[Red]\(0.00\)">
                  <c:v>658.93</c:v>
                </c:pt>
                <c:pt idx="175" formatCode="0.00_);[Red]\(0.00\)">
                  <c:v>658.93</c:v>
                </c:pt>
                <c:pt idx="176" formatCode="0.00_);[Red]\(0.00\)">
                  <c:v>658.93</c:v>
                </c:pt>
                <c:pt idx="177" formatCode="0.00_);[Red]\(0.00\)">
                  <c:v>658.93</c:v>
                </c:pt>
                <c:pt idx="178" formatCode="0.00_);[Red]\(0.00\)">
                  <c:v>658.93</c:v>
                </c:pt>
                <c:pt idx="179" formatCode="0.00_);[Red]\(0.00\)">
                  <c:v>658.16</c:v>
                </c:pt>
                <c:pt idx="180" formatCode="0.00_);[Red]\(0.00\)">
                  <c:v>657.14</c:v>
                </c:pt>
                <c:pt idx="181" formatCode="0.00_);[Red]\(0.00\)">
                  <c:v>657.14</c:v>
                </c:pt>
                <c:pt idx="182" formatCode="0.00_);[Red]\(0.00\)">
                  <c:v>657.14</c:v>
                </c:pt>
                <c:pt idx="183" formatCode="0.00_);[Red]\(0.00\)">
                  <c:v>657.14</c:v>
                </c:pt>
                <c:pt idx="184" formatCode="0.00_);[Red]\(0.00\)">
                  <c:v>657.14</c:v>
                </c:pt>
                <c:pt idx="185" formatCode="0.00_);[Red]\(0.00\)">
                  <c:v>657.14</c:v>
                </c:pt>
                <c:pt idx="186" formatCode="0.00_);[Red]\(0.00\)">
                  <c:v>657.14</c:v>
                </c:pt>
                <c:pt idx="187" formatCode="0.00_);[Red]\(0.00\)">
                  <c:v>655.36</c:v>
                </c:pt>
                <c:pt idx="188" formatCode="0.00_);[Red]\(0.00\)">
                  <c:v>655.36</c:v>
                </c:pt>
                <c:pt idx="189" formatCode="0.00_);[Red]\(0.00\)">
                  <c:v>655.36</c:v>
                </c:pt>
                <c:pt idx="190" formatCode="0.00_);[Red]\(0.00\)">
                  <c:v>655.36</c:v>
                </c:pt>
                <c:pt idx="191" formatCode="0.00_);[Red]\(0.00\)">
                  <c:v>655.36</c:v>
                </c:pt>
                <c:pt idx="192" formatCode="0.00_);[Red]\(0.00\)">
                  <c:v>655.36</c:v>
                </c:pt>
                <c:pt idx="193" formatCode="0.00_);[Red]\(0.00\)">
                  <c:v>655.36</c:v>
                </c:pt>
                <c:pt idx="194" formatCode="0.00_);[Red]\(0.00\)">
                  <c:v>655.36</c:v>
                </c:pt>
                <c:pt idx="195" formatCode="0.00_);[Red]\(0.00\)">
                  <c:v>655.36</c:v>
                </c:pt>
                <c:pt idx="196" formatCode="0.00_);[Red]\(0.00\)">
                  <c:v>655.36</c:v>
                </c:pt>
                <c:pt idx="197" formatCode="0.00_);[Red]\(0.00\)">
                  <c:v>655.36</c:v>
                </c:pt>
                <c:pt idx="198" formatCode="0.00_);[Red]\(0.00\)">
                  <c:v>652.29999999999995</c:v>
                </c:pt>
                <c:pt idx="199" formatCode="0.00_);[Red]\(0.00\)">
                  <c:v>642.86</c:v>
                </c:pt>
                <c:pt idx="200" formatCode="0.00_);[Red]\(0.00\)">
                  <c:v>642.86</c:v>
                </c:pt>
                <c:pt idx="201" formatCode="0.00_);[Red]\(0.00\)">
                  <c:v>626.12</c:v>
                </c:pt>
                <c:pt idx="202" formatCode="0.00_);[Red]\(0.00\)">
                  <c:v>613.57000000000005</c:v>
                </c:pt>
                <c:pt idx="203" formatCode="0.00_);[Red]\(0.00\)">
                  <c:v>613.57000000000005</c:v>
                </c:pt>
                <c:pt idx="204" formatCode="0.00_);[Red]\(0.00\)">
                  <c:v>613.57000000000005</c:v>
                </c:pt>
                <c:pt idx="205" formatCode="0.00_);[Red]\(0.00\)">
                  <c:v>613.57000000000005</c:v>
                </c:pt>
                <c:pt idx="206" formatCode="0.00_);[Red]\(0.00\)">
                  <c:v>613.57000000000005</c:v>
                </c:pt>
                <c:pt idx="207" formatCode="0.00_);[Red]\(0.00\)">
                  <c:v>613.57000000000005</c:v>
                </c:pt>
                <c:pt idx="208" formatCode="0.00_);[Red]\(0.00\)">
                  <c:v>613.57000000000005</c:v>
                </c:pt>
                <c:pt idx="209" formatCode="0.00_);[Red]\(0.00\)">
                  <c:v>613.57000000000005</c:v>
                </c:pt>
                <c:pt idx="210" formatCode="0.00_);[Red]\(0.00\)">
                  <c:v>613.57000000000005</c:v>
                </c:pt>
              </c:numCache>
            </c:numRef>
          </c:val>
          <c:smooth val="1"/>
          <c:extLst xmlns:c16r2="http://schemas.microsoft.com/office/drawing/2015/06/chart">
            <c:ext xmlns:c16="http://schemas.microsoft.com/office/drawing/2014/chart" uri="{C3380CC4-5D6E-409C-BE32-E72D297353CC}">
              <c16:uniqueId val="{00000000-B490-4E8C-A16C-74FCA8BF75A6}"/>
            </c:ext>
          </c:extLst>
        </c:ser>
        <c:dLbls>
          <c:showLegendKey val="0"/>
          <c:showVal val="0"/>
          <c:showCatName val="0"/>
          <c:showSerName val="0"/>
          <c:showPercent val="0"/>
          <c:showBubbleSize val="0"/>
        </c:dLbls>
        <c:smooth val="0"/>
        <c:axId val="1087498480"/>
        <c:axId val="1087510992"/>
      </c:lineChart>
      <c:dateAx>
        <c:axId val="1087498480"/>
        <c:scaling>
          <c:orientation val="minMax"/>
        </c:scaling>
        <c:delete val="0"/>
        <c:axPos val="b"/>
        <c:numFmt formatCode="yyyy/m/d" sourceLinked="1"/>
        <c:majorTickMark val="out"/>
        <c:minorTickMark val="none"/>
        <c:tickLblPos val="nextTo"/>
        <c:spPr>
          <a:noFill/>
          <a:ln w="6350" cap="flat" cmpd="sng" algn="ctr">
            <a:solidFill>
              <a:schemeClr val="tx1"/>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510992"/>
        <c:crosses val="autoZero"/>
        <c:auto val="1"/>
        <c:lblOffset val="100"/>
        <c:baseTimeUnit val="days"/>
        <c:majorUnit val="3"/>
        <c:majorTimeUnit val="months"/>
      </c:dateAx>
      <c:valAx>
        <c:axId val="1087510992"/>
        <c:scaling>
          <c:orientation val="minMax"/>
        </c:scaling>
        <c:delete val="0"/>
        <c:axPos val="l"/>
        <c:numFmt formatCode="0_);[Red]\(0\)" sourceLinked="1"/>
        <c:majorTickMark val="out"/>
        <c:minorTickMark val="none"/>
        <c:tickLblPos val="nextTo"/>
        <c:spPr>
          <a:noFill/>
          <a:ln w="6350" cap="flat" cmpd="sng" algn="ctr">
            <a:solidFill>
              <a:schemeClr val="tx1"/>
            </a:solidFill>
            <a:prstDash val="solid"/>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crossAx val="1087498480"/>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Entry>
      <c:layout>
        <c:manualLayout>
          <c:xMode val="edge"/>
          <c:yMode val="edge"/>
          <c:x val="0.32119777523378201"/>
          <c:y val="3.0147914690105599E-2"/>
          <c:w val="0.49489763360990702"/>
          <c:h val="7.9891973928779697E-2"/>
        </c:manualLayout>
      </c:layout>
      <c:overlay val="0"/>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思源黑体 Heavy" panose="020B0A00000000000000" pitchFamily="34" charset="-122"/>
              <a:ea typeface="思源黑体 Heavy" panose="020B0A00000000000000" pitchFamily="34" charset="-122"/>
              <a:cs typeface="思源黑体 Heavy" panose="020B0A00000000000000" pitchFamily="34" charset="-122"/>
              <a:sym typeface="思源黑体 Heavy" panose="020B0A00000000000000" pitchFamily="34" charset="-122"/>
            </a:defRPr>
          </a:pPr>
          <a:endParaRPr lang="zh-CN"/>
        </a:p>
      </c:txPr>
    </c:legend>
    <c:plotVisOnly val="1"/>
    <c:dispBlanksAs val="gap"/>
    <c:showDLblsOverMax val="0"/>
    <c:extLst xmlns:c16r2="http://schemas.microsoft.com/office/drawing/2015/06/chart">
      <c:ext uri="{0b15fc19-7d7d-44ad-8c2d-2c3a37ce22c3}">
        <chartProps xmlns="https://web.wps.cn/et/2018/main" chartId="{5fd2a459-57ba-49cb-8dd6-9268fd3ec038}"/>
      </c:ext>
    </c:extLst>
  </c:chart>
  <c:spPr>
    <a:noFill/>
    <a:ln w="9525" cap="flat" cmpd="sng" algn="ctr">
      <a:noFill/>
      <a:round/>
    </a:ln>
    <a:effectLst/>
  </c:spPr>
  <c:txPr>
    <a:bodyPr/>
    <a:lstStyle/>
    <a:p>
      <a:pPr>
        <a:defRPr lang="zh-CN" sz="900">
          <a:solidFill>
            <a:schemeClr val="tx1">
              <a:lumMod val="65000"/>
              <a:lumOff val="3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pPr>
      <a:endParaRPr lang="zh-CN"/>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6389056101954"/>
          <c:y val="6.0476507542317599E-2"/>
          <c:w val="0.49632153508460702"/>
          <c:h val="0.74328312548363296"/>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635B-4E6A-8744-981C47E22B6C}"/>
              </c:ext>
            </c:extLst>
          </c:dPt>
          <c:dPt>
            <c:idx val="1"/>
            <c:bubble3D val="0"/>
            <c:explosion val="6"/>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635B-4E6A-8744-981C47E22B6C}"/>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635B-4E6A-8744-981C47E22B6C}"/>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635B-4E6A-8744-981C47E22B6C}"/>
              </c:ext>
            </c:extLst>
          </c:dPt>
          <c:dLbls>
            <c:dLbl>
              <c:idx val="0"/>
              <c:delete val="1"/>
              <c:extLst xmlns:c16r2="http://schemas.microsoft.com/office/drawing/2015/06/chart">
                <c:ext xmlns:c16="http://schemas.microsoft.com/office/drawing/2014/chart" uri="{C3380CC4-5D6E-409C-BE32-E72D297353CC}">
                  <c16:uniqueId val="{00000001-635B-4E6A-8744-981C47E22B6C}"/>
                </c:ext>
                <c:ext xmlns:c15="http://schemas.microsoft.com/office/drawing/2012/chart" uri="{CE6537A1-D6FC-4f65-9D91-7224C49458BB}"/>
              </c:extLst>
            </c:dLbl>
            <c:dLbl>
              <c:idx val="1"/>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35B-4E6A-8744-981C47E22B6C}"/>
                </c:ext>
                <c:ext xmlns:c15="http://schemas.microsoft.com/office/drawing/2012/chart" uri="{CE6537A1-D6FC-4f65-9D91-7224C49458BB}"/>
              </c:extLst>
            </c:dLbl>
            <c:dLbl>
              <c:idx val="2"/>
              <c:delete val="1"/>
              <c:extLst xmlns:c16r2="http://schemas.microsoft.com/office/drawing/2015/06/chart">
                <c:ext xmlns:c16="http://schemas.microsoft.com/office/drawing/2014/chart" uri="{C3380CC4-5D6E-409C-BE32-E72D297353CC}">
                  <c16:uniqueId val="{00000005-635B-4E6A-8744-981C47E22B6C}"/>
                </c:ext>
                <c:ext xmlns:c15="http://schemas.microsoft.com/office/drawing/2012/chart" uri="{CE6537A1-D6FC-4f65-9D91-7224C49458BB}"/>
              </c:extLst>
            </c:dLbl>
            <c:dLbl>
              <c:idx val="3"/>
              <c:delete val="1"/>
              <c:extLst xmlns:c16r2="http://schemas.microsoft.com/office/drawing/2015/06/chart">
                <c:ext xmlns:c16="http://schemas.microsoft.com/office/drawing/2014/chart" uri="{C3380CC4-5D6E-409C-BE32-E72D297353CC}">
                  <c16:uniqueId val="{00000007-635B-4E6A-8744-981C47E22B6C}"/>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s>
          <c:cat>
            <c:strRef>
              <c:f>'25年氦气供应价格与月度变化'!$B$12:$B$15</c:f>
              <c:strCache>
                <c:ptCount val="4"/>
                <c:pt idx="0">
                  <c:v>卡塔尔</c:v>
                </c:pt>
                <c:pt idx="1">
                  <c:v>欧洲某国家</c:v>
                </c:pt>
                <c:pt idx="2">
                  <c:v>美国</c:v>
                </c:pt>
                <c:pt idx="3">
                  <c:v>其他</c:v>
                </c:pt>
              </c:strCache>
            </c:strRef>
          </c:cat>
          <c:val>
            <c:numRef>
              <c:f>'25年氦气供应价格与月度变化'!$C$12:$C$15</c:f>
              <c:numCache>
                <c:formatCode>0.0%</c:formatCode>
                <c:ptCount val="4"/>
                <c:pt idx="0">
                  <c:v>0.59960254523914203</c:v>
                </c:pt>
                <c:pt idx="1">
                  <c:v>0.372255555767871</c:v>
                </c:pt>
                <c:pt idx="2">
                  <c:v>2.6135516786731101E-2</c:v>
                </c:pt>
                <c:pt idx="3">
                  <c:v>2.00638220625609E-3</c:v>
                </c:pt>
              </c:numCache>
            </c:numRef>
          </c:val>
          <c:extLst xmlns:c16r2="http://schemas.microsoft.com/office/drawing/2015/06/chart">
            <c:ext xmlns:c16="http://schemas.microsoft.com/office/drawing/2014/chart" uri="{C3380CC4-5D6E-409C-BE32-E72D297353CC}">
              <c16:uniqueId val="{00000008-635B-4E6A-8744-981C47E22B6C}"/>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4f9f05a6-23ed-4af4-9e9f-3af9cf633ccb}"/>
      </c:ext>
    </c:extLst>
  </c:chart>
  <c:spPr>
    <a:noFill/>
    <a:ln w="9525" cap="flat" cmpd="sng" algn="ctr">
      <a:noFill/>
      <a:round/>
    </a:ln>
    <a:effectLst/>
  </c:spPr>
  <c:txPr>
    <a:bodyPr/>
    <a:lstStyle/>
    <a:p>
      <a:pPr>
        <a:defRPr lang="zh-CN"/>
      </a:pPr>
      <a:endParaRPr lang="zh-CN"/>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793091759620502"/>
          <c:y val="7.13595881225315E-2"/>
          <c:w val="0.50353466105437505"/>
          <c:h val="0.76504928664406102"/>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42DF-4C06-9790-B6FA7B68F32D}"/>
              </c:ext>
            </c:extLst>
          </c:dPt>
          <c:dPt>
            <c:idx val="1"/>
            <c:bubble3D val="0"/>
            <c:explosion val="8"/>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42DF-4C06-9790-B6FA7B68F32D}"/>
              </c:ext>
            </c:extLst>
          </c:dPt>
          <c:dLbls>
            <c:dLbl>
              <c:idx val="0"/>
              <c:delete val="1"/>
              <c:extLst xmlns:c16r2="http://schemas.microsoft.com/office/drawing/2015/06/chart">
                <c:ext xmlns:c16="http://schemas.microsoft.com/office/drawing/2014/chart" uri="{C3380CC4-5D6E-409C-BE32-E72D297353CC}">
                  <c16:uniqueId val="{00000001-42DF-4C06-9790-B6FA7B68F32D}"/>
                </c:ext>
                <c:ext xmlns:c15="http://schemas.microsoft.com/office/drawing/2012/chart" uri="{CE6537A1-D6FC-4f65-9D91-7224C49458BB}"/>
              </c:extLst>
            </c:dLbl>
            <c:dLbl>
              <c:idx val="1"/>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42DF-4C06-9790-B6FA7B68F32D}"/>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zh-CN" sz="900" b="0" i="0" u="none" strike="noStrike" kern="1200" baseline="0">
                    <a:solidFill>
                      <a:schemeClr val="tx1">
                        <a:lumMod val="75000"/>
                        <a:lumOff val="25000"/>
                      </a:schemeClr>
                    </a:solidFill>
                    <a:latin typeface="+mn-lt"/>
                    <a:ea typeface="+mn-ea"/>
                    <a:cs typeface="+mn-cs"/>
                  </a:defRPr>
                </a:pPr>
                <a:endParaRPr lang="zh-CN"/>
              </a:p>
            </c:txPr>
            <c:dLblPos val="bestFit"/>
            <c:showLegendKey val="0"/>
            <c:showVal val="0"/>
            <c:showCatName val="0"/>
            <c:showSerName val="0"/>
            <c:showPercent val="0"/>
            <c:showBubbleSize val="0"/>
            <c:extLst xmlns:c16r2="http://schemas.microsoft.com/office/drawing/2015/06/chart">
              <c:ext xmlns:c15="http://schemas.microsoft.com/office/drawing/2012/chart" uri="{CE6537A1-D6FC-4f65-9D91-7224C49458BB}"/>
            </c:extLst>
          </c:dLbls>
          <c:cat>
            <c:strRef>
              <c:f>'25年氦气供应价格与月度变化'!$B$27:$B$28</c:f>
              <c:strCache>
                <c:ptCount val="2"/>
                <c:pt idx="0">
                  <c:v>卡塔尔</c:v>
                </c:pt>
                <c:pt idx="1">
                  <c:v>欧洲某国家</c:v>
                </c:pt>
              </c:strCache>
            </c:strRef>
          </c:cat>
          <c:val>
            <c:numRef>
              <c:f>'25年氦气供应价格与月度变化'!$C$27:$C$28</c:f>
              <c:numCache>
                <c:formatCode>0.0%</c:formatCode>
                <c:ptCount val="2"/>
                <c:pt idx="0">
                  <c:v>0.58124292795792798</c:v>
                </c:pt>
                <c:pt idx="1">
                  <c:v>0.41875707204207202</c:v>
                </c:pt>
              </c:numCache>
            </c:numRef>
          </c:val>
          <c:extLst xmlns:c16r2="http://schemas.microsoft.com/office/drawing/2015/06/chart">
            <c:ext xmlns:c16="http://schemas.microsoft.com/office/drawing/2014/chart" uri="{C3380CC4-5D6E-409C-BE32-E72D297353CC}">
              <c16:uniqueId val="{00000004-42DF-4C06-9790-B6FA7B68F32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uri="{0b15fc19-7d7d-44ad-8c2d-2c3a37ce22c3}">
        <chartProps xmlns="https://web.wps.cn/et/2018/main" chartId="{8ddebdfc-abf4-42e7-be4b-bc986d817de3}"/>
      </c:ext>
    </c:extLst>
  </c:chart>
  <c:spPr>
    <a:noFill/>
    <a:ln w="9525" cap="flat" cmpd="sng" algn="ctr">
      <a:noFill/>
      <a:round/>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3">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50000"/>
            <a:lumOff val="50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40" b="0" kern="1200" spc="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思源宋体 CN Light" panose="020203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思源宋体 CN Light" panose="02020300000000000000" charset="-122"/>
              </a:rPr>
              <a:t>2026/1/12</a:t>
            </a:fld>
            <a:endParaRPr lang="zh-CN" altLang="en-US">
              <a:ea typeface="思源宋体 CN Light" panose="020203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思源宋体 CN Light" panose="020203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思源宋体 CN Light" panose="02020300000000000000" charset="-122"/>
              </a:rPr>
              <a:t>‹#›</a:t>
            </a:fld>
            <a:endParaRPr lang="zh-CN" altLang="en-US">
              <a:ea typeface="思源宋体 CN Light" panose="020203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思源宋体 CN Light" panose="020203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思源宋体 CN Light" panose="02020300000000000000" charset="-122"/>
              </a:defRPr>
            </a:lvl1pPr>
          </a:lstStyle>
          <a:p>
            <a:fld id="{D2A48B96-639E-45A3-A0BA-2464DFDB1FAA}" type="datetimeFigureOut">
              <a:rPr lang="zh-CN" altLang="en-US" smtClean="0"/>
              <a:t>2026/1/12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思源宋体 CN Light" panose="020203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思源宋体 CN Light" panose="02020300000000000000" charset="-122"/>
              </a:defRPr>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2513118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思源宋体 CN Light" panose="02020300000000000000" charset="-122"/>
        <a:cs typeface="+mn-cs"/>
      </a:defRPr>
    </a:lvl1pPr>
    <a:lvl2pPr marL="457200" algn="l" defTabSz="914400" rtl="0" eaLnBrk="1" latinLnBrk="0" hangingPunct="1">
      <a:defRPr sz="1200" kern="1200">
        <a:solidFill>
          <a:schemeClr val="tx1"/>
        </a:solidFill>
        <a:latin typeface="+mn-lt"/>
        <a:ea typeface="思源宋体 CN Light" panose="02020300000000000000" charset="-122"/>
        <a:cs typeface="+mn-cs"/>
      </a:defRPr>
    </a:lvl2pPr>
    <a:lvl3pPr marL="914400" algn="l" defTabSz="914400" rtl="0" eaLnBrk="1" latinLnBrk="0" hangingPunct="1">
      <a:defRPr sz="1200" kern="1200">
        <a:solidFill>
          <a:schemeClr val="tx1"/>
        </a:solidFill>
        <a:latin typeface="+mn-lt"/>
        <a:ea typeface="思源宋体 CN Light" panose="02020300000000000000" charset="-122"/>
        <a:cs typeface="+mn-cs"/>
      </a:defRPr>
    </a:lvl3pPr>
    <a:lvl4pPr marL="1371600" algn="l" defTabSz="914400" rtl="0" eaLnBrk="1" latinLnBrk="0" hangingPunct="1">
      <a:defRPr sz="1200" kern="1200">
        <a:solidFill>
          <a:schemeClr val="tx1"/>
        </a:solidFill>
        <a:latin typeface="+mn-lt"/>
        <a:ea typeface="思源宋体 CN Light" panose="02020300000000000000" charset="-122"/>
        <a:cs typeface="+mn-cs"/>
      </a:defRPr>
    </a:lvl4pPr>
    <a:lvl5pPr marL="1828800" algn="l" defTabSz="914400" rtl="0" eaLnBrk="1" latinLnBrk="0" hangingPunct="1">
      <a:defRPr sz="1200" kern="1200">
        <a:solidFill>
          <a:schemeClr val="tx1"/>
        </a:solidFill>
        <a:latin typeface="+mn-lt"/>
        <a:ea typeface="思源宋体 CN Light" panose="020203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363670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封面">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1">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0" name="矩形 19"/>
          <p:cNvSpPr/>
          <p:nvPr/>
        </p:nvSpPr>
        <p:spPr>
          <a:xfrm>
            <a:off x="8388424" y="4731992"/>
            <a:ext cx="192360" cy="153888"/>
          </a:xfrm>
          <a:prstGeom prst="rect">
            <a:avLst/>
          </a:prstGeom>
        </p:spPr>
        <p:txBody>
          <a:bodyPr wrap="none" lIns="0" tIns="0" rIns="0" bIns="0">
            <a:spAutoFit/>
          </a:bodyPr>
          <a:lstStyle/>
          <a:p>
            <a:pPr algn="r"/>
            <a:fld id="{E9E84A82-7EF7-49E7-89C8-3DC8F187464B}" type="slidenum">
              <a:rPr lang="en-US" altLang="zh-CN" sz="1000" smtClean="0">
                <a:solidFill>
                  <a:schemeClr val="bg1"/>
                </a:solidFill>
                <a:latin typeface="Arial" panose="020B0604020202020204" pitchFamily="34" charset="0"/>
                <a:ea typeface="思源黑体 CN Regular" panose="020B0500000000000000" charset="-122"/>
                <a:cs typeface="Arial" panose="020B0604020202020204" pitchFamily="34" charset="0"/>
              </a:rPr>
              <a:t>‹#›</a:t>
            </a:fld>
            <a:r>
              <a:rPr lang="zh-CN" altLang="en-US" sz="1000" dirty="0">
                <a:solidFill>
                  <a:schemeClr val="bg1"/>
                </a:solidFill>
                <a:latin typeface="Arial" panose="020B0604020202020204" pitchFamily="34" charset="0"/>
                <a:ea typeface="思源黑体 CN Regular" panose="020B0500000000000000" charset="-122"/>
                <a:cs typeface="Arial" panose="020B0604020202020204" pitchFamily="34" charset="0"/>
              </a:rPr>
              <a:t> </a:t>
            </a:r>
          </a:p>
        </p:txBody>
      </p:sp>
      <p:sp>
        <p:nvSpPr>
          <p:cNvPr id="60" name="文本占位符 59"/>
          <p:cNvSpPr>
            <a:spLocks noGrp="1"/>
          </p:cNvSpPr>
          <p:nvPr>
            <p:ph type="body" sz="quarter" idx="10" hasCustomPrompt="1"/>
          </p:nvPr>
        </p:nvSpPr>
        <p:spPr>
          <a:xfrm>
            <a:off x="8676456" y="4731990"/>
            <a:ext cx="467544" cy="411510"/>
          </a:xfrm>
          <a:prstGeom prst="rect">
            <a:avLst/>
          </a:prstGeom>
        </p:spPr>
        <p:txBody>
          <a:bodyPr lIns="0" tIns="0" rIns="0" bIns="0"/>
          <a:lstStyle>
            <a:lvl1pPr algn="l">
              <a:buNone/>
              <a:defRPr sz="1000">
                <a:solidFill>
                  <a:schemeClr val="bg1"/>
                </a:solidFill>
                <a:latin typeface="Arial" panose="020B0604020202020204" pitchFamily="34" charset="0"/>
                <a:cs typeface="Arial" panose="020B0604020202020204" pitchFamily="34" charset="0"/>
              </a:defRPr>
            </a:lvl1pPr>
          </a:lstStyle>
          <a:p>
            <a:pPr lvl="0"/>
            <a:r>
              <a:rPr lang="en-US" altLang="zh-CN" dirty="0"/>
              <a:t>99</a:t>
            </a:r>
            <a:endParaRPr lang="zh-CN" altLang="en-US" dirty="0"/>
          </a:p>
        </p:txBody>
      </p:sp>
      <p:sp>
        <p:nvSpPr>
          <p:cNvPr id="62" name="TextBox 61"/>
          <p:cNvSpPr txBox="1"/>
          <p:nvPr/>
        </p:nvSpPr>
        <p:spPr>
          <a:xfrm>
            <a:off x="8604449" y="4731992"/>
            <a:ext cx="35267" cy="153888"/>
          </a:xfrm>
          <a:prstGeom prst="rect">
            <a:avLst/>
          </a:prstGeom>
          <a:noFill/>
        </p:spPr>
        <p:txBody>
          <a:bodyPr wrap="none" lIns="0" tIns="0" rIns="0" bIns="0" rtlCol="0">
            <a:spAutoFit/>
          </a:bodyPr>
          <a:lstStyle/>
          <a:p>
            <a:pPr algn="ctr"/>
            <a:r>
              <a:rPr lang="en-US" altLang="zh-CN" sz="1000" dirty="0">
                <a:solidFill>
                  <a:schemeClr val="bg1"/>
                </a:solidFill>
                <a:latin typeface="Arial" panose="020B0604020202020204" pitchFamily="34" charset="0"/>
                <a:cs typeface="Arial" panose="020B0604020202020204" pitchFamily="34" charset="0"/>
              </a:rPr>
              <a:t>/</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7" name="矩形 6"/>
          <p:cNvSpPr/>
          <p:nvPr/>
        </p:nvSpPr>
        <p:spPr>
          <a:xfrm>
            <a:off x="7091989" y="339504"/>
            <a:ext cx="1800493" cy="253916"/>
          </a:xfrm>
          <a:prstGeom prst="rect">
            <a:avLst/>
          </a:prstGeom>
        </p:spPr>
        <p:txBody>
          <a:bodyPr wrap="none">
            <a:spAutoFit/>
          </a:bodyPr>
          <a:lstStyle/>
          <a:p>
            <a:pPr algn="r"/>
            <a:r>
              <a:rPr lang="zh-CN" altLang="en-US" sz="1050" dirty="0">
                <a:solidFill>
                  <a:schemeClr val="bg1"/>
                </a:solidFill>
                <a:latin typeface="思源黑体 CN Regular" panose="020B0500000000000000" charset="-122"/>
                <a:ea typeface="思源黑体 CN Regular" panose="020B0500000000000000" charset="-122"/>
              </a:rPr>
              <a:t>深度报告</a:t>
            </a:r>
            <a:r>
              <a:rPr lang="en-US" altLang="zh-CN" sz="1050" dirty="0">
                <a:solidFill>
                  <a:schemeClr val="bg1"/>
                </a:solidFill>
                <a:latin typeface="思源黑体 CN Regular" panose="020B0500000000000000" charset="-122"/>
                <a:ea typeface="思源黑体 CN Regular" panose="020B0500000000000000" charset="-122"/>
              </a:rPr>
              <a:t>《</a:t>
            </a:r>
            <a:r>
              <a:rPr lang="zh-CN" altLang="en-US" sz="1050" dirty="0">
                <a:solidFill>
                  <a:schemeClr val="bg1"/>
                </a:solidFill>
                <a:latin typeface="思源黑体 CN Regular" panose="020B0500000000000000" charset="-122"/>
                <a:ea typeface="思源黑体 CN Regular" panose="020B0500000000000000" charset="-122"/>
              </a:rPr>
              <a:t>广钢气体推荐</a:t>
            </a:r>
            <a:r>
              <a:rPr lang="en-US" altLang="zh-CN" sz="1050" dirty="0">
                <a:solidFill>
                  <a:schemeClr val="bg1"/>
                </a:solidFill>
                <a:latin typeface="思源黑体 CN Regular" panose="020B0500000000000000" charset="-122"/>
                <a:ea typeface="思源黑体 CN Regular" panose="020B0500000000000000" charset="-122"/>
              </a:rPr>
              <a:t>》</a:t>
            </a:r>
          </a:p>
        </p:txBody>
      </p:sp>
      <p:sp>
        <p:nvSpPr>
          <p:cNvPr id="8" name="矩形 7"/>
          <p:cNvSpPr/>
          <p:nvPr/>
        </p:nvSpPr>
        <p:spPr>
          <a:xfrm>
            <a:off x="8388424" y="4731992"/>
            <a:ext cx="192360" cy="153888"/>
          </a:xfrm>
          <a:prstGeom prst="rect">
            <a:avLst/>
          </a:prstGeom>
        </p:spPr>
        <p:txBody>
          <a:bodyPr wrap="none" lIns="0" tIns="0" rIns="0" bIns="0">
            <a:spAutoFit/>
          </a:bodyPr>
          <a:lstStyle/>
          <a:p>
            <a:pPr algn="r"/>
            <a:fld id="{E9E84A82-7EF7-49E7-89C8-3DC8F187464B}" type="slidenum">
              <a:rPr lang="en-US" altLang="zh-CN" sz="1000" smtClean="0">
                <a:solidFill>
                  <a:srgbClr val="999999"/>
                </a:solidFill>
                <a:latin typeface="Arial" panose="020B0604020202020204" pitchFamily="34" charset="0"/>
                <a:ea typeface="思源黑体 CN Regular" panose="020B0500000000000000" charset="-122"/>
                <a:cs typeface="Arial" panose="020B0604020202020204" pitchFamily="34" charset="0"/>
              </a:rPr>
              <a:t>‹#›</a:t>
            </a:fld>
            <a:r>
              <a:rPr lang="zh-CN" altLang="en-US" sz="1000" dirty="0">
                <a:solidFill>
                  <a:srgbClr val="999999"/>
                </a:solidFill>
                <a:latin typeface="Arial" panose="020B0604020202020204" pitchFamily="34" charset="0"/>
                <a:ea typeface="思源黑体 CN Regular" panose="020B0500000000000000" charset="-122"/>
                <a:cs typeface="Arial" panose="020B0604020202020204" pitchFamily="34" charset="0"/>
              </a:rPr>
              <a:t> </a:t>
            </a:r>
          </a:p>
        </p:txBody>
      </p:sp>
      <p:sp>
        <p:nvSpPr>
          <p:cNvPr id="9" name="矩形 8"/>
          <p:cNvSpPr/>
          <p:nvPr/>
        </p:nvSpPr>
        <p:spPr>
          <a:xfrm>
            <a:off x="6868111" y="4678131"/>
            <a:ext cx="1520315" cy="246221"/>
          </a:xfrm>
          <a:prstGeom prst="rect">
            <a:avLst/>
          </a:prstGeom>
        </p:spPr>
        <p:txBody>
          <a:bodyPr wrap="square">
            <a:spAutoFit/>
          </a:bodyPr>
          <a:lstStyle/>
          <a:p>
            <a:pPr marL="0" algn="l" defTabSz="914400" rtl="0" eaLnBrk="1" latinLnBrk="0" hangingPunct="1"/>
            <a:r>
              <a:rPr lang="zh-CN" altLang="en-US" sz="1000" kern="1200" dirty="0">
                <a:solidFill>
                  <a:schemeClr val="bg1"/>
                </a:solidFill>
                <a:latin typeface="思源黑体 CN Regular" panose="020B0500000000000000" charset="-122"/>
                <a:ea typeface="思源黑体 CN Regular" panose="020B0500000000000000" charset="-122"/>
                <a:cs typeface="+mn-cs"/>
              </a:rPr>
              <a:t>请参阅附注免责声明</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内页-1">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0" name="矩形 19"/>
          <p:cNvSpPr/>
          <p:nvPr/>
        </p:nvSpPr>
        <p:spPr>
          <a:xfrm>
            <a:off x="8388424" y="4731990"/>
            <a:ext cx="192360" cy="153888"/>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E9E84A82-7EF7-49E7-89C8-3DC8F187464B}" type="slidenum">
              <a:rPr kumimoji="0" lang="en-US" altLang="zh-CN" sz="1000" b="0" i="0" u="none" strike="noStrike" kern="1200" cap="none" spc="0" normalizeH="0" baseline="0" noProof="0" smtClean="0">
                <a:ln>
                  <a:noFill/>
                </a:ln>
                <a:solidFill>
                  <a:prstClr val="white"/>
                </a:solidFill>
                <a:effectLst/>
                <a:uLnTx/>
                <a:uFillTx/>
                <a:latin typeface="Arial" panose="020B0604020202020204" pitchFamily="34" charset="0"/>
                <a:ea typeface="思源黑体 CN Regular" panose="020B0500000000000000" charset="-122"/>
                <a:cs typeface="Arial" panose="020B0604020202020204" pitchFamily="34" charset="0"/>
              </a:rPr>
              <a:t>‹#›</a:t>
            </a:fld>
            <a:r>
              <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思源黑体 CN Regular" panose="020B0500000000000000" charset="-122"/>
                <a:cs typeface="Arial" panose="020B0604020202020204" pitchFamily="34" charset="0"/>
              </a:rPr>
              <a:t> </a:t>
            </a:r>
          </a:p>
        </p:txBody>
      </p:sp>
      <p:sp>
        <p:nvSpPr>
          <p:cNvPr id="60" name="文本占位符 59"/>
          <p:cNvSpPr>
            <a:spLocks noGrp="1"/>
          </p:cNvSpPr>
          <p:nvPr>
            <p:ph type="body" sz="quarter" idx="10" hasCustomPrompt="1"/>
          </p:nvPr>
        </p:nvSpPr>
        <p:spPr>
          <a:xfrm>
            <a:off x="8676456" y="4731990"/>
            <a:ext cx="467544" cy="411510"/>
          </a:xfrm>
          <a:prstGeom prst="rect">
            <a:avLst/>
          </a:prstGeom>
        </p:spPr>
        <p:txBody>
          <a:bodyPr lIns="0" tIns="0" rIns="0" bIns="0"/>
          <a:lstStyle>
            <a:lvl1pPr algn="l">
              <a:buNone/>
              <a:defRPr sz="1000">
                <a:solidFill>
                  <a:schemeClr val="bg1"/>
                </a:solidFill>
                <a:latin typeface="Arial" panose="020B0604020202020204" pitchFamily="34" charset="0"/>
                <a:cs typeface="Arial" panose="020B0604020202020204" pitchFamily="34" charset="0"/>
              </a:defRPr>
            </a:lvl1pPr>
          </a:lstStyle>
          <a:p>
            <a:pPr lvl="0"/>
            <a:r>
              <a:rPr lang="en-US" altLang="zh-CN" dirty="0"/>
              <a:t>99</a:t>
            </a:r>
            <a:endParaRPr lang="zh-CN" altLang="en-US" dirty="0"/>
          </a:p>
        </p:txBody>
      </p:sp>
      <p:sp>
        <p:nvSpPr>
          <p:cNvPr id="62" name="TextBox 61"/>
          <p:cNvSpPr txBox="1"/>
          <p:nvPr/>
        </p:nvSpPr>
        <p:spPr>
          <a:xfrm>
            <a:off x="8604448" y="4731990"/>
            <a:ext cx="3526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white"/>
                </a:solidFill>
                <a:effectLst/>
                <a:uLnTx/>
                <a:uFillTx/>
                <a:latin typeface="Arial" panose="020B0604020202020204" pitchFamily="34" charset="0"/>
                <a:ea typeface="思源宋体 CN Light" panose="02020300000000000000" charset="-122"/>
                <a:cs typeface="Arial" panose="020B0604020202020204" pitchFamily="34" charset="0"/>
              </a:rPr>
              <a:t>/</a:t>
            </a:r>
            <a:endPar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思源宋体 CN Light" panose="02020300000000000000" charset="-122"/>
              <a:cs typeface="Arial" panose="020B0604020202020204" pitchFamily="34" charset="0"/>
            </a:endParaRPr>
          </a:p>
        </p:txBody>
      </p:sp>
      <p:sp>
        <p:nvSpPr>
          <p:cNvPr id="8" name="矩形 7"/>
          <p:cNvSpPr/>
          <p:nvPr/>
        </p:nvSpPr>
        <p:spPr>
          <a:xfrm>
            <a:off x="8388424" y="4731990"/>
            <a:ext cx="192360" cy="153888"/>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E9E84A82-7EF7-49E7-89C8-3DC8F187464B}" type="slidenum">
              <a:rPr kumimoji="0" lang="en-US" altLang="zh-CN" sz="1000" b="0" i="0" u="none" strike="noStrike" kern="1200" cap="none" spc="0" normalizeH="0" baseline="0" noProof="0" smtClean="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a:t>
            </a:fld>
            <a:r>
              <a:rPr kumimoji="0" lang="zh-CN" altLang="en-US" sz="1000" b="0" i="0" u="none" strike="noStrike" kern="1200" cap="none" spc="0" normalizeH="0" baseline="0" noProof="0" dirty="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 </a:t>
            </a:r>
          </a:p>
        </p:txBody>
      </p:sp>
      <p:sp>
        <p:nvSpPr>
          <p:cNvPr id="9" name="矩形 8"/>
          <p:cNvSpPr/>
          <p:nvPr/>
        </p:nvSpPr>
        <p:spPr>
          <a:xfrm>
            <a:off x="6868109" y="4678129"/>
            <a:ext cx="1520315"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请参阅附注免责声明</a:t>
            </a:r>
          </a:p>
        </p:txBody>
      </p:sp>
      <p:sp>
        <p:nvSpPr>
          <p:cNvPr id="2" name="文本框 1"/>
          <p:cNvSpPr txBox="1"/>
          <p:nvPr/>
        </p:nvSpPr>
        <p:spPr>
          <a:xfrm>
            <a:off x="4313555" y="353060"/>
            <a:ext cx="4572000" cy="252730"/>
          </a:xfrm>
          <a:prstGeom prst="rect">
            <a:avLst/>
          </a:prstGeom>
          <a:noFill/>
        </p:spPr>
        <p:txBody>
          <a:bodyPr wrap="square" rtlCol="0" anchor="t">
            <a:spAutoFit/>
          </a:bodyPr>
          <a:lstStyle/>
          <a:p>
            <a:pPr algn="r"/>
            <a:r>
              <a:rPr lang="zh-CN" altLang="en-US" sz="1050" dirty="0">
                <a:solidFill>
                  <a:schemeClr val="bg1"/>
                </a:solidFill>
                <a:latin typeface="思源黑体 CN Regular" panose="020B0500000000000000" charset="-122"/>
                <a:ea typeface="思源黑体 CN Regular" panose="020B0500000000000000" charset="-122"/>
                <a:sym typeface="+mn-ea"/>
              </a:rPr>
              <a:t>深度报告</a:t>
            </a:r>
            <a:r>
              <a:rPr lang="en-US" altLang="zh-CN" sz="1050" dirty="0">
                <a:solidFill>
                  <a:schemeClr val="bg1"/>
                </a:solidFill>
                <a:latin typeface="思源黑体 CN Regular" panose="020B0500000000000000" charset="-122"/>
                <a:ea typeface="思源黑体 CN Regular" panose="020B0500000000000000" charset="-122"/>
                <a:sym typeface="+mn-ea"/>
              </a:rPr>
              <a:t>《</a:t>
            </a:r>
            <a:r>
              <a:rPr lang="zh-CN" altLang="en-US" sz="1050" dirty="0">
                <a:solidFill>
                  <a:schemeClr val="bg1"/>
                </a:solidFill>
                <a:latin typeface="思源黑体 CN Regular" panose="020B0500000000000000" charset="-122"/>
                <a:ea typeface="思源黑体 CN Regular" panose="020B0500000000000000" charset="-122"/>
                <a:sym typeface="+mn-ea"/>
              </a:rPr>
              <a:t>广钢气体推荐</a:t>
            </a:r>
            <a:r>
              <a:rPr lang="en-US" altLang="zh-CN" sz="1050" dirty="0">
                <a:solidFill>
                  <a:schemeClr val="bg1"/>
                </a:solidFill>
                <a:latin typeface="思源黑体 CN Regular" panose="020B0500000000000000" charset="-122"/>
                <a:ea typeface="思源黑体 CN Regular" panose="020B0500000000000000" charset="-122"/>
                <a:sym typeface="+mn-ea"/>
              </a:rPr>
              <a:t>》</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内页-2">
    <p:bg>
      <p:bgPr>
        <a:blipFill dpi="0" rotWithShape="1">
          <a:blip r:embed="rId2" cstate="screen">
            <a:alphaModFix amt="42000"/>
          </a:blip>
          <a:srcRect/>
          <a:stretch>
            <a:fillRect/>
          </a:stretch>
        </a:blipFill>
        <a:effectLst/>
      </p:bgPr>
    </p:bg>
    <p:spTree>
      <p:nvGrpSpPr>
        <p:cNvPr id="1" name=""/>
        <p:cNvGrpSpPr/>
        <p:nvPr/>
      </p:nvGrpSpPr>
      <p:grpSpPr>
        <a:xfrm>
          <a:off x="0" y="0"/>
          <a:ext cx="0" cy="0"/>
          <a:chOff x="0" y="0"/>
          <a:chExt cx="0" cy="0"/>
        </a:xfrm>
      </p:grpSpPr>
      <p:sp>
        <p:nvSpPr>
          <p:cNvPr id="10" name="矩形 9"/>
          <p:cNvSpPr/>
          <p:nvPr userDrawn="1"/>
        </p:nvSpPr>
        <p:spPr>
          <a:xfrm>
            <a:off x="8423690" y="4731992"/>
            <a:ext cx="157094" cy="153888"/>
          </a:xfrm>
          <a:prstGeom prst="rect">
            <a:avLst/>
          </a:prstGeom>
        </p:spPr>
        <p:txBody>
          <a:bodyPr wrap="none" lIns="0" tIns="0" rIns="0" bIns="0">
            <a:spAutoFit/>
          </a:bodyPr>
          <a:lstStyle/>
          <a:p>
            <a:pPr algn="r"/>
            <a:fld id="{35A33029-9098-43A5-ABC6-A360AC821B5A}" type="slidenum">
              <a:rPr lang="en-US" altLang="zh-CN" sz="1000" smtClean="0">
                <a:solidFill>
                  <a:srgbClr val="999999"/>
                </a:solidFill>
                <a:latin typeface="Arial" panose="020B0604020202020204" pitchFamily="34" charset="0"/>
                <a:ea typeface="思源黑体 CN Regular" panose="020B0500000000000000" charset="-122"/>
                <a:cs typeface="Arial" panose="020B0604020202020204" pitchFamily="34" charset="0"/>
              </a:rPr>
              <a:t>‹#›</a:t>
            </a:fld>
            <a:endParaRPr lang="zh-CN" altLang="en-US" sz="1000" dirty="0">
              <a:solidFill>
                <a:srgbClr val="999999"/>
              </a:solidFill>
              <a:latin typeface="Arial" panose="020B0604020202020204" pitchFamily="34" charset="0"/>
              <a:ea typeface="思源黑体 CN Regular" panose="020B0500000000000000" charset="-122"/>
              <a:cs typeface="Arial" panose="020B0604020202020204" pitchFamily="34" charset="0"/>
            </a:endParaRPr>
          </a:p>
        </p:txBody>
      </p:sp>
      <p:sp>
        <p:nvSpPr>
          <p:cNvPr id="11" name="矩形 10"/>
          <p:cNvSpPr/>
          <p:nvPr userDrawn="1"/>
        </p:nvSpPr>
        <p:spPr>
          <a:xfrm>
            <a:off x="6868111" y="4678131"/>
            <a:ext cx="1520315" cy="246221"/>
          </a:xfrm>
          <a:prstGeom prst="rect">
            <a:avLst/>
          </a:prstGeom>
        </p:spPr>
        <p:txBody>
          <a:bodyPr wrap="square">
            <a:spAutoFit/>
          </a:bodyPr>
          <a:lstStyle/>
          <a:p>
            <a:pPr marL="0" algn="l" defTabSz="914400" rtl="0" eaLnBrk="1" latinLnBrk="0" hangingPunct="1"/>
            <a:r>
              <a:rPr lang="zh-CN" altLang="en-US" sz="1000" kern="1200" dirty="0">
                <a:solidFill>
                  <a:schemeClr val="tx1">
                    <a:lumMod val="75000"/>
                    <a:lumOff val="25000"/>
                  </a:schemeClr>
                </a:solidFill>
                <a:latin typeface="思源黑体 CN Regular" panose="020B0500000000000000" charset="-122"/>
                <a:ea typeface="思源黑体 CN Regular" panose="020B0500000000000000" charset="-122"/>
                <a:cs typeface="+mn-cs"/>
              </a:rPr>
              <a:t>请参阅附注免责声明</a:t>
            </a:r>
          </a:p>
        </p:txBody>
      </p:sp>
      <p:sp>
        <p:nvSpPr>
          <p:cNvPr id="12" name="矩形 11"/>
          <p:cNvSpPr/>
          <p:nvPr userDrawn="1"/>
        </p:nvSpPr>
        <p:spPr>
          <a:xfrm>
            <a:off x="7091989" y="339504"/>
            <a:ext cx="1800493" cy="253916"/>
          </a:xfrm>
          <a:prstGeom prst="rect">
            <a:avLst/>
          </a:prstGeom>
        </p:spPr>
        <p:txBody>
          <a:bodyPr wrap="none">
            <a:spAutoFit/>
          </a:bodyPr>
          <a:lstStyle/>
          <a:p>
            <a:pPr algn="r"/>
            <a:r>
              <a:rPr lang="zh-CN" altLang="en-US" sz="1050" dirty="0">
                <a:solidFill>
                  <a:srgbClr val="646464"/>
                </a:solidFill>
                <a:latin typeface="思源黑体 CN Regular" panose="020B0500000000000000" charset="-122"/>
                <a:ea typeface="思源黑体 CN Regular" panose="020B0500000000000000" charset="-122"/>
              </a:rPr>
              <a:t>深度报告</a:t>
            </a:r>
            <a:r>
              <a:rPr lang="en-US" altLang="zh-CN" sz="1050" dirty="0">
                <a:solidFill>
                  <a:srgbClr val="646464"/>
                </a:solidFill>
                <a:latin typeface="思源黑体 CN Regular" panose="020B0500000000000000" charset="-122"/>
                <a:ea typeface="思源黑体 CN Regular" panose="020B0500000000000000" charset="-122"/>
              </a:rPr>
              <a:t>《</a:t>
            </a:r>
            <a:r>
              <a:rPr lang="zh-CN" altLang="en-US" sz="1050" dirty="0">
                <a:solidFill>
                  <a:srgbClr val="646464"/>
                </a:solidFill>
                <a:latin typeface="思源黑体 CN Regular" panose="020B0500000000000000" charset="-122"/>
                <a:ea typeface="思源黑体 CN Regular" panose="020B0500000000000000" charset="-122"/>
              </a:rPr>
              <a:t>广钢气体推荐</a:t>
            </a:r>
            <a:r>
              <a:rPr lang="en-US" altLang="zh-CN" sz="1050" dirty="0">
                <a:solidFill>
                  <a:srgbClr val="646464"/>
                </a:solidFill>
                <a:latin typeface="思源黑体 CN Regular" panose="020B0500000000000000" charset="-122"/>
                <a:ea typeface="思源黑体 CN Regular" panose="020B0500000000000000" charset="-122"/>
              </a:rPr>
              <a:t>》</a:t>
            </a:r>
          </a:p>
        </p:txBody>
      </p:sp>
      <p:pic>
        <p:nvPicPr>
          <p:cNvPr id="2" name="图片 1" descr="F:/国君+海通/品牌宣传/300ppi/国泰海通证券logo白色纸张上运用横版.png国泰海通证券logo白色纸张上运用横版"/>
          <p:cNvPicPr>
            <a:picLocks noChangeAspect="1"/>
          </p:cNvPicPr>
          <p:nvPr userDrawn="1"/>
        </p:nvPicPr>
        <p:blipFill>
          <a:blip r:embed="rId3"/>
          <a:srcRect l="658" r="658"/>
          <a:stretch>
            <a:fillRect/>
          </a:stretch>
        </p:blipFill>
        <p:spPr>
          <a:xfrm>
            <a:off x="274320" y="4678131"/>
            <a:ext cx="1028700" cy="1447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封底">
    <p:bg>
      <p:bgPr>
        <a:blipFill dpi="0" rotWithShape="1">
          <a:blip r:embed="rId2" cstate="screen">
            <a:alphaModFix amt="42000"/>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空白页">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空白页">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封面">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内页-1">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0" name="矩形 19"/>
          <p:cNvSpPr/>
          <p:nvPr/>
        </p:nvSpPr>
        <p:spPr>
          <a:xfrm>
            <a:off x="8388424" y="4731992"/>
            <a:ext cx="192360" cy="153888"/>
          </a:xfrm>
          <a:prstGeom prst="rect">
            <a:avLst/>
          </a:prstGeom>
        </p:spPr>
        <p:txBody>
          <a:bodyPr wrap="none" lIns="0" tIns="0" rIns="0" bIns="0">
            <a:spAutoFit/>
          </a:bodyPr>
          <a:lstStyle/>
          <a:p>
            <a:pPr algn="r"/>
            <a:fld id="{E9E84A82-7EF7-49E7-89C8-3DC8F187464B}" type="slidenum">
              <a:rPr lang="en-US" altLang="zh-CN" sz="1000" smtClean="0">
                <a:solidFill>
                  <a:schemeClr val="bg1"/>
                </a:solidFill>
                <a:latin typeface="Arial" panose="020B0604020202020204" pitchFamily="34" charset="0"/>
                <a:ea typeface="思源黑体 CN Regular" panose="020B0500000000000000" charset="-122"/>
                <a:cs typeface="Arial" panose="020B0604020202020204" pitchFamily="34" charset="0"/>
              </a:rPr>
              <a:t>‹#›</a:t>
            </a:fld>
            <a:r>
              <a:rPr lang="zh-CN" altLang="en-US" sz="1000" dirty="0">
                <a:solidFill>
                  <a:schemeClr val="bg1"/>
                </a:solidFill>
                <a:latin typeface="Arial" panose="020B0604020202020204" pitchFamily="34" charset="0"/>
                <a:ea typeface="思源黑体 CN Regular" panose="020B0500000000000000" charset="-122"/>
                <a:cs typeface="Arial" panose="020B0604020202020204" pitchFamily="34" charset="0"/>
              </a:rPr>
              <a:t> </a:t>
            </a:r>
          </a:p>
        </p:txBody>
      </p:sp>
      <p:sp>
        <p:nvSpPr>
          <p:cNvPr id="60" name="文本占位符 59"/>
          <p:cNvSpPr>
            <a:spLocks noGrp="1"/>
          </p:cNvSpPr>
          <p:nvPr>
            <p:ph type="body" sz="quarter" idx="10" hasCustomPrompt="1"/>
          </p:nvPr>
        </p:nvSpPr>
        <p:spPr>
          <a:xfrm>
            <a:off x="8676456" y="4731990"/>
            <a:ext cx="467544" cy="411510"/>
          </a:xfrm>
          <a:prstGeom prst="rect">
            <a:avLst/>
          </a:prstGeom>
        </p:spPr>
        <p:txBody>
          <a:bodyPr lIns="0" tIns="0" rIns="0" bIns="0"/>
          <a:lstStyle>
            <a:lvl1pPr algn="l">
              <a:buNone/>
              <a:defRPr sz="1000">
                <a:solidFill>
                  <a:schemeClr val="bg1"/>
                </a:solidFill>
                <a:latin typeface="Arial" panose="020B0604020202020204" pitchFamily="34" charset="0"/>
                <a:cs typeface="Arial" panose="020B0604020202020204" pitchFamily="34" charset="0"/>
              </a:defRPr>
            </a:lvl1pPr>
          </a:lstStyle>
          <a:p>
            <a:pPr lvl="0"/>
            <a:r>
              <a:rPr lang="en-US" altLang="zh-CN" dirty="0"/>
              <a:t>99</a:t>
            </a:r>
            <a:endParaRPr lang="zh-CN" altLang="en-US" dirty="0"/>
          </a:p>
        </p:txBody>
      </p:sp>
      <p:sp>
        <p:nvSpPr>
          <p:cNvPr id="62" name="TextBox 61"/>
          <p:cNvSpPr txBox="1"/>
          <p:nvPr/>
        </p:nvSpPr>
        <p:spPr>
          <a:xfrm>
            <a:off x="8604449" y="4731992"/>
            <a:ext cx="35267" cy="153888"/>
          </a:xfrm>
          <a:prstGeom prst="rect">
            <a:avLst/>
          </a:prstGeom>
          <a:noFill/>
        </p:spPr>
        <p:txBody>
          <a:bodyPr wrap="none" lIns="0" tIns="0" rIns="0" bIns="0" rtlCol="0">
            <a:spAutoFit/>
          </a:bodyPr>
          <a:lstStyle/>
          <a:p>
            <a:pPr algn="ctr"/>
            <a:r>
              <a:rPr lang="en-US" altLang="zh-CN" sz="1000" dirty="0">
                <a:solidFill>
                  <a:schemeClr val="bg1"/>
                </a:solidFill>
                <a:latin typeface="Arial" panose="020B0604020202020204" pitchFamily="34" charset="0"/>
                <a:cs typeface="Arial" panose="020B0604020202020204" pitchFamily="34" charset="0"/>
              </a:rPr>
              <a:t>/</a:t>
            </a:r>
            <a:endParaRPr lang="zh-CN" altLang="en-US" sz="1000" dirty="0">
              <a:solidFill>
                <a:schemeClr val="bg1"/>
              </a:solidFill>
              <a:latin typeface="Arial" panose="020B0604020202020204" pitchFamily="34" charset="0"/>
              <a:cs typeface="Arial" panose="020B0604020202020204" pitchFamily="34" charset="0"/>
            </a:endParaRPr>
          </a:p>
        </p:txBody>
      </p:sp>
      <p:sp>
        <p:nvSpPr>
          <p:cNvPr id="7" name="矩形 6"/>
          <p:cNvSpPr/>
          <p:nvPr/>
        </p:nvSpPr>
        <p:spPr>
          <a:xfrm>
            <a:off x="7091989" y="339504"/>
            <a:ext cx="1800493" cy="253916"/>
          </a:xfrm>
          <a:prstGeom prst="rect">
            <a:avLst/>
          </a:prstGeom>
        </p:spPr>
        <p:txBody>
          <a:bodyPr wrap="none">
            <a:spAutoFit/>
          </a:bodyPr>
          <a:lstStyle/>
          <a:p>
            <a:pPr algn="r"/>
            <a:r>
              <a:rPr lang="zh-CN" altLang="en-US" sz="1050" dirty="0">
                <a:solidFill>
                  <a:schemeClr val="bg1"/>
                </a:solidFill>
                <a:latin typeface="思源黑体 CN Regular" panose="020B0500000000000000" charset="-122"/>
                <a:ea typeface="思源黑体 CN Regular" panose="020B0500000000000000" charset="-122"/>
              </a:rPr>
              <a:t>深度报告</a:t>
            </a:r>
            <a:r>
              <a:rPr lang="en-US" altLang="zh-CN" sz="1050" dirty="0">
                <a:solidFill>
                  <a:schemeClr val="bg1"/>
                </a:solidFill>
                <a:latin typeface="思源黑体 CN Regular" panose="020B0500000000000000" charset="-122"/>
                <a:ea typeface="思源黑体 CN Regular" panose="020B0500000000000000" charset="-122"/>
              </a:rPr>
              <a:t>《</a:t>
            </a:r>
            <a:r>
              <a:rPr lang="zh-CN" altLang="en-US" sz="1050" dirty="0">
                <a:solidFill>
                  <a:schemeClr val="bg1"/>
                </a:solidFill>
                <a:latin typeface="思源黑体 CN Regular" panose="020B0500000000000000" charset="-122"/>
                <a:ea typeface="思源黑体 CN Regular" panose="020B0500000000000000" charset="-122"/>
              </a:rPr>
              <a:t>广钢气体推荐</a:t>
            </a:r>
            <a:r>
              <a:rPr lang="en-US" altLang="zh-CN" sz="1050" dirty="0">
                <a:solidFill>
                  <a:schemeClr val="bg1"/>
                </a:solidFill>
                <a:latin typeface="思源黑体 CN Regular" panose="020B0500000000000000" charset="-122"/>
                <a:ea typeface="思源黑体 CN Regular" panose="020B0500000000000000" charset="-122"/>
              </a:rPr>
              <a:t>》</a:t>
            </a:r>
            <a:endParaRPr lang="zh-CN" altLang="en-US" sz="1050" dirty="0">
              <a:solidFill>
                <a:schemeClr val="bg1"/>
              </a:solidFill>
              <a:latin typeface="思源黑体 CN Regular" panose="020B0500000000000000" charset="-122"/>
              <a:ea typeface="思源黑体 CN Regular" panose="020B0500000000000000" charset="-122"/>
            </a:endParaRPr>
          </a:p>
        </p:txBody>
      </p:sp>
      <p:sp>
        <p:nvSpPr>
          <p:cNvPr id="8" name="矩形 7"/>
          <p:cNvSpPr/>
          <p:nvPr/>
        </p:nvSpPr>
        <p:spPr>
          <a:xfrm>
            <a:off x="8388424" y="4731992"/>
            <a:ext cx="192360" cy="153888"/>
          </a:xfrm>
          <a:prstGeom prst="rect">
            <a:avLst/>
          </a:prstGeom>
        </p:spPr>
        <p:txBody>
          <a:bodyPr wrap="none" lIns="0" tIns="0" rIns="0" bIns="0">
            <a:spAutoFit/>
          </a:bodyPr>
          <a:lstStyle/>
          <a:p>
            <a:pPr algn="r"/>
            <a:fld id="{E9E84A82-7EF7-49E7-89C8-3DC8F187464B}" type="slidenum">
              <a:rPr lang="en-US" altLang="zh-CN" sz="1000" smtClean="0">
                <a:solidFill>
                  <a:srgbClr val="999999"/>
                </a:solidFill>
                <a:latin typeface="Arial" panose="020B0604020202020204" pitchFamily="34" charset="0"/>
                <a:ea typeface="思源黑体 CN Regular" panose="020B0500000000000000" charset="-122"/>
                <a:cs typeface="Arial" panose="020B0604020202020204" pitchFamily="34" charset="0"/>
              </a:rPr>
              <a:t>‹#›</a:t>
            </a:fld>
            <a:r>
              <a:rPr lang="zh-CN" altLang="en-US" sz="1000" dirty="0">
                <a:solidFill>
                  <a:srgbClr val="999999"/>
                </a:solidFill>
                <a:latin typeface="Arial" panose="020B0604020202020204" pitchFamily="34" charset="0"/>
                <a:ea typeface="思源黑体 CN Regular" panose="020B0500000000000000" charset="-122"/>
                <a:cs typeface="Arial" panose="020B0604020202020204" pitchFamily="34" charset="0"/>
              </a:rPr>
              <a:t> </a:t>
            </a:r>
          </a:p>
        </p:txBody>
      </p:sp>
      <p:sp>
        <p:nvSpPr>
          <p:cNvPr id="9" name="矩形 8"/>
          <p:cNvSpPr/>
          <p:nvPr/>
        </p:nvSpPr>
        <p:spPr>
          <a:xfrm>
            <a:off x="6868111" y="4678131"/>
            <a:ext cx="1520315" cy="246221"/>
          </a:xfrm>
          <a:prstGeom prst="rect">
            <a:avLst/>
          </a:prstGeom>
        </p:spPr>
        <p:txBody>
          <a:bodyPr wrap="square">
            <a:spAutoFit/>
          </a:bodyPr>
          <a:lstStyle/>
          <a:p>
            <a:pPr marL="0" algn="l" defTabSz="914400" rtl="0" eaLnBrk="1" latinLnBrk="0" hangingPunct="1"/>
            <a:r>
              <a:rPr lang="zh-CN" altLang="en-US" sz="1000" kern="1200" dirty="0">
                <a:solidFill>
                  <a:schemeClr val="bg1"/>
                </a:solidFill>
                <a:latin typeface="思源黑体 CN Regular" panose="020B0500000000000000" charset="-122"/>
                <a:ea typeface="思源黑体 CN Regular" panose="020B0500000000000000" charset="-122"/>
                <a:cs typeface="+mn-cs"/>
              </a:rPr>
              <a:t>请参阅附注免责声明</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内页-1">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0" name="矩形 19"/>
          <p:cNvSpPr/>
          <p:nvPr/>
        </p:nvSpPr>
        <p:spPr>
          <a:xfrm>
            <a:off x="8388424" y="4731990"/>
            <a:ext cx="192360" cy="153888"/>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E9E84A82-7EF7-49E7-89C8-3DC8F187464B}" type="slidenum">
              <a:rPr kumimoji="0" lang="en-US" altLang="zh-CN" sz="1000" b="0" i="0" u="none" strike="noStrike" kern="1200" cap="none" spc="0" normalizeH="0" baseline="0" noProof="0" smtClean="0">
                <a:ln>
                  <a:noFill/>
                </a:ln>
                <a:solidFill>
                  <a:prstClr val="white"/>
                </a:solidFill>
                <a:effectLst/>
                <a:uLnTx/>
                <a:uFillTx/>
                <a:latin typeface="Arial" panose="020B0604020202020204" pitchFamily="34" charset="0"/>
                <a:ea typeface="思源黑体 CN Regular" panose="020B0500000000000000" charset="-122"/>
                <a:cs typeface="Arial" panose="020B0604020202020204" pitchFamily="34" charset="0"/>
              </a:rPr>
              <a:t>‹#›</a:t>
            </a:fld>
            <a:r>
              <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思源黑体 CN Regular" panose="020B0500000000000000" charset="-122"/>
                <a:cs typeface="Arial" panose="020B0604020202020204" pitchFamily="34" charset="0"/>
              </a:rPr>
              <a:t> </a:t>
            </a:r>
          </a:p>
        </p:txBody>
      </p:sp>
      <p:sp>
        <p:nvSpPr>
          <p:cNvPr id="60" name="文本占位符 59"/>
          <p:cNvSpPr>
            <a:spLocks noGrp="1"/>
          </p:cNvSpPr>
          <p:nvPr>
            <p:ph type="body" sz="quarter" idx="10" hasCustomPrompt="1"/>
          </p:nvPr>
        </p:nvSpPr>
        <p:spPr>
          <a:xfrm>
            <a:off x="8676456" y="4731990"/>
            <a:ext cx="467544" cy="411510"/>
          </a:xfrm>
          <a:prstGeom prst="rect">
            <a:avLst/>
          </a:prstGeom>
        </p:spPr>
        <p:txBody>
          <a:bodyPr lIns="0" tIns="0" rIns="0" bIns="0"/>
          <a:lstStyle>
            <a:lvl1pPr algn="l">
              <a:buNone/>
              <a:defRPr sz="1000">
                <a:solidFill>
                  <a:schemeClr val="bg1"/>
                </a:solidFill>
                <a:latin typeface="Arial" panose="020B0604020202020204" pitchFamily="34" charset="0"/>
                <a:cs typeface="Arial" panose="020B0604020202020204" pitchFamily="34" charset="0"/>
              </a:defRPr>
            </a:lvl1pPr>
          </a:lstStyle>
          <a:p>
            <a:pPr lvl="0"/>
            <a:r>
              <a:rPr lang="en-US" altLang="zh-CN" dirty="0"/>
              <a:t>99</a:t>
            </a:r>
            <a:endParaRPr lang="zh-CN" altLang="en-US" dirty="0"/>
          </a:p>
        </p:txBody>
      </p:sp>
      <p:sp>
        <p:nvSpPr>
          <p:cNvPr id="62" name="TextBox 61"/>
          <p:cNvSpPr txBox="1"/>
          <p:nvPr/>
        </p:nvSpPr>
        <p:spPr>
          <a:xfrm>
            <a:off x="8604448" y="4731990"/>
            <a:ext cx="3526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200" cap="none" spc="0" normalizeH="0" baseline="0" noProof="0" dirty="0">
                <a:ln>
                  <a:noFill/>
                </a:ln>
                <a:solidFill>
                  <a:prstClr val="white"/>
                </a:solidFill>
                <a:effectLst/>
                <a:uLnTx/>
                <a:uFillTx/>
                <a:latin typeface="Arial" panose="020B0604020202020204" pitchFamily="34" charset="0"/>
                <a:ea typeface="思源宋体 CN Light" panose="02020300000000000000" charset="-122"/>
                <a:cs typeface="Arial" panose="020B0604020202020204" pitchFamily="34" charset="0"/>
              </a:rPr>
              <a:t>/</a:t>
            </a:r>
            <a:endParaRPr kumimoji="0" lang="zh-CN" altLang="en-US" sz="1000" b="0" i="0" u="none" strike="noStrike" kern="1200" cap="none" spc="0" normalizeH="0" baseline="0" noProof="0" dirty="0">
              <a:ln>
                <a:noFill/>
              </a:ln>
              <a:solidFill>
                <a:prstClr val="white"/>
              </a:solidFill>
              <a:effectLst/>
              <a:uLnTx/>
              <a:uFillTx/>
              <a:latin typeface="Arial" panose="020B0604020202020204" pitchFamily="34" charset="0"/>
              <a:ea typeface="思源宋体 CN Light" panose="02020300000000000000" charset="-122"/>
              <a:cs typeface="Arial" panose="020B0604020202020204" pitchFamily="34" charset="0"/>
            </a:endParaRPr>
          </a:p>
        </p:txBody>
      </p:sp>
      <p:sp>
        <p:nvSpPr>
          <p:cNvPr id="8" name="矩形 7"/>
          <p:cNvSpPr/>
          <p:nvPr/>
        </p:nvSpPr>
        <p:spPr>
          <a:xfrm>
            <a:off x="8388424" y="4731990"/>
            <a:ext cx="192360" cy="153888"/>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E9E84A82-7EF7-49E7-89C8-3DC8F187464B}" type="slidenum">
              <a:rPr kumimoji="0" lang="en-US" altLang="zh-CN" sz="1000" b="0" i="0" u="none" strike="noStrike" kern="1200" cap="none" spc="0" normalizeH="0" baseline="0" noProof="0" smtClean="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a:t>
            </a:fld>
            <a:r>
              <a:rPr kumimoji="0" lang="zh-CN" altLang="en-US" sz="1000" b="0" i="0" u="none" strike="noStrike" kern="1200" cap="none" spc="0" normalizeH="0" baseline="0" noProof="0" dirty="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 </a:t>
            </a:r>
          </a:p>
        </p:txBody>
      </p:sp>
      <p:sp>
        <p:nvSpPr>
          <p:cNvPr id="9" name="矩形 8"/>
          <p:cNvSpPr/>
          <p:nvPr/>
        </p:nvSpPr>
        <p:spPr>
          <a:xfrm>
            <a:off x="6868109" y="4678129"/>
            <a:ext cx="1520315"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思源黑体 CN Regular" panose="020B0500000000000000" charset="-122"/>
                <a:ea typeface="思源黑体 CN Regular" panose="020B0500000000000000" charset="-122"/>
                <a:cs typeface="+mn-cs"/>
              </a:rPr>
              <a:t>请参阅附注免责声明</a:t>
            </a:r>
          </a:p>
        </p:txBody>
      </p:sp>
      <p:sp>
        <p:nvSpPr>
          <p:cNvPr id="2" name="文本框 1"/>
          <p:cNvSpPr txBox="1"/>
          <p:nvPr/>
        </p:nvSpPr>
        <p:spPr>
          <a:xfrm>
            <a:off x="4313555" y="353060"/>
            <a:ext cx="4572000" cy="252730"/>
          </a:xfrm>
          <a:prstGeom prst="rect">
            <a:avLst/>
          </a:prstGeom>
          <a:noFill/>
        </p:spPr>
        <p:txBody>
          <a:bodyPr wrap="square" rtlCol="0" anchor="t">
            <a:spAutoFit/>
          </a:bodyPr>
          <a:lstStyle/>
          <a:p>
            <a:pPr algn="r"/>
            <a:r>
              <a:rPr lang="zh-CN" altLang="en-US" sz="1050" dirty="0">
                <a:solidFill>
                  <a:schemeClr val="bg1"/>
                </a:solidFill>
                <a:latin typeface="思源黑体 CN Regular" panose="020B0500000000000000" charset="-122"/>
                <a:ea typeface="思源黑体 CN Regular" panose="020B0500000000000000" charset="-122"/>
              </a:rPr>
              <a:t>深度报告</a:t>
            </a:r>
            <a:r>
              <a:rPr lang="en-US" altLang="zh-CN" sz="1050" dirty="0">
                <a:solidFill>
                  <a:schemeClr val="bg1"/>
                </a:solidFill>
                <a:latin typeface="思源黑体 CN Regular" panose="020B0500000000000000" charset="-122"/>
                <a:ea typeface="思源黑体 CN Regular" panose="020B0500000000000000" charset="-122"/>
              </a:rPr>
              <a:t>《</a:t>
            </a:r>
            <a:r>
              <a:rPr lang="zh-CN" altLang="en-US" sz="1050" dirty="0">
                <a:solidFill>
                  <a:schemeClr val="bg1"/>
                </a:solidFill>
                <a:latin typeface="思源黑体 CN Regular" panose="020B0500000000000000" charset="-122"/>
                <a:ea typeface="思源黑体 CN Regular" panose="020B0500000000000000" charset="-122"/>
              </a:rPr>
              <a:t>广钢气体推荐</a:t>
            </a:r>
            <a:r>
              <a:rPr lang="en-US" altLang="zh-CN" sz="1050" dirty="0">
                <a:solidFill>
                  <a:schemeClr val="bg1"/>
                </a:solidFill>
                <a:latin typeface="思源黑体 CN Regular" panose="020B0500000000000000" charset="-122"/>
                <a:ea typeface="思源黑体 CN Regular" panose="020B0500000000000000" charset="-122"/>
              </a:rPr>
              <a:t>》</a:t>
            </a:r>
            <a:endParaRPr lang="zh-CN" altLang="en-US" sz="1050" dirty="0">
              <a:solidFill>
                <a:schemeClr val="bg1"/>
              </a:solidFill>
              <a:latin typeface="思源黑体 CN Regular" panose="020B0500000000000000" charset="-122"/>
              <a:ea typeface="思源黑体 CN Regular" panose="020B0500000000000000" charset="-122"/>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页-2">
    <p:bg>
      <p:bgPr>
        <a:blipFill dpi="0" rotWithShape="1">
          <a:blip r:embed="rId2" cstate="screen">
            <a:alphaModFix amt="42000"/>
          </a:blip>
          <a:srcRect/>
          <a:stretch>
            <a:fillRect/>
          </a:stretch>
        </a:blipFill>
        <a:effectLst/>
      </p:bgPr>
    </p:bg>
    <p:spTree>
      <p:nvGrpSpPr>
        <p:cNvPr id="1" name=""/>
        <p:cNvGrpSpPr/>
        <p:nvPr/>
      </p:nvGrpSpPr>
      <p:grpSpPr>
        <a:xfrm>
          <a:off x="0" y="0"/>
          <a:ext cx="0" cy="0"/>
          <a:chOff x="0" y="0"/>
          <a:chExt cx="0" cy="0"/>
        </a:xfrm>
      </p:grpSpPr>
      <p:sp>
        <p:nvSpPr>
          <p:cNvPr id="10" name="矩形 9"/>
          <p:cNvSpPr/>
          <p:nvPr userDrawn="1"/>
        </p:nvSpPr>
        <p:spPr>
          <a:xfrm>
            <a:off x="8423690" y="4731992"/>
            <a:ext cx="157094" cy="153888"/>
          </a:xfrm>
          <a:prstGeom prst="rect">
            <a:avLst/>
          </a:prstGeom>
        </p:spPr>
        <p:txBody>
          <a:bodyPr wrap="none" lIns="0" tIns="0" rIns="0" bIns="0">
            <a:spAutoFit/>
          </a:bodyPr>
          <a:lstStyle/>
          <a:p>
            <a:pPr algn="r"/>
            <a:fld id="{35A33029-9098-43A5-ABC6-A360AC821B5A}" type="slidenum">
              <a:rPr lang="en-US" altLang="zh-CN" sz="1000" smtClean="0">
                <a:solidFill>
                  <a:srgbClr val="999999"/>
                </a:solidFill>
                <a:latin typeface="Arial" panose="020B0604020202020204" pitchFamily="34" charset="0"/>
                <a:ea typeface="思源黑体 CN Regular" panose="020B0500000000000000" charset="-122"/>
                <a:cs typeface="Arial" panose="020B0604020202020204" pitchFamily="34" charset="0"/>
              </a:rPr>
              <a:t>‹#›</a:t>
            </a:fld>
            <a:endParaRPr lang="zh-CN" altLang="en-US" sz="1000" dirty="0">
              <a:solidFill>
                <a:srgbClr val="999999"/>
              </a:solidFill>
              <a:latin typeface="Arial" panose="020B0604020202020204" pitchFamily="34" charset="0"/>
              <a:ea typeface="思源黑体 CN Regular" panose="020B0500000000000000" charset="-122"/>
              <a:cs typeface="Arial" panose="020B0604020202020204" pitchFamily="34" charset="0"/>
            </a:endParaRPr>
          </a:p>
        </p:txBody>
      </p:sp>
      <p:sp>
        <p:nvSpPr>
          <p:cNvPr id="11" name="矩形 10"/>
          <p:cNvSpPr/>
          <p:nvPr userDrawn="1"/>
        </p:nvSpPr>
        <p:spPr>
          <a:xfrm>
            <a:off x="6868111" y="4678131"/>
            <a:ext cx="1520315" cy="246221"/>
          </a:xfrm>
          <a:prstGeom prst="rect">
            <a:avLst/>
          </a:prstGeom>
        </p:spPr>
        <p:txBody>
          <a:bodyPr wrap="square">
            <a:spAutoFit/>
          </a:bodyPr>
          <a:lstStyle/>
          <a:p>
            <a:pPr marL="0" algn="l" defTabSz="914400" rtl="0" eaLnBrk="1" latinLnBrk="0" hangingPunct="1"/>
            <a:r>
              <a:rPr lang="zh-CN" altLang="en-US" sz="1000" kern="1200" dirty="0">
                <a:solidFill>
                  <a:schemeClr val="tx1">
                    <a:lumMod val="75000"/>
                    <a:lumOff val="25000"/>
                  </a:schemeClr>
                </a:solidFill>
                <a:latin typeface="思源黑体 CN Regular" panose="020B0500000000000000" charset="-122"/>
                <a:ea typeface="思源黑体 CN Regular" panose="020B0500000000000000" charset="-122"/>
                <a:cs typeface="+mn-cs"/>
              </a:rPr>
              <a:t>请参阅附注免责声明</a:t>
            </a:r>
          </a:p>
        </p:txBody>
      </p:sp>
      <p:sp>
        <p:nvSpPr>
          <p:cNvPr id="12" name="矩形 11"/>
          <p:cNvSpPr/>
          <p:nvPr userDrawn="1"/>
        </p:nvSpPr>
        <p:spPr>
          <a:xfrm>
            <a:off x="7091989" y="339504"/>
            <a:ext cx="1800493" cy="253916"/>
          </a:xfrm>
          <a:prstGeom prst="rect">
            <a:avLst/>
          </a:prstGeom>
        </p:spPr>
        <p:txBody>
          <a:bodyPr wrap="none">
            <a:spAutoFit/>
          </a:bodyPr>
          <a:lstStyle/>
          <a:p>
            <a:pPr algn="r"/>
            <a:r>
              <a:rPr lang="zh-CN" altLang="en-US" sz="1050" dirty="0">
                <a:solidFill>
                  <a:srgbClr val="646464"/>
                </a:solidFill>
                <a:latin typeface="思源黑体 CN Regular" panose="020B0500000000000000" charset="-122"/>
                <a:ea typeface="思源黑体 CN Regular" panose="020B0500000000000000" charset="-122"/>
              </a:rPr>
              <a:t>深度报告</a:t>
            </a:r>
            <a:r>
              <a:rPr lang="en-US" altLang="zh-CN" sz="1050" dirty="0">
                <a:solidFill>
                  <a:srgbClr val="646464"/>
                </a:solidFill>
                <a:latin typeface="思源黑体 CN Regular" panose="020B0500000000000000" charset="-122"/>
                <a:ea typeface="思源黑体 CN Regular" panose="020B0500000000000000" charset="-122"/>
              </a:rPr>
              <a:t>《</a:t>
            </a:r>
            <a:r>
              <a:rPr lang="zh-CN" altLang="en-US" sz="1050" dirty="0">
                <a:solidFill>
                  <a:srgbClr val="646464"/>
                </a:solidFill>
                <a:latin typeface="思源黑体 CN Regular" panose="020B0500000000000000" charset="-122"/>
                <a:ea typeface="思源黑体 CN Regular" panose="020B0500000000000000" charset="-122"/>
              </a:rPr>
              <a:t>广钢气体推荐</a:t>
            </a:r>
            <a:r>
              <a:rPr lang="en-US" altLang="zh-CN" sz="1050" dirty="0">
                <a:solidFill>
                  <a:srgbClr val="646464"/>
                </a:solidFill>
                <a:latin typeface="思源黑体 CN Regular" panose="020B0500000000000000" charset="-122"/>
                <a:ea typeface="思源黑体 CN Regular" panose="020B0500000000000000" charset="-122"/>
              </a:rPr>
              <a:t>》</a:t>
            </a:r>
          </a:p>
        </p:txBody>
      </p:sp>
      <p:pic>
        <p:nvPicPr>
          <p:cNvPr id="2" name="图片 1" descr="F:/国君+海通/品牌宣传/300ppi/国泰海通证券logo白色纸张上运用横版.png国泰海通证券logo白色纸张上运用横版"/>
          <p:cNvPicPr>
            <a:picLocks noChangeAspect="1"/>
          </p:cNvPicPr>
          <p:nvPr userDrawn="1"/>
        </p:nvPicPr>
        <p:blipFill>
          <a:blip r:embed="rId3"/>
          <a:srcRect l="658" r="658"/>
          <a:stretch>
            <a:fillRect/>
          </a:stretch>
        </p:blipFill>
        <p:spPr>
          <a:xfrm>
            <a:off x="274320" y="4678131"/>
            <a:ext cx="1028700" cy="1447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封底">
    <p:bg>
      <p:bgPr>
        <a:blipFill dpi="0" rotWithShape="1">
          <a:blip r:embed="rId2" cstate="screen">
            <a:alphaModFix amt="42000"/>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内页-2">
    <p:bg>
      <p:bgPr>
        <a:blipFill dpi="0" rotWithShape="1">
          <a:blip r:embed="rId2" cstate="email">
            <a:alphaModFix amt="42000"/>
          </a:blip>
          <a:srcRect/>
          <a:stretch>
            <a:fillRect/>
          </a:stretch>
        </a:blipFill>
        <a:effectLst/>
      </p:bgPr>
    </p:bg>
    <p:spTree>
      <p:nvGrpSpPr>
        <p:cNvPr id="1" name=""/>
        <p:cNvGrpSpPr/>
        <p:nvPr/>
      </p:nvGrpSpPr>
      <p:grpSpPr>
        <a:xfrm>
          <a:off x="0" y="0"/>
          <a:ext cx="0" cy="0"/>
          <a:chOff x="0" y="0"/>
          <a:chExt cx="0" cy="0"/>
        </a:xfrm>
      </p:grpSpPr>
      <p:sp>
        <p:nvSpPr>
          <p:cNvPr id="20" name="矩形 19"/>
          <p:cNvSpPr/>
          <p:nvPr userDrawn="1"/>
        </p:nvSpPr>
        <p:spPr>
          <a:xfrm>
            <a:off x="8388424" y="4731990"/>
            <a:ext cx="192360" cy="153888"/>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defRPr/>
            </a:pPr>
            <a:fld id="{E9E84A82-7EF7-49E7-89C8-3DC8F187464B}" type="slidenum">
              <a:rPr kumimoji="0" lang="en-US" altLang="zh-CN" sz="1000" b="0" i="0" u="none" strike="noStrike" kern="1200" cap="none" spc="0" normalizeH="0" baseline="0" noProof="0" smtClean="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a:t>
            </a:fld>
            <a:r>
              <a:rPr kumimoji="0" lang="zh-CN" altLang="en-US" sz="1000" b="0" i="0" u="none" strike="noStrike" kern="1200" cap="none" spc="0" normalizeH="0" baseline="0" noProof="0" dirty="0">
                <a:ln>
                  <a:noFill/>
                </a:ln>
                <a:solidFill>
                  <a:srgbClr val="999999"/>
                </a:solidFill>
                <a:effectLst/>
                <a:uLnTx/>
                <a:uFillTx/>
                <a:latin typeface="Arial" panose="020B0604020202020204" pitchFamily="34" charset="0"/>
                <a:ea typeface="思源黑体 CN Regular" panose="020B0500000000000000" charset="-122"/>
                <a:cs typeface="Arial" panose="020B0604020202020204" pitchFamily="34" charset="0"/>
              </a:rPr>
              <a:t> </a:t>
            </a:r>
          </a:p>
        </p:txBody>
      </p:sp>
      <p:sp>
        <p:nvSpPr>
          <p:cNvPr id="5" name="Rectangle 1"/>
          <p:cNvSpPr>
            <a:spLocks noChangeArrowheads="1"/>
          </p:cNvSpPr>
          <p:nvPr userDrawn="1"/>
        </p:nvSpPr>
        <p:spPr bwMode="auto">
          <a:xfrm>
            <a:off x="323215" y="742315"/>
            <a:ext cx="8387080" cy="2545080"/>
          </a:xfrm>
          <a:prstGeom prst="rect">
            <a:avLst/>
          </a:prstGeom>
          <a:noFill/>
          <a:ln w="9525">
            <a:noFill/>
            <a:miter lim="800000"/>
          </a:ln>
          <a:effectLst/>
        </p:spPr>
        <p:txBody>
          <a:bodyPr wrap="square" anchor="ctr">
            <a:noAutofit/>
          </a:bodyPr>
          <a:lstStyle/>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b="1"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分析师声明</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作者具有中国证券业协会授予的证券投资咨询执业资格或相当的专业胜任能力，保证报告所采用的数据均来自合规渠道，分析逻辑基于作者的职业理解，本报告清晰准确地反映了作者的研究观点，力求独立、客观和公正，结论不受任何第三方的授意或影响。分析师薪酬的任何组成部分，均与其在本研究报告中所表述的具体建议或观点无直接或间接的关系。特此声明。</a:t>
            </a:r>
          </a:p>
          <a:p>
            <a:pPr marR="0" lvl="0" indent="0" algn="l" defTabSz="914400" rtl="0" fontAlgn="auto">
              <a:lnSpc>
                <a:spcPct val="100000"/>
              </a:lnSpc>
              <a:spcBef>
                <a:spcPts val="0"/>
              </a:spcBef>
              <a:spcAft>
                <a:spcPts val="0"/>
              </a:spcAft>
              <a:buClrTx/>
              <a:buSzTx/>
              <a:buFontTx/>
              <a:buNone/>
              <a:tabLst>
                <a:tab pos="6264275" algn="l"/>
              </a:tabLst>
              <a:defRPr/>
            </a:pPr>
            <a:endPar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endParaRP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b="1"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免责声明</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报告仅供国泰海通证券股份有限公司或国泰海通证券(香港)有限公司（以下统称“国泰海通”或“本公司”）研究服务签约客户使用。本公司不会因接收人收到本报告而视其为本公司的当然客户。本报告仅在相关法律许可的情况下发放，并仅为提供信息而发放，概不构成任何广告。</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报告的信息来源于已公开的资料，本公司对该等信息的准确性、完整性或可靠性不作任何保证。本报告所载的资料、意见及推测仅反映本公司于发布本报告当日的判断，本报告所指的证券或投资标的的价格、价值及投资收入可升可跌。过往表现不应作为日后的表现依据。在不同时期，本公司可发出与本报告所载资料、意见及推测不一致的报告。本公司不保证本报告所含信息保持在最新状态。同时，本公司对本报告所含信息可在不发出通知的情形下做出修改，投资者应当自行关注相应的更新或修改。</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报告中所指的投资及服务可能不适合个别客户，不构成客户私人咨询建议。在任何情况下，本报告中的信息或所表述的意见均不构成对任何人的投资建议。在任何情况下，本公司、本公司员工或者关联机构不承诺投资者一定获利，不与投资者分享投资收益，也不对任何人因使用本报告中的任何内容所引致的任何损失负任何责任。投资者务必注意，其据此做出的任何投资决策与本公司、本公司员工或者关联机构无关。</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公司利用信息隔离墙控制内部一个或多个领域、部门或关联机构之间的信息流动。因此，投资者应注意，在法律许可的情况下，本公司及其所属关联机构可能会持有报告中提到的公司所发行的证券或期权并进行证券或期权交易，也可能为这些公司提供或者争取提供投资银行、财务顾问或者金融产品等相关服务。在法律许可的情况下，本公司的员工可能担任本报告所提到的公司的董事。</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市场有风险，投资需谨慎。投资者不应将本报告作为作出投资决策的唯一参考因素，亦不应认为本报告可以取代自己的判断。在决定投资前，如有需要，投资者务必向专业人士咨询并谨慎决策。</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本报告并非意图发送、发布给在当地法律或监管规则下不允许向其发送、发布的机构或人员，也并非意图发送、发布给因可得到、使用本报告的行为而使国泰海通违反或受制于当地法律或监管规则的机构或人员。</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本报告版权仅为本公司所有，未经书面许可，任何机构和个人不得以任何形式翻版、复制、发表或引用。如征得本公司同意进行引用、刊发的，需在允许的范围内使用，并注明出处为“国泰海通证券研究” 或“国泰海通香港研究”，且不得对本报告进行任何有悖原意的引用、删节和修改。</a:t>
            </a:r>
          </a:p>
          <a:p>
            <a:pPr marR="0" lvl="0" indent="0" algn="l" defTabSz="914400" rtl="0" fontAlgn="auto">
              <a:lnSpc>
                <a:spcPct val="100000"/>
              </a:lnSpc>
              <a:spcBef>
                <a:spcPts val="0"/>
              </a:spcBef>
              <a:spcAft>
                <a:spcPts val="0"/>
              </a:spcAft>
              <a:buClrTx/>
              <a:buSzTx/>
              <a:buFontTx/>
              <a:buNone/>
              <a:tabLst>
                <a:tab pos="6264275" algn="l"/>
              </a:tabLst>
              <a:defRPr/>
            </a:pPr>
            <a:endPar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endParaRP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国泰海通证券(香港)有限公司依法就研究报告的内容和发布行为对国泰海通证券股份有限公司承担责任。</a:t>
            </a:r>
          </a:p>
          <a:p>
            <a:pPr marR="0" lvl="0" indent="0" algn="l" defTabSz="914400" rtl="0" fontAlgn="auto">
              <a:lnSpc>
                <a:spcPct val="100000"/>
              </a:lnSpc>
              <a:spcBef>
                <a:spcPts val="0"/>
              </a:spcBef>
              <a:spcAft>
                <a:spcPts val="0"/>
              </a:spcAft>
              <a:buClrTx/>
              <a:buSzTx/>
              <a:buFontTx/>
              <a:buNone/>
              <a:tabLst>
                <a:tab pos="6264275" algn="l"/>
              </a:tabLst>
              <a:defRPr/>
            </a:pPr>
            <a:r>
              <a:rPr kumimoji="0" lang="zh-CN" altLang="en-US" sz="7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若本公司以外的其他机构（以下简称“该机构”）发送本报告，则由该机构独自为此发送行为负责。通过此途径获得本报告的投资者应自行联系该机构以要求获悉更详细信息或进而交易本报告中提及的证券。本报告不构成本公司向该机构之客户提供的投资建议，本公司、本公司员工或者关联机构亦不为该机构之客户因使用本报告或报告所载内容引起的任何损失承担任何责任。</a:t>
            </a:r>
          </a:p>
        </p:txBody>
      </p:sp>
      <p:grpSp>
        <p:nvGrpSpPr>
          <p:cNvPr id="6" name="组合 5"/>
          <p:cNvGrpSpPr/>
          <p:nvPr userDrawn="1"/>
        </p:nvGrpSpPr>
        <p:grpSpPr>
          <a:xfrm>
            <a:off x="0" y="202797"/>
            <a:ext cx="6328568" cy="707886"/>
            <a:chOff x="0" y="339502"/>
            <a:chExt cx="6328568" cy="707886"/>
          </a:xfrm>
        </p:grpSpPr>
        <p:sp>
          <p:nvSpPr>
            <p:cNvPr id="7" name="矩形 6"/>
            <p:cNvSpPr>
              <a:spLocks noChangeArrowheads="1"/>
            </p:cNvSpPr>
            <p:nvPr/>
          </p:nvSpPr>
          <p:spPr bwMode="auto">
            <a:xfrm>
              <a:off x="783952" y="427455"/>
              <a:ext cx="5544616" cy="400110"/>
            </a:xfrm>
            <a:prstGeom prst="rect">
              <a:avLst/>
            </a:prstGeom>
            <a:noFill/>
            <a:ln w="9525">
              <a:noFill/>
              <a:miter lim="800000"/>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677D5"/>
                  </a:solidFill>
                  <a:effectLst/>
                  <a:uLnTx/>
                  <a:uFillTx/>
                  <a:latin typeface="Calibri" panose="020F0502020204030204"/>
                  <a:ea typeface="思源黑体 CN Regular" panose="020B0500000000000000" charset="-122"/>
                  <a:cs typeface="Arial" panose="020B0604020202020204" pitchFamily="34" charset="0"/>
                </a:rPr>
                <a:t>免责声明</a:t>
              </a:r>
            </a:p>
          </p:txBody>
        </p:sp>
        <p:grpSp>
          <p:nvGrpSpPr>
            <p:cNvPr id="8" name="组合 7"/>
            <p:cNvGrpSpPr/>
            <p:nvPr/>
          </p:nvGrpSpPr>
          <p:grpSpPr>
            <a:xfrm>
              <a:off x="0" y="339502"/>
              <a:ext cx="755576" cy="707886"/>
              <a:chOff x="0" y="339502"/>
              <a:chExt cx="755576" cy="707886"/>
            </a:xfrm>
          </p:grpSpPr>
          <p:sp>
            <p:nvSpPr>
              <p:cNvPr id="9" name="矩形 8"/>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思源宋体 CN Light" panose="02020300000000000000" charset="-122"/>
                  <a:cs typeface="+mn-cs"/>
                </a:endParaRPr>
              </a:p>
            </p:txBody>
          </p:sp>
          <p:sp>
            <p:nvSpPr>
              <p:cNvPr id="10" name="矩形 9"/>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思源宋体 CN Light" panose="02020300000000000000" charset="-122"/>
                  <a:cs typeface="+mn-cs"/>
                </a:endParaRPr>
              </a:p>
            </p:txBody>
          </p:sp>
          <p:sp>
            <p:nvSpPr>
              <p:cNvPr id="11" name="文本框 1"/>
              <p:cNvSpPr txBox="1"/>
              <p:nvPr/>
            </p:nvSpPr>
            <p:spPr>
              <a:xfrm>
                <a:off x="0" y="339502"/>
                <a:ext cx="684000" cy="707886"/>
              </a:xfrm>
              <a:prstGeom prst="rect">
                <a:avLst/>
              </a:prstGeom>
              <a:noFill/>
              <a:ln w="9525">
                <a:noFill/>
                <a:miter/>
              </a:ln>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4000" b="0" i="0" u="none" strike="noStrike" kern="1200" cap="none" spc="0" normalizeH="0" baseline="0" noProof="0" dirty="0">
                  <a:ln>
                    <a:noFill/>
                  </a:ln>
                  <a:solidFill>
                    <a:prstClr val="white"/>
                  </a:solidFill>
                  <a:effectLst/>
                  <a:uLnTx/>
                  <a:uFillTx/>
                  <a:latin typeface="Arial" panose="020B0604020202020204" pitchFamily="34" charset="0"/>
                  <a:ea typeface="思源黑体 CN Regular" panose="020B0500000000000000" charset="-122"/>
                  <a:cs typeface="Arial" panose="020B0604020202020204" pitchFamily="34" charset="0"/>
                </a:endParaRPr>
              </a:p>
            </p:txBody>
          </p:sp>
        </p:grpSp>
      </p:grpSp>
      <p:pic>
        <p:nvPicPr>
          <p:cNvPr id="21" name="图片 20"/>
          <p:cNvPicPr>
            <a:picLocks noChangeAspect="1"/>
          </p:cNvPicPr>
          <p:nvPr userDrawn="1"/>
        </p:nvPicPr>
        <p:blipFill rotWithShape="1">
          <a:blip r:embed="rId3"/>
          <a:srcRect r="14172"/>
          <a:stretch>
            <a:fillRect/>
          </a:stretch>
        </p:blipFill>
        <p:spPr>
          <a:xfrm>
            <a:off x="475124" y="3326705"/>
            <a:ext cx="5976664" cy="1353485"/>
          </a:xfrm>
          <a:prstGeom prst="rect">
            <a:avLst/>
          </a:prstGeom>
        </p:spPr>
      </p:pic>
      <p:sp>
        <p:nvSpPr>
          <p:cNvPr id="12" name="Rectangle 1"/>
          <p:cNvSpPr>
            <a:spLocks noChangeArrowheads="1"/>
          </p:cNvSpPr>
          <p:nvPr userDrawn="1"/>
        </p:nvSpPr>
        <p:spPr bwMode="auto">
          <a:xfrm>
            <a:off x="6660515" y="3409950"/>
            <a:ext cx="2097405" cy="966470"/>
          </a:xfrm>
          <a:prstGeom prst="rect">
            <a:avLst/>
          </a:prstGeom>
          <a:noFill/>
          <a:ln w="9525">
            <a:noFill/>
            <a:miter lim="800000"/>
          </a:ln>
          <a:effectLst/>
        </p:spPr>
        <p:txBody>
          <a:bodyPr wrap="square" anchor="ctr">
            <a:noAutofit/>
          </a:bodyPr>
          <a:lstStyle/>
          <a:p>
            <a:pPr marR="0" lvl="0" indent="0" algn="l" defTabSz="914400" rtl="0" fontAlgn="auto">
              <a:lnSpc>
                <a:spcPts val="1260"/>
              </a:lnSpc>
              <a:spcBef>
                <a:spcPts val="0"/>
              </a:spcBef>
              <a:spcAft>
                <a:spcPts val="0"/>
              </a:spcAft>
              <a:buClrTx/>
              <a:buSzTx/>
              <a:buFontTx/>
              <a:buNone/>
              <a:tabLst>
                <a:tab pos="6264275" algn="l"/>
              </a:tabLst>
              <a:defRPr/>
            </a:pPr>
            <a:r>
              <a:rPr kumimoji="0" lang="zh-CN" altLang="en-US" sz="800" b="1"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国泰海通证券研究所</a:t>
            </a:r>
          </a:p>
          <a:p>
            <a:pPr marR="0" lvl="0" indent="0" algn="l" defTabSz="914400" rtl="0" fontAlgn="auto">
              <a:lnSpc>
                <a:spcPts val="1260"/>
              </a:lnSpc>
              <a:spcBef>
                <a:spcPts val="0"/>
              </a:spcBef>
              <a:spcAft>
                <a:spcPts val="0"/>
              </a:spcAft>
              <a:buClrTx/>
              <a:buSzTx/>
              <a:buFontTx/>
              <a:buNone/>
              <a:tabLst>
                <a:tab pos="6264275" algn="l"/>
              </a:tabLst>
              <a:defRPr/>
            </a:pPr>
            <a:endParaRPr kumimoji="0" lang="zh-CN" altLang="en-US" sz="800" b="1"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endParaRPr>
          </a:p>
          <a:p>
            <a:pPr marR="0" lvl="0" indent="0" algn="l" defTabSz="914400" rtl="0" fontAlgn="auto">
              <a:lnSpc>
                <a:spcPts val="1260"/>
              </a:lnSpc>
              <a:spcBef>
                <a:spcPts val="0"/>
              </a:spcBef>
              <a:spcAft>
                <a:spcPts val="0"/>
              </a:spcAft>
              <a:buClrTx/>
              <a:buSzTx/>
              <a:buFontTx/>
              <a:buNone/>
              <a:tabLst>
                <a:tab pos="6264275" algn="l"/>
              </a:tabLst>
              <a:defRPr/>
            </a:pP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地址：上海市黄浦区中山南路</a:t>
            </a:r>
            <a:r>
              <a:rPr kumimoji="0" lang="en-US" altLang="zh-CN"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888</a:t>
            </a: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号</a:t>
            </a:r>
          </a:p>
          <a:p>
            <a:pPr marR="0" lvl="0" indent="0" algn="l" defTabSz="914400" rtl="0" fontAlgn="auto">
              <a:lnSpc>
                <a:spcPts val="1260"/>
              </a:lnSpc>
              <a:spcBef>
                <a:spcPts val="0"/>
              </a:spcBef>
              <a:spcAft>
                <a:spcPts val="0"/>
              </a:spcAft>
              <a:buClrTx/>
              <a:buSzTx/>
              <a:buFontTx/>
              <a:buNone/>
              <a:tabLst>
                <a:tab pos="6264275" algn="l"/>
              </a:tabLst>
              <a:defRPr/>
            </a:pP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邮编：</a:t>
            </a:r>
            <a:r>
              <a:rPr kumimoji="0" lang="en-US" altLang="zh-CN"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200011</a:t>
            </a:r>
          </a:p>
          <a:p>
            <a:pPr marR="0" lvl="0" indent="0" algn="l" defTabSz="914400" rtl="0" fontAlgn="auto">
              <a:lnSpc>
                <a:spcPts val="1260"/>
              </a:lnSpc>
              <a:spcBef>
                <a:spcPts val="0"/>
              </a:spcBef>
              <a:spcAft>
                <a:spcPts val="0"/>
              </a:spcAft>
              <a:buClrTx/>
              <a:buSzTx/>
              <a:buFontTx/>
              <a:buNone/>
              <a:tabLst>
                <a:tab pos="6264275" algn="l"/>
              </a:tabLst>
              <a:defRPr/>
            </a:pP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电话：（</a:t>
            </a:r>
            <a:r>
              <a:rPr kumimoji="0" lang="en-US" altLang="zh-CN"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021</a:t>
            </a: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a:t>
            </a:r>
            <a:r>
              <a:rPr kumimoji="0" lang="en-US" altLang="zh-CN"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38676666</a:t>
            </a:r>
          </a:p>
          <a:p>
            <a:pPr marR="0" lvl="0" indent="0" algn="l" defTabSz="914400" rtl="0" fontAlgn="auto">
              <a:lnSpc>
                <a:spcPts val="1260"/>
              </a:lnSpc>
              <a:spcBef>
                <a:spcPts val="0"/>
              </a:spcBef>
              <a:spcAft>
                <a:spcPts val="0"/>
              </a:spcAft>
              <a:buClrTx/>
              <a:buSzTx/>
              <a:buFontTx/>
              <a:buNone/>
              <a:tabLst>
                <a:tab pos="6264275" algn="l"/>
              </a:tabLst>
              <a:defRPr/>
            </a:pPr>
            <a:r>
              <a:rPr kumimoji="0" lang="en-US" altLang="zh-CN"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E-mail</a:t>
            </a:r>
            <a:r>
              <a:rPr kumimoji="0" lang="zh-CN" altLang="en-US" sz="800" i="0" baseline="0" noProof="0" dirty="0">
                <a:ln>
                  <a:noFill/>
                </a:ln>
                <a:solidFill>
                  <a:srgbClr val="1B2637"/>
                </a:solidFill>
                <a:effectLst/>
                <a:uLnTx/>
                <a:uFillTx/>
                <a:latin typeface="思源黑体 CN Regular" panose="020B0500000000000000" charset="-122"/>
                <a:ea typeface="思源黑体 CN Regular" panose="020B0500000000000000" charset="-122"/>
                <a:cs typeface="Times New Roman" panose="02020603050405020304" pitchFamily="18" charset="0"/>
              </a:rPr>
              <a:t>：research@gtht.com</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空白页">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空白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tags" Target="../tags/tag4.xml"/><Relationship Id="rId7"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 Type="http://schemas.openxmlformats.org/officeDocument/2006/relationships/tags" Target="../tags/tag10.xml"/><Relationship Id="rId21" Type="http://schemas.openxmlformats.org/officeDocument/2006/relationships/tags" Target="../tags/tag28.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29" Type="http://schemas.openxmlformats.org/officeDocument/2006/relationships/chart" Target="../charts/chart1.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tags" Target="../tags/tag31.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slideLayout" Target="../slideLayouts/slideLayout4.xml"/><Relationship Id="rId10" Type="http://schemas.openxmlformats.org/officeDocument/2006/relationships/tags" Target="../tags/tag17.xml"/><Relationship Id="rId19" Type="http://schemas.openxmlformats.org/officeDocument/2006/relationships/tags" Target="../tags/tag2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chart" Target="../charts/chart16.xml"/><Relationship Id="rId3" Type="http://schemas.openxmlformats.org/officeDocument/2006/relationships/tags" Target="../tags/tag37.xml"/><Relationship Id="rId7" Type="http://schemas.openxmlformats.org/officeDocument/2006/relationships/chart" Target="../charts/chart15.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Layout" Target="../slideLayouts/slideLayout4.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chart" Target="../charts/char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8" cstate="screen"/>
          <a:srcRect/>
          <a:stretch>
            <a:fillRect/>
          </a:stretch>
        </a:blipFill>
        <a:effectLst/>
      </p:bgPr>
    </p:bg>
    <p:spTree>
      <p:nvGrpSpPr>
        <p:cNvPr id="1" name=""/>
        <p:cNvGrpSpPr/>
        <p:nvPr/>
      </p:nvGrpSpPr>
      <p:grpSpPr>
        <a:xfrm>
          <a:off x="0" y="0"/>
          <a:ext cx="0" cy="0"/>
          <a:chOff x="0" y="0"/>
          <a:chExt cx="0" cy="0"/>
        </a:xfrm>
      </p:grpSpPr>
      <p:sp>
        <p:nvSpPr>
          <p:cNvPr id="19" name="文本框 18"/>
          <p:cNvSpPr txBox="1"/>
          <p:nvPr/>
        </p:nvSpPr>
        <p:spPr>
          <a:xfrm>
            <a:off x="5435972" y="336145"/>
            <a:ext cx="3210561" cy="275590"/>
          </a:xfrm>
          <a:prstGeom prst="rect">
            <a:avLst/>
          </a:prstGeom>
          <a:noFill/>
        </p:spPr>
        <p:txBody>
          <a:bodyPr wrap="square" rtlCol="0">
            <a:spAutoFit/>
          </a:bodyPr>
          <a:lstStyle/>
          <a:p>
            <a:pPr algn="r"/>
            <a:r>
              <a:rPr lang="zh-CN" altLang="en-US" sz="1200" b="1" dirty="0">
                <a:solidFill>
                  <a:schemeClr val="tx2">
                    <a:lumMod val="60000"/>
                    <a:lumOff val="40000"/>
                  </a:schemeClr>
                </a:solidFill>
                <a:latin typeface="思源黑体 CN Regular" panose="020B0500000000000000" charset="-122"/>
                <a:ea typeface="思源黑体 CN Regular" panose="020B0500000000000000" charset="-122"/>
              </a:rPr>
              <a:t>证券研究报告</a:t>
            </a:r>
          </a:p>
        </p:txBody>
      </p:sp>
      <p:sp>
        <p:nvSpPr>
          <p:cNvPr id="11" name="标题 1"/>
          <p:cNvSpPr>
            <a:spLocks noGrp="1"/>
          </p:cNvSpPr>
          <p:nvPr>
            <p:custDataLst>
              <p:tags r:id="rId1"/>
            </p:custDataLst>
          </p:nvPr>
        </p:nvSpPr>
        <p:spPr>
          <a:xfrm>
            <a:off x="539750" y="908050"/>
            <a:ext cx="7347585" cy="809625"/>
          </a:xfrm>
          <a:prstGeom prst="rect">
            <a:avLst/>
          </a:prstGeom>
          <a:noFill/>
        </p:spPr>
        <p:txBody>
          <a:bodyPr vert="horz" lIns="0" tIns="0" rIns="0" bIns="0" rtlCol="0" anchor="b"/>
          <a:lstStyle>
            <a:lvl1pPr algn="l">
              <a:defRPr sz="4800" b="1" i="0">
                <a:solidFill>
                  <a:schemeClr val="bg1"/>
                </a:solidFill>
                <a:latin typeface="微软雅黑" panose="020B0503020204020204" charset="-122"/>
                <a:ea typeface="微软雅黑" panose="020B0503020204020204" charset="-122"/>
              </a:defRPr>
            </a:lvl1pPr>
          </a:lstStyle>
          <a:p>
            <a:pPr algn="l"/>
            <a:r>
              <a:rPr kumimoji="1" lang="zh-CN" altLang="en-US" sz="4000" b="0" spc="100" dirty="0">
                <a:gradFill>
                  <a:gsLst>
                    <a:gs pos="0">
                      <a:srgbClr val="007BD3"/>
                    </a:gs>
                    <a:gs pos="89000">
                      <a:srgbClr val="034373"/>
                    </a:gs>
                  </a:gsLst>
                  <a:lin ang="16200000" scaled="0"/>
                </a:gradFill>
                <a:latin typeface="思源宋体 CN Heavy" panose="02020900000000000000" pitchFamily="18" charset="-122"/>
                <a:ea typeface="思源宋体 CN Heavy" panose="02020900000000000000" pitchFamily="18" charset="-122"/>
                <a:cs typeface="思源宋体 CN Heavy" panose="02020900000000000000" pitchFamily="18" charset="-122"/>
              </a:rPr>
              <a:t>广钢气体深度核心更新</a:t>
            </a:r>
            <a:endParaRPr kumimoji="1" lang="zh-CN" altLang="en-US" sz="2800" b="0" spc="100" dirty="0">
              <a:gradFill>
                <a:gsLst>
                  <a:gs pos="0">
                    <a:srgbClr val="007BD3"/>
                  </a:gs>
                  <a:gs pos="89000">
                    <a:srgbClr val="034373"/>
                  </a:gs>
                </a:gsLst>
                <a:lin ang="16200000" scaled="0"/>
              </a:gradFill>
              <a:latin typeface="思源宋体 CN Heavy" panose="02020900000000000000" pitchFamily="18" charset="-122"/>
              <a:ea typeface="思源宋体 CN Heavy" panose="02020900000000000000" pitchFamily="18" charset="-122"/>
              <a:cs typeface="思源宋体 CN Heavy" panose="02020900000000000000" pitchFamily="18" charset="-122"/>
            </a:endParaRPr>
          </a:p>
        </p:txBody>
      </p:sp>
      <p:sp>
        <p:nvSpPr>
          <p:cNvPr id="13" name="副标题 2"/>
          <p:cNvSpPr>
            <a:spLocks noGrp="1"/>
          </p:cNvSpPr>
          <p:nvPr>
            <p:custDataLst>
              <p:tags r:id="rId2"/>
            </p:custDataLst>
          </p:nvPr>
        </p:nvSpPr>
        <p:spPr>
          <a:xfrm>
            <a:off x="539750" y="1760220"/>
            <a:ext cx="7852082" cy="530860"/>
          </a:xfrm>
          <a:prstGeom prst="rect">
            <a:avLst/>
          </a:prstGeom>
          <a:noFill/>
        </p:spPr>
        <p:txBody>
          <a:bodyPr vert="horz" lIns="0" tIns="0" rIns="0" bIns="0" rtlCol="0">
            <a:normAutofit fontScale="85000" lnSpcReduction="10000"/>
          </a:bodyPr>
          <a:lstStyle>
            <a:lvl1pPr marL="0" indent="0" algn="l">
              <a:buNone/>
              <a:defRPr sz="2400" b="0" i="0">
                <a:solidFill>
                  <a:schemeClr val="bg1"/>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lgn="l"/>
            <a:r>
              <a:rPr kumimoji="1" lang="zh-CN" altLang="en-US" dirty="0">
                <a:gradFill>
                  <a:gsLst>
                    <a:gs pos="0">
                      <a:srgbClr val="007BD3"/>
                    </a:gs>
                    <a:gs pos="89000">
                      <a:srgbClr val="034373"/>
                    </a:gs>
                  </a:gsLst>
                  <a:lin ang="16200000" scaled="0"/>
                </a:gradFill>
                <a:latin typeface="思源宋体 CN Heavy" panose="02020900000000000000" pitchFamily="18" charset="-122"/>
                <a:ea typeface="思源宋体 CN Heavy" panose="02020900000000000000" pitchFamily="18" charset="-122"/>
              </a:rPr>
              <a:t>两存唯一大宗电子气厂商，优商业模式</a:t>
            </a:r>
            <a:r>
              <a:rPr kumimoji="1" lang="en-US" altLang="zh-CN" dirty="0">
                <a:gradFill>
                  <a:gsLst>
                    <a:gs pos="0">
                      <a:srgbClr val="007BD3"/>
                    </a:gs>
                    <a:gs pos="89000">
                      <a:srgbClr val="034373"/>
                    </a:gs>
                  </a:gsLst>
                  <a:lin ang="16200000" scaled="0"/>
                </a:gradFill>
                <a:latin typeface="思源宋体 CN Heavy" panose="02020900000000000000" pitchFamily="18" charset="-122"/>
                <a:ea typeface="思源宋体 CN Heavy" panose="02020900000000000000" pitchFamily="18" charset="-122"/>
              </a:rPr>
              <a:t>+</a:t>
            </a:r>
            <a:r>
              <a:rPr kumimoji="1" lang="zh-CN" altLang="en-US" dirty="0">
                <a:gradFill>
                  <a:gsLst>
                    <a:gs pos="0">
                      <a:srgbClr val="007BD3"/>
                    </a:gs>
                    <a:gs pos="89000">
                      <a:srgbClr val="034373"/>
                    </a:gs>
                  </a:gsLst>
                  <a:lin ang="16200000" scaled="0"/>
                </a:gradFill>
                <a:latin typeface="思源宋体 CN Heavy" panose="02020900000000000000" pitchFamily="18" charset="-122"/>
                <a:ea typeface="思源宋体 CN Heavy" panose="02020900000000000000" pitchFamily="18" charset="-122"/>
              </a:rPr>
              <a:t>优竞争格局，远期空间巨大</a:t>
            </a:r>
          </a:p>
        </p:txBody>
      </p:sp>
      <p:sp>
        <p:nvSpPr>
          <p:cNvPr id="2" name="文本框 5"/>
          <p:cNvSpPr txBox="1"/>
          <p:nvPr>
            <p:custDataLst>
              <p:tags r:id="rId3"/>
            </p:custDataLst>
          </p:nvPr>
        </p:nvSpPr>
        <p:spPr>
          <a:xfrm>
            <a:off x="540385" y="2491740"/>
            <a:ext cx="1498600" cy="277495"/>
          </a:xfrm>
          <a:prstGeom prst="rect">
            <a:avLst/>
          </a:prstGeom>
          <a:noFill/>
          <a:ln w="9525">
            <a:noFill/>
            <a:miter/>
          </a:ln>
        </p:spPr>
        <p:txBody>
          <a:bodyPr lIns="0" tIns="0" rIns="0" bIns="0" anchor="t">
            <a:noAutofit/>
          </a:bodyPr>
          <a:lstStyle/>
          <a:p>
            <a:pPr lvl="0" algn="l"/>
            <a:r>
              <a:rPr lang="en-US" altLang="zh-CN" sz="1400" dirty="0">
                <a:gradFill>
                  <a:gsLst>
                    <a:gs pos="0">
                      <a:srgbClr val="007BD3"/>
                    </a:gs>
                    <a:gs pos="89000">
                      <a:srgbClr val="034373"/>
                    </a:gs>
                  </a:gsLst>
                  <a:lin ang="16200000" scaled="0"/>
                </a:gradFill>
                <a:latin typeface="思源黑体 CN Bold" panose="020B0800000000000000" charset="-122"/>
                <a:ea typeface="思源黑体 CN Bold" panose="020B0800000000000000" charset="-122"/>
                <a:cs typeface="思源黑体 CN Regular" panose="020B0500000000000000" charset="-122"/>
              </a:rPr>
              <a:t>2026/01</a:t>
            </a:r>
          </a:p>
        </p:txBody>
      </p:sp>
      <p:pic>
        <p:nvPicPr>
          <p:cNvPr id="5" name="图片 4" descr="F:/国君+海通/品牌宣传/300ppi/国泰海通证券logo白色纸张上运用横版.png国泰海通证券logo白色纸张上运用横版"/>
          <p:cNvPicPr>
            <a:picLocks noChangeAspect="1"/>
          </p:cNvPicPr>
          <p:nvPr>
            <p:custDataLst>
              <p:tags r:id="rId4"/>
            </p:custDataLst>
          </p:nvPr>
        </p:nvPicPr>
        <p:blipFill>
          <a:blip r:embed="rId9"/>
          <a:srcRect l="401" r="401"/>
          <a:stretch>
            <a:fillRect/>
          </a:stretch>
        </p:blipFill>
        <p:spPr>
          <a:xfrm>
            <a:off x="539750" y="374015"/>
            <a:ext cx="1689735" cy="237490"/>
          </a:xfrm>
          <a:prstGeom prst="rect">
            <a:avLst/>
          </a:prstGeom>
        </p:spPr>
      </p:pic>
      <p:sp>
        <p:nvSpPr>
          <p:cNvPr id="6" name="矩形 5"/>
          <p:cNvSpPr/>
          <p:nvPr>
            <p:custDataLst>
              <p:tags r:id="rId5"/>
            </p:custDataLst>
          </p:nvPr>
        </p:nvSpPr>
        <p:spPr>
          <a:xfrm>
            <a:off x="2109470" y="2491740"/>
            <a:ext cx="3000375" cy="256540"/>
          </a:xfrm>
          <a:prstGeom prst="rect">
            <a:avLst/>
          </a:prstGeom>
          <a:noFill/>
        </p:spPr>
        <p:txBody>
          <a:bodyPr wrap="square" lIns="0" tIns="0" rIns="0" bIns="0">
            <a:noAutofit/>
          </a:bodyPr>
          <a:lstStyle/>
          <a:p>
            <a:r>
              <a:rPr lang="zh-CN" altLang="en-US" sz="1400" dirty="0">
                <a:gradFill>
                  <a:gsLst>
                    <a:gs pos="0">
                      <a:srgbClr val="007BD3"/>
                    </a:gs>
                    <a:gs pos="89000">
                      <a:srgbClr val="034373"/>
                    </a:gs>
                  </a:gsLst>
                  <a:lin ang="16200000" scaled="0"/>
                </a:gradFill>
                <a:latin typeface="思源黑体 CN Bold" panose="020B0800000000000000" charset="-122"/>
                <a:ea typeface="思源黑体 CN Bold" panose="020B0800000000000000" charset="-122"/>
              </a:rPr>
              <a:t>行业评级：增持</a:t>
            </a:r>
          </a:p>
        </p:txBody>
      </p:sp>
      <p:sp>
        <p:nvSpPr>
          <p:cNvPr id="3" name="副标题 2">
            <a:extLst>
              <a:ext uri="{FF2B5EF4-FFF2-40B4-BE49-F238E27FC236}">
                <a16:creationId xmlns:a16="http://schemas.microsoft.com/office/drawing/2014/main" xmlns="" id="{C3EF0C8B-B2E3-E3BA-C7EC-926F482B98FF}"/>
              </a:ext>
            </a:extLst>
          </p:cNvPr>
          <p:cNvSpPr txBox="1"/>
          <p:nvPr>
            <p:custDataLst>
              <p:tags r:id="rId6"/>
            </p:custDataLst>
          </p:nvPr>
        </p:nvSpPr>
        <p:spPr>
          <a:xfrm>
            <a:off x="539750" y="3785870"/>
            <a:ext cx="2588804" cy="720090"/>
          </a:xfrm>
          <a:prstGeom prst="rect">
            <a:avLst/>
          </a:prstGeom>
        </p:spPr>
        <p:txBody>
          <a:bodyPr vert="horz" lIns="0" tIns="0" rIns="0" bIns="0" rtlCol="0">
            <a:normAutofit/>
          </a:bodyPr>
          <a:lstStyle/>
          <a:p>
            <a:pPr marL="342900" marR="0" lvl="0" indent="-342900" algn="l" defTabSz="914400" rtl="0" eaLnBrk="1" fontAlgn="auto" latinLnBrk="0" hangingPunct="1">
              <a:lnSpc>
                <a:spcPct val="100000"/>
              </a:lnSpc>
              <a:spcBef>
                <a:spcPct val="20000"/>
              </a:spcBef>
              <a:spcAft>
                <a:spcPts val="0"/>
              </a:spcAft>
              <a:buClrTx/>
              <a:buSzTx/>
              <a:defRPr/>
            </a:pPr>
            <a:r>
              <a:rPr kumimoji="0" lang="zh-CN" altLang="en-US"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姓名：赵玥炜（机械行业联席首席分析师）</a:t>
            </a:r>
            <a:endParaRPr kumimoji="0" lang="en-US" altLang="zh-CN"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endParaRPr>
          </a:p>
          <a:p>
            <a:pPr marL="342900" marR="0" lvl="0" indent="-342900" algn="l" defTabSz="914400" rtl="0" eaLnBrk="1" fontAlgn="auto" latinLnBrk="0" hangingPunct="1">
              <a:lnSpc>
                <a:spcPct val="100000"/>
              </a:lnSpc>
              <a:spcBef>
                <a:spcPct val="20000"/>
              </a:spcBef>
              <a:spcAft>
                <a:spcPts val="0"/>
              </a:spcAft>
              <a:buClrTx/>
              <a:buSzTx/>
              <a:defRPr/>
            </a:pPr>
            <a:r>
              <a:rPr kumimoji="0" lang="zh-CN" altLang="en-US"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邮箱：</a:t>
            </a:r>
            <a:r>
              <a:rPr kumimoji="0" lang="en-US" altLang="zh-CN"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zhaoyuewei@gtht.com</a:t>
            </a:r>
          </a:p>
          <a:p>
            <a:pPr marL="342900" marR="0" lvl="0" indent="-342900" algn="l" defTabSz="914400" rtl="0" eaLnBrk="1" fontAlgn="auto" latinLnBrk="0" hangingPunct="1">
              <a:lnSpc>
                <a:spcPct val="100000"/>
              </a:lnSpc>
              <a:spcBef>
                <a:spcPct val="20000"/>
              </a:spcBef>
              <a:spcAft>
                <a:spcPts val="0"/>
              </a:spcAft>
              <a:buClrTx/>
              <a:buSzTx/>
              <a:defRPr/>
            </a:pPr>
            <a:r>
              <a:rPr kumimoji="0" lang="zh-CN" altLang="en-US"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电话：</a:t>
            </a:r>
            <a:r>
              <a:rPr kumimoji="0" lang="en-US" altLang="zh-CN"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021-23185630</a:t>
            </a:r>
          </a:p>
          <a:p>
            <a:pPr marL="342900" lvl="0" indent="-342900">
              <a:spcBef>
                <a:spcPct val="20000"/>
              </a:spcBef>
              <a:defRPr/>
            </a:pPr>
            <a:r>
              <a:rPr kumimoji="0" lang="zh-CN" altLang="en-US"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rPr>
              <a:t>证书编号：</a:t>
            </a:r>
            <a:r>
              <a:rPr lang="en-US" altLang="zh-CN" sz="900" dirty="0">
                <a:ln w="0" cmpd="sng">
                  <a:noFill/>
                  <a:prstDash val="solid"/>
                </a:ln>
                <a:solidFill>
                  <a:schemeClr val="bg1"/>
                </a:solidFill>
                <a:effectLst/>
                <a:latin typeface="思源黑体 CN Bold" panose="020B0800000000000000" charset="-122"/>
                <a:ea typeface="思源黑体 CN Bold" panose="020B0800000000000000" charset="-122"/>
                <a:cs typeface="思源黑体 CN Bold" panose="020B0800000000000000" charset="-122"/>
              </a:rPr>
              <a:t>S0880525040040</a:t>
            </a:r>
            <a:endParaRPr kumimoji="0" lang="en-US" altLang="zh-CN" sz="900" b="0" i="0" u="none" strike="noStrike" kern="1200" cap="none" spc="0" normalizeH="0" baseline="0" noProof="0" dirty="0">
              <a:ln w="0" cmpd="sng">
                <a:noFill/>
                <a:prstDash val="solid"/>
              </a:ln>
              <a:solidFill>
                <a:schemeClr val="bg1"/>
              </a:solidFill>
              <a:effectLst/>
              <a:uLnTx/>
              <a:uFillTx/>
              <a:latin typeface="思源黑体 CN Bold" panose="020B0800000000000000" charset="-122"/>
              <a:ea typeface="思源黑体 CN Bold" panose="020B0800000000000000" charset="-122"/>
              <a:cs typeface="思源黑体 CN Bold" panose="020B08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296884" y="843510"/>
            <a:ext cx="8550232" cy="4108817"/>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285750" indent="-285750" algn="just">
              <a:spcAft>
                <a:spcPts val="600"/>
              </a:spcAft>
              <a:buFont typeface="Wingdings" panose="05000000000000000000" pitchFamily="2" charset="2"/>
              <a:buChar char="n"/>
            </a:pP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公司介绍</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控股股东</a:t>
            </a: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广州工控集团持股</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20.66%</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，上市前</a:t>
            </a: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拥有三大员工持股平台，绑定核心管理层与业务骨干</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。董事长及核心管理人员来自外资气体厂商与合资气体厂商，具备强项目与设备技术经验。</a:t>
            </a:r>
          </a:p>
          <a:p>
            <a:pPr marL="285750" indent="-285750" algn="just">
              <a:spcAft>
                <a:spcPts val="600"/>
              </a:spcAft>
              <a:buFont typeface="Wingdings" panose="05000000000000000000" pitchFamily="2" charset="2"/>
              <a:buChar char="n"/>
            </a:pP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电子大宗气体是拥有较大市场+高集中度条件的赛道</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。电子大宗气体具备稳健的商业模式，可带来稳定的营收、利润与现金流，公司可依托客户群进一步拓展电子特气项目，逐步形成电子气体</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综合解决方案能力。</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24</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年中国电子气市场接近</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20</a:t>
            </a:r>
            <a:r>
              <a:rPr lang="zh-CN" altLang="en-US" sz="1050" b="1"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0</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亿元（电子大宗气体占比过半），主要下游为集成电路、面板厂等扩产。同时</a:t>
            </a:r>
            <a:r>
              <a:rPr lang="zh-CN" altLang="en-US" sz="1050" b="1"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电子大宗气体行业进入壁垒高</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超高纯氮机技术、氦气供应链与项目经验等是核心竞争要素，现阶段存量市场外资占比达</a:t>
            </a:r>
            <a:r>
              <a:rPr lang="zh-CN" altLang="en-US" sz="105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88%</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，未来国产化率有望加速提升。</a:t>
            </a:r>
          </a:p>
          <a:p>
            <a:pPr marL="285750" indent="-285750" algn="just">
              <a:spcAft>
                <a:spcPts val="600"/>
              </a:spcAft>
              <a:buFont typeface="Wingdings" panose="05000000000000000000" pitchFamily="2" charset="2"/>
              <a:buChar char="n"/>
            </a:pP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未来</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年，行业有望迎来下游扩产、国产化率提升与氦供应端改善三重利好。</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1）下游扩产加速：晶圆、面板厂扩产招标有望带来新增市场，预计电子大宗气体年均新增市场</a:t>
            </a:r>
            <a:r>
              <a:rPr lang="zh-CN" altLang="en-US" sz="105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60-70万方/h</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以氮用量计算，晶圆约55-60万方/h，面板约10+万方/h；</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国产化率提升：新增市场国产化率显著提升，</a:t>
            </a:r>
            <a:r>
              <a:rPr lang="zh-CN" altLang="en-US"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晶圆厂在建/计划项目的国产气体市占率预计达40%~55%</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，远高于存量市占率12%，远期市占率可突破</a:t>
            </a:r>
            <a:r>
              <a:rPr lang="en-US" altLang="zh-CN"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40</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供应端改善：俄罗斯氦源下降+高端氦相对稀缺，部分电子大宗气体用氦开始涨价。</a:t>
            </a:r>
            <a:endPar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Aft>
                <a:spcPts val="600"/>
              </a:spcAft>
              <a:buFont typeface="Wingdings" panose="05000000000000000000" pitchFamily="2" charset="2"/>
              <a:buChar char="n"/>
            </a:pP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公司优势：以电子大宗气体为业务核心，拓展电子特气业务，维稳通用工业气体，是潜在气体解决方案厂商。</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公司是目前国内唯一具备9N制氮机技术公司，在超大项目（用气量5-10万方/h等级）上具备绝对竞争力</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b="1"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是长鑫、长存、晶合等大厂供应商</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预计26</a:t>
            </a:r>
            <a:r>
              <a:rPr lang="zh-CN" altLang="en-US"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年中标</a:t>
            </a:r>
            <a:r>
              <a:rPr lang="en-US" altLang="zh-CN"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32-40</a:t>
            </a:r>
            <a:r>
              <a:rPr lang="zh-CN" altLang="en-US"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万方/h气体项目，YOY+</a:t>
            </a:r>
            <a:r>
              <a:rPr lang="en-US" altLang="zh-CN"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130</a:t>
            </a:r>
            <a:r>
              <a:rPr lang="en-US" altLang="zh-CN" sz="105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05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以上</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新增项目市占率</a:t>
            </a:r>
            <a:r>
              <a:rPr lang="en-US" altLang="zh-CN"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en-US" altLang="zh-CN" sz="1050" dirty="0">
                <a:solidFill>
                  <a:srgbClr val="C00000"/>
                </a:solidFill>
                <a:latin typeface="Arial" panose="020B0604020202020204" pitchFamily="34" charset="0"/>
                <a:ea typeface="思源黑体 Heavy" panose="020B0A00000000000000" pitchFamily="34" charset="-122"/>
                <a:cs typeface="Arial" panose="020B0604020202020204" pitchFamily="34" charset="0"/>
              </a:rPr>
              <a:t>70</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%，预计远期存量项目市占率可从9.8%提升至</a:t>
            </a:r>
            <a:r>
              <a:rPr lang="en-US" altLang="zh-CN"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35</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%，对应大宗电子气收入</a:t>
            </a:r>
            <a:r>
              <a:rPr lang="en-US" altLang="zh-CN"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en-US" altLang="zh-CN" sz="105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120</a:t>
            </a:r>
            <a:r>
              <a:rPr lang="zh-CN" altLang="en-US" sz="105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a:t>
            </a:r>
            <a:r>
              <a:rPr lang="zh-CN" altLang="en-US" sz="1050" i="0" u="none" strike="noStrike"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同时，为了完善供应链体系，公司布局四大电子特气/材料基地，投产+客户导入后有望提供</a:t>
            </a:r>
            <a:r>
              <a:rPr lang="en-US" altLang="zh-CN"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13</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亿收入增量，对应1.5-2.4</a:t>
            </a:r>
            <a:r>
              <a:rPr lang="zh-CN" altLang="en-US" sz="105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亿利润。</a:t>
            </a:r>
            <a:endPar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Aft>
                <a:spcPts val="600"/>
              </a:spcAft>
              <a:buFont typeface="Wingdings" panose="05000000000000000000" pitchFamily="2" charset="2"/>
              <a:buChar char="n"/>
            </a:pPr>
            <a:r>
              <a:rPr lang="zh-CN" altLang="en-US" sz="1050" b="1" dirty="0">
                <a:solidFill>
                  <a:srgbClr val="000000"/>
                </a:solidFill>
                <a:latin typeface="Arial" panose="020B0604020202020204" pitchFamily="34" charset="0"/>
                <a:ea typeface="思源黑体 Heavy" panose="020B0A00000000000000" pitchFamily="34" charset="-122"/>
                <a:cs typeface="Arial" panose="020B0604020202020204" pitchFamily="34" charset="0"/>
              </a:rPr>
              <a:t>业绩拐点已至，未来成长空间大。</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大宗电子氦气调价解除降价风险，同比略有上行；气体项目爬坡带来毛利率回升；未来营收与利润会随着项目获取、投放不断增长，叠加公司将从电子大宗气体业务向特种气体业务延展，发展空间将进一步打开。中期利润</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10-11</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亿元，远期利润</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25-26</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元，相比2</a:t>
            </a:r>
            <a:r>
              <a:rPr lang="en-US" altLang="zh-CN" sz="1050" dirty="0">
                <a:solidFill>
                  <a:srgbClr val="000000"/>
                </a:solidFill>
                <a:latin typeface="Arial" panose="020B0604020202020204" pitchFamily="34" charset="0"/>
                <a:ea typeface="思源黑体 Heavy" panose="020B0A00000000000000" pitchFamily="34" charset="-122"/>
                <a:cs typeface="Arial" panose="020B0604020202020204" pitchFamily="34" charset="0"/>
              </a:rPr>
              <a:t>5</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年</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3</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亿元利润有较大上行空间。</a:t>
            </a:r>
          </a:p>
          <a:p>
            <a:pPr marL="285750" indent="-285750" algn="just">
              <a:spcAft>
                <a:spcPts val="600"/>
              </a:spcAft>
              <a:buFont typeface="Wingdings" panose="05000000000000000000" pitchFamily="2" charset="2"/>
              <a:buChar char="n"/>
            </a:pPr>
            <a:r>
              <a:rPr lang="zh-CN" altLang="en-US" sz="1050" b="1"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盈利预测和投资建议</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en-US" altLang="zh-CN"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1</a:t>
            </a:r>
            <a:r>
              <a:rPr lang="zh-CN" altLang="en-US" sz="105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）盈利预测人：</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25/26/27</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年归母净利润预计为</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3/4.7/6.1</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亿元，同比</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+24.7%/+52.1%/+28.7%</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2</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）估值讨论：</a:t>
            </a:r>
            <a:r>
              <a:rPr lang="zh-CN" altLang="en-US" sz="1050" b="0" i="0" u="sng"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①中期可作为当前估值锚：</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13</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亿元利润中枢，</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30</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倍</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PE</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（半导体材料卡位），</a:t>
            </a:r>
            <a:r>
              <a:rPr lang="en-US" altLang="zh-CN"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1</a:t>
            </a:r>
            <a:r>
              <a:rPr lang="zh-CN" altLang="en-US"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年维度对应目标市值约</a:t>
            </a:r>
            <a:r>
              <a:rPr lang="en-US" altLang="zh-CN"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500-600</a:t>
            </a:r>
            <a:r>
              <a:rPr lang="zh-CN" altLang="en-US"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亿元，</a:t>
            </a:r>
            <a:r>
              <a:rPr lang="zh-CN" altLang="en-US" sz="1050" b="1" dirty="0">
                <a:solidFill>
                  <a:srgbClr val="FF0000"/>
                </a:solidFill>
                <a:latin typeface="Arial" panose="020B0604020202020204" pitchFamily="34" charset="0"/>
                <a:ea typeface="思源黑体 Heavy" panose="020B0A00000000000000" pitchFamily="34" charset="-122"/>
                <a:cs typeface="Arial" panose="020B0604020202020204" pitchFamily="34" charset="0"/>
              </a:rPr>
              <a:t>翻倍</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b="0" i="0" u="sng"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②远期估值：</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不考虑拓展工业通用气体以及海外市场拓展，预计公司</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30+</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亿元利润中枢，对标海外气体公司估值中去</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30</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倍</a:t>
            </a:r>
            <a:r>
              <a:rPr lang="en-US" altLang="zh-CN"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PE</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r>
              <a:rPr lang="zh-CN" altLang="en-US"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仅考虑半导体布局，对应</a:t>
            </a:r>
            <a:r>
              <a:rPr lang="en-US" altLang="zh-CN"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900</a:t>
            </a:r>
            <a:r>
              <a:rPr lang="zh-CN" altLang="en-US" sz="1050" b="1" i="0" u="none" strike="noStrike" baseline="0" dirty="0">
                <a:ln>
                  <a:noFill/>
                </a:ln>
                <a:solidFill>
                  <a:srgbClr val="FF0000"/>
                </a:solidFill>
                <a:effectLst/>
                <a:uFillTx/>
                <a:latin typeface="Arial" panose="020B0604020202020204" pitchFamily="34" charset="0"/>
                <a:ea typeface="思源黑体 Heavy" panose="020B0A00000000000000" pitchFamily="34" charset="-122"/>
                <a:cs typeface="Arial" panose="020B0604020202020204" pitchFamily="34" charset="0"/>
              </a:rPr>
              <a:t>亿元目标市值</a:t>
            </a:r>
            <a:r>
              <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rPr>
              <a:t>。</a:t>
            </a:r>
          </a:p>
          <a:p>
            <a:pPr marL="285750" indent="-285750" algn="just">
              <a:spcAft>
                <a:spcPts val="600"/>
              </a:spcAft>
              <a:buFont typeface="Wingdings" panose="05000000000000000000" pitchFamily="2" charset="2"/>
              <a:buChar char="n"/>
            </a:pPr>
            <a:endParaRPr lang="zh-CN" altLang="en-US" sz="1050" b="0" i="0" u="none" strike="noStrike"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endParaRPr>
          </a:p>
        </p:txBody>
      </p:sp>
      <p:sp>
        <p:nvSpPr>
          <p:cNvPr id="9" name="标题 1"/>
          <p:cNvSpPr>
            <a:spLocks noGrp="1"/>
          </p:cNvSpPr>
          <p:nvPr/>
        </p:nvSpPr>
        <p:spPr>
          <a:xfrm>
            <a:off x="807085" y="411510"/>
            <a:ext cx="3772535" cy="369332"/>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核心投资逻辑</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 name="文本框 4"/>
          <p:cNvSpPr txBox="1">
            <a:spLocks noChangeArrowheads="1"/>
          </p:cNvSpPr>
          <p:nvPr/>
        </p:nvSpPr>
        <p:spPr bwMode="auto">
          <a:xfrm>
            <a:off x="612775" y="339502"/>
            <a:ext cx="1465263" cy="769441"/>
          </a:xfrm>
          <a:prstGeom prst="rect">
            <a:avLst/>
          </a:prstGeom>
          <a:noFill/>
          <a:ln w="9525">
            <a:noFill/>
            <a:miter lim="800000"/>
          </a:ln>
        </p:spPr>
        <p:txBody>
          <a:bodyPr>
            <a:spAutoFit/>
          </a:bodyPr>
          <a:lstStyle/>
          <a:p>
            <a:r>
              <a:rPr lang="zh-CN" altLang="en-US" sz="4400" dirty="0">
                <a:solidFill>
                  <a:schemeClr val="bg1"/>
                </a:solidFill>
                <a:latin typeface="汉仪雅酷黑简" panose="00020600040101010101" charset="-122"/>
                <a:ea typeface="汉仪雅酷黑简" panose="00020600040101010101" charset="-122"/>
              </a:rPr>
              <a:t>目录</a:t>
            </a:r>
          </a:p>
        </p:txBody>
      </p:sp>
      <p:sp>
        <p:nvSpPr>
          <p:cNvPr id="3" name="文本框 4"/>
          <p:cNvSpPr txBox="1"/>
          <p:nvPr/>
        </p:nvSpPr>
        <p:spPr>
          <a:xfrm>
            <a:off x="1864146" y="374427"/>
            <a:ext cx="4364038" cy="701675"/>
          </a:xfrm>
          <a:prstGeom prst="rect">
            <a:avLst/>
          </a:prstGeom>
          <a:noFill/>
          <a:ln w="9525">
            <a:noFill/>
            <a:miter/>
          </a:ln>
        </p:spPr>
        <p:txBody>
          <a:bodyPr>
            <a:spAutoFit/>
          </a:bodyPr>
          <a:lstStyle/>
          <a:p>
            <a:r>
              <a:rPr lang="en-US" altLang="zh-CN" sz="4000" cap="all" noProof="1">
                <a:solidFill>
                  <a:schemeClr val="bg1"/>
                </a:solidFill>
                <a:latin typeface="Arial" panose="020B0604020202020204" pitchFamily="34" charset="0"/>
                <a:ea typeface="Wonder Arial" panose="00000500000000000000" charset="0"/>
                <a:cs typeface="Arial" panose="020B0604020202020204" pitchFamily="34" charset="0"/>
              </a:rPr>
              <a:t>/ </a:t>
            </a:r>
            <a:r>
              <a:rPr lang="zh-CN" altLang="en-US" sz="3200" cap="all" noProof="1">
                <a:solidFill>
                  <a:schemeClr val="bg1"/>
                </a:solidFill>
                <a:latin typeface="Arial" panose="020B0604020202020204" pitchFamily="34" charset="0"/>
                <a:ea typeface="Wonder Arial" panose="00000500000000000000" charset="0"/>
                <a:cs typeface="Arial" panose="020B0604020202020204" pitchFamily="34" charset="0"/>
              </a:rPr>
              <a:t>CONTENTS</a:t>
            </a:r>
          </a:p>
        </p:txBody>
      </p:sp>
      <p:grpSp>
        <p:nvGrpSpPr>
          <p:cNvPr id="4" name="组合 3"/>
          <p:cNvGrpSpPr/>
          <p:nvPr/>
        </p:nvGrpSpPr>
        <p:grpSpPr>
          <a:xfrm>
            <a:off x="723900" y="1108432"/>
            <a:ext cx="6893642" cy="417895"/>
            <a:chOff x="723900" y="2193925"/>
            <a:chExt cx="6893642" cy="417895"/>
          </a:xfrm>
        </p:grpSpPr>
        <p:sp>
          <p:nvSpPr>
            <p:cNvPr id="5" name="文本框 4"/>
            <p:cNvSpPr txBox="1">
              <a:spLocks noChangeArrowheads="1"/>
            </p:cNvSpPr>
            <p:nvPr/>
          </p:nvSpPr>
          <p:spPr bwMode="auto">
            <a:xfrm>
              <a:off x="1190700" y="2211710"/>
              <a:ext cx="6426842" cy="400110"/>
            </a:xfrm>
            <a:prstGeom prst="rect">
              <a:avLst/>
            </a:prstGeom>
            <a:noFill/>
            <a:ln w="9525">
              <a:noFill/>
              <a:miter lim="800000"/>
            </a:ln>
          </p:spPr>
          <p:txBody>
            <a:bodyPr wrap="square">
              <a:spAutoFit/>
            </a:bodyPr>
            <a:lstStyle/>
            <a:p>
              <a:r>
                <a:rPr lang="zh-CN" altLang="en-US" sz="2000" b="1" dirty="0">
                  <a:solidFill>
                    <a:schemeClr val="bg1"/>
                  </a:solidFill>
                  <a:latin typeface="思源黑体 CN Regular" panose="020B0500000000000000" charset="-122"/>
                  <a:ea typeface="思源黑体 CN Regular" panose="020B0500000000000000" charset="-122"/>
                </a:rPr>
                <a:t>公司介绍：电子大宗国产龙头，管理与激励优质</a:t>
              </a:r>
            </a:p>
          </p:txBody>
        </p:sp>
        <p:sp>
          <p:nvSpPr>
            <p:cNvPr id="6" name="文本框 5"/>
            <p:cNvSpPr txBox="1">
              <a:spLocks noChangeArrowheads="1"/>
            </p:cNvSpPr>
            <p:nvPr/>
          </p:nvSpPr>
          <p:spPr bwMode="auto">
            <a:xfrm>
              <a:off x="723900" y="2193925"/>
              <a:ext cx="470000" cy="400110"/>
            </a:xfrm>
            <a:prstGeom prst="rect">
              <a:avLst/>
            </a:prstGeom>
            <a:noFill/>
            <a:ln w="9525">
              <a:noFill/>
              <a:miter lim="800000"/>
            </a:ln>
          </p:spPr>
          <p:txBody>
            <a:bodyPr wrap="none">
              <a:spAutoFit/>
            </a:bodyPr>
            <a:lstStyle/>
            <a:p>
              <a:r>
                <a:rPr lang="en-US" altLang="zh-CN" sz="2000" dirty="0">
                  <a:solidFill>
                    <a:schemeClr val="bg1"/>
                  </a:solidFill>
                  <a:latin typeface="Arial" panose="020B0604020202020204" pitchFamily="34" charset="0"/>
                  <a:ea typeface="汉仪雅酷黑简" panose="00020600040101010101" charset="-122"/>
                  <a:cs typeface="Arial" panose="020B0604020202020204" pitchFamily="34" charset="0"/>
                </a:rPr>
                <a:t>01</a:t>
              </a:r>
            </a:p>
          </p:txBody>
        </p:sp>
        <p:sp>
          <p:nvSpPr>
            <p:cNvPr id="7" name="矩形 6"/>
            <p:cNvSpPr/>
            <p:nvPr/>
          </p:nvSpPr>
          <p:spPr bwMode="auto">
            <a:xfrm>
              <a:off x="815856" y="2571750"/>
              <a:ext cx="142691" cy="28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solidFill>
                  <a:schemeClr val="bg1"/>
                </a:solidFill>
              </a:endParaRPr>
            </a:p>
          </p:txBody>
        </p:sp>
      </p:grpSp>
      <p:grpSp>
        <p:nvGrpSpPr>
          <p:cNvPr id="8" name="组合 7"/>
          <p:cNvGrpSpPr/>
          <p:nvPr/>
        </p:nvGrpSpPr>
        <p:grpSpPr>
          <a:xfrm>
            <a:off x="723900" y="1743193"/>
            <a:ext cx="5920248" cy="417895"/>
            <a:chOff x="723900" y="2193925"/>
            <a:chExt cx="5920248" cy="417895"/>
          </a:xfrm>
        </p:grpSpPr>
        <p:sp>
          <p:nvSpPr>
            <p:cNvPr id="9" name="文本框 4"/>
            <p:cNvSpPr txBox="1">
              <a:spLocks noChangeArrowheads="1"/>
            </p:cNvSpPr>
            <p:nvPr/>
          </p:nvSpPr>
          <p:spPr bwMode="auto">
            <a:xfrm>
              <a:off x="1190700" y="2211710"/>
              <a:ext cx="5453448" cy="400110"/>
            </a:xfrm>
            <a:prstGeom prst="rect">
              <a:avLst/>
            </a:prstGeom>
            <a:noFill/>
            <a:ln w="9525">
              <a:noFill/>
              <a:miter lim="800000"/>
            </a:ln>
          </p:spPr>
          <p:txBody>
            <a:bodyPr wrap="square">
              <a:spAutoFit/>
            </a:bodyPr>
            <a:lstStyle/>
            <a:p>
              <a:r>
                <a:rPr lang="zh-CN" altLang="en-US" sz="2000" b="1" dirty="0">
                  <a:solidFill>
                    <a:schemeClr val="bg1"/>
                  </a:solidFill>
                  <a:latin typeface="思源黑体 CN Regular" panose="020B0500000000000000" charset="-122"/>
                  <a:ea typeface="思源黑体 CN Regular" panose="020B0500000000000000" charset="-122"/>
                </a:rPr>
                <a:t>电子大宗气体：受益大厂扩产</a:t>
              </a:r>
              <a:r>
                <a:rPr lang="en-US" altLang="zh-CN" sz="2000" b="1" dirty="0">
                  <a:solidFill>
                    <a:schemeClr val="bg1"/>
                  </a:solidFill>
                  <a:latin typeface="思源黑体 CN Regular" panose="020B0500000000000000" charset="-122"/>
                  <a:ea typeface="思源黑体 CN Regular" panose="020B0500000000000000" charset="-122"/>
                </a:rPr>
                <a:t>+</a:t>
              </a:r>
              <a:r>
                <a:rPr lang="zh-CN" altLang="en-US" sz="2000" b="1" dirty="0">
                  <a:solidFill>
                    <a:schemeClr val="bg1"/>
                  </a:solidFill>
                  <a:latin typeface="思源黑体 CN Regular" panose="020B0500000000000000" charset="-122"/>
                  <a:ea typeface="思源黑体 CN Regular" panose="020B0500000000000000" charset="-122"/>
                </a:rPr>
                <a:t>市占率提升</a:t>
              </a:r>
            </a:p>
          </p:txBody>
        </p:sp>
        <p:sp>
          <p:nvSpPr>
            <p:cNvPr id="10" name="文本框 5"/>
            <p:cNvSpPr txBox="1">
              <a:spLocks noChangeArrowheads="1"/>
            </p:cNvSpPr>
            <p:nvPr/>
          </p:nvSpPr>
          <p:spPr bwMode="auto">
            <a:xfrm>
              <a:off x="723900" y="2193925"/>
              <a:ext cx="470000" cy="400110"/>
            </a:xfrm>
            <a:prstGeom prst="rect">
              <a:avLst/>
            </a:prstGeom>
            <a:noFill/>
            <a:ln w="9525">
              <a:noFill/>
              <a:miter lim="800000"/>
            </a:ln>
          </p:spPr>
          <p:txBody>
            <a:bodyPr wrap="none">
              <a:spAutoFit/>
            </a:bodyPr>
            <a:lstStyle/>
            <a:p>
              <a:r>
                <a:rPr lang="en-US" altLang="zh-CN" sz="2000" dirty="0">
                  <a:solidFill>
                    <a:schemeClr val="bg1"/>
                  </a:solidFill>
                  <a:latin typeface="Arial" panose="020B0604020202020204" pitchFamily="34" charset="0"/>
                  <a:ea typeface="汉仪雅酷黑简" panose="00020600040101010101" charset="-122"/>
                  <a:cs typeface="Arial" panose="020B0604020202020204" pitchFamily="34" charset="0"/>
                </a:rPr>
                <a:t>02</a:t>
              </a:r>
            </a:p>
          </p:txBody>
        </p:sp>
        <p:sp>
          <p:nvSpPr>
            <p:cNvPr id="11" name="矩形 10"/>
            <p:cNvSpPr/>
            <p:nvPr/>
          </p:nvSpPr>
          <p:spPr bwMode="auto">
            <a:xfrm>
              <a:off x="815856" y="2571750"/>
              <a:ext cx="142691" cy="28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solidFill>
                  <a:schemeClr val="bg1"/>
                </a:solidFill>
              </a:endParaRPr>
            </a:p>
          </p:txBody>
        </p:sp>
      </p:grpSp>
      <p:grpSp>
        <p:nvGrpSpPr>
          <p:cNvPr id="12" name="组合 11"/>
          <p:cNvGrpSpPr/>
          <p:nvPr/>
        </p:nvGrpSpPr>
        <p:grpSpPr>
          <a:xfrm>
            <a:off x="723900" y="2311279"/>
            <a:ext cx="8015151" cy="417895"/>
            <a:chOff x="723900" y="2193925"/>
            <a:chExt cx="8015151" cy="417895"/>
          </a:xfrm>
        </p:grpSpPr>
        <p:sp>
          <p:nvSpPr>
            <p:cNvPr id="13" name="文本框 4"/>
            <p:cNvSpPr txBox="1">
              <a:spLocks noChangeArrowheads="1"/>
            </p:cNvSpPr>
            <p:nvPr/>
          </p:nvSpPr>
          <p:spPr bwMode="auto">
            <a:xfrm>
              <a:off x="1190699" y="2211710"/>
              <a:ext cx="7548352" cy="400110"/>
            </a:xfrm>
            <a:prstGeom prst="rect">
              <a:avLst/>
            </a:prstGeom>
            <a:noFill/>
            <a:ln w="9525">
              <a:noFill/>
              <a:miter lim="800000"/>
            </a:ln>
          </p:spPr>
          <p:txBody>
            <a:bodyPr wrap="square">
              <a:spAutoFit/>
            </a:bodyPr>
            <a:lstStyle/>
            <a:p>
              <a:r>
                <a:rPr lang="zh-CN" altLang="en-US" sz="2000" b="1" dirty="0">
                  <a:solidFill>
                    <a:schemeClr val="bg1"/>
                  </a:solidFill>
                  <a:latin typeface="思源黑体 CN Regular" panose="020B0500000000000000" charset="-122"/>
                  <a:ea typeface="思源黑体 CN Regular" panose="020B0500000000000000" charset="-122"/>
                </a:rPr>
                <a:t>电子特气：跟随核心大客户，新拓超临界</a:t>
              </a:r>
              <a:r>
                <a:rPr lang="en-US" altLang="zh-CN" sz="2000" b="1" dirty="0">
                  <a:solidFill>
                    <a:schemeClr val="bg1"/>
                  </a:solidFill>
                  <a:latin typeface="思源黑体 CN Regular" panose="020B0500000000000000" charset="-122"/>
                  <a:ea typeface="思源黑体 CN Regular" panose="020B0500000000000000" charset="-122"/>
                </a:rPr>
                <a:t>CO2</a:t>
              </a:r>
              <a:r>
                <a:rPr lang="zh-CN" altLang="en-US" sz="2000" b="1" dirty="0">
                  <a:solidFill>
                    <a:schemeClr val="bg1"/>
                  </a:solidFill>
                  <a:latin typeface="思源黑体 CN Regular" panose="020B0500000000000000" charset="-122"/>
                  <a:ea typeface="思源黑体 CN Regular" panose="020B0500000000000000" charset="-122"/>
                </a:rPr>
                <a:t>带来更大利润弹性</a:t>
              </a:r>
            </a:p>
          </p:txBody>
        </p:sp>
        <p:sp>
          <p:nvSpPr>
            <p:cNvPr id="14" name="文本框 5"/>
            <p:cNvSpPr txBox="1">
              <a:spLocks noChangeArrowheads="1"/>
            </p:cNvSpPr>
            <p:nvPr/>
          </p:nvSpPr>
          <p:spPr bwMode="auto">
            <a:xfrm>
              <a:off x="723900" y="2193925"/>
              <a:ext cx="470000" cy="400110"/>
            </a:xfrm>
            <a:prstGeom prst="rect">
              <a:avLst/>
            </a:prstGeom>
            <a:noFill/>
            <a:ln w="9525">
              <a:noFill/>
              <a:miter lim="800000"/>
            </a:ln>
          </p:spPr>
          <p:txBody>
            <a:bodyPr wrap="none">
              <a:spAutoFit/>
            </a:bodyPr>
            <a:lstStyle/>
            <a:p>
              <a:r>
                <a:rPr lang="en-US" altLang="zh-CN" sz="2000" dirty="0">
                  <a:solidFill>
                    <a:schemeClr val="bg1"/>
                  </a:solidFill>
                  <a:latin typeface="Arial" panose="020B0604020202020204" pitchFamily="34" charset="0"/>
                  <a:ea typeface="汉仪雅酷黑简" panose="00020600040101010101" charset="-122"/>
                  <a:cs typeface="Arial" panose="020B0604020202020204" pitchFamily="34" charset="0"/>
                </a:rPr>
                <a:t>03</a:t>
              </a:r>
            </a:p>
          </p:txBody>
        </p:sp>
        <p:sp>
          <p:nvSpPr>
            <p:cNvPr id="15" name="矩形 14"/>
            <p:cNvSpPr/>
            <p:nvPr/>
          </p:nvSpPr>
          <p:spPr bwMode="auto">
            <a:xfrm>
              <a:off x="815856" y="2571750"/>
              <a:ext cx="142691" cy="28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solidFill>
                  <a:schemeClr val="bg1"/>
                </a:solidFill>
              </a:endParaRPr>
            </a:p>
          </p:txBody>
        </p:sp>
      </p:grpSp>
      <p:grpSp>
        <p:nvGrpSpPr>
          <p:cNvPr id="16" name="组合 15"/>
          <p:cNvGrpSpPr/>
          <p:nvPr/>
        </p:nvGrpSpPr>
        <p:grpSpPr>
          <a:xfrm>
            <a:off x="723900" y="2914291"/>
            <a:ext cx="6893642" cy="417895"/>
            <a:chOff x="723900" y="2193925"/>
            <a:chExt cx="6893642" cy="417895"/>
          </a:xfrm>
        </p:grpSpPr>
        <p:sp>
          <p:nvSpPr>
            <p:cNvPr id="17" name="文本框 4"/>
            <p:cNvSpPr txBox="1">
              <a:spLocks noChangeArrowheads="1"/>
            </p:cNvSpPr>
            <p:nvPr/>
          </p:nvSpPr>
          <p:spPr bwMode="auto">
            <a:xfrm>
              <a:off x="1190700" y="2211710"/>
              <a:ext cx="6426842" cy="400110"/>
            </a:xfrm>
            <a:prstGeom prst="rect">
              <a:avLst/>
            </a:prstGeom>
            <a:noFill/>
            <a:ln w="9525">
              <a:noFill/>
              <a:miter lim="800000"/>
            </a:ln>
          </p:spPr>
          <p:txBody>
            <a:bodyPr wrap="square">
              <a:spAutoFit/>
            </a:bodyPr>
            <a:lstStyle/>
            <a:p>
              <a:r>
                <a:rPr lang="zh-CN" altLang="en-US" sz="2000" b="1" dirty="0">
                  <a:solidFill>
                    <a:schemeClr val="bg1"/>
                  </a:solidFill>
                  <a:latin typeface="思源黑体 CN Regular" panose="020B0500000000000000" charset="-122"/>
                  <a:ea typeface="思源黑体 CN Regular" panose="020B0500000000000000" charset="-122"/>
                </a:rPr>
                <a:t>氦气：高端氦涨价开启，卡特尔氦源长协单稀缺</a:t>
              </a:r>
            </a:p>
          </p:txBody>
        </p:sp>
        <p:sp>
          <p:nvSpPr>
            <p:cNvPr id="18" name="文本框 5"/>
            <p:cNvSpPr txBox="1">
              <a:spLocks noChangeArrowheads="1"/>
            </p:cNvSpPr>
            <p:nvPr/>
          </p:nvSpPr>
          <p:spPr bwMode="auto">
            <a:xfrm>
              <a:off x="723900" y="2193925"/>
              <a:ext cx="470000" cy="400110"/>
            </a:xfrm>
            <a:prstGeom prst="rect">
              <a:avLst/>
            </a:prstGeom>
            <a:noFill/>
            <a:ln w="9525">
              <a:noFill/>
              <a:miter lim="800000"/>
            </a:ln>
          </p:spPr>
          <p:txBody>
            <a:bodyPr wrap="none">
              <a:spAutoFit/>
            </a:bodyPr>
            <a:lstStyle/>
            <a:p>
              <a:r>
                <a:rPr lang="en-US" altLang="zh-CN" sz="2000" dirty="0">
                  <a:solidFill>
                    <a:schemeClr val="bg1"/>
                  </a:solidFill>
                  <a:latin typeface="Arial" panose="020B0604020202020204" pitchFamily="34" charset="0"/>
                  <a:ea typeface="汉仪雅酷黑简" panose="00020600040101010101" charset="-122"/>
                  <a:cs typeface="Arial" panose="020B0604020202020204" pitchFamily="34" charset="0"/>
                </a:rPr>
                <a:t>04</a:t>
              </a:r>
            </a:p>
          </p:txBody>
        </p:sp>
        <p:sp>
          <p:nvSpPr>
            <p:cNvPr id="19" name="矩形 18"/>
            <p:cNvSpPr/>
            <p:nvPr/>
          </p:nvSpPr>
          <p:spPr bwMode="auto">
            <a:xfrm>
              <a:off x="815856" y="2571750"/>
              <a:ext cx="142691" cy="28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solidFill>
                  <a:schemeClr val="bg1"/>
                </a:solidFill>
              </a:endParaRPr>
            </a:p>
          </p:txBody>
        </p:sp>
      </p:grpSp>
      <p:grpSp>
        <p:nvGrpSpPr>
          <p:cNvPr id="24" name="组合 23"/>
          <p:cNvGrpSpPr/>
          <p:nvPr/>
        </p:nvGrpSpPr>
        <p:grpSpPr>
          <a:xfrm>
            <a:off x="723900" y="3531911"/>
            <a:ext cx="3056012" cy="417895"/>
            <a:chOff x="723900" y="2193925"/>
            <a:chExt cx="3056012" cy="417895"/>
          </a:xfrm>
        </p:grpSpPr>
        <p:sp>
          <p:nvSpPr>
            <p:cNvPr id="25" name="文本框 4"/>
            <p:cNvSpPr txBox="1">
              <a:spLocks noChangeArrowheads="1"/>
            </p:cNvSpPr>
            <p:nvPr/>
          </p:nvSpPr>
          <p:spPr bwMode="auto">
            <a:xfrm>
              <a:off x="1190700" y="2211710"/>
              <a:ext cx="2589212" cy="400110"/>
            </a:xfrm>
            <a:prstGeom prst="rect">
              <a:avLst/>
            </a:prstGeom>
            <a:noFill/>
            <a:ln w="9525">
              <a:noFill/>
              <a:miter lim="800000"/>
            </a:ln>
          </p:spPr>
          <p:txBody>
            <a:bodyPr>
              <a:spAutoFit/>
            </a:bodyPr>
            <a:lstStyle/>
            <a:p>
              <a:r>
                <a:rPr lang="zh-CN" altLang="en-US" sz="2000" b="1" dirty="0">
                  <a:solidFill>
                    <a:schemeClr val="bg1"/>
                  </a:solidFill>
                  <a:latin typeface="思源黑体 CN Regular" panose="020B0500000000000000" charset="-122"/>
                  <a:ea typeface="思源黑体 CN Regular" panose="020B0500000000000000" charset="-122"/>
                </a:rPr>
                <a:t>盈利预测与估值讨论</a:t>
              </a:r>
            </a:p>
          </p:txBody>
        </p:sp>
        <p:sp>
          <p:nvSpPr>
            <p:cNvPr id="26" name="文本框 5"/>
            <p:cNvSpPr txBox="1">
              <a:spLocks noChangeArrowheads="1"/>
            </p:cNvSpPr>
            <p:nvPr/>
          </p:nvSpPr>
          <p:spPr bwMode="auto">
            <a:xfrm>
              <a:off x="723900" y="2193925"/>
              <a:ext cx="470000" cy="400110"/>
            </a:xfrm>
            <a:prstGeom prst="rect">
              <a:avLst/>
            </a:prstGeom>
            <a:noFill/>
            <a:ln w="9525">
              <a:noFill/>
              <a:miter lim="800000"/>
            </a:ln>
          </p:spPr>
          <p:txBody>
            <a:bodyPr wrap="none">
              <a:spAutoFit/>
            </a:bodyPr>
            <a:lstStyle/>
            <a:p>
              <a:r>
                <a:rPr lang="en-US" altLang="zh-CN" sz="2000" dirty="0">
                  <a:solidFill>
                    <a:schemeClr val="bg1"/>
                  </a:solidFill>
                  <a:latin typeface="Arial" panose="020B0604020202020204" pitchFamily="34" charset="0"/>
                  <a:ea typeface="汉仪雅酷黑简" panose="00020600040101010101" charset="-122"/>
                  <a:cs typeface="Arial" panose="020B0604020202020204" pitchFamily="34" charset="0"/>
                </a:rPr>
                <a:t>05</a:t>
              </a:r>
            </a:p>
          </p:txBody>
        </p:sp>
        <p:sp>
          <p:nvSpPr>
            <p:cNvPr id="27" name="矩形 26"/>
            <p:cNvSpPr/>
            <p:nvPr/>
          </p:nvSpPr>
          <p:spPr bwMode="auto">
            <a:xfrm>
              <a:off x="815856" y="2571750"/>
              <a:ext cx="142691" cy="28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solidFill>
                  <a:schemeClr val="bg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507B2D-C197-3D7F-4088-79755527D3C4}"/>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xmlns="" id="{BBEFC641-CAB1-755C-DC2A-56BEE12F6E08}"/>
              </a:ext>
            </a:extLst>
          </p:cNvPr>
          <p:cNvGrpSpPr/>
          <p:nvPr/>
        </p:nvGrpSpPr>
        <p:grpSpPr>
          <a:xfrm>
            <a:off x="779630" y="1222042"/>
            <a:ext cx="7992888" cy="2152585"/>
            <a:chOff x="1763688" y="1403470"/>
            <a:chExt cx="7992888" cy="2152585"/>
          </a:xfrm>
        </p:grpSpPr>
        <p:sp>
          <p:nvSpPr>
            <p:cNvPr id="4" name="文本框 1">
              <a:extLst>
                <a:ext uri="{FF2B5EF4-FFF2-40B4-BE49-F238E27FC236}">
                  <a16:creationId xmlns:a16="http://schemas.microsoft.com/office/drawing/2014/main" xmlns="" id="{E31A880F-2CF3-399C-8474-C54ECBA3658E}"/>
                </a:ext>
              </a:extLst>
            </p:cNvPr>
            <p:cNvSpPr txBox="1"/>
            <p:nvPr/>
          </p:nvSpPr>
          <p:spPr>
            <a:xfrm>
              <a:off x="1763688" y="1403470"/>
              <a:ext cx="1326004" cy="1323439"/>
            </a:xfrm>
            <a:prstGeom prst="rect">
              <a:avLst/>
            </a:prstGeom>
            <a:noFill/>
            <a:ln w="9525">
              <a:noFill/>
              <a:miter/>
            </a:ln>
          </p:spPr>
          <p:txBody>
            <a:bodyPr wrap="none" anchor="t">
              <a:spAutoFit/>
            </a:bodyPr>
            <a:lstStyle/>
            <a:p>
              <a:pPr lvl="0"/>
              <a:r>
                <a:rPr lang="en-US" altLang="zh-CN" sz="8000" b="1" dirty="0">
                  <a:solidFill>
                    <a:schemeClr val="bg1"/>
                  </a:solidFill>
                  <a:latin typeface="Arial" panose="020B0604020202020204" pitchFamily="34" charset="0"/>
                  <a:ea typeface="思源黑体 CN Regular" panose="020B0500000000000000" charset="-122"/>
                  <a:cs typeface="Arial" panose="020B0604020202020204" pitchFamily="34" charset="0"/>
                </a:rPr>
                <a:t>01</a:t>
              </a:r>
              <a:endParaRPr lang="en-US" altLang="zh-CN" sz="96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5" name="文本框 2">
              <a:extLst>
                <a:ext uri="{FF2B5EF4-FFF2-40B4-BE49-F238E27FC236}">
                  <a16:creationId xmlns:a16="http://schemas.microsoft.com/office/drawing/2014/main" xmlns="" id="{E133001F-4AE8-0A19-1AB6-C19C38848C3C}"/>
                </a:ext>
              </a:extLst>
            </p:cNvPr>
            <p:cNvSpPr txBox="1"/>
            <p:nvPr/>
          </p:nvSpPr>
          <p:spPr>
            <a:xfrm>
              <a:off x="2987824" y="2355726"/>
              <a:ext cx="6768752" cy="1200329"/>
            </a:xfrm>
            <a:prstGeom prst="rect">
              <a:avLst/>
            </a:prstGeom>
            <a:noFill/>
            <a:ln w="9525">
              <a:noFill/>
              <a:miter/>
            </a:ln>
          </p:spPr>
          <p:txBody>
            <a:bodyPr wrap="square" anchor="t">
              <a:spAutoFit/>
            </a:bodyPr>
            <a:lstStyle/>
            <a:p>
              <a:pPr lvl="0"/>
              <a:r>
                <a:rPr lang="zh-CN" altLang="en-US" sz="3600" b="1" dirty="0">
                  <a:solidFill>
                    <a:schemeClr val="bg1"/>
                  </a:solidFill>
                  <a:latin typeface="思源黑体 CN Regular" panose="020B0500000000000000" charset="-122"/>
                  <a:ea typeface="思源黑体 CN Regular" panose="020B0500000000000000" charset="-122"/>
                </a:rPr>
                <a:t>公司地位与业务：电子大宗国产龙头，管理与激励优质</a:t>
              </a:r>
            </a:p>
          </p:txBody>
        </p:sp>
        <p:cxnSp>
          <p:nvCxnSpPr>
            <p:cNvPr id="7" name="直线连接符 3">
              <a:extLst>
                <a:ext uri="{FF2B5EF4-FFF2-40B4-BE49-F238E27FC236}">
                  <a16:creationId xmlns:a16="http://schemas.microsoft.com/office/drawing/2014/main" xmlns="" id="{7B76A91B-8A9B-B349-A845-0E71BCCC113F}"/>
                </a:ext>
              </a:extLst>
            </p:cNvPr>
            <p:cNvCxnSpPr/>
            <p:nvPr/>
          </p:nvCxnSpPr>
          <p:spPr>
            <a:xfrm flipV="1">
              <a:off x="2280539" y="1774653"/>
              <a:ext cx="1283349" cy="1390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52612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01</a:t>
            </a:r>
            <a:endParaRPr lang="zh-CN" altLang="en-US" sz="3200"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nvSpPr>
        <p:spPr>
          <a:xfrm>
            <a:off x="867144" y="442182"/>
            <a:ext cx="9418549" cy="369332"/>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公司行业地位与发展历程</a:t>
            </a:r>
          </a:p>
        </p:txBody>
      </p:sp>
      <p:sp>
        <p:nvSpPr>
          <p:cNvPr id="4" name="文本框 4"/>
          <p:cNvSpPr txBox="1"/>
          <p:nvPr/>
        </p:nvSpPr>
        <p:spPr>
          <a:xfrm>
            <a:off x="194797" y="883965"/>
            <a:ext cx="8747809" cy="1169551"/>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a:spcBef>
                <a:spcPts val="600"/>
              </a:spcBef>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公司地位与历史：脱胎于全球气体巨头林德，电子大宗气体综合服务龙头，新增市场占有率</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50%</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Bef>
                <a:spcPts val="600"/>
              </a:spcBef>
              <a:buFont typeface="Wingdings" panose="05000000000000000000" pitchFamily="2" charset="2"/>
              <a:buChar char="ü"/>
            </a:pPr>
            <a:r>
              <a:rPr lang="en-US" altLang="zh-CN" sz="1100" dirty="0">
                <a:latin typeface="Arial" panose="020B0604020202020204" pitchFamily="34" charset="0"/>
                <a:ea typeface="思源黑体 Heavy" panose="020B0A00000000000000" pitchFamily="34" charset="-122"/>
                <a:cs typeface="Arial" panose="020B0604020202020204" pitchFamily="34" charset="0"/>
              </a:rPr>
              <a:t>1991</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年：引进外资林德成为国内首家合资气体公司，依托世界一流气体厂商合作运营经验，在电子大宗气体领域快速发展；</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Bef>
                <a:spcPts val="600"/>
              </a:spcBef>
              <a:buFont typeface="Wingdings" panose="05000000000000000000" pitchFamily="2" charset="2"/>
              <a:buChar char="ü"/>
            </a:pPr>
            <a:r>
              <a:rPr lang="en-US" altLang="zh-CN" sz="1100" dirty="0">
                <a:latin typeface="Arial" panose="020B0604020202020204" pitchFamily="34" charset="0"/>
                <a:ea typeface="思源黑体 Heavy" panose="020B0A00000000000000" pitchFamily="34" charset="-122"/>
                <a:cs typeface="Arial" panose="020B0604020202020204" pitchFamily="34" charset="0"/>
              </a:rPr>
              <a:t>2020</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年：林德与普莱克斯合并违反国家反垄断法，公司被剥离出来，获取四家气体运营公司股权</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氦气业务，整合资源后积极开拓半导体客户；</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Bef>
                <a:spcPts val="600"/>
              </a:spcBef>
              <a:buFont typeface="Wingdings" panose="05000000000000000000" pitchFamily="2" charset="2"/>
              <a:buChar char="ü"/>
            </a:pPr>
            <a:r>
              <a:rPr lang="en-US" altLang="zh-CN" sz="1100" dirty="0">
                <a:latin typeface="Arial" panose="020B0604020202020204" pitchFamily="34" charset="0"/>
                <a:ea typeface="思源黑体 Heavy" panose="020B0A00000000000000" pitchFamily="34" charset="-122"/>
                <a:cs typeface="Arial" panose="020B0604020202020204" pitchFamily="34" charset="0"/>
              </a:rPr>
              <a:t>2022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年至今：公司获取长鑫、青岛芯恩、武汉长存等多个大型电子综合供气合同，年化新增市场占有率近</a:t>
            </a:r>
            <a:r>
              <a:rPr lang="en-US" altLang="zh-CN" sz="1100" dirty="0">
                <a:latin typeface="Arial" panose="020B0604020202020204" pitchFamily="34" charset="0"/>
                <a:ea typeface="思源黑体 Heavy" panose="020B0A00000000000000" pitchFamily="34" charset="-122"/>
                <a:cs typeface="Arial" panose="020B0604020202020204" pitchFamily="34" charset="0"/>
              </a:rPr>
              <a:t>50%</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p>
        </p:txBody>
      </p:sp>
      <p:sp>
        <p:nvSpPr>
          <p:cNvPr id="5" name="矩形 4"/>
          <p:cNvSpPr/>
          <p:nvPr/>
        </p:nvSpPr>
        <p:spPr>
          <a:xfrm>
            <a:off x="-1611370" y="2046510"/>
            <a:ext cx="12192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图：发展历史：脱胎于林德，电子大宗气体国产龙头</a:t>
            </a:r>
          </a:p>
        </p:txBody>
      </p:sp>
      <p:grpSp>
        <p:nvGrpSpPr>
          <p:cNvPr id="6" name="组合 5"/>
          <p:cNvGrpSpPr/>
          <p:nvPr/>
        </p:nvGrpSpPr>
        <p:grpSpPr bwMode="auto">
          <a:xfrm>
            <a:off x="342000" y="2333186"/>
            <a:ext cx="8452237" cy="2368132"/>
            <a:chOff x="539" y="3686"/>
            <a:chExt cx="14457" cy="6064"/>
          </a:xfrm>
        </p:grpSpPr>
        <p:sp>
          <p:nvSpPr>
            <p:cNvPr id="7" name="五边形 1"/>
            <p:cNvSpPr>
              <a:spLocks noChangeArrowheads="1"/>
            </p:cNvSpPr>
            <p:nvPr/>
          </p:nvSpPr>
          <p:spPr bwMode="auto">
            <a:xfrm>
              <a:off x="539" y="3686"/>
              <a:ext cx="4706" cy="1123"/>
            </a:xfrm>
            <a:prstGeom prst="homePlate">
              <a:avLst>
                <a:gd name="adj" fmla="val 49827"/>
              </a:avLst>
            </a:prstGeom>
            <a:solidFill>
              <a:schemeClr val="tx2">
                <a:lumMod val="20000"/>
                <a:lumOff val="80000"/>
              </a:schemeClr>
            </a:solid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900" b="1" dirty="0">
                  <a:latin typeface="Arial" panose="020B0604020202020204" pitchFamily="34" charset="0"/>
                  <a:ea typeface="+mn-ea"/>
                  <a:cs typeface="Arial" panose="020B0604020202020204" pitchFamily="34" charset="0"/>
                </a:rPr>
                <a:t>分厂经营</a:t>
              </a:r>
            </a:p>
            <a:p>
              <a:pPr algn="ctr" defTabSz="914400">
                <a:defRPr/>
              </a:pPr>
              <a:r>
                <a:rPr lang="zh-CN" altLang="en-US" sz="900" b="1" dirty="0">
                  <a:latin typeface="Arial" panose="020B0604020202020204" pitchFamily="34" charset="0"/>
                  <a:ea typeface="+mn-ea"/>
                  <a:cs typeface="Arial" panose="020B0604020202020204" pitchFamily="34" charset="0"/>
                </a:rPr>
                <a:t>奠定基础</a:t>
              </a:r>
            </a:p>
            <a:p>
              <a:pPr algn="ctr" defTabSz="914400">
                <a:defRPr/>
              </a:pPr>
              <a:r>
                <a:rPr lang="zh-CN" altLang="en-US" sz="900" b="1" dirty="0">
                  <a:latin typeface="Arial" panose="020B0604020202020204" pitchFamily="34" charset="0"/>
                  <a:ea typeface="+mn-ea"/>
                  <a:cs typeface="Arial" panose="020B0604020202020204" pitchFamily="34" charset="0"/>
                </a:rPr>
                <a:t>（</a:t>
              </a:r>
              <a:r>
                <a:rPr lang="en-US" altLang="zh-CN" sz="900" b="1" dirty="0">
                  <a:latin typeface="Arial" panose="020B0604020202020204" pitchFamily="34" charset="0"/>
                  <a:ea typeface="+mn-ea"/>
                  <a:cs typeface="Arial" panose="020B0604020202020204" pitchFamily="34" charset="0"/>
                </a:rPr>
                <a:t>1969-1990</a:t>
              </a:r>
              <a:r>
                <a:rPr lang="zh-CN" altLang="en-US" sz="900" b="1" dirty="0">
                  <a:latin typeface="Arial" panose="020B0604020202020204" pitchFamily="34" charset="0"/>
                  <a:ea typeface="+mn-ea"/>
                  <a:cs typeface="Arial" panose="020B0604020202020204" pitchFamily="34" charset="0"/>
                </a:rPr>
                <a:t>年）</a:t>
              </a:r>
            </a:p>
          </p:txBody>
        </p:sp>
        <p:sp>
          <p:nvSpPr>
            <p:cNvPr id="8" name="燕尾形 2"/>
            <p:cNvSpPr>
              <a:spLocks noChangeArrowheads="1"/>
            </p:cNvSpPr>
            <p:nvPr/>
          </p:nvSpPr>
          <p:spPr bwMode="auto">
            <a:xfrm>
              <a:off x="5417" y="3686"/>
              <a:ext cx="4703" cy="1123"/>
            </a:xfrm>
            <a:prstGeom prst="chevron">
              <a:avLst>
                <a:gd name="adj" fmla="val 49836"/>
              </a:avLst>
            </a:prstGeom>
            <a:solidFill>
              <a:schemeClr val="tx2">
                <a:lumMod val="20000"/>
                <a:lumOff val="80000"/>
              </a:schemeClr>
            </a:solid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fontAlgn="base">
                <a:spcBef>
                  <a:spcPct val="0"/>
                </a:spcBef>
                <a:spcAft>
                  <a:spcPct val="0"/>
                </a:spcAft>
              </a:pPr>
              <a:r>
                <a:rPr lang="zh-CN" altLang="en-US" sz="900" b="1" dirty="0">
                  <a:latin typeface="Arial" panose="020B0604020202020204" pitchFamily="34" charset="0"/>
                  <a:ea typeface="+mn-ea"/>
                  <a:cs typeface="Arial" panose="020B0604020202020204" pitchFamily="34" charset="0"/>
                </a:rPr>
                <a:t>引进外资</a:t>
              </a:r>
            </a:p>
            <a:p>
              <a:pPr algn="ctr" fontAlgn="base">
                <a:spcBef>
                  <a:spcPct val="0"/>
                </a:spcBef>
                <a:spcAft>
                  <a:spcPct val="0"/>
                </a:spcAft>
              </a:pPr>
              <a:r>
                <a:rPr lang="zh-CN" altLang="en-US" sz="900" b="1" dirty="0">
                  <a:latin typeface="Arial" panose="020B0604020202020204" pitchFamily="34" charset="0"/>
                  <a:ea typeface="+mn-ea"/>
                  <a:cs typeface="Arial" panose="020B0604020202020204" pitchFamily="34" charset="0"/>
                </a:rPr>
                <a:t>合作发展</a:t>
              </a:r>
            </a:p>
            <a:p>
              <a:pPr algn="ctr" fontAlgn="base">
                <a:spcBef>
                  <a:spcPct val="0"/>
                </a:spcBef>
                <a:spcAft>
                  <a:spcPct val="0"/>
                </a:spcAft>
              </a:pPr>
              <a:r>
                <a:rPr lang="zh-CN" altLang="en-US" sz="900" b="1" dirty="0">
                  <a:latin typeface="Arial" panose="020B0604020202020204" pitchFamily="34" charset="0"/>
                  <a:ea typeface="+mn-ea"/>
                  <a:cs typeface="Arial" panose="020B0604020202020204" pitchFamily="34" charset="0"/>
                </a:rPr>
                <a:t>（</a:t>
              </a:r>
              <a:r>
                <a:rPr lang="en-US" altLang="zh-CN" sz="900" b="1" dirty="0">
                  <a:latin typeface="Arial" panose="020B0604020202020204" pitchFamily="34" charset="0"/>
                  <a:ea typeface="+mn-ea"/>
                  <a:cs typeface="Arial" panose="020B0604020202020204" pitchFamily="34" charset="0"/>
                </a:rPr>
                <a:t>1991-2014</a:t>
              </a:r>
              <a:r>
                <a:rPr lang="zh-CN" altLang="en-US" sz="900" b="1" dirty="0">
                  <a:latin typeface="Arial" panose="020B0604020202020204" pitchFamily="34" charset="0"/>
                  <a:ea typeface="+mn-ea"/>
                  <a:cs typeface="Arial" panose="020B0604020202020204" pitchFamily="34" charset="0"/>
                </a:rPr>
                <a:t>年）</a:t>
              </a:r>
            </a:p>
          </p:txBody>
        </p:sp>
        <p:sp>
          <p:nvSpPr>
            <p:cNvPr id="10" name="燕尾形 3"/>
            <p:cNvSpPr>
              <a:spLocks noChangeArrowheads="1"/>
            </p:cNvSpPr>
            <p:nvPr/>
          </p:nvSpPr>
          <p:spPr bwMode="auto">
            <a:xfrm>
              <a:off x="10293" y="3686"/>
              <a:ext cx="4703" cy="1123"/>
            </a:xfrm>
            <a:prstGeom prst="chevron">
              <a:avLst>
                <a:gd name="adj" fmla="val 49836"/>
              </a:avLst>
            </a:prstGeom>
            <a:solidFill>
              <a:schemeClr val="tx2">
                <a:lumMod val="20000"/>
                <a:lumOff val="80000"/>
              </a:schemeClr>
            </a:solid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fontAlgn="base">
                <a:spcBef>
                  <a:spcPct val="0"/>
                </a:spcBef>
                <a:spcAft>
                  <a:spcPct val="0"/>
                </a:spcAft>
              </a:pPr>
              <a:r>
                <a:rPr lang="zh-CN" altLang="en-US" sz="900" b="1" dirty="0">
                  <a:latin typeface="Arial" panose="020B0604020202020204" pitchFamily="34" charset="0"/>
                  <a:cs typeface="Arial" panose="020B0604020202020204" pitchFamily="34" charset="0"/>
                </a:rPr>
                <a:t>产业发展</a:t>
              </a:r>
            </a:p>
            <a:p>
              <a:pPr algn="ctr" fontAlgn="base">
                <a:spcBef>
                  <a:spcPct val="0"/>
                </a:spcBef>
                <a:spcAft>
                  <a:spcPct val="0"/>
                </a:spcAft>
              </a:pPr>
              <a:r>
                <a:rPr lang="zh-CN" altLang="en-US" sz="900" b="1" dirty="0">
                  <a:latin typeface="Arial" panose="020B0604020202020204" pitchFamily="34" charset="0"/>
                  <a:cs typeface="Arial" panose="020B0604020202020204" pitchFamily="34" charset="0"/>
                </a:rPr>
                <a:t>国产替代</a:t>
              </a:r>
            </a:p>
            <a:p>
              <a:pPr algn="ctr" fontAlgn="base">
                <a:spcBef>
                  <a:spcPct val="0"/>
                </a:spcBef>
                <a:spcAft>
                  <a:spcPct val="0"/>
                </a:spcAft>
              </a:pPr>
              <a:r>
                <a:rPr lang="zh-CN" altLang="en-US" sz="900" b="1" dirty="0">
                  <a:latin typeface="Arial" panose="020B0604020202020204" pitchFamily="34" charset="0"/>
                  <a:cs typeface="Arial" panose="020B0604020202020204" pitchFamily="34" charset="0"/>
                </a:rPr>
                <a:t>（</a:t>
              </a:r>
              <a:r>
                <a:rPr lang="en-US" altLang="zh-CN" sz="900" b="1" dirty="0">
                  <a:latin typeface="Arial" panose="020B0604020202020204" pitchFamily="34" charset="0"/>
                  <a:cs typeface="Arial" panose="020B0604020202020204" pitchFamily="34" charset="0"/>
                </a:rPr>
                <a:t>2014</a:t>
              </a:r>
              <a:r>
                <a:rPr lang="zh-CN" altLang="en-US" sz="900" b="1" dirty="0">
                  <a:latin typeface="Arial" panose="020B0604020202020204" pitchFamily="34" charset="0"/>
                  <a:cs typeface="Arial" panose="020B0604020202020204" pitchFamily="34" charset="0"/>
                </a:rPr>
                <a:t>年</a:t>
              </a:r>
              <a:r>
                <a:rPr lang="en-US" altLang="zh-CN" sz="900" b="1" dirty="0">
                  <a:latin typeface="Arial" panose="020B0604020202020204" pitchFamily="34" charset="0"/>
                  <a:cs typeface="Arial" panose="020B0604020202020204" pitchFamily="34" charset="0"/>
                </a:rPr>
                <a:t>-</a:t>
              </a:r>
              <a:r>
                <a:rPr lang="zh-CN" altLang="en-US" sz="900" b="1" dirty="0">
                  <a:latin typeface="Arial" panose="020B0604020202020204" pitchFamily="34" charset="0"/>
                  <a:cs typeface="Arial" panose="020B0604020202020204" pitchFamily="34" charset="0"/>
                </a:rPr>
                <a:t>至今）</a:t>
              </a:r>
            </a:p>
          </p:txBody>
        </p:sp>
        <p:sp>
          <p:nvSpPr>
            <p:cNvPr id="11" name="圆角矩形 5"/>
            <p:cNvSpPr>
              <a:spLocks noChangeArrowheads="1"/>
            </p:cNvSpPr>
            <p:nvPr/>
          </p:nvSpPr>
          <p:spPr bwMode="auto">
            <a:xfrm>
              <a:off x="642" y="5046"/>
              <a:ext cx="4501" cy="4704"/>
            </a:xfrm>
            <a:prstGeom prst="roundRect">
              <a:avLst>
                <a:gd name="adj" fmla="val 16667"/>
              </a:avLst>
            </a:prstGeom>
            <a:noFill/>
            <a:ln w="19050">
              <a:solidFill>
                <a:srgbClr val="000000"/>
              </a:solid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defTabSz="914400">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1969</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a:t>
              </a:r>
              <a:r>
                <a:rPr lang="zh-CN" altLang="en-US" sz="800" dirty="0">
                  <a:latin typeface="Arial" panose="020B0604020202020204" pitchFamily="34" charset="0"/>
                  <a:ea typeface="思源黑体 Heavy" panose="020B0A00000000000000" pitchFamily="34" charset="-122"/>
                  <a:cs typeface="Arial" panose="020B0604020202020204" pitchFamily="34" charset="0"/>
                </a:rPr>
                <a:t>最早起源于广州钢铁厂，作为配套的气体分厂，广州第一套空分装置投产，开始从事工业气体的生产和运营。</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12" name="圆角矩形 9"/>
            <p:cNvSpPr>
              <a:spLocks noChangeArrowheads="1"/>
            </p:cNvSpPr>
            <p:nvPr/>
          </p:nvSpPr>
          <p:spPr bwMode="auto">
            <a:xfrm>
              <a:off x="5417" y="5046"/>
              <a:ext cx="4601" cy="4704"/>
            </a:xfrm>
            <a:prstGeom prst="roundRect">
              <a:avLst>
                <a:gd name="adj" fmla="val 16667"/>
              </a:avLst>
            </a:prstGeom>
            <a:noFill/>
            <a:ln w="19050">
              <a:solidFill>
                <a:srgbClr val="000000"/>
              </a:solid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defTabSz="914400">
                <a:spcAft>
                  <a:spcPts val="200"/>
                </a:spcAft>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1991</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：广州钢铁有限公司与林德港氧合资设立港粤气体，</a:t>
              </a:r>
              <a:r>
                <a:rPr lang="zh-CN" altLang="en-US" sz="800" dirty="0">
                  <a:latin typeface="Arial" panose="020B0604020202020204" pitchFamily="34" charset="0"/>
                  <a:ea typeface="思源黑体 Heavy" panose="020B0A00000000000000" pitchFamily="34" charset="-122"/>
                  <a:cs typeface="Arial" panose="020B0604020202020204" pitchFamily="34" charset="0"/>
                </a:rPr>
                <a:t>成为国内首批中外合资的气体公司之一，开启气体专业化发展。</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defTabSz="914400">
                <a:spcAft>
                  <a:spcPts val="200"/>
                </a:spcAft>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2011</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：中国面板起步元年，公司中标华星光电</a:t>
              </a:r>
              <a:r>
                <a:rPr lang="en-US" altLang="zh-CN" sz="800" b="1" dirty="0">
                  <a:latin typeface="Arial" panose="020B0604020202020204" pitchFamily="34" charset="0"/>
                  <a:ea typeface="思源黑体 Heavy" panose="020B0A00000000000000" pitchFamily="34" charset="-122"/>
                  <a:cs typeface="Arial" panose="020B0604020202020204" pitchFamily="34" charset="0"/>
                </a:rPr>
                <a:t>T1</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项目。</a:t>
              </a:r>
              <a:r>
                <a:rPr lang="zh-CN" altLang="en-US" sz="800" dirty="0">
                  <a:latin typeface="Arial" panose="020B0604020202020204" pitchFamily="34" charset="0"/>
                  <a:ea typeface="思源黑体 Heavy" panose="020B0A00000000000000" pitchFamily="34" charset="-122"/>
                  <a:cs typeface="Arial" panose="020B0604020202020204" pitchFamily="34" charset="0"/>
                </a:rPr>
                <a:t>珠江气体、广州广钢、深圳广钢等与林德气体合作的现场制气项目公司相继成立，打造华南区域的专业气体品牌。</a:t>
              </a:r>
            </a:p>
            <a:p>
              <a:pPr marL="285750" indent="-285750" algn="just" defTabSz="914400">
                <a:spcAft>
                  <a:spcPts val="200"/>
                </a:spcAft>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2014</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：成立气体有限作为整合气体业务的控股型平台；</a:t>
              </a:r>
              <a:r>
                <a:rPr lang="zh-CN" altLang="en-US" sz="800" dirty="0">
                  <a:latin typeface="Arial" panose="020B0604020202020204" pitchFamily="34" charset="0"/>
                  <a:ea typeface="思源黑体 Heavy" panose="020B0A00000000000000" pitchFamily="34" charset="-122"/>
                  <a:cs typeface="Arial" panose="020B0604020202020204" pitchFamily="34" charset="0"/>
                </a:rPr>
                <a:t>通过自主研发形成ppb级超高纯电子大宗气体供应的核心技术。</a:t>
              </a:r>
            </a:p>
          </p:txBody>
        </p:sp>
        <p:sp>
          <p:nvSpPr>
            <p:cNvPr id="13" name="圆角矩形 10"/>
            <p:cNvSpPr>
              <a:spLocks noChangeArrowheads="1"/>
            </p:cNvSpPr>
            <p:nvPr/>
          </p:nvSpPr>
          <p:spPr bwMode="auto">
            <a:xfrm>
              <a:off x="10292" y="5046"/>
              <a:ext cx="4604" cy="4704"/>
            </a:xfrm>
            <a:prstGeom prst="roundRect">
              <a:avLst>
                <a:gd name="adj" fmla="val 16667"/>
              </a:avLst>
            </a:prstGeom>
            <a:noFill/>
            <a:ln w="19050">
              <a:solidFill>
                <a:srgbClr val="000000"/>
              </a:solid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defTabSz="914400">
                <a:spcAft>
                  <a:spcPts val="200"/>
                </a:spcAft>
                <a:buFont typeface="Arial" panose="020B0604020202020204" pitchFamily="34" charset="0"/>
                <a:buChar char="•"/>
                <a:defRPr/>
              </a:pPr>
              <a:r>
                <a:rPr lang="zh-CN" altLang="en-US" sz="800" b="1" dirty="0">
                  <a:latin typeface="Arial" panose="020B0604020202020204" pitchFamily="34" charset="0"/>
                  <a:ea typeface="思源黑体 Heavy" panose="020B0A00000000000000" pitchFamily="34" charset="-122"/>
                  <a:cs typeface="Arial" panose="020B0604020202020204" pitchFamily="34" charset="0"/>
                </a:rPr>
                <a:t>2018：</a:t>
              </a:r>
              <a:r>
                <a:rPr lang="zh-CN" altLang="en-US" sz="800" dirty="0">
                  <a:latin typeface="Arial" panose="020B0604020202020204" pitchFamily="34" charset="0"/>
                  <a:ea typeface="思源黑体 Heavy" panose="020B0A00000000000000" pitchFamily="34" charset="-122"/>
                  <a:cs typeface="Arial" panose="020B0604020202020204" pitchFamily="34" charset="0"/>
                </a:rPr>
                <a:t>中标惠科股份现场制气项目，打破了外资气体公司在国内市场的垄断格局。</a:t>
              </a:r>
            </a:p>
            <a:p>
              <a:pPr marL="285750" indent="-285750" algn="just" defTabSz="914400">
                <a:spcAft>
                  <a:spcPts val="200"/>
                </a:spcAft>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2020</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：取得林德气体与普莱克斯合并时国家反垄断要求剥离的氦气业务以及广州广钢、深圳广钢、珠江气体、粤港气体四家合资公司的控股权，</a:t>
              </a:r>
              <a:r>
                <a:rPr lang="zh-CN" altLang="en-US" sz="800" dirty="0">
                  <a:latin typeface="Arial" panose="020B0604020202020204" pitchFamily="34" charset="0"/>
                  <a:ea typeface="思源黑体 Heavy" panose="020B0A00000000000000" pitchFamily="34" charset="-122"/>
                  <a:cs typeface="Arial" panose="020B0604020202020204" pitchFamily="34" charset="0"/>
                </a:rPr>
                <a:t>打造自主可控的氦气供应体系，加速向国内电子半导体领域龙头客户渗透。</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defTabSz="914400">
                <a:spcAft>
                  <a:spcPts val="200"/>
                </a:spcAft>
                <a:buFont typeface="Arial" panose="020B0604020202020204" pitchFamily="34" charset="0"/>
                <a:buChar char="•"/>
                <a:defRPr/>
              </a:pPr>
              <a:r>
                <a:rPr lang="en-US" altLang="zh-CN" sz="800" b="1" dirty="0">
                  <a:latin typeface="Arial" panose="020B0604020202020204" pitchFamily="34" charset="0"/>
                  <a:ea typeface="思源黑体 Heavy" panose="020B0A00000000000000" pitchFamily="34" charset="-122"/>
                  <a:cs typeface="Arial" panose="020B0604020202020204" pitchFamily="34" charset="0"/>
                </a:rPr>
                <a:t>2022</a:t>
              </a:r>
              <a:r>
                <a:rPr lang="zh-CN" altLang="en-US" sz="800" b="1" dirty="0">
                  <a:latin typeface="Arial" panose="020B0604020202020204" pitchFamily="34" charset="0"/>
                  <a:ea typeface="思源黑体 Heavy" panose="020B0A00000000000000" pitchFamily="34" charset="-122"/>
                  <a:cs typeface="Arial" panose="020B0604020202020204" pitchFamily="34" charset="0"/>
                </a:rPr>
                <a:t>：获取长鑫、青岛芯恩等大型电子气体项目，新增市场市占率达近</a:t>
              </a:r>
              <a:r>
                <a:rPr lang="en-US" altLang="zh-CN" sz="800" b="1" dirty="0">
                  <a:latin typeface="Arial" panose="020B0604020202020204" pitchFamily="34" charset="0"/>
                  <a:ea typeface="思源黑体 Heavy" panose="020B0A00000000000000" pitchFamily="34" charset="-122"/>
                  <a:cs typeface="Arial" panose="020B0604020202020204" pitchFamily="34" charset="0"/>
                </a:rPr>
                <a:t>50%</a:t>
              </a:r>
            </a:p>
            <a:p>
              <a:pPr marL="285750" indent="-285750" algn="just" defTabSz="914400">
                <a:spcAft>
                  <a:spcPts val="200"/>
                </a:spcAft>
                <a:buFont typeface="Arial" panose="020B0604020202020204" pitchFamily="34" charset="0"/>
                <a:buChar char="•"/>
                <a:defRPr/>
              </a:pPr>
              <a:r>
                <a:rPr lang="en-US" altLang="zh-CN"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2024</a:t>
              </a:r>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：首次获取武汉长存项目</a:t>
              </a:r>
              <a:r>
                <a:rPr lang="en-US" altLang="zh-CN"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a:t>
              </a:r>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万方，打破液空、林德对长存体系的气体供应垄断地位；当年新增市占率超</a:t>
              </a:r>
              <a:r>
                <a:rPr lang="en-US" altLang="zh-CN"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40%</a:t>
              </a:r>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p>
          </p:txBody>
        </p:sp>
      </p:grpSp>
    </p:spTree>
    <p:extLst>
      <p:ext uri="{BB962C8B-B14F-4D97-AF65-F5344CB8AC3E}">
        <p14:creationId xmlns:p14="http://schemas.microsoft.com/office/powerpoint/2010/main" val="2243772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直接箭头连接符 54"/>
          <p:cNvCxnSpPr>
            <a:cxnSpLocks noChangeShapeType="1"/>
          </p:cNvCxnSpPr>
          <p:nvPr/>
        </p:nvCxnSpPr>
        <p:spPr bwMode="auto">
          <a:xfrm flipV="1">
            <a:off x="2530279" y="4001087"/>
            <a:ext cx="2361511" cy="1102"/>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11" name="标题 1"/>
          <p:cNvSpPr>
            <a:spLocks noGrp="1"/>
          </p:cNvSpPr>
          <p:nvPr/>
        </p:nvSpPr>
        <p:spPr>
          <a:xfrm>
            <a:off x="849083" y="376937"/>
            <a:ext cx="6471157"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公司战略：全产业链布局，具备潜在电子综合气体运营厂商能力</a:t>
            </a:r>
          </a:p>
        </p:txBody>
      </p:sp>
      <p:grpSp>
        <p:nvGrpSpPr>
          <p:cNvPr id="13" name="组合 12"/>
          <p:cNvGrpSpPr/>
          <p:nvPr/>
        </p:nvGrpSpPr>
        <p:grpSpPr>
          <a:xfrm>
            <a:off x="408825" y="894611"/>
            <a:ext cx="8437668" cy="3871952"/>
            <a:chOff x="872943" y="950342"/>
            <a:chExt cx="10666029" cy="5584673"/>
          </a:xfrm>
        </p:grpSpPr>
        <p:sp>
          <p:nvSpPr>
            <p:cNvPr id="14" name="文本框 56"/>
            <p:cNvSpPr txBox="1"/>
            <p:nvPr/>
          </p:nvSpPr>
          <p:spPr>
            <a:xfrm>
              <a:off x="8655363" y="950342"/>
              <a:ext cx="810476" cy="3077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400" b="1"/>
              </a:lvl1pPr>
            </a:lstStyle>
            <a:p>
              <a:r>
                <a:rPr lang="zh-CN" altLang="en-US" dirty="0">
                  <a:latin typeface="Arial" panose="020B0604020202020204" pitchFamily="34" charset="0"/>
                </a:rPr>
                <a:t>业务策略</a:t>
              </a:r>
            </a:p>
          </p:txBody>
        </p:sp>
        <p:grpSp>
          <p:nvGrpSpPr>
            <p:cNvPr id="15" name="组合 14"/>
            <p:cNvGrpSpPr/>
            <p:nvPr/>
          </p:nvGrpSpPr>
          <p:grpSpPr>
            <a:xfrm>
              <a:off x="872943" y="1363314"/>
              <a:ext cx="6595889" cy="5148939"/>
              <a:chOff x="1435395" y="1137891"/>
              <a:chExt cx="6595889" cy="5534518"/>
            </a:xfrm>
          </p:grpSpPr>
          <p:sp>
            <p:nvSpPr>
              <p:cNvPr id="28" name="矩形 27"/>
              <p:cNvSpPr/>
              <p:nvPr/>
            </p:nvSpPr>
            <p:spPr>
              <a:xfrm>
                <a:off x="1435395" y="1137891"/>
                <a:ext cx="6595889" cy="3771931"/>
              </a:xfrm>
              <a:prstGeom prst="rect">
                <a:avLst/>
              </a:prstGeom>
              <a:noFill/>
              <a:ln w="19050" cap="flat">
                <a:solidFill>
                  <a:schemeClr val="accent1">
                    <a:lumMod val="50000"/>
                  </a:schemeClr>
                </a:solidFill>
                <a:prstDash val="lgDash"/>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cxnSp>
            <p:nvCxnSpPr>
              <p:cNvPr id="29" name="直接箭头连接符 28"/>
              <p:cNvCxnSpPr>
                <a:cxnSpLocks noChangeShapeType="1"/>
              </p:cNvCxnSpPr>
              <p:nvPr/>
            </p:nvCxnSpPr>
            <p:spPr bwMode="auto">
              <a:xfrm>
                <a:off x="2750078" y="4431736"/>
                <a:ext cx="1416697"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30" name="直接箭头连接符 29"/>
              <p:cNvCxnSpPr>
                <a:cxnSpLocks noChangeShapeType="1"/>
                <a:endCxn id="44" idx="3"/>
              </p:cNvCxnSpPr>
              <p:nvPr/>
            </p:nvCxnSpPr>
            <p:spPr bwMode="auto">
              <a:xfrm>
                <a:off x="4131164" y="3336474"/>
                <a:ext cx="3734003" cy="28689"/>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cxnSp>
            <p:nvCxnSpPr>
              <p:cNvPr id="31" name="直接箭头连接符 30"/>
              <p:cNvCxnSpPr>
                <a:cxnSpLocks noChangeShapeType="1"/>
              </p:cNvCxnSpPr>
              <p:nvPr/>
            </p:nvCxnSpPr>
            <p:spPr bwMode="auto">
              <a:xfrm flipV="1">
                <a:off x="4150009" y="2287642"/>
                <a:ext cx="3449876" cy="32193"/>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cxnSp>
            <p:nvCxnSpPr>
              <p:cNvPr id="32" name="直接箭头连接符 31"/>
              <p:cNvCxnSpPr>
                <a:cxnSpLocks noChangeShapeType="1"/>
              </p:cNvCxnSpPr>
              <p:nvPr/>
            </p:nvCxnSpPr>
            <p:spPr bwMode="auto">
              <a:xfrm>
                <a:off x="2732403" y="2954249"/>
                <a:ext cx="1416697"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33" name="直接箭头连接符 32"/>
              <p:cNvCxnSpPr>
                <a:cxnSpLocks noChangeShapeType="1"/>
              </p:cNvCxnSpPr>
              <p:nvPr/>
            </p:nvCxnSpPr>
            <p:spPr bwMode="auto">
              <a:xfrm>
                <a:off x="2714834" y="5912123"/>
                <a:ext cx="1402284"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sp>
            <p:nvSpPr>
              <p:cNvPr id="34" name="矩形 33"/>
              <p:cNvSpPr>
                <a:spLocks noChangeArrowheads="1"/>
              </p:cNvSpPr>
              <p:nvPr/>
            </p:nvSpPr>
            <p:spPr bwMode="auto">
              <a:xfrm>
                <a:off x="2815581" y="2825785"/>
                <a:ext cx="1200788" cy="538192"/>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eaLnBrk="1" hangingPunct="1">
                  <a:defRPr/>
                </a:pPr>
                <a:r>
                  <a:rPr lang="zh-CN" altLang="en-US"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电子大宗气体</a:t>
                </a:r>
              </a:p>
            </p:txBody>
          </p:sp>
          <p:sp>
            <p:nvSpPr>
              <p:cNvPr id="35" name="矩形 34"/>
              <p:cNvSpPr>
                <a:spLocks noChangeArrowheads="1"/>
              </p:cNvSpPr>
              <p:nvPr/>
            </p:nvSpPr>
            <p:spPr bwMode="auto">
              <a:xfrm>
                <a:off x="2891495" y="5424450"/>
                <a:ext cx="1110418" cy="71374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9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通用工业气体</a:t>
                </a:r>
              </a:p>
            </p:txBody>
          </p:sp>
          <p:sp>
            <p:nvSpPr>
              <p:cNvPr id="36" name="矩形 35"/>
              <p:cNvSpPr>
                <a:spLocks noChangeArrowheads="1"/>
              </p:cNvSpPr>
              <p:nvPr/>
            </p:nvSpPr>
            <p:spPr bwMode="auto">
              <a:xfrm>
                <a:off x="4215567" y="2241001"/>
                <a:ext cx="867983" cy="40681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eaLnBrk="1" hangingPunct="1">
                  <a:defRPr/>
                </a:pPr>
                <a:r>
                  <a:rPr lang="zh-CN" altLang="en-US"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现场制气</a:t>
                </a:r>
              </a:p>
            </p:txBody>
          </p:sp>
          <p:sp>
            <p:nvSpPr>
              <p:cNvPr id="37" name="矩形 36"/>
              <p:cNvSpPr>
                <a:spLocks noChangeArrowheads="1"/>
              </p:cNvSpPr>
              <p:nvPr/>
            </p:nvSpPr>
            <p:spPr bwMode="auto">
              <a:xfrm>
                <a:off x="4137167" y="3010136"/>
                <a:ext cx="941109" cy="40681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900" dirty="0">
                    <a:latin typeface="Arial" panose="020B0604020202020204" pitchFamily="34" charset="0"/>
                    <a:ea typeface="思源黑体 Heavy" panose="020B0A00000000000000" pitchFamily="34" charset="-122"/>
                    <a:cs typeface="Arial" panose="020B0604020202020204" pitchFamily="34" charset="0"/>
                  </a:rPr>
                  <a:t>零售供气</a:t>
                </a:r>
              </a:p>
            </p:txBody>
          </p:sp>
          <p:cxnSp>
            <p:nvCxnSpPr>
              <p:cNvPr id="38" name="直接连接符 37"/>
              <p:cNvCxnSpPr>
                <a:cxnSpLocks noChangeShapeType="1"/>
              </p:cNvCxnSpPr>
              <p:nvPr/>
            </p:nvCxnSpPr>
            <p:spPr bwMode="auto">
              <a:xfrm flipH="1">
                <a:off x="4137168" y="2328716"/>
                <a:ext cx="3153" cy="1016648"/>
              </a:xfrm>
              <a:prstGeom prst="line">
                <a:avLst/>
              </a:prstGeom>
              <a:noFill/>
              <a:ln w="9525">
                <a:solidFill>
                  <a:schemeClr val="tx1"/>
                </a:solidFill>
                <a:round/>
              </a:ln>
              <a:extLst>
                <a:ext uri="{909E8E84-426E-40DD-AFC4-6F175D3DCCD1}">
                  <a14:hiddenFill xmlns:a14="http://schemas.microsoft.com/office/drawing/2010/main">
                    <a:noFill/>
                  </a14:hiddenFill>
                </a:ext>
              </a:extLst>
            </p:spPr>
          </p:cxnSp>
          <p:cxnSp>
            <p:nvCxnSpPr>
              <p:cNvPr id="39" name="直接箭头连接符 38"/>
              <p:cNvCxnSpPr>
                <a:cxnSpLocks noChangeShapeType="1"/>
              </p:cNvCxnSpPr>
              <p:nvPr/>
            </p:nvCxnSpPr>
            <p:spPr bwMode="auto">
              <a:xfrm flipV="1">
                <a:off x="4131531" y="6404145"/>
                <a:ext cx="2985178" cy="1709"/>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40" name="矩形 39"/>
              <p:cNvSpPr>
                <a:spLocks noChangeArrowheads="1"/>
              </p:cNvSpPr>
              <p:nvPr/>
            </p:nvSpPr>
            <p:spPr bwMode="auto">
              <a:xfrm>
                <a:off x="4092180" y="5130327"/>
                <a:ext cx="829859" cy="40681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eaLnBrk="1" hangingPunct="1">
                  <a:defRPr/>
                </a:pPr>
                <a:r>
                  <a:rPr lang="zh-CN" altLang="en-US" sz="900" dirty="0">
                    <a:latin typeface="Arial" panose="020B0604020202020204" pitchFamily="34" charset="0"/>
                    <a:ea typeface="思源黑体 Heavy" panose="020B0A00000000000000" pitchFamily="34" charset="-122"/>
                    <a:cs typeface="Arial" panose="020B0604020202020204" pitchFamily="34" charset="0"/>
                  </a:rPr>
                  <a:t>现场制气</a:t>
                </a:r>
              </a:p>
            </p:txBody>
          </p:sp>
          <p:sp>
            <p:nvSpPr>
              <p:cNvPr id="41" name="矩形 40"/>
              <p:cNvSpPr>
                <a:spLocks noChangeArrowheads="1"/>
              </p:cNvSpPr>
              <p:nvPr/>
            </p:nvSpPr>
            <p:spPr bwMode="auto">
              <a:xfrm>
                <a:off x="4092180" y="6100648"/>
                <a:ext cx="850187" cy="40681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900" dirty="0">
                    <a:latin typeface="Arial" panose="020B0604020202020204" pitchFamily="34" charset="0"/>
                    <a:ea typeface="思源黑体 Heavy" panose="020B0A00000000000000" pitchFamily="34" charset="-122"/>
                    <a:cs typeface="Arial" panose="020B0604020202020204" pitchFamily="34" charset="0"/>
                  </a:rPr>
                  <a:t>零售供气</a:t>
                </a:r>
              </a:p>
            </p:txBody>
          </p:sp>
          <p:cxnSp>
            <p:nvCxnSpPr>
              <p:cNvPr id="42" name="直接连接符 41"/>
              <p:cNvCxnSpPr>
                <a:cxnSpLocks noChangeShapeType="1"/>
              </p:cNvCxnSpPr>
              <p:nvPr/>
            </p:nvCxnSpPr>
            <p:spPr bwMode="auto">
              <a:xfrm>
                <a:off x="4118690" y="5498312"/>
                <a:ext cx="2928" cy="904134"/>
              </a:xfrm>
              <a:prstGeom prst="line">
                <a:avLst/>
              </a:prstGeom>
              <a:noFill/>
              <a:ln w="9525">
                <a:solidFill>
                  <a:schemeClr val="tx1"/>
                </a:solidFill>
                <a:round/>
              </a:ln>
              <a:extLst>
                <a:ext uri="{909E8E84-426E-40DD-AFC4-6F175D3DCCD1}">
                  <a14:hiddenFill xmlns:a14="http://schemas.microsoft.com/office/drawing/2010/main">
                    <a:noFill/>
                  </a14:hiddenFill>
                </a:ext>
              </a:extLst>
            </p:spPr>
          </p:cxnSp>
          <p:sp>
            <p:nvSpPr>
              <p:cNvPr id="43" name="圆角矩形 5"/>
              <p:cNvSpPr>
                <a:spLocks noChangeArrowheads="1"/>
              </p:cNvSpPr>
              <p:nvPr/>
            </p:nvSpPr>
            <p:spPr bwMode="auto">
              <a:xfrm>
                <a:off x="4994950" y="1235044"/>
                <a:ext cx="2852658" cy="1554588"/>
              </a:xfrm>
              <a:prstGeom prst="roundRect">
                <a:avLst>
                  <a:gd name="adj" fmla="val 16667"/>
                </a:avLst>
              </a:prstGeom>
              <a:solidFill>
                <a:schemeClr val="tx2">
                  <a:lumMod val="20000"/>
                  <a:lumOff val="80000"/>
                </a:schemeClr>
              </a:solidFill>
              <a:ln w="19050">
                <a:no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eaLnBrk="1" hangingPunct="1">
                  <a:defRPr/>
                </a:pPr>
                <a:r>
                  <a:rPr lang="zh-CN" altLang="en-US"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长协模式：签约</a:t>
                </a:r>
                <a:r>
                  <a:rPr lang="en-US" altLang="zh-CN"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15</a:t>
                </a:r>
                <a:r>
                  <a:rPr lang="zh-CN" altLang="en-US"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年，参与客户项目设计环节</a:t>
                </a:r>
                <a:endParaRPr lang="en-US" altLang="zh-CN" sz="9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algn="just"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品类：</a:t>
                </a:r>
                <a:r>
                  <a:rPr lang="zh-CN" altLang="en-US" sz="900" dirty="0">
                    <a:latin typeface="Arial" panose="020B0604020202020204" pitchFamily="34" charset="0"/>
                    <a:ea typeface="思源黑体 Heavy" panose="020B0A00000000000000" pitchFamily="34" charset="-122"/>
                    <a:cs typeface="Arial" panose="020B0604020202020204" pitchFamily="34" charset="0"/>
                  </a:rPr>
                  <a:t>氮（管道）、氧、氦、氩、氙、氢气等</a:t>
                </a:r>
                <a:endParaRPr lang="en-US" altLang="zh-CN" sz="9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eaLnBrk="1" hangingPunct="1">
                  <a:buFont typeface="Wingdings" panose="05000000000000000000" pitchFamily="2" charset="2"/>
                  <a:buChar char="l"/>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面板：</a:t>
                </a:r>
                <a:r>
                  <a:rPr lang="zh-CN" altLang="en-US" sz="900" dirty="0">
                    <a:latin typeface="Arial" panose="020B0604020202020204" pitchFamily="34" charset="0"/>
                    <a:ea typeface="思源黑体 Heavy" panose="020B0A00000000000000" pitchFamily="34" charset="-122"/>
                    <a:cs typeface="Arial" panose="020B0604020202020204" pitchFamily="34" charset="0"/>
                  </a:rPr>
                  <a:t>华星光电、惠科股份等；</a:t>
                </a:r>
                <a:endParaRPr lang="en-US" altLang="zh-CN" sz="9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eaLnBrk="1" hangingPunct="1">
                  <a:buFont typeface="Wingdings" panose="05000000000000000000" pitchFamily="2" charset="2"/>
                  <a:buChar char="l"/>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晶圆：</a:t>
                </a:r>
                <a:r>
                  <a:rPr lang="zh-CN" altLang="en-US" sz="900" dirty="0">
                    <a:latin typeface="Arial" panose="020B0604020202020204" pitchFamily="34" charset="0"/>
                    <a:ea typeface="思源黑体 Heavy" panose="020B0A00000000000000" pitchFamily="34" charset="-122"/>
                    <a:cs typeface="Arial" panose="020B0604020202020204" pitchFamily="34" charset="0"/>
                  </a:rPr>
                  <a:t>晶合集成、长鑫存储、长江存储、青岛芯恩等</a:t>
                </a:r>
                <a:endParaRPr lang="en-US" altLang="zh-CN" sz="9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44" name="圆角矩形 5"/>
              <p:cNvSpPr>
                <a:spLocks noChangeArrowheads="1"/>
              </p:cNvSpPr>
              <p:nvPr/>
            </p:nvSpPr>
            <p:spPr bwMode="auto">
              <a:xfrm>
                <a:off x="5032553" y="2951362"/>
                <a:ext cx="2832613" cy="827600"/>
              </a:xfrm>
              <a:prstGeom prst="roundRect">
                <a:avLst>
                  <a:gd name="adj" fmla="val 16667"/>
                </a:avLst>
              </a:prstGeom>
              <a:solidFill>
                <a:schemeClr val="tx2">
                  <a:lumMod val="20000"/>
                  <a:lumOff val="80000"/>
                </a:schemeClr>
              </a:solidFill>
              <a:ln w="19050">
                <a:no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eaLnBrk="1"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零售模式：但为了保供，签约</a:t>
                </a:r>
                <a:r>
                  <a:rPr lang="en-US" altLang="zh-CN" sz="9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900" b="1" dirty="0">
                    <a:latin typeface="Arial" panose="020B0604020202020204" pitchFamily="34" charset="0"/>
                    <a:ea typeface="思源黑体 Heavy" panose="020B0A00000000000000" pitchFamily="34" charset="-122"/>
                    <a:cs typeface="Arial" panose="020B0604020202020204" pitchFamily="34" charset="0"/>
                  </a:rPr>
                  <a:t>年</a:t>
                </a:r>
                <a:endParaRPr lang="en-US" altLang="zh-CN" sz="9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eaLnBrk="1" hangingPunct="1">
                  <a:buFont typeface="Wingdings" panose="05000000000000000000" pitchFamily="2" charset="2"/>
                  <a:buChar char="l"/>
                  <a:defRPr/>
                </a:pPr>
                <a:r>
                  <a:rPr lang="zh-CN" altLang="en-US" sz="900" dirty="0">
                    <a:latin typeface="Arial" panose="020B0604020202020204" pitchFamily="34" charset="0"/>
                    <a:ea typeface="思源黑体 Heavy" panose="020B0A00000000000000" pitchFamily="34" charset="-122"/>
                    <a:cs typeface="Arial" panose="020B0604020202020204" pitchFamily="34" charset="0"/>
                  </a:rPr>
                  <a:t>中天科技、安世半导体、乐金显示、联影医疗等中小型客户</a:t>
                </a:r>
              </a:p>
            </p:txBody>
          </p:sp>
          <p:sp>
            <p:nvSpPr>
              <p:cNvPr id="45" name="圆角矩形 5"/>
              <p:cNvSpPr>
                <a:spLocks noChangeArrowheads="1"/>
              </p:cNvSpPr>
              <p:nvPr/>
            </p:nvSpPr>
            <p:spPr bwMode="auto">
              <a:xfrm>
                <a:off x="4994950" y="5115302"/>
                <a:ext cx="2846802" cy="766019"/>
              </a:xfrm>
              <a:prstGeom prst="roundRect">
                <a:avLst>
                  <a:gd name="adj" fmla="val 16667"/>
                </a:avLst>
              </a:prstGeom>
              <a:solidFill>
                <a:schemeClr val="tx2">
                  <a:lumMod val="20000"/>
                  <a:lumOff val="80000"/>
                </a:schemeClr>
              </a:solidFill>
              <a:ln w="19050">
                <a:no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eaLnBrk="1"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长协模式：签约</a:t>
                </a:r>
                <a:r>
                  <a:rPr lang="en-US" altLang="zh-CN" sz="900" b="1" dirty="0">
                    <a:latin typeface="Arial" panose="020B0604020202020204" pitchFamily="34" charset="0"/>
                    <a:ea typeface="思源黑体 Heavy" panose="020B0A00000000000000" pitchFamily="34" charset="-122"/>
                    <a:cs typeface="Arial" panose="020B0604020202020204" pitchFamily="34" charset="0"/>
                  </a:rPr>
                  <a:t>10-15</a:t>
                </a:r>
                <a:r>
                  <a:rPr lang="zh-CN" altLang="en-US" sz="900" b="1" dirty="0">
                    <a:latin typeface="Arial" panose="020B0604020202020204" pitchFamily="34" charset="0"/>
                    <a:ea typeface="思源黑体 Heavy" panose="020B0A00000000000000" pitchFamily="34" charset="-122"/>
                    <a:cs typeface="Arial" panose="020B0604020202020204" pitchFamily="34" charset="0"/>
                  </a:rPr>
                  <a:t>年，主要供应氧气</a:t>
                </a:r>
                <a:endParaRPr lang="en-US" altLang="zh-CN" sz="9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eaLnBrk="1" hangingPunct="1">
                  <a:buFont typeface="Wingdings" panose="05000000000000000000" pitchFamily="2" charset="2"/>
                  <a:buChar char="l"/>
                  <a:defRPr/>
                </a:pPr>
                <a:r>
                  <a:rPr lang="en-US" altLang="zh-CN" sz="900" dirty="0">
                    <a:latin typeface="Arial" panose="020B0604020202020204" pitchFamily="34" charset="0"/>
                    <a:ea typeface="思源黑体 Heavy" panose="020B0A00000000000000" pitchFamily="34" charset="-122"/>
                    <a:cs typeface="Arial" panose="020B0604020202020204" pitchFamily="34" charset="0"/>
                  </a:rPr>
                  <a:t>JFE</a:t>
                </a:r>
                <a:r>
                  <a:rPr lang="zh-CN" altLang="en-US" sz="900" dirty="0">
                    <a:latin typeface="Arial" panose="020B0604020202020204" pitchFamily="34" charset="0"/>
                    <a:ea typeface="思源黑体 Heavy" panose="020B0A00000000000000" pitchFamily="34" charset="-122"/>
                    <a:cs typeface="Arial" panose="020B0604020202020204" pitchFamily="34" charset="0"/>
                  </a:rPr>
                  <a:t>钢板、铜陵有色等</a:t>
                </a:r>
              </a:p>
            </p:txBody>
          </p:sp>
          <p:sp>
            <p:nvSpPr>
              <p:cNvPr id="46" name="圆角矩形 5"/>
              <p:cNvSpPr>
                <a:spLocks noChangeArrowheads="1"/>
              </p:cNvSpPr>
              <p:nvPr/>
            </p:nvSpPr>
            <p:spPr bwMode="auto">
              <a:xfrm>
                <a:off x="4981887" y="6050336"/>
                <a:ext cx="2859864" cy="622073"/>
              </a:xfrm>
              <a:prstGeom prst="roundRect">
                <a:avLst>
                  <a:gd name="adj" fmla="val 16667"/>
                </a:avLst>
              </a:prstGeom>
              <a:solidFill>
                <a:schemeClr val="tx2">
                  <a:lumMod val="20000"/>
                  <a:lumOff val="80000"/>
                </a:schemeClr>
              </a:solidFill>
              <a:ln w="19050">
                <a:no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eaLnBrk="1"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零售模式：客户不固定，随行就市</a:t>
                </a:r>
                <a:endParaRPr lang="en-US" altLang="zh-CN" sz="9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eaLnBrk="1" hangingPunct="1">
                  <a:buFont typeface="Wingdings" panose="05000000000000000000" pitchFamily="2" charset="2"/>
                  <a:buChar char="l"/>
                  <a:defRPr/>
                </a:pPr>
                <a:r>
                  <a:rPr lang="zh-CN" altLang="en-US" sz="900" dirty="0">
                    <a:latin typeface="Arial" panose="020B0604020202020204" pitchFamily="34" charset="0"/>
                    <a:ea typeface="思源黑体 Heavy" panose="020B0A00000000000000" pitchFamily="34" charset="-122"/>
                    <a:cs typeface="Arial" panose="020B0604020202020204" pitchFamily="34" charset="0"/>
                  </a:rPr>
                  <a:t>中国船舶、中国石油、巴斯夫、奥托立夫等</a:t>
                </a:r>
              </a:p>
            </p:txBody>
          </p:sp>
          <p:sp>
            <p:nvSpPr>
              <p:cNvPr id="47" name="文本框 42"/>
              <p:cNvSpPr txBox="1"/>
              <p:nvPr/>
            </p:nvSpPr>
            <p:spPr>
              <a:xfrm>
                <a:off x="2033534" y="2775740"/>
                <a:ext cx="553995" cy="24811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1" i="0" u="none" strike="noStrike" cap="none" spc="0" normalizeH="0" baseline="0" dirty="0">
                    <a:ln>
                      <a:noFill/>
                    </a:ln>
                    <a:solidFill>
                      <a:srgbClr val="C00000"/>
                    </a:solidFill>
                    <a:effectLst/>
                    <a:uFillTx/>
                    <a:latin typeface="Arial" panose="020B0604020202020204" pitchFamily="34" charset="0"/>
                    <a:ea typeface="思源黑体 Heavy" panose="020B0A00000000000000" pitchFamily="34" charset="-122"/>
                    <a:sym typeface="等线" panose="02010600030101010101" charset="-122"/>
                  </a:rPr>
                  <a:t>核心业务</a:t>
                </a:r>
              </a:p>
            </p:txBody>
          </p:sp>
          <p:sp>
            <p:nvSpPr>
              <p:cNvPr id="48" name="文本框 45"/>
              <p:cNvSpPr txBox="1"/>
              <p:nvPr/>
            </p:nvSpPr>
            <p:spPr>
              <a:xfrm>
                <a:off x="2093499" y="4259123"/>
                <a:ext cx="553995" cy="24811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1" i="0" u="none" strike="noStrike" cap="none" spc="0" normalizeH="0" baseline="0" dirty="0">
                    <a:ln>
                      <a:noFill/>
                    </a:ln>
                    <a:solidFill>
                      <a:schemeClr val="accent1"/>
                    </a:solidFill>
                    <a:effectLst/>
                    <a:uFillTx/>
                    <a:latin typeface="Arial" panose="020B0604020202020204" pitchFamily="34" charset="0"/>
                    <a:ea typeface="思源黑体 Heavy" panose="020B0A00000000000000" pitchFamily="34" charset="-122"/>
                    <a:sym typeface="等线" panose="02010600030101010101" charset="-122"/>
                  </a:rPr>
                  <a:t>拓展业务</a:t>
                </a:r>
              </a:p>
            </p:txBody>
          </p:sp>
          <p:sp>
            <p:nvSpPr>
              <p:cNvPr id="49" name="文本框 46"/>
              <p:cNvSpPr txBox="1"/>
              <p:nvPr/>
            </p:nvSpPr>
            <p:spPr>
              <a:xfrm>
                <a:off x="2042785" y="5711366"/>
                <a:ext cx="553995" cy="24811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1" i="0" u="none" strike="noStrike" cap="none" spc="0" normalizeH="0" baseline="0" dirty="0">
                    <a:ln>
                      <a:noFill/>
                    </a:ln>
                    <a:solidFill>
                      <a:schemeClr val="tx1"/>
                    </a:solidFill>
                    <a:effectLst/>
                    <a:uFillTx/>
                    <a:latin typeface="Arial" panose="020B0604020202020204" pitchFamily="34" charset="0"/>
                    <a:ea typeface="思源黑体 Heavy" panose="020B0A00000000000000" pitchFamily="34" charset="-122"/>
                    <a:sym typeface="等线" panose="02010600030101010101" charset="-122"/>
                  </a:rPr>
                  <a:t>维稳业务</a:t>
                </a:r>
              </a:p>
            </p:txBody>
          </p:sp>
          <p:sp>
            <p:nvSpPr>
              <p:cNvPr id="50" name="矩形 49"/>
              <p:cNvSpPr>
                <a:spLocks noChangeArrowheads="1"/>
              </p:cNvSpPr>
              <p:nvPr/>
            </p:nvSpPr>
            <p:spPr bwMode="auto">
              <a:xfrm>
                <a:off x="2808351" y="4049009"/>
                <a:ext cx="1237160" cy="538192"/>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eaLnBrk="1" hangingPunct="1">
                  <a:defRPr/>
                </a:pPr>
                <a:r>
                  <a:rPr lang="zh-CN" altLang="en-US" sz="900" b="1" dirty="0">
                    <a:solidFill>
                      <a:schemeClr val="accent1"/>
                    </a:solidFill>
                    <a:latin typeface="Arial" panose="020B0604020202020204" pitchFamily="34" charset="0"/>
                    <a:ea typeface="思源黑体 Heavy" panose="020B0A00000000000000" pitchFamily="34" charset="-122"/>
                    <a:cs typeface="Arial" panose="020B0604020202020204" pitchFamily="34" charset="0"/>
                  </a:rPr>
                  <a:t>电子特种气体</a:t>
                </a:r>
              </a:p>
            </p:txBody>
          </p:sp>
          <p:sp>
            <p:nvSpPr>
              <p:cNvPr id="51" name="矩形 50"/>
              <p:cNvSpPr>
                <a:spLocks noChangeArrowheads="1"/>
              </p:cNvSpPr>
              <p:nvPr/>
            </p:nvSpPr>
            <p:spPr bwMode="auto">
              <a:xfrm>
                <a:off x="4125301" y="4201086"/>
                <a:ext cx="865963" cy="406817"/>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900" dirty="0">
                    <a:latin typeface="Arial" panose="020B0604020202020204" pitchFamily="34" charset="0"/>
                    <a:ea typeface="思源黑体 Heavy" panose="020B0A00000000000000" pitchFamily="34" charset="-122"/>
                    <a:cs typeface="Arial" panose="020B0604020202020204" pitchFamily="34" charset="0"/>
                  </a:rPr>
                  <a:t>零售供气</a:t>
                </a:r>
              </a:p>
            </p:txBody>
          </p:sp>
          <p:sp>
            <p:nvSpPr>
              <p:cNvPr id="52" name="圆角矩形 5"/>
              <p:cNvSpPr>
                <a:spLocks noChangeArrowheads="1"/>
              </p:cNvSpPr>
              <p:nvPr/>
            </p:nvSpPr>
            <p:spPr bwMode="auto">
              <a:xfrm>
                <a:off x="5015327" y="3997014"/>
                <a:ext cx="2841059" cy="827600"/>
              </a:xfrm>
              <a:prstGeom prst="roundRect">
                <a:avLst>
                  <a:gd name="adj" fmla="val 16667"/>
                </a:avLst>
              </a:prstGeom>
              <a:solidFill>
                <a:schemeClr val="tx2">
                  <a:lumMod val="20000"/>
                  <a:lumOff val="80000"/>
                </a:schemeClr>
              </a:solidFill>
              <a:ln w="19050">
                <a:noFill/>
                <a:prstDash val="dash"/>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eaLnBrk="1"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零售模式：签约</a:t>
                </a:r>
                <a:r>
                  <a:rPr lang="en-US" altLang="zh-CN" sz="900" b="1" dirty="0">
                    <a:latin typeface="Arial" panose="020B0604020202020204" pitchFamily="34" charset="0"/>
                    <a:ea typeface="思源黑体 Heavy" panose="020B0A00000000000000" pitchFamily="34" charset="-122"/>
                    <a:cs typeface="Arial" panose="020B0604020202020204" pitchFamily="34" charset="0"/>
                  </a:rPr>
                  <a:t>2-3</a:t>
                </a:r>
                <a:r>
                  <a:rPr lang="zh-CN" altLang="en-US" sz="900" b="1" dirty="0">
                    <a:latin typeface="Arial" panose="020B0604020202020204" pitchFamily="34" charset="0"/>
                    <a:ea typeface="思源黑体 Heavy" panose="020B0A00000000000000" pitchFamily="34" charset="-122"/>
                    <a:cs typeface="Arial" panose="020B0604020202020204" pitchFamily="34" charset="0"/>
                  </a:rPr>
                  <a:t>年</a:t>
                </a:r>
                <a:endParaRPr lang="en-US" altLang="zh-CN" sz="900" b="1" dirty="0">
                  <a:latin typeface="Arial" panose="020B0604020202020204" pitchFamily="34" charset="0"/>
                  <a:ea typeface="思源黑体 Heavy" panose="020B0A00000000000000" pitchFamily="34" charset="-122"/>
                  <a:cs typeface="Arial" panose="020B0604020202020204" pitchFamily="34" charset="0"/>
                </a:endParaRPr>
              </a:p>
              <a:p>
                <a:pPr algn="just" hangingPunct="1">
                  <a:defRPr/>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核心品种：</a:t>
                </a:r>
                <a:r>
                  <a:rPr lang="zh-CN" altLang="en-US" sz="900" b="1" dirty="0">
                    <a:solidFill>
                      <a:srgbClr val="FF0000"/>
                    </a:solidFill>
                    <a:latin typeface="Arial" panose="020B0604020202020204" pitchFamily="34" charset="0"/>
                    <a:ea typeface="思源黑体 Heavy" panose="020B0A00000000000000" pitchFamily="34" charset="-122"/>
                    <a:cs typeface="Arial" panose="020B0604020202020204" pitchFamily="34" charset="0"/>
                  </a:rPr>
                  <a:t>超临界</a:t>
                </a:r>
                <a:r>
                  <a:rPr lang="en-US" altLang="zh-CN" sz="900" b="1" dirty="0">
                    <a:solidFill>
                      <a:srgbClr val="FF0000"/>
                    </a:solidFill>
                    <a:latin typeface="Arial" panose="020B0604020202020204" pitchFamily="34" charset="0"/>
                    <a:ea typeface="思源黑体 Heavy" panose="020B0A00000000000000" pitchFamily="34" charset="-122"/>
                    <a:cs typeface="Arial" panose="020B0604020202020204" pitchFamily="34" charset="0"/>
                  </a:rPr>
                  <a:t>CO2</a:t>
                </a:r>
                <a:r>
                  <a:rPr lang="zh-CN" altLang="en-US" sz="900" b="1" dirty="0">
                    <a:latin typeface="Arial" panose="020B0604020202020204" pitchFamily="34" charset="0"/>
                    <a:ea typeface="思源黑体 Heavy" panose="020B0A00000000000000" pitchFamily="34" charset="-122"/>
                    <a:cs typeface="Arial" panose="020B0604020202020204" pitchFamily="34" charset="0"/>
                  </a:rPr>
                  <a:t>、烷类、氢类、氟化物</a:t>
                </a:r>
                <a:r>
                  <a:rPr lang="en-US" altLang="zh-CN" sz="900" b="1" dirty="0">
                    <a:latin typeface="Arial" panose="020B0604020202020204" pitchFamily="34" charset="0"/>
                    <a:ea typeface="思源黑体 Heavy" panose="020B0A00000000000000" pitchFamily="34" charset="-122"/>
                    <a:cs typeface="Arial" panose="020B0604020202020204" pitchFamily="34" charset="0"/>
                  </a:rPr>
                  <a:t>.</a:t>
                </a:r>
                <a:r>
                  <a:rPr lang="zh-CN" altLang="en-US" sz="900" dirty="0">
                    <a:latin typeface="Arial" panose="020B0604020202020204" pitchFamily="34" charset="0"/>
                    <a:ea typeface="思源黑体 Heavy" panose="020B0A00000000000000" pitchFamily="34" charset="-122"/>
                    <a:cs typeface="Arial" panose="020B0604020202020204" pitchFamily="34" charset="0"/>
                  </a:rPr>
                  <a:t>客户：主要服务大宗电子气客户，形成更完善的供应链体系</a:t>
                </a:r>
              </a:p>
            </p:txBody>
          </p:sp>
          <p:sp>
            <p:nvSpPr>
              <p:cNvPr id="53" name="文本框 64"/>
              <p:cNvSpPr txBox="1"/>
              <p:nvPr/>
            </p:nvSpPr>
            <p:spPr>
              <a:xfrm>
                <a:off x="1544091" y="1352872"/>
                <a:ext cx="916274" cy="24811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i="0" u="none" strike="noStrike" cap="none" spc="0" normalizeH="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电子级：</a:t>
                </a:r>
                <a:r>
                  <a:rPr kumimoji="0" lang="en-US" altLang="zh-CN" sz="900" i="0" u="none" strike="noStrike" cap="none" spc="0" normalizeH="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9N/6N</a:t>
                </a:r>
                <a:endParaRPr kumimoji="0" lang="zh-CN" altLang="en-US" sz="900" i="0" u="none" strike="noStrike" cap="none" spc="0" normalizeH="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p:txBody>
          </p:sp>
          <p:sp>
            <p:nvSpPr>
              <p:cNvPr id="54" name="文本框 65"/>
              <p:cNvSpPr txBox="1"/>
              <p:nvPr/>
            </p:nvSpPr>
            <p:spPr>
              <a:xfrm>
                <a:off x="2072984" y="5162855"/>
                <a:ext cx="438580" cy="24811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lang="zh-CN" altLang="en-US" sz="900" dirty="0">
                    <a:latin typeface="Arial" panose="020B0604020202020204" pitchFamily="34" charset="0"/>
                    <a:ea typeface="思源黑体 Heavy" panose="020B0A00000000000000" pitchFamily="34" charset="-122"/>
                  </a:rPr>
                  <a:t>工业级</a:t>
                </a:r>
                <a:endParaRPr kumimoji="0" lang="zh-CN" altLang="en-US" sz="900" i="0" u="none" strike="noStrike" cap="none" spc="0" normalizeH="0" baseline="0" dirty="0">
                  <a:ln>
                    <a:noFill/>
                  </a:ln>
                  <a:solidFill>
                    <a:srgbClr val="000000"/>
                  </a:solidFill>
                  <a:effectLst/>
                  <a:uFillTx/>
                  <a:latin typeface="Arial" panose="020B0604020202020204" pitchFamily="34" charset="0"/>
                  <a:ea typeface="思源黑体 Heavy" panose="020B0A00000000000000" pitchFamily="34" charset="-122"/>
                  <a:sym typeface="等线" panose="02010600030101010101" charset="-122"/>
                </a:endParaRPr>
              </a:p>
            </p:txBody>
          </p:sp>
        </p:grpSp>
        <p:sp>
          <p:nvSpPr>
            <p:cNvPr id="16" name="文本框 67"/>
            <p:cNvSpPr txBox="1"/>
            <p:nvPr/>
          </p:nvSpPr>
          <p:spPr>
            <a:xfrm>
              <a:off x="3803923" y="983298"/>
              <a:ext cx="810476" cy="3077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lang="zh-CN" altLang="en-US" sz="1400" b="1" dirty="0">
                  <a:latin typeface="Arial" panose="020B0604020202020204" pitchFamily="34" charset="0"/>
                </a:rPr>
                <a:t>业务布局</a:t>
              </a:r>
              <a:endParaRPr kumimoji="0" lang="zh-CN" altLang="en-US" sz="1400" b="1" i="0" u="none" strike="noStrike" cap="none" spc="0" normalizeH="0" baseline="0" dirty="0">
                <a:ln>
                  <a:noFill/>
                </a:ln>
                <a:solidFill>
                  <a:srgbClr val="000000"/>
                </a:solidFill>
                <a:effectLst/>
                <a:uFillTx/>
                <a:latin typeface="Arial" panose="020B0604020202020204" pitchFamily="34" charset="0"/>
                <a:ea typeface="+mj-ea"/>
                <a:cs typeface="+mj-cs"/>
                <a:sym typeface="等线" panose="02010600030101010101" charset="-122"/>
              </a:endParaRPr>
            </a:p>
          </p:txBody>
        </p:sp>
        <p:sp>
          <p:nvSpPr>
            <p:cNvPr id="17" name="文本框 70"/>
            <p:cNvSpPr txBox="1"/>
            <p:nvPr/>
          </p:nvSpPr>
          <p:spPr>
            <a:xfrm>
              <a:off x="7828916" y="1345525"/>
              <a:ext cx="3044950" cy="3571813"/>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ctr" eaLnBrk="1" hangingPunct="1">
                <a:defRPr sz="1400" b="1">
                  <a:solidFill>
                    <a:srgbClr val="C00000"/>
                  </a:solidFill>
                  <a:latin typeface="+mn-ea"/>
                  <a:ea typeface="+mn-ea"/>
                  <a:cs typeface="Arial" panose="020B0604020202020204" pitchFamily="34" charset="0"/>
                </a:defRPr>
              </a:lvl1pPr>
            </a:lstStyle>
            <a:p>
              <a:pPr algn="just"/>
              <a:r>
                <a:rPr lang="zh-CN" altLang="en-US" sz="950" dirty="0">
                  <a:solidFill>
                    <a:schemeClr val="tx1"/>
                  </a:solidFill>
                  <a:latin typeface="Arial" panose="020B0604020202020204" pitchFamily="34" charset="0"/>
                  <a:ea typeface="思源黑体 Heavy" panose="020B0A00000000000000" pitchFamily="34" charset="-122"/>
                </a:rPr>
                <a:t>横向拓展：</a:t>
              </a:r>
              <a:r>
                <a:rPr lang="zh-CN" altLang="en-US" sz="950" b="0" dirty="0">
                  <a:solidFill>
                    <a:schemeClr val="tx1"/>
                  </a:solidFill>
                  <a:latin typeface="Arial" panose="020B0604020202020204" pitchFamily="34" charset="0"/>
                  <a:ea typeface="思源黑体 Heavy" panose="020B0A00000000000000" pitchFamily="34" charset="-122"/>
                </a:rPr>
                <a:t>继续深入核心客户，从面板向晶圆供气作深：</a:t>
              </a:r>
              <a:r>
                <a:rPr lang="en-US" altLang="zh-CN" sz="950" b="0" dirty="0">
                  <a:solidFill>
                    <a:schemeClr val="tx1"/>
                  </a:solidFill>
                  <a:latin typeface="Arial" panose="020B0604020202020204" pitchFamily="34" charset="0"/>
                  <a:ea typeface="思源黑体 Heavy" panose="020B0A00000000000000" pitchFamily="34" charset="-122"/>
                </a:rPr>
                <a:t>1</a:t>
              </a:r>
              <a:r>
                <a:rPr lang="zh-CN" altLang="en-US" sz="950" b="0" dirty="0">
                  <a:solidFill>
                    <a:schemeClr val="tx1"/>
                  </a:solidFill>
                  <a:latin typeface="Arial" panose="020B0604020202020204" pitchFamily="34" charset="0"/>
                  <a:ea typeface="思源黑体 Heavy" panose="020B0A00000000000000" pitchFamily="34" charset="-122"/>
                </a:rPr>
                <a:t>）晶圆厂：拓展长存等超核心客户，同时对华为系、华虹等大厂加紧对接；</a:t>
              </a:r>
              <a:endParaRPr lang="en-US" altLang="zh-CN" sz="950" b="0" dirty="0">
                <a:solidFill>
                  <a:schemeClr val="tx1"/>
                </a:solidFill>
                <a:latin typeface="Arial" panose="020B0604020202020204" pitchFamily="34" charset="0"/>
                <a:ea typeface="思源黑体 Heavy" panose="020B0A00000000000000" pitchFamily="34" charset="-122"/>
              </a:endParaRPr>
            </a:p>
            <a:p>
              <a:pPr marL="285750" indent="-285750" algn="just">
                <a:buFont typeface="Wingdings" panose="05000000000000000000" pitchFamily="2" charset="2"/>
                <a:buChar char="ü"/>
              </a:pPr>
              <a:r>
                <a:rPr lang="zh-CN" altLang="en-US" sz="950" b="0" dirty="0">
                  <a:solidFill>
                    <a:schemeClr val="tx1"/>
                  </a:solidFill>
                  <a:latin typeface="Arial" panose="020B0604020202020204" pitchFamily="34" charset="0"/>
                  <a:ea typeface="思源黑体 Heavy" panose="020B0A00000000000000" pitchFamily="34" charset="-122"/>
                </a:rPr>
                <a:t>存量市场市占率：近</a:t>
              </a:r>
              <a:r>
                <a:rPr lang="en-US" altLang="zh-CN" sz="950" b="0" dirty="0">
                  <a:solidFill>
                    <a:schemeClr val="tx1"/>
                  </a:solidFill>
                  <a:latin typeface="Arial" panose="020B0604020202020204" pitchFamily="34" charset="0"/>
                  <a:ea typeface="思源黑体 Heavy" panose="020B0A00000000000000" pitchFamily="34" charset="-122"/>
                </a:rPr>
                <a:t>10%</a:t>
              </a:r>
            </a:p>
            <a:p>
              <a:pPr marL="285750" indent="-285750" algn="just">
                <a:buFont typeface="Wingdings" panose="05000000000000000000" pitchFamily="2" charset="2"/>
                <a:buChar char="ü"/>
              </a:pPr>
              <a:r>
                <a:rPr lang="zh-CN" altLang="en-US" sz="950" b="0" dirty="0">
                  <a:solidFill>
                    <a:schemeClr val="tx1"/>
                  </a:solidFill>
                  <a:latin typeface="Arial" panose="020B0604020202020204" pitchFamily="34" charset="0"/>
                  <a:ea typeface="思源黑体 Heavy" panose="020B0A00000000000000" pitchFamily="34" charset="-122"/>
                </a:rPr>
                <a:t>新增市场市占率：</a:t>
              </a:r>
              <a:r>
                <a:rPr lang="en-US" altLang="zh-CN" sz="950" b="0" dirty="0">
                  <a:solidFill>
                    <a:schemeClr val="tx1"/>
                  </a:solidFill>
                  <a:latin typeface="Arial" panose="020B0604020202020204" pitchFamily="34" charset="0"/>
                  <a:ea typeface="思源黑体 Heavy" panose="020B0A00000000000000" pitchFamily="34" charset="-122"/>
                </a:rPr>
                <a:t>21-25</a:t>
              </a:r>
              <a:r>
                <a:rPr lang="zh-CN" altLang="en-US" sz="950" b="0" dirty="0">
                  <a:solidFill>
                    <a:schemeClr val="tx1"/>
                  </a:solidFill>
                  <a:latin typeface="Arial" panose="020B0604020202020204" pitchFamily="34" charset="0"/>
                  <a:ea typeface="思源黑体 Heavy" panose="020B0A00000000000000" pitchFamily="34" charset="-122"/>
                </a:rPr>
                <a:t>年</a:t>
              </a:r>
              <a:r>
                <a:rPr lang="en-US" altLang="zh-CN" sz="950" b="0" dirty="0">
                  <a:solidFill>
                    <a:schemeClr val="tx1"/>
                  </a:solidFill>
                  <a:latin typeface="Arial" panose="020B0604020202020204" pitchFamily="34" charset="0"/>
                  <a:ea typeface="思源黑体 Heavy" panose="020B0A00000000000000" pitchFamily="34" charset="-122"/>
                </a:rPr>
                <a:t>40%-50%</a:t>
              </a:r>
              <a:r>
                <a:rPr lang="zh-CN" altLang="en-US" sz="950" b="0" dirty="0">
                  <a:solidFill>
                    <a:schemeClr val="tx1"/>
                  </a:solidFill>
                  <a:latin typeface="Arial" panose="020B0604020202020204" pitchFamily="34" charset="0"/>
                  <a:ea typeface="思源黑体 Heavy" panose="020B0A00000000000000" pitchFamily="34" charset="-122"/>
                </a:rPr>
                <a:t>，</a:t>
              </a:r>
              <a:r>
                <a:rPr lang="zh-CN" altLang="en-US" sz="950" b="0" dirty="0">
                  <a:latin typeface="Arial" panose="020B0604020202020204" pitchFamily="34" charset="0"/>
                  <a:ea typeface="思源黑体 Heavy" panose="020B0A00000000000000" pitchFamily="34" charset="-122"/>
                </a:rPr>
                <a:t>后续会上行至</a:t>
              </a:r>
              <a:r>
                <a:rPr lang="en-US" altLang="zh-CN" sz="950" b="0" dirty="0">
                  <a:latin typeface="Arial" panose="020B0604020202020204" pitchFamily="34" charset="0"/>
                  <a:ea typeface="思源黑体 Heavy" panose="020B0A00000000000000" pitchFamily="34" charset="-122"/>
                </a:rPr>
                <a:t>70%+</a:t>
              </a:r>
              <a:endParaRPr lang="en-US" altLang="zh-CN" sz="950" b="0" dirty="0">
                <a:solidFill>
                  <a:schemeClr val="tx1"/>
                </a:solidFill>
                <a:latin typeface="Arial" panose="020B0604020202020204" pitchFamily="34" charset="0"/>
                <a:ea typeface="思源黑体 Heavy" panose="020B0A00000000000000" pitchFamily="34" charset="-122"/>
              </a:endParaRPr>
            </a:p>
            <a:p>
              <a:pPr algn="just"/>
              <a:r>
                <a:rPr lang="zh-CN" altLang="en-US" sz="950" dirty="0">
                  <a:solidFill>
                    <a:schemeClr val="tx1"/>
                  </a:solidFill>
                  <a:latin typeface="Arial" panose="020B0604020202020204" pitchFamily="34" charset="0"/>
                  <a:ea typeface="思源黑体 Heavy" panose="020B0A00000000000000" pitchFamily="34" charset="-122"/>
                </a:rPr>
                <a:t>纵向拓展：</a:t>
              </a:r>
              <a:r>
                <a:rPr lang="zh-CN" altLang="en-US" sz="950" b="0" dirty="0">
                  <a:latin typeface="Arial" panose="020B0604020202020204" pitchFamily="34" charset="0"/>
                  <a:ea typeface="思源黑体 Heavy" panose="020B0A00000000000000" pitchFamily="34" charset="-122"/>
                </a:rPr>
                <a:t>依托电子大宗气体的客户群基础，拓展电子特气产品</a:t>
              </a:r>
              <a:r>
                <a:rPr lang="zh-CN" altLang="en-US" sz="950" b="0" dirty="0">
                  <a:solidFill>
                    <a:schemeClr val="tx1"/>
                  </a:solidFill>
                  <a:latin typeface="Arial" panose="020B0604020202020204" pitchFamily="34" charset="0"/>
                  <a:ea typeface="思源黑体 Heavy" panose="020B0A00000000000000" pitchFamily="34" charset="-122"/>
                </a:rPr>
                <a:t>，以大类气体为主</a:t>
              </a:r>
              <a:r>
                <a:rPr lang="en-US" altLang="zh-CN" sz="950" b="0" dirty="0">
                  <a:solidFill>
                    <a:schemeClr val="tx1"/>
                  </a:solidFill>
                  <a:latin typeface="Arial" panose="020B0604020202020204" pitchFamily="34" charset="0"/>
                  <a:ea typeface="思源黑体 Heavy" panose="020B0A00000000000000" pitchFamily="34" charset="-122"/>
                </a:rPr>
                <a:t>——</a:t>
              </a:r>
              <a:r>
                <a:rPr lang="zh-CN" altLang="en-US" sz="950" b="0" dirty="0">
                  <a:solidFill>
                    <a:schemeClr val="tx1"/>
                  </a:solidFill>
                  <a:latin typeface="Arial" panose="020B0604020202020204" pitchFamily="34" charset="0"/>
                  <a:ea typeface="思源黑体 Heavy" panose="020B0A00000000000000" pitchFamily="34" charset="-122"/>
                </a:rPr>
                <a:t>烷类混配气、氢类、氟化物，完善供应链配套能力。</a:t>
              </a:r>
              <a:endParaRPr lang="en-US" altLang="zh-CN" sz="950" b="0" dirty="0">
                <a:solidFill>
                  <a:schemeClr val="tx1"/>
                </a:solidFill>
                <a:latin typeface="Arial" panose="020B0604020202020204" pitchFamily="34" charset="0"/>
                <a:ea typeface="思源黑体 Heavy" panose="020B0A00000000000000" pitchFamily="34" charset="-122"/>
              </a:endParaRPr>
            </a:p>
            <a:p>
              <a:pPr algn="just"/>
              <a:endParaRPr lang="en-US" altLang="zh-CN" sz="950" b="0" dirty="0">
                <a:solidFill>
                  <a:schemeClr val="tx1"/>
                </a:solidFill>
                <a:latin typeface="Arial" panose="020B0604020202020204" pitchFamily="34" charset="0"/>
                <a:ea typeface="思源黑体 Heavy" panose="020B0A00000000000000" pitchFamily="34" charset="-122"/>
              </a:endParaRPr>
            </a:p>
            <a:p>
              <a:pPr algn="just"/>
              <a:endParaRPr lang="en-US" altLang="zh-CN" sz="950" b="0" dirty="0">
                <a:solidFill>
                  <a:schemeClr val="tx1"/>
                </a:solidFill>
                <a:latin typeface="Arial" panose="020B0604020202020204" pitchFamily="34" charset="0"/>
                <a:ea typeface="思源黑体 Heavy" panose="020B0A00000000000000" pitchFamily="34" charset="-122"/>
              </a:endParaRPr>
            </a:p>
            <a:p>
              <a:pPr algn="just"/>
              <a:r>
                <a:rPr lang="zh-CN" altLang="en-US" sz="950" dirty="0">
                  <a:solidFill>
                    <a:schemeClr val="tx1"/>
                  </a:solidFill>
                  <a:latin typeface="Arial" panose="020B0604020202020204" pitchFamily="34" charset="0"/>
                  <a:ea typeface="思源黑体 Heavy" panose="020B0A00000000000000" pitchFamily="34" charset="-122"/>
                </a:rPr>
                <a:t>外协策略：</a:t>
              </a:r>
              <a:r>
                <a:rPr lang="zh-CN" altLang="en-US" sz="950" b="0" dirty="0">
                  <a:solidFill>
                    <a:schemeClr val="tx1"/>
                  </a:solidFill>
                  <a:latin typeface="Arial" panose="020B0604020202020204" pitchFamily="34" charset="0"/>
                  <a:ea typeface="思源黑体 Heavy" panose="020B0A00000000000000" pitchFamily="34" charset="-122"/>
                </a:rPr>
                <a:t>小品种气体外购</a:t>
              </a:r>
              <a:endParaRPr lang="en-US" altLang="zh-CN" sz="950" b="0" dirty="0">
                <a:solidFill>
                  <a:schemeClr val="tx1"/>
                </a:solidFill>
                <a:latin typeface="Arial" panose="020B0604020202020204" pitchFamily="34" charset="0"/>
                <a:ea typeface="思源黑体 Heavy" panose="020B0A00000000000000" pitchFamily="34" charset="-122"/>
              </a:endParaRPr>
            </a:p>
            <a:p>
              <a:pPr algn="just"/>
              <a:endParaRPr lang="zh-CN" altLang="en-US" sz="950" b="0" dirty="0">
                <a:solidFill>
                  <a:schemeClr val="tx1"/>
                </a:solidFill>
                <a:latin typeface="Arial" panose="020B0604020202020204" pitchFamily="34" charset="0"/>
              </a:endParaRPr>
            </a:p>
          </p:txBody>
        </p:sp>
        <p:cxnSp>
          <p:nvCxnSpPr>
            <p:cNvPr id="18" name="直接箭头连接符 17"/>
            <p:cNvCxnSpPr/>
            <p:nvPr/>
          </p:nvCxnSpPr>
          <p:spPr>
            <a:xfrm>
              <a:off x="2853524" y="3285582"/>
              <a:ext cx="0" cy="901752"/>
            </a:xfrm>
            <a:prstGeom prst="straightConnector1">
              <a:avLst/>
            </a:prstGeom>
            <a:noFill/>
            <a:ln w="12700" cap="flat">
              <a:solidFill>
                <a:srgbClr val="C00000"/>
              </a:solidFill>
              <a:prstDash val="solid"/>
              <a:miter lim="800000"/>
              <a:headEnd type="triangle"/>
              <a:tailEnd type="triangle"/>
            </a:ln>
          </p:spPr>
          <p:style>
            <a:lnRef idx="0">
              <a:srgbClr val="FFFFFF"/>
            </a:lnRef>
            <a:fillRef idx="0">
              <a:srgbClr val="FFFFFF"/>
            </a:fillRef>
            <a:effectRef idx="0">
              <a:srgbClr val="FFFFFF"/>
            </a:effectRef>
            <a:fontRef idx="none"/>
          </p:style>
        </p:cxnSp>
        <p:sp>
          <p:nvSpPr>
            <p:cNvPr id="19" name="文本框 73"/>
            <p:cNvSpPr txBox="1"/>
            <p:nvPr/>
          </p:nvSpPr>
          <p:spPr>
            <a:xfrm>
              <a:off x="2517505" y="3583045"/>
              <a:ext cx="502700" cy="215442"/>
            </a:xfrm>
            <a:prstGeom prst="rect">
              <a:avLst/>
            </a:prstGeom>
            <a:solidFill>
              <a:schemeClr val="bg1"/>
            </a:solid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rgbClr val="C00000"/>
                  </a:solidFill>
                  <a:effectLst/>
                  <a:uFillTx/>
                  <a:latin typeface="Arial" panose="020B0604020202020204" pitchFamily="34" charset="0"/>
                  <a:ea typeface="思源黑体 Heavy" panose="020B0A00000000000000" pitchFamily="34" charset="-122"/>
                  <a:sym typeface="等线" panose="02010600030101010101" charset="-122"/>
                </a:rPr>
                <a:t>相互协同</a:t>
              </a:r>
            </a:p>
          </p:txBody>
        </p:sp>
        <p:sp>
          <p:nvSpPr>
            <p:cNvPr id="20" name="箭头: 右 19"/>
            <p:cNvSpPr/>
            <p:nvPr/>
          </p:nvSpPr>
          <p:spPr>
            <a:xfrm>
              <a:off x="7293935" y="2784886"/>
              <a:ext cx="408481" cy="268244"/>
            </a:xfrm>
            <a:prstGeom prst="rightArrow">
              <a:avLst/>
            </a:prstGeom>
            <a:solidFill>
              <a:srgbClr val="9DB2D5"/>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sp>
          <p:nvSpPr>
            <p:cNvPr id="21" name="矩形 20"/>
            <p:cNvSpPr/>
            <p:nvPr/>
          </p:nvSpPr>
          <p:spPr>
            <a:xfrm>
              <a:off x="7804851" y="1345525"/>
              <a:ext cx="3093521" cy="3509148"/>
            </a:xfrm>
            <a:prstGeom prst="rect">
              <a:avLst/>
            </a:prstGeom>
            <a:noFill/>
            <a:ln w="19050" cap="flat">
              <a:solidFill>
                <a:schemeClr val="accent1">
                  <a:lumMod val="50000"/>
                </a:schemeClr>
              </a:solidFill>
              <a:prstDash val="lgDash"/>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sp>
          <p:nvSpPr>
            <p:cNvPr id="22" name="箭头: 右 21"/>
            <p:cNvSpPr/>
            <p:nvPr/>
          </p:nvSpPr>
          <p:spPr>
            <a:xfrm>
              <a:off x="10747821" y="2790911"/>
              <a:ext cx="408481" cy="268244"/>
            </a:xfrm>
            <a:prstGeom prst="rightArrow">
              <a:avLst/>
            </a:prstGeom>
            <a:solidFill>
              <a:srgbClr val="9DB2D5"/>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sp>
          <p:nvSpPr>
            <p:cNvPr id="23" name="文本框 80"/>
            <p:cNvSpPr txBox="1"/>
            <p:nvPr/>
          </p:nvSpPr>
          <p:spPr>
            <a:xfrm>
              <a:off x="11221483" y="1453698"/>
              <a:ext cx="268245" cy="161582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1" i="0" u="none" strike="noStrike" cap="none" spc="0" normalizeH="0" baseline="0" dirty="0">
                  <a:ln>
                    <a:noFill/>
                  </a:ln>
                  <a:solidFill>
                    <a:srgbClr val="084498"/>
                  </a:solidFill>
                  <a:effectLst/>
                  <a:uFillTx/>
                  <a:latin typeface="Arial" panose="020B0604020202020204" pitchFamily="34" charset="0"/>
                  <a:ea typeface="思源黑体 Heavy" panose="020B0A00000000000000" pitchFamily="34" charset="-122"/>
                  <a:sym typeface="等线" panose="02010600030101010101" charset="-122"/>
                </a:rPr>
                <a:t>电子气综合解决方案能力</a:t>
              </a:r>
            </a:p>
          </p:txBody>
        </p:sp>
        <p:sp>
          <p:nvSpPr>
            <p:cNvPr id="24" name="文本框 81"/>
            <p:cNvSpPr txBox="1"/>
            <p:nvPr/>
          </p:nvSpPr>
          <p:spPr>
            <a:xfrm>
              <a:off x="7804851" y="5239690"/>
              <a:ext cx="3142333" cy="1295325"/>
            </a:xfrm>
            <a:prstGeom prst="rect">
              <a:avLst/>
            </a:prstGeom>
            <a:noFill/>
            <a:ln>
              <a:noFill/>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lgn="just" eaLnBrk="1" hangingPunct="1">
                <a:defRPr sz="1400" b="1">
                  <a:solidFill>
                    <a:schemeClr val="tx1"/>
                  </a:solidFill>
                  <a:latin typeface="+mn-ea"/>
                  <a:ea typeface="+mn-ea"/>
                  <a:cs typeface="Arial" panose="020B0604020202020204" pitchFamily="34" charset="0"/>
                </a:defRPr>
              </a:lvl1pPr>
            </a:lstStyle>
            <a:p>
              <a:r>
                <a:rPr lang="zh-CN" altLang="en-US" sz="950" b="0" dirty="0">
                  <a:latin typeface="Arial" panose="020B0604020202020204" pitchFamily="34" charset="0"/>
                  <a:ea typeface="思源黑体 Heavy" panose="020B0A00000000000000" pitchFamily="34" charset="-122"/>
                </a:rPr>
                <a:t>由于行业竞争激烈，已有杭氧、陕鼓等厂商，短期不进行激进拓展</a:t>
              </a:r>
              <a:endParaRPr lang="en-US" altLang="zh-CN" sz="950" b="0" dirty="0">
                <a:latin typeface="Arial" panose="020B0604020202020204" pitchFamily="34" charset="0"/>
                <a:ea typeface="思源黑体 Heavy" panose="020B0A00000000000000" pitchFamily="34" charset="-122"/>
              </a:endParaRPr>
            </a:p>
            <a:p>
              <a:endParaRPr lang="en-US" altLang="zh-CN" sz="950" b="0" dirty="0">
                <a:latin typeface="Arial" panose="020B0604020202020204" pitchFamily="34" charset="0"/>
                <a:ea typeface="思源黑体 Heavy" panose="020B0A00000000000000" pitchFamily="34" charset="-122"/>
              </a:endParaRPr>
            </a:p>
            <a:p>
              <a:r>
                <a:rPr lang="zh-CN" altLang="en-US" sz="950" b="0" dirty="0">
                  <a:solidFill>
                    <a:srgbClr val="C00000"/>
                  </a:solidFill>
                  <a:latin typeface="Arial" panose="020B0604020202020204" pitchFamily="34" charset="0"/>
                  <a:ea typeface="思源黑体 Heavy" panose="020B0A00000000000000" pitchFamily="34" charset="-122"/>
                </a:rPr>
                <a:t>公司已有普通空分设备储备，预计在能耗与设计上有优势，适度推进，补充全行业运营能力</a:t>
              </a:r>
            </a:p>
          </p:txBody>
        </p:sp>
        <p:sp>
          <p:nvSpPr>
            <p:cNvPr id="25" name="箭头: 右 24"/>
            <p:cNvSpPr/>
            <p:nvPr/>
          </p:nvSpPr>
          <p:spPr>
            <a:xfrm>
              <a:off x="7293935" y="5535590"/>
              <a:ext cx="408481" cy="268244"/>
            </a:xfrm>
            <a:prstGeom prst="rightArrow">
              <a:avLst/>
            </a:prstGeom>
            <a:solidFill>
              <a:srgbClr val="9DB2D5"/>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sp>
          <p:nvSpPr>
            <p:cNvPr id="26" name="箭头: 右 25"/>
            <p:cNvSpPr/>
            <p:nvPr/>
          </p:nvSpPr>
          <p:spPr>
            <a:xfrm rot="5400000">
              <a:off x="11200609" y="4582843"/>
              <a:ext cx="408481" cy="268244"/>
            </a:xfrm>
            <a:prstGeom prst="rightArrow">
              <a:avLst/>
            </a:prstGeom>
            <a:solidFill>
              <a:srgbClr val="9DB2D5"/>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sp>
          <p:nvSpPr>
            <p:cNvPr id="27" name="文本框 84"/>
            <p:cNvSpPr txBox="1"/>
            <p:nvPr/>
          </p:nvSpPr>
          <p:spPr>
            <a:xfrm>
              <a:off x="11241901" y="5010190"/>
              <a:ext cx="247827" cy="92332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zh-CN" altLang="en-US" sz="900" b="1" i="0" u="none" strike="noStrike" cap="none" spc="0" normalizeH="0" baseline="0" dirty="0">
                  <a:ln>
                    <a:noFill/>
                  </a:ln>
                  <a:solidFill>
                    <a:srgbClr val="084498"/>
                  </a:solidFill>
                  <a:effectLst/>
                  <a:uFillTx/>
                  <a:latin typeface="Arial" panose="020B0604020202020204" pitchFamily="34" charset="0"/>
                  <a:ea typeface="思源黑体 Heavy" panose="020B0A00000000000000" pitchFamily="34" charset="-122"/>
                  <a:sym typeface="等线" panose="02010600030101010101" charset="-122"/>
                </a:rPr>
                <a:t>综合运营能力</a:t>
              </a:r>
            </a:p>
          </p:txBody>
        </p:sp>
      </p:grpSp>
      <p:sp>
        <p:nvSpPr>
          <p:cNvPr id="2" name="矩形 1">
            <a:extLst>
              <a:ext uri="{FF2B5EF4-FFF2-40B4-BE49-F238E27FC236}">
                <a16:creationId xmlns:a16="http://schemas.microsoft.com/office/drawing/2014/main" xmlns="" id="{2DE5658B-D1B1-F6D7-C09C-583D753D2BC9}"/>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01</a:t>
            </a:r>
            <a:endParaRPr lang="zh-CN" altLang="en-US" sz="3200" dirty="0"/>
          </a:p>
        </p:txBody>
      </p:sp>
      <p:sp>
        <p:nvSpPr>
          <p:cNvPr id="3" name="矩形 2">
            <a:extLst>
              <a:ext uri="{FF2B5EF4-FFF2-40B4-BE49-F238E27FC236}">
                <a16:creationId xmlns:a16="http://schemas.microsoft.com/office/drawing/2014/main" xmlns="" id="{AAF61B73-7CEA-7004-CFDB-3EEC7B538744}"/>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50188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10"/>
          <p:cNvCxnSpPr>
            <a:cxnSpLocks noChangeShapeType="1"/>
          </p:cNvCxnSpPr>
          <p:nvPr>
            <p:custDataLst>
              <p:tags r:id="rId1"/>
            </p:custDataLst>
          </p:nvPr>
        </p:nvCxnSpPr>
        <p:spPr bwMode="auto">
          <a:xfrm flipV="1">
            <a:off x="2045016" y="3055867"/>
            <a:ext cx="2512832" cy="1288"/>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grpSp>
        <p:nvGrpSpPr>
          <p:cNvPr id="26" name="组合 25"/>
          <p:cNvGrpSpPr/>
          <p:nvPr/>
        </p:nvGrpSpPr>
        <p:grpSpPr>
          <a:xfrm>
            <a:off x="0" y="252507"/>
            <a:ext cx="6393814" cy="584775"/>
            <a:chOff x="0" y="339502"/>
            <a:chExt cx="6393814" cy="584775"/>
          </a:xfrm>
        </p:grpSpPr>
        <p:sp>
          <p:nvSpPr>
            <p:cNvPr id="27" name="矩形 26"/>
            <p:cNvSpPr>
              <a:spLocks noChangeArrowheads="1"/>
            </p:cNvSpPr>
            <p:nvPr/>
          </p:nvSpPr>
          <p:spPr bwMode="auto">
            <a:xfrm>
              <a:off x="849198" y="426981"/>
              <a:ext cx="5544616" cy="400110"/>
            </a:xfrm>
            <a:prstGeom prst="rect">
              <a:avLst/>
            </a:prstGeom>
            <a:noFill/>
            <a:ln w="9525">
              <a:noFill/>
              <a:miter lim="800000"/>
            </a:ln>
          </p:spPr>
          <p:txBody>
            <a:bodyPr wrap="square">
              <a:spAutoFit/>
            </a:body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主业分拆：电子大宗气体是核心资源与增长点</a:t>
              </a:r>
              <a:endParaRPr lang="zh-CN" altLang="en-US" sz="2000" b="1" dirty="0">
                <a:solidFill>
                  <a:srgbClr val="0677D5"/>
                </a:solidFill>
                <a:ea typeface="思源黑体 CN Regular" panose="020B0500000000000000" charset="-122"/>
                <a:cs typeface="Arial" panose="020B0604020202020204" pitchFamily="34" charset="0"/>
              </a:endParaRPr>
            </a:p>
          </p:txBody>
        </p:sp>
        <p:grpSp>
          <p:nvGrpSpPr>
            <p:cNvPr id="29" name="组合 28"/>
            <p:cNvGrpSpPr/>
            <p:nvPr/>
          </p:nvGrpSpPr>
          <p:grpSpPr>
            <a:xfrm>
              <a:off x="0" y="339502"/>
              <a:ext cx="755576" cy="584775"/>
              <a:chOff x="0" y="339502"/>
              <a:chExt cx="755576" cy="584775"/>
            </a:xfrm>
          </p:grpSpPr>
          <p:sp>
            <p:nvSpPr>
              <p:cNvPr id="30" name="矩形 29"/>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1" name="矩形 30"/>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cs typeface="Arial" panose="020B0604020202020204" pitchFamily="34" charset="0"/>
                </a:endParaRPr>
              </a:p>
            </p:txBody>
          </p:sp>
          <p:sp>
            <p:nvSpPr>
              <p:cNvPr id="32" name="文本框 1"/>
              <p:cNvSpPr txBox="1"/>
              <p:nvPr/>
            </p:nvSpPr>
            <p:spPr>
              <a:xfrm>
                <a:off x="0" y="339502"/>
                <a:ext cx="684000" cy="584775"/>
              </a:xfrm>
              <a:prstGeom prst="rect">
                <a:avLst/>
              </a:prstGeom>
              <a:noFill/>
              <a:ln w="9525">
                <a:noFill/>
                <a:miter/>
              </a:ln>
            </p:spPr>
            <p:txBody>
              <a:bodyPr wrap="square" anchor="t">
                <a:spAutoFit/>
              </a:bodyPr>
              <a:lstStyle/>
              <a:p>
                <a:pPr lvl="0" algn="ctr"/>
                <a:r>
                  <a:rPr lang="en-US" altLang="zh-CN" sz="3200" dirty="0">
                    <a:solidFill>
                      <a:schemeClr val="bg1"/>
                    </a:solidFill>
                    <a:latin typeface="Arial" panose="020B0604020202020204" pitchFamily="34" charset="0"/>
                    <a:ea typeface="思源黑体 CN Regular" panose="020B0500000000000000" charset="-122"/>
                    <a:cs typeface="Arial" panose="020B0604020202020204" pitchFamily="34" charset="0"/>
                  </a:rPr>
                  <a:t>01</a:t>
                </a:r>
              </a:p>
            </p:txBody>
          </p:sp>
        </p:grpSp>
      </p:grpSp>
      <p:sp>
        <p:nvSpPr>
          <p:cNvPr id="34" name="矩形 33"/>
          <p:cNvSpPr/>
          <p:nvPr/>
        </p:nvSpPr>
        <p:spPr>
          <a:xfrm>
            <a:off x="313698" y="1635063"/>
            <a:ext cx="591940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图：公司主要业务模式与核心客户列举</a:t>
            </a:r>
          </a:p>
        </p:txBody>
      </p:sp>
      <p:sp>
        <p:nvSpPr>
          <p:cNvPr id="61" name="矩形 60"/>
          <p:cNvSpPr/>
          <p:nvPr/>
        </p:nvSpPr>
        <p:spPr>
          <a:xfrm>
            <a:off x="6528794" y="1611796"/>
            <a:ext cx="23210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图：公司营收分拆（2024）</a:t>
            </a:r>
          </a:p>
        </p:txBody>
      </p:sp>
      <p:graphicFrame>
        <p:nvGraphicFramePr>
          <p:cNvPr id="62" name="图表 61"/>
          <p:cNvGraphicFramePr/>
          <p:nvPr>
            <p:extLst>
              <p:ext uri="{D42A27DB-BD31-4B8C-83A1-F6EECF244321}">
                <p14:modId xmlns:p14="http://schemas.microsoft.com/office/powerpoint/2010/main" val="465133606"/>
              </p:ext>
            </p:extLst>
          </p:nvPr>
        </p:nvGraphicFramePr>
        <p:xfrm>
          <a:off x="6393814" y="1874520"/>
          <a:ext cx="2497253" cy="1352550"/>
        </p:xfrm>
        <a:graphic>
          <a:graphicData uri="http://schemas.openxmlformats.org/drawingml/2006/chart">
            <c:chart xmlns:c="http://schemas.openxmlformats.org/drawingml/2006/chart" xmlns:r="http://schemas.openxmlformats.org/officeDocument/2006/relationships" r:id="rId29"/>
          </a:graphicData>
        </a:graphic>
      </p:graphicFrame>
      <p:sp>
        <p:nvSpPr>
          <p:cNvPr id="64" name="矩形 63"/>
          <p:cNvSpPr/>
          <p:nvPr/>
        </p:nvSpPr>
        <p:spPr>
          <a:xfrm>
            <a:off x="6528794" y="3135630"/>
            <a:ext cx="23739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1000" b="1" dirty="0">
                <a:latin typeface="微软雅黑 Light" panose="020B0502040204020203" pitchFamily="34" charset="-122"/>
                <a:ea typeface="微软雅黑 Light" panose="020B0502040204020203" pitchFamily="34" charset="-122"/>
              </a:rPr>
              <a:t>图：</a:t>
            </a:r>
            <a:r>
              <a:rPr lang="zh-CN" altLang="en-US" sz="1000" b="1" dirty="0">
                <a:solidFill>
                  <a:schemeClr val="tx1"/>
                </a:solidFill>
                <a:latin typeface="微软雅黑 Light" panose="020B0502040204020203" pitchFamily="34" charset="-122"/>
                <a:ea typeface="微软雅黑 Light" panose="020B0502040204020203" pitchFamily="34" charset="-122"/>
              </a:rPr>
              <a:t>公司毛利分拆（2024）</a:t>
            </a:r>
          </a:p>
        </p:txBody>
      </p:sp>
      <p:graphicFrame>
        <p:nvGraphicFramePr>
          <p:cNvPr id="68" name="图表 67"/>
          <p:cNvGraphicFramePr/>
          <p:nvPr/>
        </p:nvGraphicFramePr>
        <p:xfrm>
          <a:off x="6316345" y="3321685"/>
          <a:ext cx="2458085" cy="1406525"/>
        </p:xfrm>
        <a:graphic>
          <a:graphicData uri="http://schemas.openxmlformats.org/drawingml/2006/chart">
            <c:chart xmlns:c="http://schemas.openxmlformats.org/drawingml/2006/chart" xmlns:r="http://schemas.openxmlformats.org/officeDocument/2006/relationships" r:id="rId30"/>
          </a:graphicData>
        </a:graphic>
      </p:graphicFrame>
      <p:grpSp>
        <p:nvGrpSpPr>
          <p:cNvPr id="69" name="组合 68"/>
          <p:cNvGrpSpPr/>
          <p:nvPr>
            <p:custDataLst>
              <p:tags r:id="rId2"/>
            </p:custDataLst>
          </p:nvPr>
        </p:nvGrpSpPr>
        <p:grpSpPr>
          <a:xfrm>
            <a:off x="313698" y="1971041"/>
            <a:ext cx="5922001" cy="2757170"/>
            <a:chOff x="922722" y="2433799"/>
            <a:chExt cx="6673588" cy="4013768"/>
          </a:xfrm>
        </p:grpSpPr>
        <p:cxnSp>
          <p:nvCxnSpPr>
            <p:cNvPr id="70" name="直接箭头连接符 10"/>
            <p:cNvCxnSpPr>
              <a:cxnSpLocks noChangeShapeType="1"/>
            </p:cNvCxnSpPr>
            <p:nvPr>
              <p:custDataLst>
                <p:tags r:id="rId3"/>
              </p:custDataLst>
            </p:nvPr>
          </p:nvCxnSpPr>
          <p:spPr bwMode="auto">
            <a:xfrm flipV="1">
              <a:off x="2720820" y="3925137"/>
              <a:ext cx="2771127" cy="1823"/>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71" name="圆角矩形 70"/>
            <p:cNvSpPr>
              <a:spLocks noChangeArrowheads="1"/>
            </p:cNvSpPr>
            <p:nvPr>
              <p:custDataLst>
                <p:tags r:id="rId4"/>
              </p:custDataLst>
            </p:nvPr>
          </p:nvSpPr>
          <p:spPr bwMode="auto">
            <a:xfrm>
              <a:off x="3260225" y="3402857"/>
              <a:ext cx="2228265" cy="988834"/>
            </a:xfrm>
            <a:prstGeom prst="roundRect">
              <a:avLst>
                <a:gd name="adj" fmla="val 16667"/>
              </a:avLst>
            </a:prstGeom>
            <a:solidFill>
              <a:srgbClr val="F4F8FD"/>
            </a:solidFill>
            <a:ln w="19050">
              <a:solidFill>
                <a:schemeClr val="tx2"/>
              </a:solidFill>
              <a:prstDash val="dash"/>
              <a:round/>
            </a:ln>
          </p:spPr>
          <p:txBody>
            <a:bodyPr anchor="ctr"/>
            <a:lstStyle/>
            <a:p>
              <a:pPr indent="0" algn="just">
                <a:lnSpc>
                  <a:spcPct val="80000"/>
                </a:lnSpc>
                <a:buFont typeface="Wingdings" panose="05000000000000000000" pitchFamily="2" charset="2"/>
                <a:buNone/>
                <a:defRPr/>
              </a:pPr>
              <a:r>
                <a:rPr lang="zh-CN" altLang="en-US" sz="1000" dirty="0">
                  <a:solidFill>
                    <a:srgbClr val="404040"/>
                  </a:solidFill>
                  <a:latin typeface="Arial" panose="020B0604020202020204" pitchFamily="34" charset="0"/>
                  <a:ea typeface="思源黑体 Heavy" panose="020B0A00000000000000" pitchFamily="34" charset="-122"/>
                </a:rPr>
                <a:t>通过自有的液体生产基地和氦气供应链，为电子半导体中小规模用气客户提供液体、管束气等气体零售供气服务</a:t>
              </a:r>
            </a:p>
          </p:txBody>
        </p:sp>
        <p:cxnSp>
          <p:nvCxnSpPr>
            <p:cNvPr id="72" name="直接箭头连接符 10"/>
            <p:cNvCxnSpPr>
              <a:cxnSpLocks noChangeShapeType="1"/>
            </p:cNvCxnSpPr>
            <p:nvPr>
              <p:custDataLst>
                <p:tags r:id="rId5"/>
              </p:custDataLst>
            </p:nvPr>
          </p:nvCxnSpPr>
          <p:spPr bwMode="auto">
            <a:xfrm flipV="1">
              <a:off x="2737471" y="2840276"/>
              <a:ext cx="3001914" cy="16475"/>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73" name="圆角矩形 5"/>
            <p:cNvSpPr>
              <a:spLocks noChangeArrowheads="1"/>
            </p:cNvSpPr>
            <p:nvPr>
              <p:custDataLst>
                <p:tags r:id="rId6"/>
              </p:custDataLst>
            </p:nvPr>
          </p:nvSpPr>
          <p:spPr bwMode="auto">
            <a:xfrm>
              <a:off x="3284735" y="2467060"/>
              <a:ext cx="2207257" cy="880062"/>
            </a:xfrm>
            <a:prstGeom prst="roundRect">
              <a:avLst>
                <a:gd name="adj" fmla="val 16667"/>
              </a:avLst>
            </a:prstGeom>
            <a:solidFill>
              <a:srgbClr val="F4F8FD"/>
            </a:solidFill>
            <a:ln w="19050">
              <a:solidFill>
                <a:schemeClr val="tx2"/>
              </a:solidFill>
              <a:prstDash val="dash"/>
              <a:round/>
            </a:ln>
          </p:spPr>
          <p:txBody>
            <a:bodyPr anchor="ctr"/>
            <a:lstStyle/>
            <a:p>
              <a:pPr algn="l">
                <a:lnSpc>
                  <a:spcPct val="80000"/>
                </a:lnSpc>
                <a:spcBef>
                  <a:spcPts val="600"/>
                </a:spcBef>
                <a:buClrTx/>
                <a:buSzTx/>
                <a:buFontTx/>
              </a:pPr>
              <a:r>
                <a:rPr lang="zh-CN" altLang="en-US" sz="1000" dirty="0">
                  <a:solidFill>
                    <a:srgbClr val="404040"/>
                  </a:solidFill>
                  <a:latin typeface="Arial" panose="020B0604020202020204" pitchFamily="34" charset="0"/>
                  <a:ea typeface="思源黑体 Heavy" panose="020B0A00000000000000" pitchFamily="34" charset="-122"/>
                </a:rPr>
                <a:t>通过现场安装制气装置及全套制气系统，为电子半导体大规模用气客户提供电子大宗气体现场制气服务</a:t>
              </a:r>
            </a:p>
          </p:txBody>
        </p:sp>
        <p:sp>
          <p:nvSpPr>
            <p:cNvPr id="74" name="矩形 20"/>
            <p:cNvSpPr>
              <a:spLocks noChangeArrowheads="1"/>
            </p:cNvSpPr>
            <p:nvPr>
              <p:custDataLst>
                <p:tags r:id="rId7"/>
              </p:custDataLst>
            </p:nvPr>
          </p:nvSpPr>
          <p:spPr bwMode="auto">
            <a:xfrm>
              <a:off x="922722" y="3701729"/>
              <a:ext cx="348142" cy="1605394"/>
            </a:xfrm>
            <a:prstGeom prst="rect">
              <a:avLst/>
            </a:prstGeom>
            <a:solidFill>
              <a:schemeClr val="tx2">
                <a:lumMod val="20000"/>
                <a:lumOff val="80000"/>
              </a:schemeClr>
            </a:solidFill>
            <a:ln w="12700">
              <a:noFill/>
              <a:round/>
            </a:ln>
          </p:spPr>
          <p:txBody>
            <a:bodyPr anchor="ctr"/>
            <a:lstStyle/>
            <a:p>
              <a:pPr algn="ctr" eaLnBrk="1" hangingPunct="1">
                <a:lnSpc>
                  <a:spcPct val="80000"/>
                </a:lnSpc>
                <a:defRPr/>
              </a:pPr>
              <a:r>
                <a:rPr lang="zh-CN" altLang="en-US" sz="1600" b="1" dirty="0">
                  <a:latin typeface="Arial" panose="020B0604020202020204" pitchFamily="34" charset="0"/>
                  <a:ea typeface="+mn-ea"/>
                  <a:cs typeface="Arial" panose="020B0604020202020204" pitchFamily="34" charset="0"/>
                </a:rPr>
                <a:t>广钢气体</a:t>
              </a:r>
            </a:p>
          </p:txBody>
        </p:sp>
        <p:cxnSp>
          <p:nvCxnSpPr>
            <p:cNvPr id="75" name="直接连接符 11"/>
            <p:cNvCxnSpPr>
              <a:cxnSpLocks noChangeShapeType="1"/>
            </p:cNvCxnSpPr>
            <p:nvPr>
              <p:custDataLst>
                <p:tags r:id="rId8"/>
              </p:custDataLst>
            </p:nvPr>
          </p:nvCxnSpPr>
          <p:spPr bwMode="auto">
            <a:xfrm>
              <a:off x="1492138" y="3510030"/>
              <a:ext cx="0" cy="1988791"/>
            </a:xfrm>
            <a:prstGeom prst="line">
              <a:avLst/>
            </a:prstGeom>
            <a:noFill/>
            <a:ln w="9525">
              <a:solidFill>
                <a:schemeClr val="tx1"/>
              </a:solidFill>
              <a:round/>
            </a:ln>
            <a:extLst>
              <a:ext uri="{909E8E84-426E-40DD-AFC4-6F175D3DCCD1}">
                <a14:hiddenFill xmlns:a14="http://schemas.microsoft.com/office/drawing/2010/main">
                  <a:noFill/>
                </a14:hiddenFill>
              </a:ext>
            </a:extLst>
          </p:spPr>
        </p:cxnSp>
        <p:cxnSp>
          <p:nvCxnSpPr>
            <p:cNvPr id="76" name="直接箭头连接符 10"/>
            <p:cNvCxnSpPr>
              <a:cxnSpLocks noChangeShapeType="1"/>
            </p:cNvCxnSpPr>
            <p:nvPr>
              <p:custDataLst>
                <p:tags r:id="rId9"/>
              </p:custDataLst>
            </p:nvPr>
          </p:nvCxnSpPr>
          <p:spPr bwMode="auto">
            <a:xfrm>
              <a:off x="1497664" y="3510030"/>
              <a:ext cx="1226428"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77" name="直接箭头连接符 10"/>
            <p:cNvCxnSpPr>
              <a:cxnSpLocks noChangeShapeType="1"/>
            </p:cNvCxnSpPr>
            <p:nvPr>
              <p:custDataLst>
                <p:tags r:id="rId10"/>
              </p:custDataLst>
            </p:nvPr>
          </p:nvCxnSpPr>
          <p:spPr bwMode="auto">
            <a:xfrm>
              <a:off x="1492138" y="5510448"/>
              <a:ext cx="1231954"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sp>
          <p:nvSpPr>
            <p:cNvPr id="78" name="矩形 1"/>
            <p:cNvSpPr>
              <a:spLocks noChangeArrowheads="1"/>
            </p:cNvSpPr>
            <p:nvPr>
              <p:custDataLst>
                <p:tags r:id="rId11"/>
              </p:custDataLst>
            </p:nvPr>
          </p:nvSpPr>
          <p:spPr bwMode="auto">
            <a:xfrm>
              <a:off x="1639193" y="3211657"/>
              <a:ext cx="916851" cy="574105"/>
            </a:xfrm>
            <a:prstGeom prst="rect">
              <a:avLst/>
            </a:prstGeom>
            <a:solidFill>
              <a:srgbClr val="F4F8FD"/>
            </a:solidFill>
            <a:ln>
              <a:noFill/>
            </a:ln>
          </p:spPr>
          <p:txBody>
            <a:bodyPr anchor="ctr"/>
            <a:lstStyle/>
            <a:p>
              <a:pPr algn="ctr" eaLnBrk="1" hangingPunct="1">
                <a:lnSpc>
                  <a:spcPct val="80000"/>
                </a:lnSpc>
                <a:defRPr/>
              </a:pPr>
              <a:r>
                <a:rPr lang="zh-CN" altLang="en-US" sz="1050" b="1" dirty="0">
                  <a:solidFill>
                    <a:srgbClr val="C00000"/>
                  </a:solidFill>
                  <a:latin typeface="Arial" panose="020B0604020202020204" pitchFamily="34" charset="0"/>
                  <a:ea typeface="+mn-ea"/>
                  <a:cs typeface="Arial" panose="020B0604020202020204" pitchFamily="34" charset="0"/>
                </a:rPr>
                <a:t>电子大宗气体</a:t>
              </a:r>
            </a:p>
          </p:txBody>
        </p:sp>
        <p:sp>
          <p:nvSpPr>
            <p:cNvPr id="79" name="矩形 1"/>
            <p:cNvSpPr>
              <a:spLocks noChangeArrowheads="1"/>
            </p:cNvSpPr>
            <p:nvPr>
              <p:custDataLst>
                <p:tags r:id="rId12"/>
              </p:custDataLst>
            </p:nvPr>
          </p:nvSpPr>
          <p:spPr bwMode="auto">
            <a:xfrm>
              <a:off x="1639192" y="5176081"/>
              <a:ext cx="946883" cy="761377"/>
            </a:xfrm>
            <a:prstGeom prst="rect">
              <a:avLst/>
            </a:prstGeom>
            <a:solidFill>
              <a:srgbClr val="F4F8FD"/>
            </a:solidFill>
            <a:ln>
              <a:noFill/>
            </a:ln>
          </p:spPr>
          <p:txBody>
            <a:bodyPr anchor="ctr"/>
            <a:lstStyle/>
            <a:p>
              <a:pPr algn="ctr">
                <a:lnSpc>
                  <a:spcPct val="80000"/>
                </a:lnSpc>
              </a:pPr>
              <a:r>
                <a:rPr lang="zh-CN" altLang="en-US" sz="1050" b="1" dirty="0">
                  <a:latin typeface="Arial" panose="020B0604020202020204" pitchFamily="34" charset="0"/>
                  <a:ea typeface="+mn-ea"/>
                  <a:cs typeface="Arial" panose="020B0604020202020204" pitchFamily="34" charset="0"/>
                </a:rPr>
                <a:t>通用工业气体</a:t>
              </a:r>
            </a:p>
          </p:txBody>
        </p:sp>
        <p:sp>
          <p:nvSpPr>
            <p:cNvPr id="80" name="矩形 1"/>
            <p:cNvSpPr>
              <a:spLocks noChangeArrowheads="1"/>
            </p:cNvSpPr>
            <p:nvPr>
              <p:custDataLst>
                <p:tags r:id="rId13"/>
              </p:custDataLst>
            </p:nvPr>
          </p:nvSpPr>
          <p:spPr bwMode="auto">
            <a:xfrm>
              <a:off x="2771919" y="2734206"/>
              <a:ext cx="640546" cy="433964"/>
            </a:xfrm>
            <a:prstGeom prst="rect">
              <a:avLst/>
            </a:prstGeom>
            <a:solidFill>
              <a:srgbClr val="F4F8FD"/>
            </a:solidFill>
            <a:ln>
              <a:noFill/>
            </a:ln>
          </p:spPr>
          <p:txBody>
            <a:bodyPr anchor="ctr"/>
            <a:lstStyle/>
            <a:p>
              <a:pPr algn="ctr" eaLnBrk="1" hangingPunct="1">
                <a:lnSpc>
                  <a:spcPct val="80000"/>
                </a:lnSpc>
                <a:defRPr/>
              </a:pPr>
              <a:r>
                <a:rPr lang="zh-CN" altLang="en-US" sz="1050" b="1" dirty="0">
                  <a:latin typeface="Arial" panose="020B0604020202020204" pitchFamily="34" charset="0"/>
                  <a:ea typeface="思源黑体 Heavy" panose="020B0A00000000000000" pitchFamily="34" charset="-122"/>
                  <a:cs typeface="Arial" panose="020B0604020202020204" pitchFamily="34" charset="0"/>
                </a:rPr>
                <a:t>现场制气</a:t>
              </a:r>
            </a:p>
          </p:txBody>
        </p:sp>
        <p:sp>
          <p:nvSpPr>
            <p:cNvPr id="81" name="矩形 1"/>
            <p:cNvSpPr>
              <a:spLocks noChangeArrowheads="1"/>
            </p:cNvSpPr>
            <p:nvPr>
              <p:custDataLst>
                <p:tags r:id="rId14"/>
              </p:custDataLst>
            </p:nvPr>
          </p:nvSpPr>
          <p:spPr bwMode="auto">
            <a:xfrm>
              <a:off x="2799171" y="3733235"/>
              <a:ext cx="574720" cy="433964"/>
            </a:xfrm>
            <a:prstGeom prst="rect">
              <a:avLst/>
            </a:prstGeom>
            <a:solidFill>
              <a:srgbClr val="F4F8FD"/>
            </a:solidFill>
            <a:ln>
              <a:noFill/>
            </a:ln>
          </p:spPr>
          <p:txBody>
            <a:bodyPr anchor="ctr"/>
            <a:lstStyle/>
            <a:p>
              <a:pPr algn="ctr">
                <a:lnSpc>
                  <a:spcPct val="80000"/>
                </a:lnSpc>
              </a:pPr>
              <a:r>
                <a:rPr lang="zh-CN" altLang="en-US" sz="1050" b="1" dirty="0">
                  <a:latin typeface="Arial" panose="020B0604020202020204" pitchFamily="34" charset="0"/>
                  <a:ea typeface="思源黑体 Heavy" panose="020B0A00000000000000" pitchFamily="34" charset="-122"/>
                  <a:cs typeface="Arial" panose="020B0604020202020204" pitchFamily="34" charset="0"/>
                </a:rPr>
                <a:t>零售供气</a:t>
              </a:r>
            </a:p>
          </p:txBody>
        </p:sp>
        <p:cxnSp>
          <p:nvCxnSpPr>
            <p:cNvPr id="82" name="直接箭头连接符 10"/>
            <p:cNvCxnSpPr>
              <a:cxnSpLocks noChangeShapeType="1"/>
            </p:cNvCxnSpPr>
            <p:nvPr>
              <p:custDataLst>
                <p:tags r:id="rId15"/>
              </p:custDataLst>
            </p:nvPr>
          </p:nvCxnSpPr>
          <p:spPr bwMode="auto">
            <a:xfrm>
              <a:off x="1282151" y="4431244"/>
              <a:ext cx="223089" cy="0"/>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83" name="直接连接符 11"/>
            <p:cNvCxnSpPr>
              <a:cxnSpLocks noChangeShapeType="1"/>
            </p:cNvCxnSpPr>
            <p:nvPr>
              <p:custDataLst>
                <p:tags r:id="rId16"/>
              </p:custDataLst>
            </p:nvPr>
          </p:nvCxnSpPr>
          <p:spPr bwMode="auto">
            <a:xfrm flipH="1">
              <a:off x="2734544" y="2856749"/>
              <a:ext cx="2927" cy="1068398"/>
            </a:xfrm>
            <a:prstGeom prst="line">
              <a:avLst/>
            </a:prstGeom>
            <a:noFill/>
            <a:ln w="9525">
              <a:solidFill>
                <a:schemeClr val="tx1"/>
              </a:solidFill>
              <a:round/>
            </a:ln>
            <a:extLst>
              <a:ext uri="{909E8E84-426E-40DD-AFC4-6F175D3DCCD1}">
                <a14:hiddenFill xmlns:a14="http://schemas.microsoft.com/office/drawing/2010/main">
                  <a:noFill/>
                </a14:hiddenFill>
              </a:ext>
            </a:extLst>
          </p:spPr>
        </p:cxnSp>
        <p:cxnSp>
          <p:nvCxnSpPr>
            <p:cNvPr id="84" name="直接箭头连接符 10"/>
            <p:cNvCxnSpPr>
              <a:cxnSpLocks noChangeShapeType="1"/>
              <a:endCxn id="94" idx="1"/>
            </p:cNvCxnSpPr>
            <p:nvPr>
              <p:custDataLst>
                <p:tags r:id="rId17"/>
              </p:custDataLst>
            </p:nvPr>
          </p:nvCxnSpPr>
          <p:spPr bwMode="auto">
            <a:xfrm flipV="1">
              <a:off x="2737471" y="5987344"/>
              <a:ext cx="3039960" cy="49783"/>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85" name="圆角矩形 5"/>
            <p:cNvSpPr>
              <a:spLocks noChangeArrowheads="1"/>
            </p:cNvSpPr>
            <p:nvPr>
              <p:custDataLst>
                <p:tags r:id="rId18"/>
              </p:custDataLst>
            </p:nvPr>
          </p:nvSpPr>
          <p:spPr bwMode="auto">
            <a:xfrm>
              <a:off x="3285435" y="5509073"/>
              <a:ext cx="2192178" cy="938494"/>
            </a:xfrm>
            <a:prstGeom prst="roundRect">
              <a:avLst>
                <a:gd name="adj" fmla="val 16667"/>
              </a:avLst>
            </a:prstGeom>
            <a:solidFill>
              <a:srgbClr val="F4F8FD"/>
            </a:solidFill>
            <a:ln w="19050">
              <a:solidFill>
                <a:schemeClr val="tx2"/>
              </a:solidFill>
              <a:prstDash val="dash"/>
              <a:round/>
            </a:ln>
          </p:spPr>
          <p:txBody>
            <a:bodyPr anchor="ctr"/>
            <a:lstStyle/>
            <a:p>
              <a:pPr indent="0" algn="just">
                <a:lnSpc>
                  <a:spcPct val="80000"/>
                </a:lnSpc>
                <a:buClrTx/>
                <a:buSzTx/>
                <a:buFont typeface="Wingdings" panose="05000000000000000000" pitchFamily="2" charset="2"/>
                <a:buNone/>
                <a:defRPr/>
              </a:pPr>
              <a:r>
                <a:rPr lang="zh-CN" altLang="en-US" sz="1000" dirty="0">
                  <a:solidFill>
                    <a:srgbClr val="404040"/>
                  </a:solidFill>
                  <a:latin typeface="Arial" panose="020B0604020202020204" pitchFamily="34" charset="0"/>
                  <a:ea typeface="思源黑体 Heavy" panose="020B0A00000000000000" pitchFamily="34" charset="-122"/>
                </a:rPr>
                <a:t>通过自有的液体生产基地和氦气供应链，为制造业及食品医疗客户提供液体、管束气等气体零售工期服务</a:t>
              </a:r>
            </a:p>
          </p:txBody>
        </p:sp>
        <p:cxnSp>
          <p:nvCxnSpPr>
            <p:cNvPr id="86" name="直接箭头连接符 10"/>
            <p:cNvCxnSpPr>
              <a:cxnSpLocks noChangeShapeType="1"/>
            </p:cNvCxnSpPr>
            <p:nvPr>
              <p:custDataLst>
                <p:tags r:id="rId19"/>
              </p:custDataLst>
            </p:nvPr>
          </p:nvCxnSpPr>
          <p:spPr bwMode="auto">
            <a:xfrm>
              <a:off x="2728269" y="5001509"/>
              <a:ext cx="2971282" cy="1823"/>
            </a:xfrm>
            <a:prstGeom prst="straightConnector1">
              <a:avLst/>
            </a:prstGeom>
            <a:noFill/>
            <a:ln w="9525">
              <a:solidFill>
                <a:schemeClr val="tx1"/>
              </a:solidFill>
              <a:round/>
              <a:headEnd type="none" w="med" len="med"/>
              <a:tailEnd type="arrow" w="med" len="med"/>
            </a:ln>
            <a:extLst>
              <a:ext uri="{909E8E84-426E-40DD-AFC4-6F175D3DCCD1}">
                <a14:hiddenFill xmlns:a14="http://schemas.microsoft.com/office/drawing/2010/main">
                  <a:noFill/>
                </a14:hiddenFill>
              </a:ext>
            </a:extLst>
          </p:spPr>
        </p:cxnSp>
        <p:sp>
          <p:nvSpPr>
            <p:cNvPr id="87" name="圆角矩形 5"/>
            <p:cNvSpPr>
              <a:spLocks noChangeArrowheads="1"/>
            </p:cNvSpPr>
            <p:nvPr>
              <p:custDataLst>
                <p:tags r:id="rId20"/>
              </p:custDataLst>
            </p:nvPr>
          </p:nvSpPr>
          <p:spPr bwMode="auto">
            <a:xfrm>
              <a:off x="3284734" y="4536420"/>
              <a:ext cx="2198315" cy="868376"/>
            </a:xfrm>
            <a:prstGeom prst="roundRect">
              <a:avLst>
                <a:gd name="adj" fmla="val 16667"/>
              </a:avLst>
            </a:prstGeom>
            <a:solidFill>
              <a:srgbClr val="F4F8FD"/>
            </a:solidFill>
            <a:ln w="19050">
              <a:solidFill>
                <a:schemeClr val="tx2"/>
              </a:solidFill>
              <a:prstDash val="dash"/>
              <a:round/>
            </a:ln>
          </p:spPr>
          <p:txBody>
            <a:bodyPr anchor="ctr"/>
            <a:lstStyle/>
            <a:p>
              <a:pPr indent="0" algn="just">
                <a:lnSpc>
                  <a:spcPct val="80000"/>
                </a:lnSpc>
                <a:buClrTx/>
                <a:buSzTx/>
                <a:buFont typeface="Wingdings" panose="05000000000000000000" pitchFamily="2" charset="2"/>
                <a:buNone/>
                <a:defRPr/>
              </a:pPr>
              <a:r>
                <a:rPr lang="zh-CN" altLang="en-US" sz="1000" dirty="0">
                  <a:solidFill>
                    <a:srgbClr val="404040"/>
                  </a:solidFill>
                  <a:latin typeface="Arial" panose="020B0604020202020204" pitchFamily="34" charset="0"/>
                  <a:ea typeface="思源黑体 Heavy" panose="020B0A00000000000000" pitchFamily="34" charset="-122"/>
                </a:rPr>
                <a:t>通过现场安装空气分离装置，为有色金属、气体钢板等大工业客户提供现场制气服务</a:t>
              </a:r>
            </a:p>
          </p:txBody>
        </p:sp>
        <p:sp>
          <p:nvSpPr>
            <p:cNvPr id="88" name="矩形 1"/>
            <p:cNvSpPr>
              <a:spLocks noChangeArrowheads="1"/>
            </p:cNvSpPr>
            <p:nvPr>
              <p:custDataLst>
                <p:tags r:id="rId21"/>
              </p:custDataLst>
            </p:nvPr>
          </p:nvSpPr>
          <p:spPr bwMode="auto">
            <a:xfrm>
              <a:off x="2771919" y="4822763"/>
              <a:ext cx="640546" cy="433964"/>
            </a:xfrm>
            <a:prstGeom prst="rect">
              <a:avLst/>
            </a:prstGeom>
            <a:solidFill>
              <a:srgbClr val="F4F8FD"/>
            </a:solidFill>
            <a:ln>
              <a:noFill/>
            </a:ln>
          </p:spPr>
          <p:txBody>
            <a:bodyPr anchor="ctr"/>
            <a:lstStyle/>
            <a:p>
              <a:pPr algn="ctr" eaLnBrk="1" hangingPunct="1">
                <a:lnSpc>
                  <a:spcPct val="80000"/>
                </a:lnSpc>
                <a:defRPr/>
              </a:pPr>
              <a:r>
                <a:rPr lang="zh-CN" altLang="en-US" sz="1050" b="1" dirty="0">
                  <a:latin typeface="Arial" panose="020B0604020202020204" pitchFamily="34" charset="0"/>
                  <a:ea typeface="思源黑体 Heavy" panose="020B0A00000000000000" pitchFamily="34" charset="-122"/>
                  <a:cs typeface="Arial" panose="020B0604020202020204" pitchFamily="34" charset="0"/>
                </a:rPr>
                <a:t>现场制气</a:t>
              </a:r>
            </a:p>
          </p:txBody>
        </p:sp>
        <p:sp>
          <p:nvSpPr>
            <p:cNvPr id="89" name="矩形 1"/>
            <p:cNvSpPr>
              <a:spLocks noChangeArrowheads="1"/>
            </p:cNvSpPr>
            <p:nvPr>
              <p:custDataLst>
                <p:tags r:id="rId22"/>
              </p:custDataLst>
            </p:nvPr>
          </p:nvSpPr>
          <p:spPr bwMode="auto">
            <a:xfrm>
              <a:off x="2773594" y="5795252"/>
              <a:ext cx="579499" cy="433964"/>
            </a:xfrm>
            <a:prstGeom prst="rect">
              <a:avLst/>
            </a:prstGeom>
            <a:solidFill>
              <a:srgbClr val="F4F8FD"/>
            </a:solidFill>
            <a:ln>
              <a:noFill/>
            </a:ln>
          </p:spPr>
          <p:txBody>
            <a:bodyPr anchor="ctr"/>
            <a:lstStyle/>
            <a:p>
              <a:pPr algn="ctr">
                <a:lnSpc>
                  <a:spcPct val="80000"/>
                </a:lnSpc>
              </a:pPr>
              <a:r>
                <a:rPr lang="zh-CN" altLang="en-US" sz="1050" b="1" dirty="0">
                  <a:latin typeface="Arial" panose="020B0604020202020204" pitchFamily="34" charset="0"/>
                  <a:ea typeface="思源黑体 Heavy" panose="020B0A00000000000000" pitchFamily="34" charset="-122"/>
                  <a:cs typeface="Arial" panose="020B0604020202020204" pitchFamily="34" charset="0"/>
                </a:rPr>
                <a:t>零售供气</a:t>
              </a:r>
            </a:p>
          </p:txBody>
        </p:sp>
        <p:cxnSp>
          <p:nvCxnSpPr>
            <p:cNvPr id="90" name="直接连接符 11"/>
            <p:cNvCxnSpPr>
              <a:cxnSpLocks noChangeShapeType="1"/>
            </p:cNvCxnSpPr>
            <p:nvPr>
              <p:custDataLst>
                <p:tags r:id="rId23"/>
              </p:custDataLst>
            </p:nvPr>
          </p:nvCxnSpPr>
          <p:spPr bwMode="auto">
            <a:xfrm>
              <a:off x="2733289" y="5014207"/>
              <a:ext cx="2718" cy="1037330"/>
            </a:xfrm>
            <a:prstGeom prst="line">
              <a:avLst/>
            </a:prstGeom>
            <a:noFill/>
            <a:ln w="9525">
              <a:solidFill>
                <a:schemeClr val="tx1"/>
              </a:solidFill>
              <a:round/>
            </a:ln>
            <a:extLst>
              <a:ext uri="{909E8E84-426E-40DD-AFC4-6F175D3DCCD1}">
                <a14:hiddenFill xmlns:a14="http://schemas.microsoft.com/office/drawing/2010/main">
                  <a:noFill/>
                </a14:hiddenFill>
              </a:ext>
            </a:extLst>
          </p:spPr>
        </p:cxnSp>
        <p:sp>
          <p:nvSpPr>
            <p:cNvPr id="91" name="圆角矩形 5"/>
            <p:cNvSpPr>
              <a:spLocks noChangeArrowheads="1"/>
            </p:cNvSpPr>
            <p:nvPr>
              <p:custDataLst>
                <p:tags r:id="rId24"/>
              </p:custDataLst>
            </p:nvPr>
          </p:nvSpPr>
          <p:spPr bwMode="auto">
            <a:xfrm>
              <a:off x="5741990" y="2433799"/>
              <a:ext cx="1854320" cy="969957"/>
            </a:xfrm>
            <a:prstGeom prst="roundRect">
              <a:avLst>
                <a:gd name="adj" fmla="val 16667"/>
              </a:avLst>
            </a:prstGeom>
            <a:solidFill>
              <a:schemeClr val="tx2">
                <a:lumMod val="20000"/>
                <a:lumOff val="80000"/>
              </a:schemeClr>
            </a:solidFill>
            <a:ln w="19050">
              <a:noFill/>
              <a:prstDash val="dash"/>
              <a:round/>
            </a:ln>
          </p:spPr>
          <p:txBody>
            <a:bodyPr anchor="ctr"/>
            <a:lstStyle/>
            <a:p>
              <a:pPr indent="0" algn="just" eaLnBrk="1" hangingPunct="1">
                <a:lnSpc>
                  <a:spcPct val="80000"/>
                </a:lnSpc>
                <a:buClrTx/>
                <a:buSzTx/>
                <a:buFont typeface="Wingdings" panose="05000000000000000000" pitchFamily="2" charset="2"/>
                <a:buNone/>
                <a:defRPr/>
              </a:pPr>
              <a:r>
                <a:rPr lang="zh-CN" altLang="en-US" sz="1050" dirty="0">
                  <a:solidFill>
                    <a:srgbClr val="404040"/>
                  </a:solidFill>
                  <a:latin typeface="Arial" panose="020B0604020202020204" pitchFamily="34" charset="0"/>
                  <a:ea typeface="思源黑体 Heavy" panose="020B0A00000000000000" pitchFamily="34" charset="-122"/>
                </a:rPr>
                <a:t>面板：华星光电、惠科股份等；</a:t>
              </a:r>
            </a:p>
            <a:p>
              <a:pPr indent="0" algn="just" eaLnBrk="1" hangingPunct="1">
                <a:lnSpc>
                  <a:spcPct val="80000"/>
                </a:lnSpc>
                <a:buClrTx/>
                <a:buSzTx/>
                <a:buFont typeface="Wingdings" panose="05000000000000000000" pitchFamily="2" charset="2"/>
                <a:buNone/>
                <a:defRPr/>
              </a:pPr>
              <a:r>
                <a:rPr lang="zh-CN" altLang="en-US" sz="1050" dirty="0">
                  <a:solidFill>
                    <a:srgbClr val="404040"/>
                  </a:solidFill>
                  <a:latin typeface="Arial" panose="020B0604020202020204" pitchFamily="34" charset="0"/>
                  <a:ea typeface="思源黑体 Heavy" panose="020B0A00000000000000" pitchFamily="34" charset="-122"/>
                </a:rPr>
                <a:t>晶圆：晶合集成、长鑫存储、长江存储、青岛芯恩等</a:t>
              </a:r>
            </a:p>
          </p:txBody>
        </p:sp>
        <p:sp>
          <p:nvSpPr>
            <p:cNvPr id="92" name="圆角矩形 5"/>
            <p:cNvSpPr>
              <a:spLocks noChangeArrowheads="1"/>
            </p:cNvSpPr>
            <p:nvPr>
              <p:custDataLst>
                <p:tags r:id="rId25"/>
              </p:custDataLst>
            </p:nvPr>
          </p:nvSpPr>
          <p:spPr bwMode="auto">
            <a:xfrm>
              <a:off x="5759494" y="3548485"/>
              <a:ext cx="1836815" cy="882759"/>
            </a:xfrm>
            <a:prstGeom prst="roundRect">
              <a:avLst>
                <a:gd name="adj" fmla="val 16667"/>
              </a:avLst>
            </a:prstGeom>
            <a:solidFill>
              <a:schemeClr val="tx2">
                <a:lumMod val="20000"/>
                <a:lumOff val="80000"/>
              </a:schemeClr>
            </a:solidFill>
            <a:ln w="19050">
              <a:noFill/>
              <a:prstDash val="dash"/>
              <a:round/>
            </a:ln>
          </p:spPr>
          <p:txBody>
            <a:bodyPr anchor="ctr"/>
            <a:lstStyle/>
            <a:p>
              <a:pPr indent="0" algn="just" eaLnBrk="1" hangingPunct="1">
                <a:lnSpc>
                  <a:spcPct val="80000"/>
                </a:lnSpc>
                <a:buClrTx/>
                <a:buSzTx/>
                <a:buFont typeface="Wingdings" panose="05000000000000000000" pitchFamily="2" charset="2"/>
                <a:buNone/>
                <a:defRPr/>
              </a:pPr>
              <a:r>
                <a:rPr lang="zh-CN" altLang="en-US" sz="1050" dirty="0">
                  <a:solidFill>
                    <a:srgbClr val="404040"/>
                  </a:solidFill>
                  <a:latin typeface="Arial" panose="020B0604020202020204" pitchFamily="34" charset="0"/>
                  <a:ea typeface="思源黑体 Heavy" panose="020B0A00000000000000" pitchFamily="34" charset="-122"/>
                </a:rPr>
                <a:t>中天科技、安世半导体、乐金显示、联影医疗等</a:t>
              </a:r>
            </a:p>
          </p:txBody>
        </p:sp>
        <p:sp>
          <p:nvSpPr>
            <p:cNvPr id="93" name="圆角矩形 5"/>
            <p:cNvSpPr>
              <a:spLocks noChangeArrowheads="1"/>
            </p:cNvSpPr>
            <p:nvPr>
              <p:custDataLst>
                <p:tags r:id="rId26"/>
              </p:custDataLst>
            </p:nvPr>
          </p:nvSpPr>
          <p:spPr bwMode="auto">
            <a:xfrm>
              <a:off x="5777430" y="4587660"/>
              <a:ext cx="1818879" cy="817137"/>
            </a:xfrm>
            <a:prstGeom prst="roundRect">
              <a:avLst>
                <a:gd name="adj" fmla="val 16667"/>
              </a:avLst>
            </a:prstGeom>
            <a:solidFill>
              <a:schemeClr val="tx2">
                <a:lumMod val="20000"/>
                <a:lumOff val="80000"/>
              </a:schemeClr>
            </a:solidFill>
            <a:ln w="19050">
              <a:noFill/>
              <a:prstDash val="dash"/>
              <a:round/>
            </a:ln>
          </p:spPr>
          <p:txBody>
            <a:bodyPr anchor="ctr"/>
            <a:lstStyle/>
            <a:p>
              <a:pPr algn="just" eaLnBrk="1" hangingPunct="1">
                <a:lnSpc>
                  <a:spcPct val="80000"/>
                </a:lnSpc>
                <a:defRPr/>
              </a:pPr>
              <a:r>
                <a:rPr lang="zh-CN" altLang="en-US" sz="1050" dirty="0">
                  <a:solidFill>
                    <a:srgbClr val="404040"/>
                  </a:solidFill>
                  <a:latin typeface="Arial" panose="020B0604020202020204" pitchFamily="34" charset="0"/>
                  <a:ea typeface="思源黑体 Heavy" panose="020B0A00000000000000" pitchFamily="34" charset="-122"/>
                  <a:cs typeface="Arial" panose="020B0604020202020204" pitchFamily="34" charset="0"/>
                </a:rPr>
                <a:t>JFE钢板、铜陵有色等</a:t>
              </a:r>
              <a:endParaRPr lang="zh-CN" altLang="en-US" sz="1050" dirty="0">
                <a:latin typeface="Arial" panose="020B0604020202020204" pitchFamily="34" charset="0"/>
                <a:ea typeface="思源黑体 Heavy" panose="020B0A00000000000000" pitchFamily="34" charset="-122"/>
                <a:cs typeface="Arial" panose="020B0604020202020204" pitchFamily="34" charset="0"/>
              </a:endParaRPr>
            </a:p>
          </p:txBody>
        </p:sp>
        <p:sp>
          <p:nvSpPr>
            <p:cNvPr id="94" name="圆角矩形 5"/>
            <p:cNvSpPr>
              <a:spLocks noChangeArrowheads="1"/>
            </p:cNvSpPr>
            <p:nvPr>
              <p:custDataLst>
                <p:tags r:id="rId27"/>
              </p:custDataLst>
            </p:nvPr>
          </p:nvSpPr>
          <p:spPr bwMode="auto">
            <a:xfrm>
              <a:off x="5777431" y="5545930"/>
              <a:ext cx="1818879" cy="882827"/>
            </a:xfrm>
            <a:prstGeom prst="roundRect">
              <a:avLst>
                <a:gd name="adj" fmla="val 16667"/>
              </a:avLst>
            </a:prstGeom>
            <a:solidFill>
              <a:schemeClr val="tx2">
                <a:lumMod val="20000"/>
                <a:lumOff val="80000"/>
              </a:schemeClr>
            </a:solidFill>
            <a:ln w="19050">
              <a:noFill/>
              <a:prstDash val="dash"/>
              <a:round/>
            </a:ln>
          </p:spPr>
          <p:txBody>
            <a:bodyPr anchor="ctr"/>
            <a:lstStyle/>
            <a:p>
              <a:pPr algn="just" eaLnBrk="1" hangingPunct="1">
                <a:lnSpc>
                  <a:spcPct val="80000"/>
                </a:lnSpc>
                <a:defRPr/>
              </a:pPr>
              <a:r>
                <a:rPr lang="zh-CN" altLang="en-US" sz="1050" dirty="0">
                  <a:solidFill>
                    <a:srgbClr val="404040"/>
                  </a:solidFill>
                  <a:latin typeface="Arial" panose="020B0604020202020204" pitchFamily="34" charset="0"/>
                  <a:ea typeface="思源黑体 Heavy" panose="020B0A00000000000000" pitchFamily="34" charset="-122"/>
                </a:rPr>
                <a:t>中国船舶、中国石油、巴斯夫、奥托立夫等</a:t>
              </a:r>
            </a:p>
          </p:txBody>
        </p:sp>
      </p:grpSp>
      <p:sp>
        <p:nvSpPr>
          <p:cNvPr id="5" name="文本框 4"/>
          <p:cNvSpPr txBox="1"/>
          <p:nvPr/>
        </p:nvSpPr>
        <p:spPr>
          <a:xfrm>
            <a:off x="232410" y="928370"/>
            <a:ext cx="8658860" cy="598805"/>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p>
            <a:pPr marL="285750" indent="-285750" algn="just">
              <a:spcBef>
                <a:spcPts val="600"/>
              </a:spcBef>
              <a:buFont typeface="Wingdings" panose="05000000000000000000" pitchFamily="2" charset="2"/>
              <a:buChar char="n"/>
            </a:pPr>
            <a:r>
              <a:rPr lang="zh-CN" altLang="en-US" sz="1100" b="1" dirty="0">
                <a:latin typeface="+mn-ea"/>
                <a:cs typeface="Arial" panose="020B0604020202020204" pitchFamily="34" charset="0"/>
              </a:rPr>
              <a:t>电子大宗气体是公司的主要业务，是未来业绩增长核心。</a:t>
            </a:r>
            <a:r>
              <a:rPr lang="zh-CN" altLang="en-US" sz="1100" dirty="0">
                <a:latin typeface="+mn-ea"/>
                <a:cs typeface="Arial" panose="020B0604020202020204" pitchFamily="34" charset="0"/>
              </a:rPr>
              <a:t>公司产品可分为电子大宗气体和通用工业气体，优势是电子大宗气体，产品涵盖电子大宗气体的全部六大品种，营收与利润占比超</a:t>
            </a:r>
            <a:r>
              <a:rPr lang="en-US" altLang="zh-CN" sz="1100" dirty="0">
                <a:latin typeface="+mn-ea"/>
                <a:cs typeface="Arial" panose="020B0604020202020204" pitchFamily="34" charset="0"/>
              </a:rPr>
              <a:t>70%</a:t>
            </a:r>
            <a:r>
              <a:rPr lang="zh-CN" altLang="en-US" sz="1100" dirty="0">
                <a:latin typeface="+mn-ea"/>
                <a:cs typeface="Arial" panose="020B0604020202020204" pitchFamily="34" charset="0"/>
              </a:rPr>
              <a:t>，且持续提升；下游主要是集成电路制造、半导体显示、光纤通信等电子半导体领域，以及能源化工、有色金属、机械制造等通用工业领域。</a:t>
            </a:r>
          </a:p>
        </p:txBody>
      </p:sp>
    </p:spTree>
    <p:extLst>
      <p:ext uri="{BB962C8B-B14F-4D97-AF65-F5344CB8AC3E}">
        <p14:creationId xmlns:p14="http://schemas.microsoft.com/office/powerpoint/2010/main" val="584377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01</a:t>
            </a:r>
            <a:endParaRPr lang="zh-CN" altLang="en-US" sz="3200"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nvSpPr>
        <p:spPr>
          <a:xfrm>
            <a:off x="830113" y="289083"/>
            <a:ext cx="6730097"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股权结构：实控人具备强产业协同能力；上市前就有员工持股平台</a:t>
            </a:r>
          </a:p>
        </p:txBody>
      </p:sp>
      <p:sp>
        <p:nvSpPr>
          <p:cNvPr id="4" name="文本占位符 5"/>
          <p:cNvSpPr txBox="1"/>
          <p:nvPr/>
        </p:nvSpPr>
        <p:spPr>
          <a:xfrm>
            <a:off x="258418" y="922260"/>
            <a:ext cx="8738484" cy="1546930"/>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股权：实控人为广州国资委；控股方为广州工控集团。拥有三大员工持股平台，绑定核心管理层与业务骨干。</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广州国资委为实控人，公司是国务院“科改示范企业”及广州重点混合所有制改革项目企业。</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广州市国资委代表广州市人民政府对工控集团履行出资人职责，是公司的实际控制人；控股股东为工控集团，由广钢集团、万宝集团、万力集团、广智集团等联合重组形成，</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实控人在工程装备、材料制造等多个领域具备良好的产业基础和技术积累，为公司提供核心装备制造后盾</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利益绑定：三大员工持股平台面向管理层与业务骨干。</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大气天成系列总共包含</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个员工持股平台，主要面向管理层及业务骨干</a:t>
            </a:r>
            <a:r>
              <a:rPr lang="zh-CN" altLang="en-US" sz="1600" dirty="0">
                <a:solidFill>
                  <a:srgbClr val="141414"/>
                </a:solidFill>
                <a:latin typeface="Arial" panose="020B0604020202020204" pitchFamily="34" charset="0"/>
                <a:ea typeface="+mj-ea"/>
                <a:cs typeface="Arial" panose="020B0604020202020204" pitchFamily="34" charset="0"/>
              </a:rPr>
              <a:t>。</a:t>
            </a:r>
            <a:endParaRPr lang="zh-CN" altLang="en-US" sz="1600" dirty="0">
              <a:solidFill>
                <a:srgbClr val="000099"/>
              </a:solidFill>
              <a:latin typeface="Arial" panose="020B0604020202020204" pitchFamily="34" charset="0"/>
              <a:ea typeface="+mj-ea"/>
              <a:cs typeface="Arial" panose="020B0604020202020204" pitchFamily="34" charset="0"/>
            </a:endParaRPr>
          </a:p>
        </p:txBody>
      </p:sp>
      <p:sp>
        <p:nvSpPr>
          <p:cNvPr id="5" name="矩形 4"/>
          <p:cNvSpPr/>
          <p:nvPr/>
        </p:nvSpPr>
        <p:spPr>
          <a:xfrm>
            <a:off x="-1468340" y="2144219"/>
            <a:ext cx="12192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图：公司股权结构（截至</a:t>
            </a:r>
            <a:r>
              <a:rPr lang="en-US" altLang="zh-CN" sz="1000" b="1" dirty="0">
                <a:solidFill>
                  <a:schemeClr val="tx1"/>
                </a:solidFill>
                <a:latin typeface="微软雅黑 Light" panose="020B0502040204020203" pitchFamily="34" charset="-122"/>
                <a:ea typeface="微软雅黑 Light" panose="020B0502040204020203" pitchFamily="34" charset="-122"/>
              </a:rPr>
              <a:t>2025H1</a:t>
            </a:r>
            <a:r>
              <a:rPr lang="zh-CN" altLang="en-US" sz="1000" b="1" dirty="0">
                <a:solidFill>
                  <a:schemeClr val="tx1"/>
                </a:solidFill>
                <a:latin typeface="微软雅黑 Light" panose="020B0502040204020203" pitchFamily="34" charset="-122"/>
                <a:ea typeface="微软雅黑 Light" panose="020B0502040204020203" pitchFamily="34" charset="-122"/>
              </a:rPr>
              <a:t>）</a:t>
            </a:r>
          </a:p>
        </p:txBody>
      </p:sp>
      <p:grpSp>
        <p:nvGrpSpPr>
          <p:cNvPr id="6" name="组合 5"/>
          <p:cNvGrpSpPr/>
          <p:nvPr/>
        </p:nvGrpSpPr>
        <p:grpSpPr>
          <a:xfrm>
            <a:off x="739660" y="2445409"/>
            <a:ext cx="7762048" cy="2070242"/>
            <a:chOff x="797127" y="3487836"/>
            <a:chExt cx="10769164" cy="3186779"/>
          </a:xfrm>
        </p:grpSpPr>
        <p:sp>
          <p:nvSpPr>
            <p:cNvPr id="7" name="矩形 6"/>
            <p:cNvSpPr/>
            <p:nvPr/>
          </p:nvSpPr>
          <p:spPr>
            <a:xfrm>
              <a:off x="8904312" y="6040103"/>
              <a:ext cx="1783982" cy="63451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endParaRPr lang="en-US" altLang="zh-CN" sz="1200" dirty="0">
                <a:solidFill>
                  <a:schemeClr val="tx1"/>
                </a:solidFill>
                <a:latin typeface="Arial" panose="020B0604020202020204" pitchFamily="34" charset="0"/>
                <a:cs typeface="Arial" panose="020B0604020202020204" pitchFamily="34" charset="0"/>
              </a:endParaRPr>
            </a:p>
            <a:p>
              <a:pPr marL="171450" indent="-171450" algn="ctr">
                <a:buFont typeface="Wingdings" panose="05000000000000000000" pitchFamily="2" charset="2"/>
                <a:buChar char="l"/>
              </a:pPr>
              <a:r>
                <a:rPr lang="zh-CN" altLang="en-US" sz="800" dirty="0">
                  <a:solidFill>
                    <a:schemeClr val="tx1"/>
                  </a:solidFill>
                  <a:latin typeface="Arial" panose="020B0604020202020204" pitchFamily="34" charset="0"/>
                  <a:ea typeface="思源黑体 Heavy" panose="020B0A00000000000000" pitchFamily="34" charset="-122"/>
                  <a:cs typeface="Arial" panose="020B0604020202020204" pitchFamily="34" charset="0"/>
                </a:rPr>
                <a:t>广钢物流</a:t>
              </a:r>
            </a:p>
          </p:txBody>
        </p:sp>
        <p:sp>
          <p:nvSpPr>
            <p:cNvPr id="8" name="矩形 7"/>
            <p:cNvSpPr/>
            <p:nvPr/>
          </p:nvSpPr>
          <p:spPr>
            <a:xfrm>
              <a:off x="6321715" y="6056391"/>
              <a:ext cx="2150547" cy="618224"/>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endParaRPr lang="en-US" altLang="zh-CN" sz="1200" dirty="0">
                <a:solidFill>
                  <a:schemeClr val="tx1"/>
                </a:solidFill>
                <a:latin typeface="Arial" panose="020B0604020202020204" pitchFamily="34" charset="0"/>
                <a:cs typeface="Arial" panose="020B0604020202020204" pitchFamily="34" charset="0"/>
              </a:endParaRPr>
            </a:p>
            <a:p>
              <a:pPr marL="171450" indent="-171450" algn="ctr">
                <a:buFont typeface="Wingdings" panose="05000000000000000000" pitchFamily="2" charset="2"/>
                <a:buChar char="l"/>
              </a:pPr>
              <a:r>
                <a:rPr lang="zh-CN" altLang="en-US" sz="800" dirty="0">
                  <a:solidFill>
                    <a:schemeClr val="tx1"/>
                  </a:solidFill>
                  <a:latin typeface="Arial" panose="020B0604020202020204" pitchFamily="34" charset="0"/>
                  <a:ea typeface="思源黑体 Heavy" panose="020B0A00000000000000" pitchFamily="34" charset="-122"/>
                  <a:cs typeface="Arial" panose="020B0604020202020204" pitchFamily="34" charset="0"/>
                </a:rPr>
                <a:t>杭州广钢、四川新途众达</a:t>
              </a:r>
            </a:p>
          </p:txBody>
        </p:sp>
        <p:sp>
          <p:nvSpPr>
            <p:cNvPr id="10" name="矩形 9"/>
            <p:cNvSpPr/>
            <p:nvPr/>
          </p:nvSpPr>
          <p:spPr>
            <a:xfrm>
              <a:off x="1132456" y="6063707"/>
              <a:ext cx="4476101" cy="610908"/>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endParaRPr lang="en-US" altLang="zh-CN" sz="80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marL="171450" indent="-171450" algn="ctr">
                <a:buFont typeface="Wingdings" panose="05000000000000000000" pitchFamily="2" charset="2"/>
                <a:buChar char="l"/>
              </a:pPr>
              <a:r>
                <a:rPr lang="zh-CN" altLang="en-US" sz="800" dirty="0">
                  <a:solidFill>
                    <a:schemeClr val="tx1"/>
                  </a:solidFill>
                  <a:latin typeface="Arial" panose="020B0604020202020204" pitchFamily="34" charset="0"/>
                  <a:ea typeface="思源黑体 Heavy" panose="020B0A00000000000000" pitchFamily="34" charset="-122"/>
                  <a:cs typeface="Arial" panose="020B0604020202020204" pitchFamily="34" charset="0"/>
                </a:rPr>
                <a:t>半导体材料（武汉）、珠江气体、合肥广钢、长沙广钢、青岛广钢、广钢稀有气体等</a:t>
              </a:r>
            </a:p>
          </p:txBody>
        </p:sp>
        <p:grpSp>
          <p:nvGrpSpPr>
            <p:cNvPr id="11" name="组合 10"/>
            <p:cNvGrpSpPr/>
            <p:nvPr/>
          </p:nvGrpSpPr>
          <p:grpSpPr>
            <a:xfrm>
              <a:off x="797127" y="3487836"/>
              <a:ext cx="10769164" cy="2081034"/>
              <a:chOff x="797127" y="3487836"/>
              <a:chExt cx="11005501" cy="2081034"/>
            </a:xfrm>
          </p:grpSpPr>
          <p:sp>
            <p:nvSpPr>
              <p:cNvPr id="20" name="矩形 19"/>
              <p:cNvSpPr>
                <a:spLocks noChangeArrowheads="1"/>
              </p:cNvSpPr>
              <p:nvPr/>
            </p:nvSpPr>
            <p:spPr bwMode="auto">
              <a:xfrm>
                <a:off x="5680826" y="5217339"/>
                <a:ext cx="1590460" cy="351531"/>
              </a:xfrm>
              <a:prstGeom prst="rect">
                <a:avLst/>
              </a:prstGeom>
              <a:solidFill>
                <a:schemeClr val="accent1"/>
              </a:solidFill>
              <a:ln w="12700">
                <a:noFill/>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eaLnBrk="1" hangingPunct="1">
                  <a:defRPr/>
                </a:pPr>
                <a:r>
                  <a:rPr lang="zh-CN" altLang="en-US" sz="800" b="1" dirty="0">
                    <a:solidFill>
                      <a:schemeClr val="bg1"/>
                    </a:solidFill>
                    <a:latin typeface="Arial" panose="020B0604020202020204" pitchFamily="34" charset="0"/>
                    <a:ea typeface="思源黑体 Heavy" panose="020B0A00000000000000" pitchFamily="34" charset="-122"/>
                    <a:cs typeface="Arial" panose="020B0604020202020204" pitchFamily="34" charset="0"/>
                  </a:rPr>
                  <a:t>广钢气体</a:t>
                </a:r>
              </a:p>
            </p:txBody>
          </p:sp>
          <p:sp>
            <p:nvSpPr>
              <p:cNvPr id="21" name="矩形 20"/>
              <p:cNvSpPr>
                <a:spLocks noChangeArrowheads="1"/>
              </p:cNvSpPr>
              <p:nvPr/>
            </p:nvSpPr>
            <p:spPr bwMode="auto">
              <a:xfrm>
                <a:off x="3521373" y="4335846"/>
                <a:ext cx="1151560" cy="423474"/>
              </a:xfrm>
              <a:prstGeom prst="rect">
                <a:avLst/>
              </a:prstGeom>
              <a:solidFill>
                <a:schemeClr val="accent3"/>
              </a:solidFill>
              <a:ln w="12700">
                <a:solidFill>
                  <a:schemeClr val="bg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工控集团</a:t>
                </a:r>
                <a:endParaRPr lang="en-US" altLang="zh-CN"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（控股股东）</a:t>
                </a:r>
              </a:p>
            </p:txBody>
          </p:sp>
          <p:sp>
            <p:nvSpPr>
              <p:cNvPr id="22" name="文本框 19"/>
              <p:cNvSpPr txBox="1"/>
              <p:nvPr/>
            </p:nvSpPr>
            <p:spPr>
              <a:xfrm>
                <a:off x="5702565" y="4733953"/>
                <a:ext cx="74311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1.17%</a:t>
                </a:r>
              </a:p>
            </p:txBody>
          </p:sp>
          <p:sp>
            <p:nvSpPr>
              <p:cNvPr id="25" name="矩形 24"/>
              <p:cNvSpPr>
                <a:spLocks noChangeArrowheads="1"/>
              </p:cNvSpPr>
              <p:nvPr/>
            </p:nvSpPr>
            <p:spPr bwMode="auto">
              <a:xfrm>
                <a:off x="1997793" y="4338657"/>
                <a:ext cx="1008112" cy="423474"/>
              </a:xfrm>
              <a:prstGeom prst="rect">
                <a:avLst/>
              </a:prstGeom>
              <a:noFill/>
              <a:ln w="12700">
                <a:solidFill>
                  <a:schemeClr val="accent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广钢控股</a:t>
                </a:r>
              </a:p>
            </p:txBody>
          </p:sp>
          <p:sp>
            <p:nvSpPr>
              <p:cNvPr id="26" name="文本框 21"/>
              <p:cNvSpPr txBox="1"/>
              <p:nvPr/>
            </p:nvSpPr>
            <p:spPr>
              <a:xfrm>
                <a:off x="2384961" y="4727941"/>
                <a:ext cx="72008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19.09%</a:t>
                </a:r>
              </a:p>
            </p:txBody>
          </p:sp>
          <p:sp>
            <p:nvSpPr>
              <p:cNvPr id="27" name="文本框 22"/>
              <p:cNvSpPr txBox="1"/>
              <p:nvPr/>
            </p:nvSpPr>
            <p:spPr>
              <a:xfrm>
                <a:off x="2972511" y="4284347"/>
                <a:ext cx="72008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100%</a:t>
                </a:r>
              </a:p>
            </p:txBody>
          </p:sp>
          <p:sp>
            <p:nvSpPr>
              <p:cNvPr id="28" name="文本框 23"/>
              <p:cNvSpPr txBox="1"/>
              <p:nvPr/>
            </p:nvSpPr>
            <p:spPr>
              <a:xfrm>
                <a:off x="4644033" y="4304474"/>
                <a:ext cx="72008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100%</a:t>
                </a:r>
              </a:p>
            </p:txBody>
          </p:sp>
          <p:sp>
            <p:nvSpPr>
              <p:cNvPr id="29" name="文本框 24"/>
              <p:cNvSpPr txBox="1"/>
              <p:nvPr/>
            </p:nvSpPr>
            <p:spPr>
              <a:xfrm>
                <a:off x="5249433" y="4329906"/>
                <a:ext cx="919782" cy="423474"/>
              </a:xfrm>
              <a:prstGeom prst="rect">
                <a:avLst/>
              </a:prstGeom>
              <a:noFill/>
              <a:ln w="12700">
                <a:solidFill>
                  <a:schemeClr val="accent1"/>
                </a:solidFill>
                <a:round/>
              </a:ln>
            </p:spPr>
            <p:txBody>
              <a:bodyPr anchor="ctr"/>
              <a:lstStyle>
                <a:defPPr>
                  <a:defRPr lang="zh-CN"/>
                </a:defPPr>
                <a:lvl1pPr algn="ctr">
                  <a:spcBef>
                    <a:spcPct val="0"/>
                  </a:spcBef>
                  <a:spcAft>
                    <a:spcPct val="0"/>
                  </a:spcAft>
                  <a:buFontTx/>
                  <a:buNone/>
                  <a:defRPr sz="1200" b="0">
                    <a:latin typeface="+mn-ea"/>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r>
                  <a:rPr lang="zh-CN" altLang="en-US" sz="800" dirty="0">
                    <a:latin typeface="Arial" panose="020B0604020202020204" pitchFamily="34" charset="0"/>
                    <a:ea typeface="思源黑体 Heavy" panose="020B0A00000000000000" pitchFamily="34" charset="-122"/>
                    <a:cs typeface="Arial" panose="020B0604020202020204" pitchFamily="34" charset="0"/>
                  </a:rPr>
                  <a:t>工控新兴产业投资</a:t>
                </a:r>
              </a:p>
            </p:txBody>
          </p:sp>
          <p:sp>
            <p:nvSpPr>
              <p:cNvPr id="30" name="文本框 25"/>
              <p:cNvSpPr txBox="1"/>
              <p:nvPr/>
            </p:nvSpPr>
            <p:spPr>
              <a:xfrm>
                <a:off x="4038529" y="4743674"/>
                <a:ext cx="88776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20.66%</a:t>
                </a:r>
              </a:p>
            </p:txBody>
          </p:sp>
          <p:sp>
            <p:nvSpPr>
              <p:cNvPr id="31" name="矩形 30"/>
              <p:cNvSpPr>
                <a:spLocks noChangeArrowheads="1"/>
              </p:cNvSpPr>
              <p:nvPr/>
            </p:nvSpPr>
            <p:spPr bwMode="auto">
              <a:xfrm>
                <a:off x="2611426" y="3512025"/>
                <a:ext cx="1330836" cy="372083"/>
              </a:xfrm>
              <a:prstGeom prst="rect">
                <a:avLst/>
              </a:prstGeom>
              <a:noFill/>
              <a:ln w="12700">
                <a:solidFill>
                  <a:schemeClr val="accent1"/>
                </a:solidFill>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spcBef>
                    <a:spcPct val="0"/>
                  </a:spcBef>
                  <a:spcAft>
                    <a:spcPct val="0"/>
                  </a:spcAft>
                </a:pPr>
                <a:r>
                  <a:rPr lang="zh-CN" altLang="en-US" sz="800" dirty="0">
                    <a:latin typeface="Arial" panose="020B0604020202020204" pitchFamily="34" charset="0"/>
                    <a:ea typeface="思源黑体 Heavy" panose="020B0A00000000000000" pitchFamily="34" charset="-122"/>
                    <a:cs typeface="Arial" panose="020B0604020202020204" pitchFamily="34" charset="0"/>
                  </a:rPr>
                  <a:t>广州市人民政府</a:t>
                </a:r>
              </a:p>
            </p:txBody>
          </p:sp>
          <p:sp>
            <p:nvSpPr>
              <p:cNvPr id="32" name="矩形 31"/>
              <p:cNvSpPr>
                <a:spLocks noChangeArrowheads="1"/>
              </p:cNvSpPr>
              <p:nvPr/>
            </p:nvSpPr>
            <p:spPr bwMode="auto">
              <a:xfrm>
                <a:off x="4444628" y="3513627"/>
                <a:ext cx="1330836" cy="313067"/>
              </a:xfrm>
              <a:prstGeom prst="rect">
                <a:avLst/>
              </a:prstGeom>
              <a:noFill/>
              <a:ln w="12700">
                <a:solidFill>
                  <a:schemeClr val="accent1"/>
                </a:solidFill>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spcBef>
                    <a:spcPct val="0"/>
                  </a:spcBef>
                  <a:spcAft>
                    <a:spcPct val="0"/>
                  </a:spcAft>
                </a:pPr>
                <a:r>
                  <a:rPr lang="zh-CN" altLang="en-US" sz="800" dirty="0">
                    <a:latin typeface="Arial" panose="020B0604020202020204" pitchFamily="34" charset="0"/>
                    <a:ea typeface="思源黑体 Heavy" panose="020B0A00000000000000" pitchFamily="34" charset="-122"/>
                    <a:cs typeface="Arial" panose="020B0604020202020204" pitchFamily="34" charset="0"/>
                  </a:rPr>
                  <a:t>广州市财政厅</a:t>
                </a:r>
              </a:p>
            </p:txBody>
          </p:sp>
          <p:cxnSp>
            <p:nvCxnSpPr>
              <p:cNvPr id="33" name="直接箭头连接符 32"/>
              <p:cNvCxnSpPr>
                <a:cxnSpLocks noChangeShapeType="1"/>
              </p:cNvCxnSpPr>
              <p:nvPr/>
            </p:nvCxnSpPr>
            <p:spPr bwMode="auto">
              <a:xfrm>
                <a:off x="3142441" y="3939153"/>
                <a:ext cx="0" cy="215943"/>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34" name="直接箭头连接符 33"/>
              <p:cNvCxnSpPr>
                <a:cxnSpLocks noChangeShapeType="1"/>
              </p:cNvCxnSpPr>
              <p:nvPr/>
            </p:nvCxnSpPr>
            <p:spPr bwMode="auto">
              <a:xfrm>
                <a:off x="4926288" y="3826694"/>
                <a:ext cx="22911" cy="326351"/>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35" name="直接连接符 34"/>
              <p:cNvCxnSpPr>
                <a:cxnSpLocks noChangeShapeType="1"/>
              </p:cNvCxnSpPr>
              <p:nvPr/>
            </p:nvCxnSpPr>
            <p:spPr bwMode="auto">
              <a:xfrm>
                <a:off x="3158642" y="4153045"/>
                <a:ext cx="1755832" cy="0"/>
              </a:xfrm>
              <a:prstGeom prst="line">
                <a:avLst/>
              </a:prstGeom>
              <a:noFill/>
              <a:ln w="9525">
                <a:solidFill>
                  <a:schemeClr val="tx1"/>
                </a:solidFill>
                <a:round/>
              </a:ln>
              <a:extLst>
                <a:ext uri="{909E8E84-426E-40DD-AFC4-6F175D3DCCD1}">
                  <a14:hiddenFill xmlns:a14="http://schemas.microsoft.com/office/drawing/2010/main">
                    <a:noFill/>
                  </a14:hiddenFill>
                </a:ext>
              </a:extLst>
            </p:spPr>
          </p:cxnSp>
          <p:sp>
            <p:nvSpPr>
              <p:cNvPr id="36" name="文本框 42"/>
              <p:cNvSpPr txBox="1">
                <a:spLocks noChangeArrowheads="1"/>
              </p:cNvSpPr>
              <p:nvPr/>
            </p:nvSpPr>
            <p:spPr bwMode="auto">
              <a:xfrm>
                <a:off x="3159351" y="3899129"/>
                <a:ext cx="684508"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a:latin typeface="+mn-ea"/>
                    <a:ea typeface="+mn-ea"/>
                    <a:cs typeface="Arial" panose="020B0604020202020204" pitchFamily="34" charset="0"/>
                  </a:defRPr>
                </a:lvl1pPr>
              </a:lstStyle>
              <a:p>
                <a:r>
                  <a:rPr lang="en-US" altLang="zh-CN" sz="800" dirty="0">
                    <a:latin typeface="Arial" panose="020B0604020202020204" pitchFamily="34" charset="0"/>
                    <a:ea typeface="思源黑体 Heavy" panose="020B0A00000000000000" pitchFamily="34" charset="-122"/>
                    <a:sym typeface="楷体_GB2312" panose="02010609030101010101" pitchFamily="49" charset="-122"/>
                  </a:rPr>
                  <a:t>90%</a:t>
                </a:r>
              </a:p>
            </p:txBody>
          </p:sp>
          <p:sp>
            <p:nvSpPr>
              <p:cNvPr id="37" name="文本框 43"/>
              <p:cNvSpPr txBox="1">
                <a:spLocks noChangeArrowheads="1"/>
              </p:cNvSpPr>
              <p:nvPr/>
            </p:nvSpPr>
            <p:spPr bwMode="auto">
              <a:xfrm>
                <a:off x="4847193" y="3843354"/>
                <a:ext cx="855373" cy="227258"/>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a:latin typeface="+mn-ea"/>
                    <a:ea typeface="+mn-ea"/>
                    <a:cs typeface="Arial" panose="020B0604020202020204" pitchFamily="34" charset="0"/>
                  </a:defRPr>
                </a:lvl1pPr>
              </a:lstStyle>
              <a:p>
                <a:r>
                  <a:rPr lang="en-US" altLang="zh-CN" sz="800" dirty="0">
                    <a:latin typeface="Arial" panose="020B0604020202020204" pitchFamily="34" charset="0"/>
                    <a:ea typeface="思源黑体 Heavy" panose="020B0A00000000000000" pitchFamily="34" charset="-122"/>
                    <a:sym typeface="楷体_GB2312" panose="02010609030101010101" pitchFamily="49" charset="-122"/>
                  </a:rPr>
                  <a:t>10%</a:t>
                </a:r>
              </a:p>
            </p:txBody>
          </p:sp>
          <p:cxnSp>
            <p:nvCxnSpPr>
              <p:cNvPr id="38" name="直接箭头连接符 37"/>
              <p:cNvCxnSpPr>
                <a:cxnSpLocks noChangeShapeType="1"/>
              </p:cNvCxnSpPr>
              <p:nvPr/>
            </p:nvCxnSpPr>
            <p:spPr bwMode="auto">
              <a:xfrm>
                <a:off x="4097153" y="4153045"/>
                <a:ext cx="0" cy="215943"/>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39" name="直接箭头连接符 38"/>
              <p:cNvCxnSpPr>
                <a:cxnSpLocks noChangeShapeType="1"/>
                <a:stCxn id="21" idx="1"/>
                <a:endCxn id="25" idx="3"/>
              </p:cNvCxnSpPr>
              <p:nvPr/>
            </p:nvCxnSpPr>
            <p:spPr bwMode="auto">
              <a:xfrm flipH="1">
                <a:off x="3005905" y="4547583"/>
                <a:ext cx="515468" cy="2811"/>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40" name="直接箭头连接符 39"/>
              <p:cNvCxnSpPr>
                <a:cxnSpLocks noChangeShapeType="1"/>
                <a:stCxn id="21" idx="3"/>
                <a:endCxn id="29" idx="1"/>
              </p:cNvCxnSpPr>
              <p:nvPr/>
            </p:nvCxnSpPr>
            <p:spPr bwMode="auto">
              <a:xfrm flipV="1">
                <a:off x="4672933" y="4541643"/>
                <a:ext cx="576500" cy="594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sp>
            <p:nvSpPr>
              <p:cNvPr id="41" name="矩形 40"/>
              <p:cNvSpPr>
                <a:spLocks noChangeArrowheads="1"/>
              </p:cNvSpPr>
              <p:nvPr/>
            </p:nvSpPr>
            <p:spPr bwMode="auto">
              <a:xfrm>
                <a:off x="9104261" y="3487836"/>
                <a:ext cx="1223358" cy="435911"/>
              </a:xfrm>
              <a:prstGeom prst="rect">
                <a:avLst/>
              </a:prstGeom>
              <a:solidFill>
                <a:schemeClr val="accent3"/>
              </a:solidFill>
              <a:ln w="12700">
                <a:noFill/>
                <a:round/>
              </a:ln>
            </p:spPr>
            <p:txBody>
              <a:bodyPr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spcBef>
                    <a:spcPct val="0"/>
                  </a:spcBef>
                  <a:spcAft>
                    <a:spcPct val="0"/>
                  </a:spcAft>
                </a:pPr>
                <a:r>
                  <a:rPr lang="zh-CN" altLang="en-US" sz="800" dirty="0">
                    <a:latin typeface="Arial" panose="020B0604020202020204" pitchFamily="34" charset="0"/>
                    <a:ea typeface="思源黑体 Heavy" panose="020B0A00000000000000" pitchFamily="34" charset="-122"/>
                    <a:cs typeface="Arial" panose="020B0604020202020204" pitchFamily="34" charset="0"/>
                  </a:rPr>
                  <a:t>员工持股平台</a:t>
                </a:r>
              </a:p>
            </p:txBody>
          </p:sp>
          <p:sp>
            <p:nvSpPr>
              <p:cNvPr id="42" name="矩形 41"/>
              <p:cNvSpPr>
                <a:spLocks noChangeArrowheads="1"/>
              </p:cNvSpPr>
              <p:nvPr/>
            </p:nvSpPr>
            <p:spPr bwMode="auto">
              <a:xfrm>
                <a:off x="9229944" y="4317547"/>
                <a:ext cx="1008112" cy="423473"/>
              </a:xfrm>
              <a:prstGeom prst="rect">
                <a:avLst/>
              </a:prstGeom>
              <a:noFill/>
              <a:ln w="12700">
                <a:solidFill>
                  <a:schemeClr val="accent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大气天成</a:t>
                </a:r>
                <a:endParaRPr lang="en-US" altLang="zh-CN"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壹号</a:t>
                </a:r>
              </a:p>
            </p:txBody>
          </p:sp>
          <p:sp>
            <p:nvSpPr>
              <p:cNvPr id="43" name="矩形 42"/>
              <p:cNvSpPr>
                <a:spLocks noChangeArrowheads="1"/>
              </p:cNvSpPr>
              <p:nvPr/>
            </p:nvSpPr>
            <p:spPr bwMode="auto">
              <a:xfrm>
                <a:off x="7813757" y="4323014"/>
                <a:ext cx="1101256" cy="423473"/>
              </a:xfrm>
              <a:prstGeom prst="rect">
                <a:avLst/>
              </a:prstGeom>
              <a:noFill/>
              <a:ln w="12700">
                <a:solidFill>
                  <a:schemeClr val="accent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大气天成投资合伙企业</a:t>
                </a:r>
              </a:p>
            </p:txBody>
          </p:sp>
          <p:sp>
            <p:nvSpPr>
              <p:cNvPr id="44" name="矩形 43"/>
              <p:cNvSpPr>
                <a:spLocks noChangeArrowheads="1"/>
              </p:cNvSpPr>
              <p:nvPr/>
            </p:nvSpPr>
            <p:spPr bwMode="auto">
              <a:xfrm>
                <a:off x="10632504" y="4317547"/>
                <a:ext cx="1008112" cy="423474"/>
              </a:xfrm>
              <a:prstGeom prst="rect">
                <a:avLst/>
              </a:prstGeom>
              <a:noFill/>
              <a:ln w="12700">
                <a:solidFill>
                  <a:schemeClr val="accent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大气天成</a:t>
                </a:r>
                <a:endParaRPr lang="en-US" altLang="zh-CN"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贰号</a:t>
                </a:r>
              </a:p>
            </p:txBody>
          </p:sp>
          <p:sp>
            <p:nvSpPr>
              <p:cNvPr id="45" name="文本框 40"/>
              <p:cNvSpPr txBox="1"/>
              <p:nvPr/>
            </p:nvSpPr>
            <p:spPr>
              <a:xfrm>
                <a:off x="8483272" y="4762131"/>
                <a:ext cx="88776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4.01%</a:t>
                </a:r>
              </a:p>
            </p:txBody>
          </p:sp>
          <p:sp>
            <p:nvSpPr>
              <p:cNvPr id="46" name="文本框 41"/>
              <p:cNvSpPr txBox="1"/>
              <p:nvPr/>
            </p:nvSpPr>
            <p:spPr>
              <a:xfrm>
                <a:off x="9715940" y="4762132"/>
                <a:ext cx="745321" cy="33163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1.39%</a:t>
                </a:r>
              </a:p>
            </p:txBody>
          </p:sp>
          <p:sp>
            <p:nvSpPr>
              <p:cNvPr id="47" name="文本框 42"/>
              <p:cNvSpPr txBox="1"/>
              <p:nvPr/>
            </p:nvSpPr>
            <p:spPr>
              <a:xfrm>
                <a:off x="11059517" y="4747216"/>
                <a:ext cx="743111" cy="33163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1.28%</a:t>
                </a:r>
              </a:p>
            </p:txBody>
          </p:sp>
          <p:cxnSp>
            <p:nvCxnSpPr>
              <p:cNvPr id="48" name="直接连接符 47"/>
              <p:cNvCxnSpPr>
                <a:cxnSpLocks noChangeShapeType="1"/>
              </p:cNvCxnSpPr>
              <p:nvPr/>
            </p:nvCxnSpPr>
            <p:spPr bwMode="auto">
              <a:xfrm>
                <a:off x="8431851" y="4120256"/>
                <a:ext cx="2616626" cy="0"/>
              </a:xfrm>
              <a:prstGeom prst="line">
                <a:avLst/>
              </a:prstGeom>
              <a:noFill/>
              <a:ln w="9525">
                <a:solidFill>
                  <a:schemeClr val="tx1"/>
                </a:solidFill>
                <a:round/>
              </a:ln>
              <a:extLst>
                <a:ext uri="{909E8E84-426E-40DD-AFC4-6F175D3DCCD1}">
                  <a14:hiddenFill xmlns:a14="http://schemas.microsoft.com/office/drawing/2010/main">
                    <a:noFill/>
                  </a14:hiddenFill>
                </a:ext>
              </a:extLst>
            </p:spPr>
          </p:cxnSp>
          <p:cxnSp>
            <p:nvCxnSpPr>
              <p:cNvPr id="49" name="直接箭头连接符 48"/>
              <p:cNvCxnSpPr>
                <a:cxnSpLocks noChangeShapeType="1"/>
              </p:cNvCxnSpPr>
              <p:nvPr/>
            </p:nvCxnSpPr>
            <p:spPr bwMode="auto">
              <a:xfrm>
                <a:off x="8431851" y="4107071"/>
                <a:ext cx="0" cy="215943"/>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50" name="直接箭头连接符 49"/>
              <p:cNvCxnSpPr>
                <a:cxnSpLocks noChangeShapeType="1"/>
                <a:stCxn id="41" idx="2"/>
              </p:cNvCxnSpPr>
              <p:nvPr/>
            </p:nvCxnSpPr>
            <p:spPr bwMode="auto">
              <a:xfrm>
                <a:off x="9715940" y="3923747"/>
                <a:ext cx="4432" cy="412452"/>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51" name="直接箭头连接符 50"/>
              <p:cNvCxnSpPr>
                <a:cxnSpLocks noChangeShapeType="1"/>
              </p:cNvCxnSpPr>
              <p:nvPr/>
            </p:nvCxnSpPr>
            <p:spPr bwMode="auto">
              <a:xfrm>
                <a:off x="11035144" y="4120255"/>
                <a:ext cx="0" cy="215943"/>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sp>
            <p:nvSpPr>
              <p:cNvPr id="52" name="文本框 47"/>
              <p:cNvSpPr txBox="1"/>
              <p:nvPr/>
            </p:nvSpPr>
            <p:spPr>
              <a:xfrm>
                <a:off x="9695730" y="3896542"/>
                <a:ext cx="88776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6.68%</a:t>
                </a:r>
              </a:p>
            </p:txBody>
          </p:sp>
          <p:sp>
            <p:nvSpPr>
              <p:cNvPr id="53" name="文本框 48"/>
              <p:cNvSpPr txBox="1"/>
              <p:nvPr/>
            </p:nvSpPr>
            <p:spPr>
              <a:xfrm>
                <a:off x="6529185" y="4332040"/>
                <a:ext cx="1008112" cy="421770"/>
              </a:xfrm>
              <a:prstGeom prst="rect">
                <a:avLst/>
              </a:prstGeom>
              <a:noFill/>
              <a:ln w="12700">
                <a:solidFill>
                  <a:schemeClr val="accent1"/>
                </a:solidFill>
                <a:round/>
              </a:ln>
            </p:spPr>
            <p:txBody>
              <a:bodyPr anchor="ctr"/>
              <a:lstStyle>
                <a:defPPr>
                  <a:defRPr lang="zh-CN"/>
                </a:defPPr>
                <a:lvl1pPr algn="ctr">
                  <a:spcBef>
                    <a:spcPct val="0"/>
                  </a:spcBef>
                  <a:spcAft>
                    <a:spcPct val="0"/>
                  </a:spcAft>
                  <a:buFontTx/>
                  <a:buNone/>
                  <a:defRPr sz="1200" b="0">
                    <a:latin typeface="+mn-ea"/>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r>
                  <a:rPr lang="zh-CN" altLang="en-US" sz="800" dirty="0">
                    <a:latin typeface="Arial" panose="020B0604020202020204" pitchFamily="34" charset="0"/>
                    <a:ea typeface="思源黑体 Heavy" panose="020B0A00000000000000" pitchFamily="34" charset="-122"/>
                    <a:cs typeface="Arial" panose="020B0604020202020204" pitchFamily="34" charset="0"/>
                  </a:rPr>
                  <a:t>橙兴气华股权投资</a:t>
                </a:r>
              </a:p>
            </p:txBody>
          </p:sp>
          <p:sp>
            <p:nvSpPr>
              <p:cNvPr id="54" name="文本框 49"/>
              <p:cNvSpPr txBox="1"/>
              <p:nvPr/>
            </p:nvSpPr>
            <p:spPr>
              <a:xfrm>
                <a:off x="7044968" y="4743674"/>
                <a:ext cx="74311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3.87%</a:t>
                </a:r>
              </a:p>
            </p:txBody>
          </p:sp>
          <p:sp>
            <p:nvSpPr>
              <p:cNvPr id="55" name="文本框 50"/>
              <p:cNvSpPr txBox="1"/>
              <p:nvPr/>
            </p:nvSpPr>
            <p:spPr>
              <a:xfrm>
                <a:off x="797127" y="4333201"/>
                <a:ext cx="1008112" cy="423473"/>
              </a:xfrm>
              <a:prstGeom prst="rect">
                <a:avLst/>
              </a:prstGeom>
              <a:noFill/>
              <a:ln w="12700">
                <a:solidFill>
                  <a:schemeClr val="accent1"/>
                </a:solidFill>
                <a:round/>
              </a:ln>
            </p:spPr>
            <p:txBody>
              <a:bodyPr anchor="ctr"/>
              <a:lstStyle>
                <a:defPPr>
                  <a:defRPr lang="zh-CN"/>
                </a:defPPr>
                <a:lvl1pPr algn="ctr">
                  <a:spcBef>
                    <a:spcPct val="0"/>
                  </a:spcBef>
                  <a:spcAft>
                    <a:spcPct val="0"/>
                  </a:spcAft>
                  <a:buFontTx/>
                  <a:buNone/>
                  <a:defRPr sz="1200" b="0">
                    <a:latin typeface="+mn-ea"/>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r>
                  <a:rPr lang="zh-CN" altLang="en-US" sz="800" dirty="0">
                    <a:latin typeface="Arial" panose="020B0604020202020204" pitchFamily="34" charset="0"/>
                    <a:ea typeface="思源黑体 Heavy" panose="020B0A00000000000000" pitchFamily="34" charset="-122"/>
                    <a:cs typeface="Arial" panose="020B0604020202020204" pitchFamily="34" charset="0"/>
                  </a:rPr>
                  <a:t>红杉瀚辰</a:t>
                </a:r>
              </a:p>
            </p:txBody>
          </p:sp>
          <p:sp>
            <p:nvSpPr>
              <p:cNvPr id="56" name="文本框 51"/>
              <p:cNvSpPr txBox="1"/>
              <p:nvPr/>
            </p:nvSpPr>
            <p:spPr>
              <a:xfrm>
                <a:off x="1238293" y="4734448"/>
                <a:ext cx="720080" cy="227259"/>
              </a:xfrm>
              <a:prstGeom prst="rect">
                <a:avLst/>
              </a:prstGeom>
              <a:no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en-US" altLang="zh-CN" sz="800" dirty="0">
                    <a:latin typeface="Arial" panose="020B0604020202020204" pitchFamily="34" charset="0"/>
                    <a:ea typeface="思源黑体 Heavy" panose="020B0A00000000000000" pitchFamily="34" charset="-122"/>
                    <a:cs typeface="Arial" panose="020B0604020202020204" pitchFamily="34" charset="0"/>
                  </a:rPr>
                  <a:t>2.51%</a:t>
                </a:r>
              </a:p>
            </p:txBody>
          </p:sp>
          <p:cxnSp>
            <p:nvCxnSpPr>
              <p:cNvPr id="57" name="直接连接符 56"/>
              <p:cNvCxnSpPr>
                <a:cxnSpLocks noChangeShapeType="1"/>
              </p:cNvCxnSpPr>
              <p:nvPr/>
            </p:nvCxnSpPr>
            <p:spPr bwMode="auto">
              <a:xfrm>
                <a:off x="8431851" y="5039129"/>
                <a:ext cx="2657741" cy="0"/>
              </a:xfrm>
              <a:prstGeom prst="line">
                <a:avLst/>
              </a:prstGeom>
              <a:noFill/>
              <a:ln w="9525">
                <a:solidFill>
                  <a:schemeClr val="tx1"/>
                </a:solidFill>
                <a:round/>
              </a:ln>
              <a:extLst>
                <a:ext uri="{909E8E84-426E-40DD-AFC4-6F175D3DCCD1}">
                  <a14:hiddenFill xmlns:a14="http://schemas.microsoft.com/office/drawing/2010/main">
                    <a:noFill/>
                  </a14:hiddenFill>
                </a:ext>
              </a:extLst>
            </p:spPr>
          </p:cxnSp>
          <p:cxnSp>
            <p:nvCxnSpPr>
              <p:cNvPr id="58" name="直接箭头连接符 57"/>
              <p:cNvCxnSpPr>
                <a:cxnSpLocks noChangeShapeType="1"/>
              </p:cNvCxnSpPr>
              <p:nvPr/>
            </p:nvCxnSpPr>
            <p:spPr bwMode="auto">
              <a:xfrm>
                <a:off x="8431851" y="4762130"/>
                <a:ext cx="0" cy="276999"/>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59" name="直接箭头连接符 58"/>
              <p:cNvCxnSpPr>
                <a:cxnSpLocks noChangeShapeType="1"/>
              </p:cNvCxnSpPr>
              <p:nvPr/>
            </p:nvCxnSpPr>
            <p:spPr bwMode="auto">
              <a:xfrm>
                <a:off x="9740626" y="4753380"/>
                <a:ext cx="0" cy="639724"/>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0" name="直接箭头连接符 59"/>
              <p:cNvCxnSpPr>
                <a:cxnSpLocks noChangeShapeType="1"/>
              </p:cNvCxnSpPr>
              <p:nvPr/>
            </p:nvCxnSpPr>
            <p:spPr bwMode="auto">
              <a:xfrm>
                <a:off x="11079520" y="4762130"/>
                <a:ext cx="0" cy="276999"/>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1" name="直接箭头连接符 60"/>
              <p:cNvCxnSpPr>
                <a:cxnSpLocks noChangeShapeType="1"/>
              </p:cNvCxnSpPr>
              <p:nvPr/>
            </p:nvCxnSpPr>
            <p:spPr bwMode="auto">
              <a:xfrm flipH="1">
                <a:off x="7262248" y="5393104"/>
                <a:ext cx="2498473"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62" name="直接箭头连接符 61"/>
              <p:cNvCxnSpPr>
                <a:cxnSpLocks noChangeShapeType="1"/>
              </p:cNvCxnSpPr>
              <p:nvPr/>
            </p:nvCxnSpPr>
            <p:spPr bwMode="auto">
              <a:xfrm>
                <a:off x="5740344" y="4746475"/>
                <a:ext cx="0" cy="264972"/>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3" name="直接箭头连接符 62"/>
              <p:cNvCxnSpPr>
                <a:cxnSpLocks noChangeShapeType="1"/>
              </p:cNvCxnSpPr>
              <p:nvPr/>
            </p:nvCxnSpPr>
            <p:spPr bwMode="auto">
              <a:xfrm>
                <a:off x="4097153" y="4762130"/>
                <a:ext cx="0" cy="630974"/>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4" name="直接箭头连接符 63"/>
              <p:cNvCxnSpPr>
                <a:cxnSpLocks noChangeShapeType="1"/>
              </p:cNvCxnSpPr>
              <p:nvPr/>
            </p:nvCxnSpPr>
            <p:spPr bwMode="auto">
              <a:xfrm flipV="1">
                <a:off x="1287531" y="5004940"/>
                <a:ext cx="4448662" cy="6507"/>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5" name="直接箭头连接符 64"/>
              <p:cNvCxnSpPr>
                <a:cxnSpLocks noChangeShapeType="1"/>
              </p:cNvCxnSpPr>
              <p:nvPr/>
            </p:nvCxnSpPr>
            <p:spPr bwMode="auto">
              <a:xfrm>
                <a:off x="2434599" y="4753380"/>
                <a:ext cx="0" cy="251560"/>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6" name="直接箭头连接符 65"/>
              <p:cNvCxnSpPr>
                <a:cxnSpLocks noChangeShapeType="1"/>
              </p:cNvCxnSpPr>
              <p:nvPr/>
            </p:nvCxnSpPr>
            <p:spPr bwMode="auto">
              <a:xfrm>
                <a:off x="1301183" y="4753380"/>
                <a:ext cx="0" cy="251560"/>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67" name="直接箭头连接符 66"/>
              <p:cNvCxnSpPr>
                <a:cxnSpLocks noChangeShapeType="1"/>
              </p:cNvCxnSpPr>
              <p:nvPr/>
            </p:nvCxnSpPr>
            <p:spPr bwMode="auto">
              <a:xfrm>
                <a:off x="4102952" y="5393104"/>
                <a:ext cx="1599613"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68" name="直接箭头连接符 67"/>
              <p:cNvCxnSpPr>
                <a:cxnSpLocks noChangeShapeType="1"/>
              </p:cNvCxnSpPr>
              <p:nvPr/>
            </p:nvCxnSpPr>
            <p:spPr bwMode="auto">
              <a:xfrm>
                <a:off x="7021119" y="4754603"/>
                <a:ext cx="0" cy="462736"/>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grpSp>
        <p:sp>
          <p:nvSpPr>
            <p:cNvPr id="12" name="矩形 11"/>
            <p:cNvSpPr>
              <a:spLocks noChangeArrowheads="1"/>
            </p:cNvSpPr>
            <p:nvPr/>
          </p:nvSpPr>
          <p:spPr bwMode="auto">
            <a:xfrm>
              <a:off x="2217836" y="5907297"/>
              <a:ext cx="1341091" cy="337375"/>
            </a:xfrm>
            <a:prstGeom prst="rect">
              <a:avLst/>
            </a:prstGeom>
            <a:solidFill>
              <a:schemeClr val="accent5"/>
            </a:solidFill>
            <a:ln w="12700">
              <a:solidFill>
                <a:schemeClr val="bg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气体与材料公司</a:t>
              </a:r>
            </a:p>
          </p:txBody>
        </p:sp>
        <p:sp>
          <p:nvSpPr>
            <p:cNvPr id="13" name="矩形 12"/>
            <p:cNvSpPr>
              <a:spLocks noChangeArrowheads="1"/>
            </p:cNvSpPr>
            <p:nvPr/>
          </p:nvSpPr>
          <p:spPr bwMode="auto">
            <a:xfrm>
              <a:off x="6781557" y="5903161"/>
              <a:ext cx="1214168" cy="338739"/>
            </a:xfrm>
            <a:prstGeom prst="rect">
              <a:avLst/>
            </a:prstGeom>
            <a:solidFill>
              <a:schemeClr val="accent5"/>
            </a:solidFill>
            <a:ln w="12700">
              <a:solidFill>
                <a:schemeClr val="bg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工程公司</a:t>
              </a:r>
            </a:p>
          </p:txBody>
        </p:sp>
        <p:sp>
          <p:nvSpPr>
            <p:cNvPr id="14" name="矩形 13"/>
            <p:cNvSpPr>
              <a:spLocks noChangeArrowheads="1"/>
            </p:cNvSpPr>
            <p:nvPr/>
          </p:nvSpPr>
          <p:spPr bwMode="auto">
            <a:xfrm>
              <a:off x="9168724" y="5897237"/>
              <a:ext cx="1214168" cy="340713"/>
            </a:xfrm>
            <a:prstGeom prst="rect">
              <a:avLst/>
            </a:prstGeom>
            <a:solidFill>
              <a:schemeClr val="accent5"/>
            </a:solidFill>
            <a:ln w="12700">
              <a:solidFill>
                <a:schemeClr val="bg1"/>
              </a:solidFill>
              <a:round/>
            </a:ln>
          </p:spPr>
          <p:txBody>
            <a:bodyPr anchor="ctr"/>
            <a:lstStyle>
              <a:lvl1pPr>
                <a:spcBef>
                  <a:spcPct val="50000"/>
                </a:spcBef>
                <a:spcAft>
                  <a:spcPct val="50000"/>
                </a:spcAft>
                <a:buChar char="•"/>
                <a:defRPr sz="4000" b="1">
                  <a:solidFill>
                    <a:schemeClr val="accent2"/>
                  </a:solidFill>
                  <a:latin typeface="Times New Roman" panose="02020603050405020304" pitchFamily="18" charset="0"/>
                  <a:ea typeface="楷体_GB2312" panose="02010609030101010101" pitchFamily="49" charset="-122"/>
                </a:defRPr>
              </a:lvl1pPr>
              <a:lvl2pPr marL="742950" indent="-285750">
                <a:spcBef>
                  <a:spcPct val="30000"/>
                </a:spcBef>
                <a:spcAft>
                  <a:spcPct val="30000"/>
                </a:spcAft>
                <a:buChar char="•"/>
                <a:defRPr sz="2800" b="1">
                  <a:solidFill>
                    <a:schemeClr val="accent2"/>
                  </a:solidFill>
                  <a:latin typeface="Times New Roman" panose="02020603050405020304" pitchFamily="18" charset="0"/>
                  <a:ea typeface="楷体_GB2312" panose="02010609030101010101" pitchFamily="49" charset="-122"/>
                </a:defRPr>
              </a:lvl2pPr>
              <a:lvl3pPr marL="1143000" indent="-228600">
                <a:spcBef>
                  <a:spcPct val="30000"/>
                </a:spcBef>
                <a:spcAft>
                  <a:spcPct val="30000"/>
                </a:spcAft>
                <a:buChar char="•"/>
                <a:defRPr sz="2400" b="1">
                  <a:solidFill>
                    <a:schemeClr val="accent2"/>
                  </a:solidFill>
                  <a:latin typeface="Times New Roman" panose="02020603050405020304" pitchFamily="18" charset="0"/>
                  <a:ea typeface="楷体_GB2312" panose="02010609030101010101" pitchFamily="49" charset="-122"/>
                </a:defRPr>
              </a:lvl3pPr>
              <a:lvl4pPr marL="16002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4pPr>
              <a:lvl5pPr marL="2057400" indent="-22860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5pPr>
              <a:lvl6pPr marL="25146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6pPr>
              <a:lvl7pPr marL="29718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7pPr>
              <a:lvl8pPr marL="34290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8pPr>
              <a:lvl9pPr marL="3886200" indent="-228600" eaLnBrk="0" fontAlgn="base" hangingPunct="0">
                <a:spcBef>
                  <a:spcPct val="30000"/>
                </a:spcBef>
                <a:spcAft>
                  <a:spcPct val="30000"/>
                </a:spcAft>
                <a:buChar char="»"/>
                <a:defRPr sz="2000" b="1">
                  <a:solidFill>
                    <a:schemeClr val="accent2"/>
                  </a:solidFill>
                  <a:latin typeface="Times New Roman" panose="02020603050405020304" pitchFamily="18" charset="0"/>
                  <a:ea typeface="楷体_GB2312" panose="02010609030101010101" pitchFamily="49" charset="-122"/>
                </a:defRPr>
              </a:lvl9pPr>
            </a:lstStyle>
            <a:p>
              <a:pPr algn="ctr" eaLnBrk="1" hangingPunct="1">
                <a:spcBef>
                  <a:spcPct val="0"/>
                </a:spcBef>
                <a:spcAft>
                  <a:spcPct val="0"/>
                </a:spcAft>
                <a:buFontTx/>
                <a:buNone/>
              </a:pPr>
              <a:r>
                <a:rPr lang="zh-CN" altLang="en-US" sz="8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物流公司</a:t>
              </a:r>
            </a:p>
          </p:txBody>
        </p:sp>
        <p:cxnSp>
          <p:nvCxnSpPr>
            <p:cNvPr id="15" name="直接箭头连接符 14"/>
            <p:cNvCxnSpPr>
              <a:cxnSpLocks noChangeShapeType="1"/>
            </p:cNvCxnSpPr>
            <p:nvPr/>
          </p:nvCxnSpPr>
          <p:spPr bwMode="auto">
            <a:xfrm flipV="1">
              <a:off x="2783632" y="5718556"/>
              <a:ext cx="6992176" cy="13698"/>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cxnSp>
          <p:nvCxnSpPr>
            <p:cNvPr id="16" name="直接箭头连接符 15"/>
            <p:cNvCxnSpPr>
              <a:cxnSpLocks noChangeShapeType="1"/>
              <a:endCxn id="14" idx="0"/>
            </p:cNvCxnSpPr>
            <p:nvPr/>
          </p:nvCxnSpPr>
          <p:spPr bwMode="auto">
            <a:xfrm>
              <a:off x="9770802" y="5718556"/>
              <a:ext cx="5006" cy="178681"/>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17" name="直接箭头连接符 16"/>
            <p:cNvCxnSpPr>
              <a:cxnSpLocks noChangeShapeType="1"/>
              <a:endCxn id="13" idx="0"/>
            </p:cNvCxnSpPr>
            <p:nvPr/>
          </p:nvCxnSpPr>
          <p:spPr bwMode="auto">
            <a:xfrm>
              <a:off x="7388641" y="5716005"/>
              <a:ext cx="0" cy="187156"/>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18" name="直接箭头连接符 17"/>
            <p:cNvCxnSpPr>
              <a:cxnSpLocks noChangeShapeType="1"/>
            </p:cNvCxnSpPr>
            <p:nvPr/>
          </p:nvCxnSpPr>
          <p:spPr bwMode="auto">
            <a:xfrm>
              <a:off x="2783114" y="5725405"/>
              <a:ext cx="0" cy="187156"/>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19" name="直接箭头连接符 18"/>
            <p:cNvCxnSpPr>
              <a:cxnSpLocks noChangeShapeType="1"/>
            </p:cNvCxnSpPr>
            <p:nvPr/>
          </p:nvCxnSpPr>
          <p:spPr bwMode="auto">
            <a:xfrm>
              <a:off x="6358683" y="5564792"/>
              <a:ext cx="0" cy="167462"/>
            </a:xfrm>
            <a:prstGeom prst="straightConnector1">
              <a:avLst/>
            </a:prstGeom>
            <a:noFill/>
            <a:ln w="9525">
              <a:solidFill>
                <a:schemeClr val="tx1"/>
              </a:solidFill>
              <a:round/>
              <a:headEnd type="none" w="med" len="med"/>
              <a:tailEnd type="non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355835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01</a:t>
            </a:r>
            <a:endParaRPr lang="zh-CN" altLang="en-US" sz="3200"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nvSpPr>
        <p:spPr>
          <a:xfrm>
            <a:off x="783952" y="456910"/>
            <a:ext cx="6920862" cy="369332"/>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管理层：均具备强电子气项目与设备经验，有家国情怀</a:t>
            </a:r>
          </a:p>
        </p:txBody>
      </p:sp>
      <p:sp>
        <p:nvSpPr>
          <p:cNvPr id="4" name="文本框 11"/>
          <p:cNvSpPr txBox="1"/>
          <p:nvPr/>
        </p:nvSpPr>
        <p:spPr>
          <a:xfrm>
            <a:off x="464619" y="909450"/>
            <a:ext cx="8440842" cy="101473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a:spcBef>
                <a:spcPts val="600"/>
              </a:spcBef>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公司核心管理与技术人员均来自外资气体厂商与合资气体厂商，具备强项目与设备技术经验。</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其中，公司领军人物董事长邓韬是公司的灵魂人物，从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93</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年以来一直坚守广钢体系，经历过公司与林德合资、再剥离为独立公司的全过程，从业</a:t>
            </a:r>
            <a:r>
              <a:rPr lang="en-US" altLang="zh-CN" sz="1100" dirty="0">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年，有非常强的家国情怀，希望营造国内非价格竞争环境，因此对于气体合同价格把握程度较高，保障公司项目全寿命利益。</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indent="-285750" algn="just">
              <a:spcBef>
                <a:spcPts val="600"/>
              </a:spcBef>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其他核心人员具全球气体巨头技术与运营经验。</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以刘继雄为例，其</a:t>
            </a:r>
            <a:r>
              <a:rPr lang="en-US" altLang="zh-CN" sz="1100" dirty="0">
                <a:latin typeface="Arial" panose="020B0604020202020204" pitchFamily="34" charset="0"/>
                <a:ea typeface="思源黑体 Heavy" panose="020B0A00000000000000" pitchFamily="34" charset="-122"/>
                <a:cs typeface="Arial" panose="020B0604020202020204" pitchFamily="34" charset="0"/>
              </a:rPr>
              <a:t>12-20</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年曾任林德气体、梅塞尔应用技术工程师，在气体应用技术与装备研发有全面经验。</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pic>
        <p:nvPicPr>
          <p:cNvPr id="5" name="图片 4"/>
          <p:cNvPicPr>
            <a:picLocks noChangeAspect="1"/>
          </p:cNvPicPr>
          <p:nvPr/>
        </p:nvPicPr>
        <p:blipFill>
          <a:blip r:embed="rId2" cstate="print">
            <a:clrChange>
              <a:clrFrom>
                <a:srgbClr val="FEFEFE"/>
              </a:clrFrom>
              <a:clrTo>
                <a:srgbClr val="FEFEFE">
                  <a:alpha val="0"/>
                </a:srgbClr>
              </a:clrTo>
            </a:clrChang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11019" t="14212" r="11610" b="50264"/>
          <a:stretch>
            <a:fillRect/>
          </a:stretch>
        </p:blipFill>
        <p:spPr>
          <a:xfrm>
            <a:off x="754095" y="1783604"/>
            <a:ext cx="7635809" cy="1579547"/>
          </a:xfrm>
          <a:prstGeom prst="rect">
            <a:avLst/>
          </a:prstGeom>
        </p:spPr>
      </p:pic>
      <p:sp>
        <p:nvSpPr>
          <p:cNvPr id="6" name="文本框 1"/>
          <p:cNvSpPr txBox="1"/>
          <p:nvPr/>
        </p:nvSpPr>
        <p:spPr>
          <a:xfrm>
            <a:off x="684000" y="3355011"/>
            <a:ext cx="1629206" cy="1323439"/>
          </a:xfrm>
          <a:prstGeom prst="rect">
            <a:avLst/>
          </a:prstGeom>
          <a:solidFill>
            <a:schemeClr val="accent1">
              <a:lumMod val="20000"/>
              <a:lumOff val="80000"/>
            </a:schemeClr>
          </a:solid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800" b="1" dirty="0">
                <a:latin typeface="Arial" panose="020B0604020202020204" pitchFamily="34" charset="0"/>
                <a:ea typeface="思源黑体 Heavy" panose="020B0A00000000000000" pitchFamily="34" charset="-122"/>
                <a:cs typeface="Arial" panose="020B0604020202020204" pitchFamily="34" charset="0"/>
              </a:rPr>
              <a:t>邓韬</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algn="just"/>
            <a:r>
              <a:rPr lang="zh-CN" altLang="en-US" sz="800" b="1" dirty="0">
                <a:latin typeface="Arial" panose="020B0604020202020204" pitchFamily="34" charset="0"/>
                <a:ea typeface="思源黑体 Heavy" panose="020B0A00000000000000" pitchFamily="34" charset="-122"/>
                <a:cs typeface="Arial" panose="020B0604020202020204" pitchFamily="34" charset="0"/>
              </a:rPr>
              <a:t>董事长、总裁、核心技术人员</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30年气体行业经验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广东工业气体行业协会会长</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广州南沙新区高端领军人才</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中国工业气体工业协会第九届理事会副理事长</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中国工业气体工业协会医用气体及工程分会副会长“十三五”气体行业影响力人物</a:t>
            </a:r>
          </a:p>
        </p:txBody>
      </p:sp>
      <p:sp>
        <p:nvSpPr>
          <p:cNvPr id="7" name="文本框 5"/>
          <p:cNvSpPr txBox="1"/>
          <p:nvPr/>
        </p:nvSpPr>
        <p:spPr>
          <a:xfrm>
            <a:off x="2664498" y="3330589"/>
            <a:ext cx="1629206" cy="1323439"/>
          </a:xfrm>
          <a:prstGeom prst="rect">
            <a:avLst/>
          </a:prstGeom>
          <a:solidFill>
            <a:schemeClr val="accent1">
              <a:lumMod val="20000"/>
              <a:lumOff val="80000"/>
            </a:schemeClr>
          </a:solid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800" b="1" dirty="0">
                <a:latin typeface="Arial" panose="020B0604020202020204" pitchFamily="34" charset="0"/>
                <a:ea typeface="思源黑体 Heavy" panose="020B0A00000000000000" pitchFamily="34" charset="-122"/>
                <a:cs typeface="Arial" panose="020B0604020202020204" pitchFamily="34" charset="0"/>
              </a:rPr>
              <a:t>李 伟</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algn="just"/>
            <a:r>
              <a:rPr lang="zh-CN" altLang="en-US" sz="800" b="1" dirty="0">
                <a:latin typeface="Arial" panose="020B0604020202020204" pitchFamily="34" charset="0"/>
                <a:ea typeface="思源黑体 Heavy" panose="020B0A00000000000000" pitchFamily="34" charset="-122"/>
                <a:cs typeface="Arial" panose="020B0604020202020204" pitchFamily="34" charset="0"/>
              </a:rPr>
              <a:t>工艺技术研发中心总经理、核心技术人员</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en-US" altLang="zh-CN" sz="800" dirty="0">
                <a:latin typeface="Arial" panose="020B0604020202020204" pitchFamily="34" charset="0"/>
                <a:ea typeface="思源黑体 Heavy" panose="020B0A00000000000000" pitchFamily="34" charset="-122"/>
                <a:cs typeface="Arial" panose="020B0604020202020204" pitchFamily="34" charset="0"/>
              </a:rPr>
              <a:t>27</a:t>
            </a:r>
            <a:r>
              <a:rPr lang="zh-CN" altLang="en-US" sz="800" dirty="0">
                <a:latin typeface="Arial" panose="020B0604020202020204" pitchFamily="34" charset="0"/>
                <a:ea typeface="思源黑体 Heavy" panose="020B0A00000000000000" pitchFamily="34" charset="-122"/>
                <a:cs typeface="Arial" panose="020B0604020202020204" pitchFamily="34" charset="0"/>
              </a:rPr>
              <a:t>年气体行业经验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多年外资气体公司工作经历</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具备丰富工艺和装备设计、系统及控制以及工艺安全等方面的研究和管理工作经验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负责公司</a:t>
            </a:r>
            <a:r>
              <a:rPr lang="en-US" altLang="zh-CN" sz="800" dirty="0">
                <a:latin typeface="Arial" panose="020B0604020202020204" pitchFamily="34" charset="0"/>
                <a:ea typeface="思源黑体 Heavy" panose="020B0A00000000000000" pitchFamily="34" charset="-122"/>
                <a:cs typeface="Arial" panose="020B0604020202020204" pitchFamily="34" charset="0"/>
              </a:rPr>
              <a:t>Super-N</a:t>
            </a:r>
            <a:r>
              <a:rPr lang="zh-CN" altLang="en-US" sz="800" dirty="0">
                <a:latin typeface="Arial" panose="020B0604020202020204" pitchFamily="34" charset="0"/>
                <a:ea typeface="思源黑体 Heavy" panose="020B0A00000000000000" pitchFamily="34" charset="-122"/>
                <a:cs typeface="Arial" panose="020B0604020202020204" pitchFamily="34" charset="0"/>
              </a:rPr>
              <a:t>及</a:t>
            </a:r>
            <a:r>
              <a:rPr lang="en-US" altLang="zh-CN" sz="800" dirty="0">
                <a:latin typeface="Arial" panose="020B0604020202020204" pitchFamily="34" charset="0"/>
                <a:ea typeface="思源黑体 Heavy" panose="020B0A00000000000000" pitchFamily="34" charset="-122"/>
                <a:cs typeface="Arial" panose="020B0604020202020204" pitchFamily="34" charset="0"/>
              </a:rPr>
              <a:t>Fast-N</a:t>
            </a:r>
            <a:r>
              <a:rPr lang="zh-CN" altLang="en-US" sz="800" dirty="0">
                <a:latin typeface="Arial" panose="020B0604020202020204" pitchFamily="34" charset="0"/>
                <a:ea typeface="思源黑体 Heavy" panose="020B0A00000000000000" pitchFamily="34" charset="-122"/>
                <a:cs typeface="Arial" panose="020B0604020202020204" pitchFamily="34" charset="0"/>
              </a:rPr>
              <a:t>小型系列制氮装置研发</a:t>
            </a:r>
          </a:p>
        </p:txBody>
      </p:sp>
      <p:sp>
        <p:nvSpPr>
          <p:cNvPr id="8" name="文本框 6"/>
          <p:cNvSpPr txBox="1"/>
          <p:nvPr/>
        </p:nvSpPr>
        <p:spPr>
          <a:xfrm>
            <a:off x="4676817" y="3346870"/>
            <a:ext cx="1700768" cy="1323439"/>
          </a:xfrm>
          <a:prstGeom prst="rect">
            <a:avLst/>
          </a:prstGeom>
          <a:solidFill>
            <a:schemeClr val="accent1">
              <a:lumMod val="20000"/>
              <a:lumOff val="80000"/>
            </a:schemeClr>
          </a:solid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800" b="1" dirty="0">
                <a:latin typeface="Arial" panose="020B0604020202020204" pitchFamily="34" charset="0"/>
                <a:ea typeface="思源黑体 Heavy" panose="020B0A00000000000000" pitchFamily="34" charset="-122"/>
                <a:cs typeface="Arial" panose="020B0604020202020204" pitchFamily="34" charset="0"/>
              </a:rPr>
              <a:t>王开兵</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algn="just"/>
            <a:r>
              <a:rPr lang="zh-CN" altLang="en-US" sz="800" b="1" dirty="0">
                <a:latin typeface="Arial" panose="020B0604020202020204" pitchFamily="34" charset="0"/>
                <a:ea typeface="思源黑体 Heavy" panose="020B0A00000000000000" pitchFamily="34" charset="-122"/>
                <a:cs typeface="Arial" panose="020B0604020202020204" pitchFamily="34" charset="0"/>
              </a:rPr>
              <a:t>工程技术研发中心总经理、核心技术人员</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algn="just"/>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en-US" altLang="zh-CN" sz="800" dirty="0">
                <a:latin typeface="Arial" panose="020B0604020202020204" pitchFamily="34" charset="0"/>
                <a:ea typeface="思源黑体 Heavy" panose="020B0A00000000000000" pitchFamily="34" charset="-122"/>
                <a:cs typeface="Arial" panose="020B0604020202020204" pitchFamily="34" charset="0"/>
              </a:rPr>
              <a:t>22</a:t>
            </a:r>
            <a:r>
              <a:rPr lang="zh-CN" altLang="en-US" sz="800" dirty="0">
                <a:latin typeface="Arial" panose="020B0604020202020204" pitchFamily="34" charset="0"/>
                <a:ea typeface="思源黑体 Heavy" panose="020B0A00000000000000" pitchFamily="34" charset="-122"/>
                <a:cs typeface="Arial" panose="020B0604020202020204" pitchFamily="34" charset="0"/>
              </a:rPr>
              <a:t>年气体行业经验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负责研发</a:t>
            </a:r>
            <a:r>
              <a:rPr lang="en-US" altLang="zh-CN" sz="800" dirty="0">
                <a:latin typeface="Arial" panose="020B0604020202020204" pitchFamily="34" charset="0"/>
                <a:ea typeface="思源黑体 Heavy" panose="020B0A00000000000000" pitchFamily="34" charset="-122"/>
                <a:cs typeface="Arial" panose="020B0604020202020204" pitchFamily="34" charset="0"/>
              </a:rPr>
              <a:t>Super-N</a:t>
            </a:r>
            <a:r>
              <a:rPr lang="zh-CN" altLang="en-US" sz="800" dirty="0">
                <a:latin typeface="Arial" panose="020B0604020202020204" pitchFamily="34" charset="0"/>
                <a:ea typeface="思源黑体 Heavy" panose="020B0A00000000000000" pitchFamily="34" charset="-122"/>
                <a:cs typeface="Arial" panose="020B0604020202020204" pitchFamily="34" charset="0"/>
              </a:rPr>
              <a:t>大型超纯制氨装置</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突破行业传统，首创在高端超高纯大宗气体供应项目上应用国产替代解决方案</a:t>
            </a:r>
          </a:p>
        </p:txBody>
      </p:sp>
      <p:sp>
        <p:nvSpPr>
          <p:cNvPr id="10" name="文本框 7"/>
          <p:cNvSpPr txBox="1"/>
          <p:nvPr/>
        </p:nvSpPr>
        <p:spPr>
          <a:xfrm>
            <a:off x="6760698" y="3330589"/>
            <a:ext cx="1629206" cy="1323439"/>
          </a:xfrm>
          <a:prstGeom prst="rect">
            <a:avLst/>
          </a:prstGeom>
          <a:solidFill>
            <a:schemeClr val="accent1">
              <a:lumMod val="20000"/>
              <a:lumOff val="80000"/>
            </a:schemeClr>
          </a:solidFill>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a:r>
              <a:rPr lang="zh-CN" altLang="en-US" sz="800" b="1" dirty="0">
                <a:latin typeface="Arial" panose="020B0604020202020204" pitchFamily="34" charset="0"/>
                <a:ea typeface="思源黑体 Heavy" panose="020B0A00000000000000" pitchFamily="34" charset="-122"/>
                <a:cs typeface="Arial" panose="020B0604020202020204" pitchFamily="34" charset="0"/>
              </a:rPr>
              <a:t>刘继雄</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algn="just"/>
            <a:r>
              <a:rPr lang="zh-CN" altLang="en-US" sz="800" b="1" dirty="0">
                <a:latin typeface="Arial" panose="020B0604020202020204" pitchFamily="34" charset="0"/>
                <a:ea typeface="思源黑体 Heavy" panose="020B0A00000000000000" pitchFamily="34" charset="-122"/>
                <a:cs typeface="Arial" panose="020B0604020202020204" pitchFamily="34" charset="0"/>
              </a:rPr>
              <a:t>应用技术研发中心总经理、核心技术人员</a:t>
            </a:r>
            <a:endParaRPr lang="en-US" altLang="zh-CN" sz="800" b="1"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en-US" altLang="zh-CN" sz="800" dirty="0">
                <a:latin typeface="Arial" panose="020B0604020202020204" pitchFamily="34" charset="0"/>
                <a:ea typeface="思源黑体 Heavy" panose="020B0A00000000000000" pitchFamily="34" charset="-122"/>
                <a:cs typeface="Arial" panose="020B0604020202020204" pitchFamily="34" charset="0"/>
              </a:rPr>
              <a:t>16</a:t>
            </a:r>
            <a:r>
              <a:rPr lang="zh-CN" altLang="en-US" sz="800" dirty="0">
                <a:latin typeface="Arial" panose="020B0604020202020204" pitchFamily="34" charset="0"/>
                <a:ea typeface="思源黑体 Heavy" panose="020B0A00000000000000" pitchFamily="34" charset="-122"/>
                <a:cs typeface="Arial" panose="020B0604020202020204" pitchFamily="34" charset="0"/>
              </a:rPr>
              <a:t>年气体行业经验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多年外资气体公司工作经历</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具有丰富的工业气体应用技术和装备研发、应用推广和项目实施的经验</a:t>
            </a:r>
            <a:endParaRPr lang="en-US" altLang="zh-CN" sz="800" dirty="0">
              <a:latin typeface="Arial" panose="020B0604020202020204" pitchFamily="34" charset="0"/>
              <a:ea typeface="思源黑体 Heavy" panose="020B0A00000000000000" pitchFamily="34" charset="-122"/>
              <a:cs typeface="Arial" panose="020B0604020202020204" pitchFamily="34" charset="0"/>
            </a:endParaRPr>
          </a:p>
          <a:p>
            <a:pPr marL="171450" indent="-171450" algn="just">
              <a:buFont typeface="Wingdings" panose="05000000000000000000" pitchFamily="2" charset="2"/>
              <a:buChar char="l"/>
            </a:pPr>
            <a:r>
              <a:rPr lang="zh-CN" altLang="en-US" sz="800" dirty="0">
                <a:latin typeface="Arial" panose="020B0604020202020204" pitchFamily="34" charset="0"/>
                <a:ea typeface="思源黑体 Heavy" panose="020B0A00000000000000" pitchFamily="34" charset="-122"/>
                <a:cs typeface="Arial" panose="020B0604020202020204" pitchFamily="34" charset="0"/>
              </a:rPr>
              <a:t>负责全面开展应用技术创新的科研工作</a:t>
            </a:r>
          </a:p>
        </p:txBody>
      </p:sp>
    </p:spTree>
    <p:extLst>
      <p:ext uri="{BB962C8B-B14F-4D97-AF65-F5344CB8AC3E}">
        <p14:creationId xmlns:p14="http://schemas.microsoft.com/office/powerpoint/2010/main" val="186809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grpSp>
        <p:nvGrpSpPr>
          <p:cNvPr id="3" name="组合 2"/>
          <p:cNvGrpSpPr/>
          <p:nvPr/>
        </p:nvGrpSpPr>
        <p:grpSpPr>
          <a:xfrm>
            <a:off x="779630" y="1222042"/>
            <a:ext cx="7992888" cy="2152585"/>
            <a:chOff x="1763688" y="1403470"/>
            <a:chExt cx="7992888" cy="2152585"/>
          </a:xfrm>
        </p:grpSpPr>
        <p:sp>
          <p:nvSpPr>
            <p:cNvPr id="4" name="文本框 1"/>
            <p:cNvSpPr txBox="1"/>
            <p:nvPr/>
          </p:nvSpPr>
          <p:spPr>
            <a:xfrm>
              <a:off x="1763688" y="1403470"/>
              <a:ext cx="1326004" cy="1323439"/>
            </a:xfrm>
            <a:prstGeom prst="rect">
              <a:avLst/>
            </a:prstGeom>
            <a:noFill/>
            <a:ln w="9525">
              <a:noFill/>
              <a:miter/>
            </a:ln>
          </p:spPr>
          <p:txBody>
            <a:bodyPr wrap="none" anchor="t">
              <a:spAutoFit/>
            </a:bodyPr>
            <a:lstStyle/>
            <a:p>
              <a:pPr lvl="0"/>
              <a:r>
                <a:rPr lang="en-US" altLang="zh-CN" sz="8000" b="1" dirty="0">
                  <a:solidFill>
                    <a:schemeClr val="bg1"/>
                  </a:solidFill>
                  <a:latin typeface="Arial" panose="020B0604020202020204" pitchFamily="34" charset="0"/>
                  <a:ea typeface="思源黑体 CN Regular" panose="020B0500000000000000" charset="-122"/>
                  <a:cs typeface="Arial" panose="020B0604020202020204" pitchFamily="34" charset="0"/>
                </a:rPr>
                <a:t>02</a:t>
              </a:r>
              <a:endParaRPr lang="en-US" altLang="zh-CN" sz="96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5" name="文本框 2"/>
            <p:cNvSpPr txBox="1"/>
            <p:nvPr/>
          </p:nvSpPr>
          <p:spPr>
            <a:xfrm>
              <a:off x="2987824" y="2355726"/>
              <a:ext cx="6768752" cy="1200329"/>
            </a:xfrm>
            <a:prstGeom prst="rect">
              <a:avLst/>
            </a:prstGeom>
            <a:noFill/>
            <a:ln w="9525">
              <a:noFill/>
              <a:miter/>
            </a:ln>
          </p:spPr>
          <p:txBody>
            <a:bodyPr wrap="square" anchor="t">
              <a:spAutoFit/>
            </a:bodyPr>
            <a:lstStyle/>
            <a:p>
              <a:pPr lvl="0"/>
              <a:r>
                <a:rPr lang="zh-CN" altLang="en-US" sz="3600" b="1" dirty="0">
                  <a:solidFill>
                    <a:schemeClr val="bg1"/>
                  </a:solidFill>
                  <a:latin typeface="思源黑体 CN Regular" panose="020B0500000000000000" charset="-122"/>
                  <a:ea typeface="思源黑体 CN Regular" panose="020B0500000000000000" charset="-122"/>
                </a:rPr>
                <a:t>电子大宗气体：受益大厂扩产</a:t>
              </a:r>
              <a:r>
                <a:rPr lang="en-US" altLang="zh-CN" sz="3600" b="1" dirty="0">
                  <a:solidFill>
                    <a:schemeClr val="bg1"/>
                  </a:solidFill>
                  <a:latin typeface="思源黑体 CN Regular" panose="020B0500000000000000" charset="-122"/>
                  <a:ea typeface="思源黑体 CN Regular" panose="020B0500000000000000" charset="-122"/>
                </a:rPr>
                <a:t>+</a:t>
              </a:r>
              <a:r>
                <a:rPr lang="zh-CN" altLang="en-US" sz="3600" b="1" dirty="0">
                  <a:solidFill>
                    <a:schemeClr val="bg1"/>
                  </a:solidFill>
                  <a:latin typeface="思源黑体 CN Regular" panose="020B0500000000000000" charset="-122"/>
                  <a:ea typeface="思源黑体 CN Regular" panose="020B0500000000000000" charset="-122"/>
                </a:rPr>
                <a:t>市占率提升</a:t>
              </a:r>
            </a:p>
          </p:txBody>
        </p:sp>
        <p:cxnSp>
          <p:nvCxnSpPr>
            <p:cNvPr id="7" name="直线连接符 3"/>
            <p:cNvCxnSpPr/>
            <p:nvPr/>
          </p:nvCxnSpPr>
          <p:spPr>
            <a:xfrm flipV="1">
              <a:off x="2280539" y="1774653"/>
              <a:ext cx="1283349" cy="1390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标题 1"/>
          <p:cNvSpPr>
            <a:spLocks noGrp="1"/>
          </p:cNvSpPr>
          <p:nvPr/>
        </p:nvSpPr>
        <p:spPr>
          <a:xfrm>
            <a:off x="838835" y="342900"/>
            <a:ext cx="6603586"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商业模式：电子大宗气体是核心基础，是成长为综合气体运营厂商的必经之路</a:t>
            </a:r>
          </a:p>
        </p:txBody>
      </p:sp>
      <p:sp>
        <p:nvSpPr>
          <p:cNvPr id="67" name="文本占位符 5"/>
          <p:cNvSpPr txBox="1"/>
          <p:nvPr/>
        </p:nvSpPr>
        <p:spPr>
          <a:xfrm>
            <a:off x="249006" y="967142"/>
            <a:ext cx="8645988" cy="934178"/>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00050" indent="-400050" defTabSz="914400" eaLnBrk="1"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defTabSz="914400" eaLnBrk="1"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defTabSz="914400" eaLnBrk="1"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defTabSz="914400" eaLnBrk="1" hangingPunct="1">
              <a:lnSpc>
                <a:spcPct val="90000"/>
              </a:lnSpc>
              <a:spcBef>
                <a:spcPts val="500"/>
              </a:spcBef>
              <a:buFont typeface="Arial" panose="020B0604020202020204" pitchFamily="34" charset="0"/>
              <a:buChar char="•"/>
              <a:defRPr sz="1050" kern="1200">
                <a:solidFill>
                  <a:schemeClr val="tx1"/>
                </a:solidFill>
                <a:latin typeface="+mn-lt"/>
                <a:ea typeface="+mn-ea"/>
                <a:cs typeface="+mn-cs"/>
              </a:defRPr>
            </a:lvl4pPr>
            <a:lvl5pPr marL="285750" lvl="4" indent="-285750" algn="just" defTabSz="914400" eaLnBrk="1" hangingPunct="1">
              <a:spcAft>
                <a:spcPts val="600"/>
              </a:spcAft>
              <a:buFont typeface="Wingdings" panose="05000000000000000000" pitchFamily="2" charset="2"/>
              <a:buChar char="n"/>
              <a:defRPr sz="1600" b="1" kern="1200">
                <a:solidFill>
                  <a:srgbClr val="141414"/>
                </a:solidFill>
                <a:latin typeface="+mn-ea"/>
                <a:ea typeface="+mn-ea"/>
                <a:cs typeface="Arial" panose="020B0604020202020204" pitchFamily="34" charset="0"/>
              </a:defRPr>
            </a:lvl5pPr>
            <a:lvl6pPr marL="25146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6pPr>
            <a:lvl7pPr marL="29718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7pPr>
            <a:lvl8pPr marL="34290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8pPr>
            <a:lvl9pPr marL="38862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9pPr>
          </a:lstStyle>
          <a:p>
            <a:pPr lvl="4"/>
            <a:r>
              <a:rPr lang="zh-CN" altLang="en-US" sz="1100" dirty="0">
                <a:latin typeface="思源黑体 Heavy" panose="020B0A00000000000000" pitchFamily="34" charset="-122"/>
                <a:ea typeface="思源黑体 Heavy" panose="020B0A00000000000000" pitchFamily="34" charset="-122"/>
              </a:rPr>
              <a:t>公司电子大宗气体的供应是气体解决方案的核心基础，参与下游客户项目的设计、供应等环节，可拓展至电子特种气体品类，逐步成长为综合气体运营厂商</a:t>
            </a:r>
            <a:r>
              <a:rPr lang="zh-CN" altLang="en-US" sz="1100" b="0" dirty="0">
                <a:latin typeface="思源黑体 Heavy" panose="020B0A00000000000000" pitchFamily="34" charset="-122"/>
                <a:ea typeface="思源黑体 Heavy" panose="020B0A00000000000000" pitchFamily="34" charset="-122"/>
              </a:rPr>
              <a:t>。由于电子气体几乎贯穿了半导体、面板等客户全制造流程，因此综合气体方案供应商在基建环节就需要介入，针对客户产品、场地、周边配套资源等多方面情况进行考量，给出合适的供气方案。</a:t>
            </a:r>
            <a:r>
              <a:rPr lang="zh-CN" altLang="en-US" sz="1100" dirty="0">
                <a:solidFill>
                  <a:srgbClr val="C00000"/>
                </a:solidFill>
                <a:latin typeface="思源黑体 Heavy" panose="020B0A00000000000000" pitchFamily="34" charset="-122"/>
                <a:ea typeface="思源黑体 Heavy" panose="020B0A00000000000000" pitchFamily="34" charset="-122"/>
              </a:rPr>
              <a:t>其中，从电子气供应生态看，综合气体方案供应商首先一定是电子大宗气体供应商</a:t>
            </a:r>
            <a:r>
              <a:rPr lang="zh-CN" altLang="en-US" sz="1100" b="0" dirty="0">
                <a:latin typeface="思源黑体 Heavy" panose="020B0A00000000000000" pitchFamily="34" charset="-122"/>
                <a:ea typeface="思源黑体 Heavy" panose="020B0A00000000000000" pitchFamily="34" charset="-122"/>
              </a:rPr>
              <a:t>，其会依据能力在所需要的特种气体上进行自供或者寻求其他渠道供应，形成相对完整的全套供应能力。</a:t>
            </a:r>
          </a:p>
        </p:txBody>
      </p:sp>
      <p:sp>
        <p:nvSpPr>
          <p:cNvPr id="2" name="文本占位符 5"/>
          <p:cNvSpPr txBox="1"/>
          <p:nvPr/>
        </p:nvSpPr>
        <p:spPr>
          <a:xfrm>
            <a:off x="165809" y="843369"/>
            <a:ext cx="11517482" cy="1323439"/>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400050" indent="-400050" defTabSz="914400" eaLnBrk="1" hangingPunct="1">
              <a:lnSpc>
                <a:spcPct val="9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defTabSz="914400" eaLnBrk="1"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2pPr>
            <a:lvl3pPr marL="1143000" indent="-228600" defTabSz="914400" eaLnBrk="1"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00200" indent="-228600" defTabSz="914400" eaLnBrk="1" hangingPunct="1">
              <a:lnSpc>
                <a:spcPct val="90000"/>
              </a:lnSpc>
              <a:spcBef>
                <a:spcPts val="500"/>
              </a:spcBef>
              <a:buFont typeface="Arial" panose="020B0604020202020204" pitchFamily="34" charset="0"/>
              <a:buChar char="•"/>
              <a:defRPr sz="1050" kern="1200">
                <a:solidFill>
                  <a:schemeClr val="tx1"/>
                </a:solidFill>
                <a:latin typeface="+mn-lt"/>
                <a:ea typeface="+mn-ea"/>
                <a:cs typeface="+mn-cs"/>
              </a:defRPr>
            </a:lvl4pPr>
            <a:lvl5pPr marL="285750" lvl="4" indent="-285750" algn="just" defTabSz="914400" eaLnBrk="1" hangingPunct="1">
              <a:spcAft>
                <a:spcPts val="600"/>
              </a:spcAft>
              <a:buFont typeface="Wingdings" panose="05000000000000000000" pitchFamily="2" charset="2"/>
              <a:buChar char="n"/>
              <a:defRPr sz="1600" b="1" kern="1200">
                <a:solidFill>
                  <a:srgbClr val="141414"/>
                </a:solidFill>
                <a:latin typeface="+mn-ea"/>
                <a:ea typeface="+mn-ea"/>
                <a:cs typeface="Arial" panose="020B0604020202020204" pitchFamily="34" charset="0"/>
              </a:defRPr>
            </a:lvl5pPr>
            <a:lvl6pPr marL="25146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6pPr>
            <a:lvl7pPr marL="29718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7pPr>
            <a:lvl8pPr marL="34290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8pPr>
            <a:lvl9pPr marL="3886200" indent="-228600" defTabSz="914400" eaLnBrk="1" hangingPunct="1">
              <a:lnSpc>
                <a:spcPct val="90000"/>
              </a:lnSpc>
              <a:spcBef>
                <a:spcPts val="500"/>
              </a:spcBef>
              <a:buFont typeface="Arial" panose="020B0604020202020204" pitchFamily="34" charset="0"/>
              <a:buChar char="•"/>
              <a:defRPr kern="1200">
                <a:solidFill>
                  <a:schemeClr val="tx1"/>
                </a:solidFill>
                <a:latin typeface="+mn-lt"/>
                <a:ea typeface="+mn-ea"/>
                <a:cs typeface="+mn-cs"/>
              </a:defRPr>
            </a:lvl9pPr>
          </a:lstStyle>
          <a:p>
            <a:pPr marL="0" lvl="4" indent="0">
              <a:buNone/>
            </a:pPr>
            <a:endParaRPr lang="zh-CN" altLang="en-US" b="0" dirty="0">
              <a:latin typeface="Arial" panose="020B0604020202020204" pitchFamily="34" charset="0"/>
              <a:ea typeface="+mj-ea"/>
            </a:endParaRPr>
          </a:p>
        </p:txBody>
      </p:sp>
      <p:grpSp>
        <p:nvGrpSpPr>
          <p:cNvPr id="4" name="组合 3"/>
          <p:cNvGrpSpPr/>
          <p:nvPr/>
        </p:nvGrpSpPr>
        <p:grpSpPr>
          <a:xfrm>
            <a:off x="392292" y="2045578"/>
            <a:ext cx="8359415" cy="2593593"/>
            <a:chOff x="302359" y="1913452"/>
            <a:chExt cx="8522970" cy="2887402"/>
          </a:xfrm>
        </p:grpSpPr>
        <p:grpSp>
          <p:nvGrpSpPr>
            <p:cNvPr id="13" name="组合 12"/>
            <p:cNvGrpSpPr/>
            <p:nvPr/>
          </p:nvGrpSpPr>
          <p:grpSpPr>
            <a:xfrm>
              <a:off x="302359" y="1913452"/>
              <a:ext cx="8522970" cy="2887402"/>
              <a:chOff x="554191" y="1307151"/>
              <a:chExt cx="7776864" cy="3496975"/>
            </a:xfrm>
          </p:grpSpPr>
          <p:sp>
            <p:nvSpPr>
              <p:cNvPr id="15" name="圆角矩形 55"/>
              <p:cNvSpPr/>
              <p:nvPr/>
            </p:nvSpPr>
            <p:spPr>
              <a:xfrm>
                <a:off x="554191" y="1363129"/>
                <a:ext cx="7776864" cy="3440997"/>
              </a:xfrm>
              <a:prstGeom prst="round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cs typeface="Arial" panose="020B0604020202020204" pitchFamily="34" charset="0"/>
                </a:endParaRPr>
              </a:p>
            </p:txBody>
          </p:sp>
          <p:grpSp>
            <p:nvGrpSpPr>
              <p:cNvPr id="16" name="组合 15"/>
              <p:cNvGrpSpPr/>
              <p:nvPr/>
            </p:nvGrpSpPr>
            <p:grpSpPr>
              <a:xfrm>
                <a:off x="679042" y="1307151"/>
                <a:ext cx="7421351" cy="3341965"/>
                <a:chOff x="778038" y="1307151"/>
                <a:chExt cx="7083106" cy="3341965"/>
              </a:xfrm>
            </p:grpSpPr>
            <p:cxnSp>
              <p:nvCxnSpPr>
                <p:cNvPr id="18" name="直接连接符 17"/>
                <p:cNvCxnSpPr/>
                <p:nvPr/>
              </p:nvCxnSpPr>
              <p:spPr>
                <a:xfrm flipH="1">
                  <a:off x="1684717" y="1967689"/>
                  <a:ext cx="5094" cy="2681427"/>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圆角矩形 65"/>
                <p:cNvSpPr/>
                <p:nvPr/>
              </p:nvSpPr>
              <p:spPr>
                <a:xfrm>
                  <a:off x="877841" y="3353560"/>
                  <a:ext cx="1609489" cy="504386"/>
                </a:xfrm>
                <a:prstGeom prst="roundRect">
                  <a:avLst/>
                </a:prstGeom>
                <a:solidFill>
                  <a:srgbClr val="F4F8FD"/>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sp>
              <p:nvSpPr>
                <p:cNvPr id="20" name="TextBox 66"/>
                <p:cNvSpPr txBox="1"/>
                <p:nvPr/>
              </p:nvSpPr>
              <p:spPr bwMode="auto">
                <a:xfrm>
                  <a:off x="784306" y="3412827"/>
                  <a:ext cx="1773417" cy="537294"/>
                </a:xfrm>
                <a:prstGeom prst="rect">
                  <a:avLst/>
                </a:prstGeom>
                <a:noFill/>
                <a:ln w="9525">
                  <a:noFill/>
                  <a:miter lim="800000"/>
                </a:ln>
              </p:spPr>
              <p:txBody>
                <a:bodyPr wrap="square" rtlCol="0" anchor="ctr">
                  <a:spAutoFit/>
                </a:bodyPr>
                <a:lstStyle/>
                <a:p>
                  <a:pPr algn="ctr"/>
                  <a:r>
                    <a:rPr lang="zh-CN" altLang="en-US" sz="1000" b="1" dirty="0">
                      <a:solidFill>
                        <a:schemeClr val="tx1">
                          <a:lumMod val="65000"/>
                          <a:lumOff val="35000"/>
                        </a:schemeClr>
                      </a:solidFill>
                      <a:latin typeface="Arial" panose="020B0604020202020204" pitchFamily="34" charset="0"/>
                      <a:ea typeface="思源黑体 Heavy" panose="020B0A00000000000000" pitchFamily="34" charset="-122"/>
                      <a:cs typeface="Arial" panose="020B0604020202020204" pitchFamily="34" charset="0"/>
                    </a:rPr>
                    <a:t>监控与分析过程，改善客户工艺与产量</a:t>
                  </a:r>
                </a:p>
              </p:txBody>
            </p:sp>
            <p:sp>
              <p:nvSpPr>
                <p:cNvPr id="21" name="圆角矩形 58"/>
                <p:cNvSpPr/>
                <p:nvPr/>
              </p:nvSpPr>
              <p:spPr>
                <a:xfrm>
                  <a:off x="864323" y="2524514"/>
                  <a:ext cx="1609489" cy="504386"/>
                </a:xfrm>
                <a:prstGeom prst="roundRect">
                  <a:avLst/>
                </a:prstGeom>
                <a:solidFill>
                  <a:srgbClr val="F4F8FD"/>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grpSp>
              <p:nvGrpSpPr>
                <p:cNvPr id="22" name="组合 21"/>
                <p:cNvGrpSpPr/>
                <p:nvPr/>
              </p:nvGrpSpPr>
              <p:grpSpPr>
                <a:xfrm>
                  <a:off x="2867869" y="1767391"/>
                  <a:ext cx="4993275" cy="2881725"/>
                  <a:chOff x="1513998" y="1691849"/>
                  <a:chExt cx="4993275" cy="2881725"/>
                </a:xfrm>
              </p:grpSpPr>
              <p:sp>
                <p:nvSpPr>
                  <p:cNvPr id="39" name="圆角矩形 56"/>
                  <p:cNvSpPr/>
                  <p:nvPr/>
                </p:nvSpPr>
                <p:spPr>
                  <a:xfrm>
                    <a:off x="5180095" y="2773633"/>
                    <a:ext cx="1264114" cy="720739"/>
                  </a:xfrm>
                  <a:prstGeom prst="roundRect">
                    <a:avLst/>
                  </a:prstGeom>
                  <a:no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sp>
                <p:nvSpPr>
                  <p:cNvPr id="40" name="圆角矩形 54"/>
                  <p:cNvSpPr/>
                  <p:nvPr/>
                </p:nvSpPr>
                <p:spPr>
                  <a:xfrm>
                    <a:off x="3418205" y="2778514"/>
                    <a:ext cx="1609489" cy="720739"/>
                  </a:xfrm>
                  <a:prstGeom prst="roundRect">
                    <a:avLst/>
                  </a:prstGeom>
                  <a:no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sp>
                <p:nvSpPr>
                  <p:cNvPr id="41" name="圆角矩形 3090"/>
                  <p:cNvSpPr/>
                  <p:nvPr/>
                </p:nvSpPr>
                <p:spPr>
                  <a:xfrm>
                    <a:off x="1513998" y="2778514"/>
                    <a:ext cx="1609489" cy="720739"/>
                  </a:xfrm>
                  <a:prstGeom prst="roundRect">
                    <a:avLst/>
                  </a:prstGeom>
                  <a:no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sp>
                <p:nvSpPr>
                  <p:cNvPr id="42" name="圆角矩形 9"/>
                  <p:cNvSpPr/>
                  <p:nvPr/>
                </p:nvSpPr>
                <p:spPr>
                  <a:xfrm>
                    <a:off x="1565724" y="4285542"/>
                    <a:ext cx="4941549" cy="288032"/>
                  </a:xfrm>
                  <a:prstGeom prst="roundRect">
                    <a:avLst/>
                  </a:prstGeom>
                  <a:solidFill>
                    <a:schemeClr val="accent5"/>
                  </a:solidFill>
                  <a:ln w="1270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半导体、面板、光伏电池等主要客户群体</a:t>
                    </a:r>
                  </a:p>
                </p:txBody>
              </p:sp>
              <p:cxnSp>
                <p:nvCxnSpPr>
                  <p:cNvPr id="43" name="直接箭头连接符 42"/>
                  <p:cNvCxnSpPr/>
                  <p:nvPr/>
                </p:nvCxnSpPr>
                <p:spPr>
                  <a:xfrm>
                    <a:off x="5803552" y="3499253"/>
                    <a:ext cx="0" cy="78628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TextBox 18"/>
                  <p:cNvSpPr txBox="1"/>
                  <p:nvPr/>
                </p:nvSpPr>
                <p:spPr bwMode="auto">
                  <a:xfrm>
                    <a:off x="5803552" y="3633932"/>
                    <a:ext cx="539113" cy="537293"/>
                  </a:xfrm>
                  <a:prstGeom prst="rect">
                    <a:avLst/>
                  </a:prstGeom>
                  <a:noFill/>
                  <a:ln w="9525">
                    <a:noFill/>
                    <a:miter lim="800000"/>
                  </a:ln>
                </p:spPr>
                <p:txBody>
                  <a:bodyPr wrap="square" rtlCol="0" anchor="ctr">
                    <a:spAutoFit/>
                  </a:bodyPr>
                  <a:lstStyle/>
                  <a:p>
                    <a:pPr algn="ctr"/>
                    <a:r>
                      <a:rPr lang="zh-CN" altLang="en-US" sz="1000" b="1" dirty="0">
                        <a:solidFill>
                          <a:schemeClr val="tx1">
                            <a:lumMod val="65000"/>
                            <a:lumOff val="35000"/>
                          </a:schemeClr>
                        </a:solidFill>
                        <a:latin typeface="Arial" panose="020B0604020202020204" pitchFamily="34" charset="0"/>
                        <a:ea typeface="思源黑体 Heavy" panose="020B0A00000000000000" pitchFamily="34" charset="-122"/>
                        <a:cs typeface="Arial" panose="020B0604020202020204" pitchFamily="34" charset="0"/>
                      </a:rPr>
                      <a:t>部分一级供应</a:t>
                    </a:r>
                  </a:p>
                </p:txBody>
              </p:sp>
              <p:grpSp>
                <p:nvGrpSpPr>
                  <p:cNvPr id="45" name="组合 44"/>
                  <p:cNvGrpSpPr/>
                  <p:nvPr/>
                </p:nvGrpSpPr>
                <p:grpSpPr>
                  <a:xfrm>
                    <a:off x="1613498" y="1691849"/>
                    <a:ext cx="4678909" cy="1647512"/>
                    <a:chOff x="1620527" y="1691849"/>
                    <a:chExt cx="5399745" cy="1647512"/>
                  </a:xfrm>
                </p:grpSpPr>
                <p:sp>
                  <p:nvSpPr>
                    <p:cNvPr id="54" name="圆角矩形 2"/>
                    <p:cNvSpPr/>
                    <p:nvPr/>
                  </p:nvSpPr>
                  <p:spPr>
                    <a:xfrm>
                      <a:off x="1620527" y="2449846"/>
                      <a:ext cx="1604533" cy="434777"/>
                    </a:xfrm>
                    <a:prstGeom prst="roundRect">
                      <a:avLst/>
                    </a:prstGeom>
                    <a:solidFill>
                      <a:srgbClr val="C00000"/>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rPr>
                        <a:t>电子大宗气体</a:t>
                      </a:r>
                      <a:endParaRPr lang="en-US" altLang="zh-CN"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endParaRPr>
                    </a:p>
                    <a:p>
                      <a:pPr algn="ctr"/>
                      <a:r>
                        <a:rPr lang="zh-CN" altLang="en-US"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rPr>
                        <a:t>（电子载气</a:t>
                      </a:r>
                      <a:r>
                        <a:rPr lang="zh-CN" altLang="en-US" sz="1100" b="1" dirty="0">
                          <a:solidFill>
                            <a:schemeClr val="bg1"/>
                          </a:solidFill>
                          <a:latin typeface="Arial" panose="020B0604020202020204" pitchFamily="34" charset="0"/>
                          <a:cs typeface="Arial" panose="020B0604020202020204" pitchFamily="34" charset="0"/>
                        </a:rPr>
                        <a:t>）</a:t>
                      </a:r>
                    </a:p>
                  </p:txBody>
                </p:sp>
                <p:sp>
                  <p:nvSpPr>
                    <p:cNvPr id="55" name="加号 54"/>
                    <p:cNvSpPr/>
                    <p:nvPr/>
                  </p:nvSpPr>
                  <p:spPr>
                    <a:xfrm>
                      <a:off x="3349116" y="2937266"/>
                      <a:ext cx="375269" cy="402095"/>
                    </a:xfrm>
                    <a:prstGeom prst="mathPlus">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Arial" panose="020B0604020202020204" pitchFamily="34" charset="0"/>
                        <a:cs typeface="Arial" panose="020B0604020202020204" pitchFamily="34" charset="0"/>
                      </a:endParaRPr>
                    </a:p>
                  </p:txBody>
                </p:sp>
                <p:sp>
                  <p:nvSpPr>
                    <p:cNvPr id="56" name="圆角矩形 8"/>
                    <p:cNvSpPr/>
                    <p:nvPr/>
                  </p:nvSpPr>
                  <p:spPr>
                    <a:xfrm>
                      <a:off x="3831771" y="2452576"/>
                      <a:ext cx="1543327" cy="432047"/>
                    </a:xfrm>
                    <a:prstGeom prst="roundRect">
                      <a:avLst/>
                    </a:prstGeom>
                    <a:solidFill>
                      <a:schemeClr val="accent3"/>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大品种</a:t>
                      </a:r>
                      <a:endParaRPr lang="en-US" altLang="zh-CN"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电子特种气体</a:t>
                      </a:r>
                    </a:p>
                  </p:txBody>
                </p:sp>
                <p:sp>
                  <p:nvSpPr>
                    <p:cNvPr id="57" name="圆角矩形 16"/>
                    <p:cNvSpPr/>
                    <p:nvPr/>
                  </p:nvSpPr>
                  <p:spPr>
                    <a:xfrm>
                      <a:off x="5841244" y="1691849"/>
                      <a:ext cx="1179028" cy="1192774"/>
                    </a:xfrm>
                    <a:prstGeom prst="round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纯电子特种气体供应商</a:t>
                      </a:r>
                    </a:p>
                  </p:txBody>
                </p:sp>
                <p:cxnSp>
                  <p:nvCxnSpPr>
                    <p:cNvPr id="58" name="直接箭头连接符 57"/>
                    <p:cNvCxnSpPr/>
                    <p:nvPr/>
                  </p:nvCxnSpPr>
                  <p:spPr>
                    <a:xfrm flipH="1">
                      <a:off x="4601155" y="1972188"/>
                      <a:ext cx="1237809" cy="0"/>
                    </a:xfrm>
                    <a:prstGeom prst="straightConnector1">
                      <a:avLst/>
                    </a:prstGeom>
                    <a:ln w="19050">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59" name="TextBox 3072"/>
                    <p:cNvSpPr txBox="1"/>
                    <p:nvPr/>
                  </p:nvSpPr>
                  <p:spPr bwMode="auto">
                    <a:xfrm>
                      <a:off x="4772258" y="1929868"/>
                      <a:ext cx="1016663" cy="328347"/>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二级供应</a:t>
                      </a:r>
                    </a:p>
                  </p:txBody>
                </p:sp>
                <p:cxnSp>
                  <p:nvCxnSpPr>
                    <p:cNvPr id="60" name="直接连接符 59"/>
                    <p:cNvCxnSpPr/>
                    <p:nvPr/>
                  </p:nvCxnSpPr>
                  <p:spPr>
                    <a:xfrm>
                      <a:off x="2422794" y="2283718"/>
                      <a:ext cx="2180641" cy="0"/>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56" idx="0"/>
                    </p:cNvCxnSpPr>
                    <p:nvPr/>
                  </p:nvCxnSpPr>
                  <p:spPr>
                    <a:xfrm>
                      <a:off x="4603435" y="2283718"/>
                      <a:ext cx="0" cy="168858"/>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接连接符 61"/>
                    <p:cNvCxnSpPr>
                      <a:endCxn id="54" idx="0"/>
                    </p:cNvCxnSpPr>
                    <p:nvPr/>
                  </p:nvCxnSpPr>
                  <p:spPr>
                    <a:xfrm>
                      <a:off x="2422794" y="2283718"/>
                      <a:ext cx="0" cy="166129"/>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3498420" y="2093902"/>
                      <a:ext cx="0" cy="189816"/>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圆角矩形 13"/>
                    <p:cNvSpPr/>
                    <p:nvPr/>
                  </p:nvSpPr>
                  <p:spPr>
                    <a:xfrm>
                      <a:off x="2331520" y="1691850"/>
                      <a:ext cx="2271916" cy="436799"/>
                    </a:xfrm>
                    <a:prstGeom prst="roundRect">
                      <a:avLst/>
                    </a:prstGeom>
                    <a:solidFill>
                      <a:srgbClr val="000099"/>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rPr>
                        <a:t>综合气体运营商</a:t>
                      </a:r>
                      <a:endParaRPr lang="en-US" altLang="zh-CN"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endParaRPr>
                    </a:p>
                    <a:p>
                      <a:pPr algn="ctr"/>
                      <a:r>
                        <a:rPr lang="zh-CN" altLang="en-US" sz="1000" b="1" dirty="0">
                          <a:solidFill>
                            <a:schemeClr val="bg1"/>
                          </a:solidFill>
                          <a:latin typeface="Arial" panose="020B0604020202020204" pitchFamily="34" charset="0"/>
                          <a:ea typeface="思源黑体 Heavy" panose="020B0A00000000000000" pitchFamily="34" charset="-122"/>
                          <a:cs typeface="Arial" panose="020B0604020202020204" pitchFamily="34" charset="0"/>
                        </a:rPr>
                        <a:t>（整体解决方案）</a:t>
                      </a:r>
                    </a:p>
                  </p:txBody>
                </p:sp>
              </p:grpSp>
              <p:sp>
                <p:nvSpPr>
                  <p:cNvPr id="46" name="TextBox 3091"/>
                  <p:cNvSpPr txBox="1"/>
                  <p:nvPr/>
                </p:nvSpPr>
                <p:spPr bwMode="auto">
                  <a:xfrm>
                    <a:off x="1565723" y="2925642"/>
                    <a:ext cx="1561467" cy="537293"/>
                  </a:xfrm>
                  <a:prstGeom prst="rect">
                    <a:avLst/>
                  </a:prstGeom>
                  <a:noFill/>
                  <a:ln w="9525">
                    <a:noFill/>
                    <a:miter lim="800000"/>
                  </a:ln>
                </p:spPr>
                <p:txBody>
                  <a:bodyPr wrap="square" rtlCol="0" anchor="ctr">
                    <a:spAutoFit/>
                  </a:bodyPr>
                  <a:lstStyle/>
                  <a:p>
                    <a:pPr algn="ctr"/>
                    <a:r>
                      <a:rPr lang="zh-CN" altLang="en-US" sz="1000" b="1" dirty="0">
                        <a:solidFill>
                          <a:schemeClr val="tx1">
                            <a:lumMod val="65000"/>
                            <a:lumOff val="35000"/>
                          </a:schemeClr>
                        </a:solidFill>
                        <a:latin typeface="Arial" panose="020B0604020202020204" pitchFamily="34" charset="0"/>
                        <a:ea typeface="思源黑体 Heavy" panose="020B0A00000000000000" pitchFamily="34" charset="-122"/>
                        <a:cs typeface="Arial" panose="020B0604020202020204" pitchFamily="34" charset="0"/>
                      </a:rPr>
                      <a:t>氮（管道）、氧、氦、氩、氙、氢气等</a:t>
                    </a:r>
                  </a:p>
                </p:txBody>
              </p:sp>
              <p:sp>
                <p:nvSpPr>
                  <p:cNvPr id="47" name="TextBox 3092"/>
                  <p:cNvSpPr txBox="1"/>
                  <p:nvPr/>
                </p:nvSpPr>
                <p:spPr bwMode="auto">
                  <a:xfrm>
                    <a:off x="3451112" y="2910420"/>
                    <a:ext cx="1542513" cy="537293"/>
                  </a:xfrm>
                  <a:prstGeom prst="rect">
                    <a:avLst/>
                  </a:prstGeom>
                  <a:noFill/>
                  <a:ln w="9525">
                    <a:noFill/>
                    <a:miter lim="800000"/>
                  </a:ln>
                </p:spPr>
                <p:txBody>
                  <a:bodyPr wrap="square" rtlCol="0" anchor="ctr">
                    <a:spAutoFit/>
                  </a:bodyPr>
                  <a:lstStyle>
                    <a:defPPr>
                      <a:defRPr lang="zh-CN"/>
                    </a:defPPr>
                    <a:lvl1pPr algn="ctr">
                      <a:defRPr sz="110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烷类、氟类、氯类、氨气、二氧化碳等较大用量气体</a:t>
                    </a:r>
                  </a:p>
                </p:txBody>
              </p:sp>
              <p:sp>
                <p:nvSpPr>
                  <p:cNvPr id="48" name="TextBox 3093"/>
                  <p:cNvSpPr txBox="1"/>
                  <p:nvPr/>
                </p:nvSpPr>
                <p:spPr bwMode="auto">
                  <a:xfrm>
                    <a:off x="5268797" y="2900156"/>
                    <a:ext cx="1073868" cy="537293"/>
                  </a:xfrm>
                  <a:prstGeom prst="rect">
                    <a:avLst/>
                  </a:prstGeom>
                  <a:noFill/>
                  <a:ln w="9525">
                    <a:noFill/>
                    <a:miter lim="800000"/>
                  </a:ln>
                </p:spPr>
                <p:txBody>
                  <a:bodyPr wrap="square" rtlCol="0" anchor="ctr">
                    <a:spAutoFit/>
                  </a:bodyPr>
                  <a:lstStyle>
                    <a:defPPr>
                      <a:defRPr lang="zh-CN"/>
                    </a:defPPr>
                    <a:lvl1pPr algn="ctr">
                      <a:defRPr sz="110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约</a:t>
                    </a:r>
                    <a:r>
                      <a:rPr lang="en-US" altLang="zh-CN" sz="1000" dirty="0">
                        <a:solidFill>
                          <a:schemeClr val="tx1">
                            <a:lumMod val="65000"/>
                            <a:lumOff val="35000"/>
                          </a:schemeClr>
                        </a:solidFill>
                        <a:latin typeface="Arial" panose="020B0604020202020204" pitchFamily="34" charset="0"/>
                        <a:ea typeface="思源黑体 Heavy" panose="020B0A00000000000000" pitchFamily="34" charset="-122"/>
                      </a:rPr>
                      <a:t>260</a:t>
                    </a:r>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种各环节特定气体</a:t>
                    </a:r>
                  </a:p>
                </p:txBody>
              </p:sp>
              <p:cxnSp>
                <p:nvCxnSpPr>
                  <p:cNvPr id="49" name="直接连接符 48"/>
                  <p:cNvCxnSpPr/>
                  <p:nvPr/>
                </p:nvCxnSpPr>
                <p:spPr>
                  <a:xfrm>
                    <a:off x="2302963" y="3666596"/>
                    <a:ext cx="1963696" cy="0"/>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307404" y="3494372"/>
                    <a:ext cx="0" cy="166128"/>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4266659" y="3500468"/>
                    <a:ext cx="0" cy="166128"/>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3418205" y="3660500"/>
                    <a:ext cx="3088" cy="62504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TextBox 3098"/>
                  <p:cNvSpPr txBox="1"/>
                  <p:nvPr/>
                </p:nvSpPr>
                <p:spPr bwMode="auto">
                  <a:xfrm>
                    <a:off x="3490141" y="3422981"/>
                    <a:ext cx="357825" cy="915390"/>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mn-ea"/>
                      </a:rPr>
                      <a:t>一级供应</a:t>
                    </a:r>
                  </a:p>
                </p:txBody>
              </p:sp>
            </p:grpSp>
            <p:cxnSp>
              <p:nvCxnSpPr>
                <p:cNvPr id="5" name="直接箭头连接符 4"/>
                <p:cNvCxnSpPr/>
                <p:nvPr/>
              </p:nvCxnSpPr>
              <p:spPr>
                <a:xfrm flipH="1">
                  <a:off x="5550100" y="1898934"/>
                  <a:ext cx="1072568" cy="0"/>
                </a:xfrm>
                <a:prstGeom prst="straightConnector1">
                  <a:avLst/>
                </a:prstGeom>
                <a:ln w="19050">
                  <a:solidFill>
                    <a:schemeClr val="tx1"/>
                  </a:solidFill>
                  <a:prstDash val="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36"/>
                <p:cNvSpPr txBox="1"/>
                <p:nvPr/>
              </p:nvSpPr>
              <p:spPr bwMode="auto">
                <a:xfrm>
                  <a:off x="5653228" y="1599435"/>
                  <a:ext cx="880944" cy="328347"/>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认证资质</a:t>
                  </a:r>
                </a:p>
              </p:txBody>
            </p:sp>
            <p:cxnSp>
              <p:nvCxnSpPr>
                <p:cNvPr id="25" name="直接箭头连接符 24"/>
                <p:cNvCxnSpPr/>
                <p:nvPr/>
              </p:nvCxnSpPr>
              <p:spPr>
                <a:xfrm>
                  <a:off x="6891792" y="3576010"/>
                  <a:ext cx="0" cy="785074"/>
                </a:xfrm>
                <a:prstGeom prst="straightConnector1">
                  <a:avLst/>
                </a:prstGeom>
                <a:ln w="19050">
                  <a:solidFill>
                    <a:schemeClr val="tx1"/>
                  </a:solidFill>
                  <a:prstDash val="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extBox 39"/>
                <p:cNvSpPr txBox="1"/>
                <p:nvPr/>
              </p:nvSpPr>
              <p:spPr bwMode="auto">
                <a:xfrm>
                  <a:off x="6533966" y="3515216"/>
                  <a:ext cx="357826" cy="915390"/>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认证资质</a:t>
                  </a:r>
                </a:p>
              </p:txBody>
            </p:sp>
            <p:cxnSp>
              <p:nvCxnSpPr>
                <p:cNvPr id="27" name="直接箭头连接符 26"/>
                <p:cNvCxnSpPr/>
                <p:nvPr/>
              </p:nvCxnSpPr>
              <p:spPr>
                <a:xfrm>
                  <a:off x="4493990" y="3752877"/>
                  <a:ext cx="0" cy="608207"/>
                </a:xfrm>
                <a:prstGeom prst="straightConnector1">
                  <a:avLst/>
                </a:prstGeom>
                <a:ln w="19050">
                  <a:solidFill>
                    <a:schemeClr val="tx1"/>
                  </a:solidFill>
                  <a:prstDash val="dash"/>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TextBox 42"/>
                <p:cNvSpPr txBox="1"/>
                <p:nvPr/>
              </p:nvSpPr>
              <p:spPr bwMode="auto">
                <a:xfrm>
                  <a:off x="4083519" y="3517942"/>
                  <a:ext cx="382549" cy="915390"/>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mn-ea"/>
                    </a:rPr>
                    <a:t>认证资质</a:t>
                  </a:r>
                </a:p>
              </p:txBody>
            </p:sp>
            <p:cxnSp>
              <p:nvCxnSpPr>
                <p:cNvPr id="29" name="直接连接符 28"/>
                <p:cNvCxnSpPr/>
                <p:nvPr/>
              </p:nvCxnSpPr>
              <p:spPr>
                <a:xfrm flipH="1">
                  <a:off x="1689811" y="1976362"/>
                  <a:ext cx="1893640" cy="0"/>
                </a:xfrm>
                <a:prstGeom prst="line">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弧形 29"/>
                <p:cNvSpPr/>
                <p:nvPr/>
              </p:nvSpPr>
              <p:spPr>
                <a:xfrm>
                  <a:off x="5068943" y="1602351"/>
                  <a:ext cx="1960988" cy="322515"/>
                </a:xfrm>
                <a:prstGeom prst="arc">
                  <a:avLst>
                    <a:gd name="adj1" fmla="val 10836599"/>
                    <a:gd name="adj2" fmla="val 0"/>
                  </a:avLst>
                </a:prstGeom>
                <a:ln w="12700">
                  <a:solidFill>
                    <a:srgbClr val="C0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latin typeface="Arial" panose="020B0604020202020204" pitchFamily="34" charset="0"/>
                    <a:cs typeface="Arial" panose="020B0604020202020204" pitchFamily="34" charset="0"/>
                  </a:endParaRPr>
                </a:p>
              </p:txBody>
            </p:sp>
            <p:sp>
              <p:nvSpPr>
                <p:cNvPr id="31" name="TextBox 25"/>
                <p:cNvSpPr txBox="1"/>
                <p:nvPr/>
              </p:nvSpPr>
              <p:spPr bwMode="auto">
                <a:xfrm>
                  <a:off x="5732062" y="1307151"/>
                  <a:ext cx="723275" cy="328347"/>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rgbClr val="C00000"/>
                      </a:solidFill>
                      <a:latin typeface="Arial" panose="020B0604020202020204" pitchFamily="34" charset="0"/>
                      <a:ea typeface="思源黑体 Heavy" panose="020B0A00000000000000" pitchFamily="34" charset="-122"/>
                    </a:rPr>
                    <a:t>渠道能力</a:t>
                  </a:r>
                </a:p>
              </p:txBody>
            </p:sp>
            <p:sp>
              <p:nvSpPr>
                <p:cNvPr id="32" name="TextBox 64"/>
                <p:cNvSpPr txBox="1"/>
                <p:nvPr/>
              </p:nvSpPr>
              <p:spPr bwMode="auto">
                <a:xfrm>
                  <a:off x="800555" y="2570827"/>
                  <a:ext cx="1773417" cy="537294"/>
                </a:xfrm>
                <a:prstGeom prst="rect">
                  <a:avLst/>
                </a:prstGeom>
                <a:noFill/>
                <a:ln w="9525">
                  <a:noFill/>
                  <a:miter lim="800000"/>
                </a:ln>
              </p:spPr>
              <p:txBody>
                <a:bodyPr wrap="square" rtlCol="0" anchor="ctr">
                  <a:spAutoFit/>
                </a:bodyPr>
                <a:lstStyle/>
                <a:p>
                  <a:pPr algn="ctr"/>
                  <a:r>
                    <a:rPr lang="zh-CN" altLang="en-US" sz="1000" b="1" dirty="0">
                      <a:solidFill>
                        <a:schemeClr val="tx1">
                          <a:lumMod val="65000"/>
                          <a:lumOff val="35000"/>
                        </a:schemeClr>
                      </a:solidFill>
                      <a:latin typeface="Arial" panose="020B0604020202020204" pitchFamily="34" charset="0"/>
                      <a:ea typeface="思源黑体 Heavy" panose="020B0A00000000000000" pitchFamily="34" charset="-122"/>
                      <a:cs typeface="Arial" panose="020B0604020202020204" pitchFamily="34" charset="0"/>
                    </a:rPr>
                    <a:t>设计制造与安装流体、气体分配以及纯化等设备</a:t>
                  </a:r>
                </a:p>
              </p:txBody>
            </p:sp>
            <p:sp>
              <p:nvSpPr>
                <p:cNvPr id="33" name="圆角矩形 67"/>
                <p:cNvSpPr/>
                <p:nvPr/>
              </p:nvSpPr>
              <p:spPr>
                <a:xfrm>
                  <a:off x="879972" y="4203914"/>
                  <a:ext cx="1609489" cy="445202"/>
                </a:xfrm>
                <a:prstGeom prst="roundRect">
                  <a:avLst/>
                </a:prstGeom>
                <a:solidFill>
                  <a:srgbClr val="F4F8FD"/>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Arial" panose="020B0604020202020204" pitchFamily="34" charset="0"/>
                    <a:cs typeface="Arial" panose="020B0604020202020204" pitchFamily="34" charset="0"/>
                  </a:endParaRPr>
                </a:p>
              </p:txBody>
            </p:sp>
            <p:sp>
              <p:nvSpPr>
                <p:cNvPr id="34" name="TextBox 68"/>
                <p:cNvSpPr txBox="1"/>
                <p:nvPr/>
              </p:nvSpPr>
              <p:spPr bwMode="auto">
                <a:xfrm>
                  <a:off x="778038" y="4292484"/>
                  <a:ext cx="1773417" cy="328347"/>
                </a:xfrm>
                <a:prstGeom prst="rect">
                  <a:avLst/>
                </a:prstGeom>
                <a:noFill/>
                <a:ln w="9525">
                  <a:noFill/>
                  <a:miter lim="800000"/>
                </a:ln>
              </p:spPr>
              <p:txBody>
                <a:bodyPr wrap="square" rtlCol="0" anchor="ctr">
                  <a:spAutoFit/>
                </a:bodyPr>
                <a:lstStyle/>
                <a:p>
                  <a:pPr algn="ctr"/>
                  <a:r>
                    <a:rPr lang="zh-CN" altLang="en-US" sz="1000" b="1" dirty="0">
                      <a:solidFill>
                        <a:schemeClr val="tx1">
                          <a:lumMod val="65000"/>
                          <a:lumOff val="35000"/>
                        </a:schemeClr>
                      </a:solidFill>
                      <a:latin typeface="Arial" panose="020B0604020202020204" pitchFamily="34" charset="0"/>
                      <a:ea typeface="思源黑体 Heavy" panose="020B0A00000000000000" pitchFamily="34" charset="-122"/>
                      <a:cs typeface="Arial" panose="020B0604020202020204" pitchFamily="34" charset="0"/>
                    </a:rPr>
                    <a:t>气体、化学品管理服务</a:t>
                  </a:r>
                </a:p>
              </p:txBody>
            </p:sp>
            <p:sp>
              <p:nvSpPr>
                <p:cNvPr id="35" name="TextBox 77"/>
                <p:cNvSpPr txBox="1"/>
                <p:nvPr/>
              </p:nvSpPr>
              <p:spPr bwMode="auto">
                <a:xfrm>
                  <a:off x="1979712" y="1701511"/>
                  <a:ext cx="1152128" cy="328347"/>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思源黑体 Heavy" panose="020B0A00000000000000" pitchFamily="34" charset="-122"/>
                    </a:rPr>
                    <a:t>重要支撑能力</a:t>
                  </a:r>
                </a:p>
              </p:txBody>
            </p:sp>
            <p:sp>
              <p:nvSpPr>
                <p:cNvPr id="36" name="圆角矩形 53"/>
                <p:cNvSpPr/>
                <p:nvPr/>
              </p:nvSpPr>
              <p:spPr>
                <a:xfrm>
                  <a:off x="1106522" y="2302954"/>
                  <a:ext cx="1152127" cy="327516"/>
                </a:xfrm>
                <a:prstGeom prst="roundRect">
                  <a:avLst/>
                </a:prstGeom>
                <a:solidFill>
                  <a:schemeClr val="bg1">
                    <a:lumMod val="95000"/>
                  </a:schemeClr>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设备与安装</a:t>
                  </a:r>
                </a:p>
              </p:txBody>
            </p:sp>
            <p:sp>
              <p:nvSpPr>
                <p:cNvPr id="37" name="圆角矩形 62"/>
                <p:cNvSpPr/>
                <p:nvPr/>
              </p:nvSpPr>
              <p:spPr>
                <a:xfrm>
                  <a:off x="1116575" y="3143391"/>
                  <a:ext cx="1152127" cy="312434"/>
                </a:xfrm>
                <a:prstGeom prst="roundRect">
                  <a:avLst/>
                </a:prstGeom>
                <a:solidFill>
                  <a:schemeClr val="bg1">
                    <a:lumMod val="95000"/>
                  </a:schemeClr>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分析服务</a:t>
                  </a:r>
                </a:p>
              </p:txBody>
            </p:sp>
            <p:sp>
              <p:nvSpPr>
                <p:cNvPr id="38" name="圆角矩形 69"/>
                <p:cNvSpPr/>
                <p:nvPr/>
              </p:nvSpPr>
              <p:spPr>
                <a:xfrm>
                  <a:off x="1093004" y="3983069"/>
                  <a:ext cx="1152127" cy="312434"/>
                </a:xfrm>
                <a:prstGeom prst="roundRect">
                  <a:avLst/>
                </a:prstGeom>
                <a:solidFill>
                  <a:schemeClr val="bg1">
                    <a:lumMod val="95000"/>
                  </a:schemeClr>
                </a:solidFill>
                <a:ln w="127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流程管理</a:t>
                  </a:r>
                </a:p>
              </p:txBody>
            </p:sp>
          </p:grpSp>
          <p:sp>
            <p:nvSpPr>
              <p:cNvPr id="17" name="TextBox 87"/>
              <p:cNvSpPr txBox="1"/>
              <p:nvPr/>
            </p:nvSpPr>
            <p:spPr bwMode="auto">
              <a:xfrm>
                <a:off x="1107086" y="1329631"/>
                <a:ext cx="991546" cy="537293"/>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rgbClr val="C00000"/>
                    </a:solidFill>
                    <a:latin typeface="Arial" panose="020B0604020202020204" pitchFamily="34" charset="0"/>
                    <a:ea typeface="思源黑体 Heavy" panose="020B0A00000000000000" pitchFamily="34" charset="-122"/>
                  </a:rPr>
                  <a:t>整体解决方案设计能力</a:t>
                </a:r>
              </a:p>
            </p:txBody>
          </p:sp>
        </p:grpSp>
        <p:sp>
          <p:nvSpPr>
            <p:cNvPr id="14" name="TextBox 7"/>
            <p:cNvSpPr txBox="1"/>
            <p:nvPr/>
          </p:nvSpPr>
          <p:spPr bwMode="auto">
            <a:xfrm>
              <a:off x="4563844" y="2770246"/>
              <a:ext cx="453970" cy="443635"/>
            </a:xfrm>
            <a:prstGeom prst="rect">
              <a:avLst/>
            </a:prstGeom>
            <a:noFill/>
            <a:ln w="9525">
              <a:noFill/>
              <a:miter lim="800000"/>
            </a:ln>
          </p:spPr>
          <p:txBody>
            <a:bodyPr wrap="square" rtlCol="0" anchor="ctr">
              <a:spAutoFit/>
            </a:bodyPr>
            <a:lstStyle>
              <a:defPPr>
                <a:defRPr lang="zh-CN"/>
              </a:defPPr>
              <a:lvl1pPr algn="ctr">
                <a:defRPr sz="1050" b="1">
                  <a:solidFill>
                    <a:srgbClr val="000099"/>
                  </a:solidFill>
                  <a:latin typeface="楷体_GB2312" panose="02010609030101010101" pitchFamily="49" charset="-122"/>
                  <a:ea typeface="楷体_GB2312" panose="02010609030101010101" pitchFamily="49" charset="-122"/>
                  <a:cs typeface="Arial" panose="020B0604020202020204" pitchFamily="34" charset="0"/>
                </a:defRPr>
              </a:lvl1pPr>
            </a:lstStyle>
            <a:p>
              <a:r>
                <a:rPr lang="zh-CN" altLang="en-US" sz="1000" dirty="0">
                  <a:solidFill>
                    <a:schemeClr val="tx1">
                      <a:lumMod val="65000"/>
                      <a:lumOff val="35000"/>
                    </a:schemeClr>
                  </a:solidFill>
                  <a:latin typeface="Arial" panose="020B0604020202020204" pitchFamily="34" charset="0"/>
                  <a:ea typeface="+mn-ea"/>
                </a:rPr>
                <a:t>拓展</a:t>
              </a:r>
            </a:p>
          </p:txBody>
        </p:sp>
      </p:grpSp>
      <p:sp>
        <p:nvSpPr>
          <p:cNvPr id="3" name="矩形 2"/>
          <p:cNvSpPr/>
          <p:nvPr/>
        </p:nvSpPr>
        <p:spPr>
          <a:xfrm>
            <a:off x="-1631322" y="1855897"/>
            <a:ext cx="12192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图：电子气体供应生态</a:t>
            </a:r>
            <a:r>
              <a:rPr lang="en-US" altLang="zh-CN" sz="1000" b="1" dirty="0">
                <a:solidFill>
                  <a:schemeClr val="tx1"/>
                </a:solidFill>
                <a:latin typeface="微软雅黑 Light" panose="020B0502040204020203" pitchFamily="34" charset="-122"/>
                <a:ea typeface="微软雅黑 Light" panose="020B0502040204020203" pitchFamily="34" charset="-122"/>
              </a:rPr>
              <a:t>——</a:t>
            </a:r>
            <a:r>
              <a:rPr lang="zh-CN" altLang="en-US" sz="1000" b="1" dirty="0">
                <a:solidFill>
                  <a:schemeClr val="tx1"/>
                </a:solidFill>
                <a:latin typeface="微软雅黑 Light" panose="020B0502040204020203" pitchFamily="34" charset="-122"/>
                <a:ea typeface="微软雅黑 Light" panose="020B0502040204020203" pitchFamily="34" charset="-122"/>
              </a:rPr>
              <a:t>电子大宗气体是核心环节</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605D43-1CDC-A603-F563-85F045D96881}"/>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xmlns="" id="{D85092B3-DFB2-3B42-0CFE-CAA6A40D4927}"/>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24" name="矩形 23">
            <a:extLst>
              <a:ext uri="{FF2B5EF4-FFF2-40B4-BE49-F238E27FC236}">
                <a16:creationId xmlns:a16="http://schemas.microsoft.com/office/drawing/2014/main" xmlns="" id="{5E20B248-F053-FC51-66CD-DE4566F38DE3}"/>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标题 1">
            <a:extLst>
              <a:ext uri="{FF2B5EF4-FFF2-40B4-BE49-F238E27FC236}">
                <a16:creationId xmlns:a16="http://schemas.microsoft.com/office/drawing/2014/main" xmlns="" id="{3DFC9585-F439-1FB1-AEA4-13B3A8510828}"/>
              </a:ext>
            </a:extLst>
          </p:cNvPr>
          <p:cNvSpPr>
            <a:spLocks noGrp="1"/>
          </p:cNvSpPr>
          <p:nvPr/>
        </p:nvSpPr>
        <p:spPr>
          <a:xfrm>
            <a:off x="755576" y="328688"/>
            <a:ext cx="6471546"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电子大宗气体：粘性极强，</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15</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年合作打底，量价稳健的现金牛业务</a:t>
            </a:r>
          </a:p>
        </p:txBody>
      </p:sp>
      <p:sp>
        <p:nvSpPr>
          <p:cNvPr id="2" name="文本框 5">
            <a:extLst>
              <a:ext uri="{FF2B5EF4-FFF2-40B4-BE49-F238E27FC236}">
                <a16:creationId xmlns:a16="http://schemas.microsoft.com/office/drawing/2014/main" xmlns="" id="{2A83EC07-A7E2-578F-3C64-1F77641F44D7}"/>
              </a:ext>
            </a:extLst>
          </p:cNvPr>
          <p:cNvSpPr txBox="1"/>
          <p:nvPr/>
        </p:nvSpPr>
        <p:spPr>
          <a:xfrm>
            <a:off x="243014" y="933472"/>
            <a:ext cx="8666955" cy="1338828"/>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285750" indent="-285750" algn="just">
              <a:spcBef>
                <a:spcPts val="600"/>
              </a:spcBef>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sym typeface="+mn-ea"/>
              </a:rPr>
              <a:t>电子大宗气体的商业模式较为稳健，一般</a:t>
            </a:r>
            <a:r>
              <a:rPr lang="en-US" altLang="zh-CN" sz="1100" b="1" dirty="0">
                <a:latin typeface="Arial" panose="020B0604020202020204" pitchFamily="34" charset="0"/>
                <a:ea typeface="思源黑体 Heavy" panose="020B0A00000000000000" pitchFamily="34" charset="-122"/>
                <a:cs typeface="Arial" panose="020B0604020202020204" pitchFamily="34" charset="0"/>
                <a:sym typeface="+mn-ea"/>
              </a:rPr>
              <a:t>2-3</a:t>
            </a:r>
            <a:r>
              <a:rPr lang="zh-CN" altLang="en-US" sz="1100" b="1" dirty="0">
                <a:latin typeface="Arial" panose="020B0604020202020204" pitchFamily="34" charset="0"/>
                <a:ea typeface="思源黑体 Heavy" panose="020B0A00000000000000" pitchFamily="34" charset="-122"/>
                <a:cs typeface="Arial" panose="020B0604020202020204" pitchFamily="34" charset="0"/>
                <a:sym typeface="+mn-ea"/>
              </a:rPr>
              <a:t>年可爬坡至较稳健的营收与毛利率水平，产生稳定现金流。</a:t>
            </a:r>
          </a:p>
          <a:p>
            <a:pPr marL="285750" indent="-285750" algn="just">
              <a:spcBef>
                <a:spcPts val="600"/>
              </a:spcBef>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量价：</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1</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）价格：</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IRR</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反算确认基准价格</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按照成本进行</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1</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年维度调价，整体稳健、抗通胀；</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）量：全阶段供应设计</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照付不议机制，用量稳定。</a:t>
            </a:r>
          </a:p>
          <a:p>
            <a:pPr marL="285750" indent="-285750" algn="just">
              <a:spcBef>
                <a:spcPts val="600"/>
              </a:spcBef>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分阶段：</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跟随业主产能投放，</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2-3</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年进入稳定期（存储类大约</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1-1.5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年爬坡），</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2</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万方</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/h</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高纯氮计量的电子大宗气体项目对应年收入约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1</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亿元</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，毛利率攀爬至</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40%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，净利率约为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25%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15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年及之后折旧完成后，毛利率上行至</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50%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sym typeface="+mn-ea"/>
              </a:rPr>
              <a:t>；大部分项目都是会延续签单。</a:t>
            </a:r>
          </a:p>
          <a:p>
            <a:pPr marL="285750" indent="-285750" algn="just">
              <a:spcBef>
                <a:spcPts val="600"/>
              </a:spcBef>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现金流：执行照付不议机制</a:t>
            </a:r>
            <a:r>
              <a:rPr lang="en-US" altLang="zh-CN" sz="1100" dirty="0">
                <a:latin typeface="Arial" panose="020B0604020202020204" pitchFamily="34" charset="0"/>
                <a:ea typeface="思源黑体 Heavy" panose="020B0A00000000000000" pitchFamily="34" charset="-122"/>
                <a:cs typeface="Arial" panose="020B0604020202020204" pitchFamily="34" charset="0"/>
                <a:sym typeface="+mn-ea"/>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sym typeface="+mn-ea"/>
              </a:rPr>
              <a:t>月度收费模式，可保障长期稳定现金流入。</a:t>
            </a:r>
          </a:p>
        </p:txBody>
      </p:sp>
      <p:sp>
        <p:nvSpPr>
          <p:cNvPr id="4" name="文本框 6">
            <a:extLst>
              <a:ext uri="{FF2B5EF4-FFF2-40B4-BE49-F238E27FC236}">
                <a16:creationId xmlns:a16="http://schemas.microsoft.com/office/drawing/2014/main" xmlns="" id="{4FEE5C0E-D7D7-28EC-5131-A96D33109DEE}"/>
              </a:ext>
            </a:extLst>
          </p:cNvPr>
          <p:cNvSpPr txBox="1"/>
          <p:nvPr/>
        </p:nvSpPr>
        <p:spPr>
          <a:xfrm>
            <a:off x="-252126" y="2290523"/>
            <a:ext cx="5426075" cy="291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表：电子大宗气体项目合同、定价、</a:t>
            </a:r>
            <a:r>
              <a:rPr lang="en-US" altLang="zh-CN" dirty="0"/>
              <a:t> IRR</a:t>
            </a:r>
            <a:r>
              <a:rPr lang="zh-CN" altLang="en-US" dirty="0"/>
              <a:t>等情况梳理</a:t>
            </a:r>
          </a:p>
        </p:txBody>
      </p:sp>
      <p:graphicFrame>
        <p:nvGraphicFramePr>
          <p:cNvPr id="5" name="表格 4">
            <a:extLst>
              <a:ext uri="{FF2B5EF4-FFF2-40B4-BE49-F238E27FC236}">
                <a16:creationId xmlns:a16="http://schemas.microsoft.com/office/drawing/2014/main" xmlns="" id="{FF0B1558-11EB-32B2-0629-9AF70164266C}"/>
              </a:ext>
            </a:extLst>
          </p:cNvPr>
          <p:cNvGraphicFramePr>
            <a:graphicFrameLocks noGrp="1"/>
          </p:cNvGraphicFramePr>
          <p:nvPr>
            <p:extLst>
              <p:ext uri="{D42A27DB-BD31-4B8C-83A1-F6EECF244321}">
                <p14:modId xmlns:p14="http://schemas.microsoft.com/office/powerpoint/2010/main" val="2293899872"/>
              </p:ext>
            </p:extLst>
          </p:nvPr>
        </p:nvGraphicFramePr>
        <p:xfrm>
          <a:off x="377529" y="2547781"/>
          <a:ext cx="4263937" cy="2091354"/>
        </p:xfrm>
        <a:graphic>
          <a:graphicData uri="http://schemas.openxmlformats.org/drawingml/2006/table">
            <a:tbl>
              <a:tblPr/>
              <a:tblGrid>
                <a:gridCol w="552317">
                  <a:extLst>
                    <a:ext uri="{9D8B030D-6E8A-4147-A177-3AD203B41FA5}">
                      <a16:colId xmlns:a16="http://schemas.microsoft.com/office/drawing/2014/main" xmlns="" val="20000"/>
                    </a:ext>
                  </a:extLst>
                </a:gridCol>
                <a:gridCol w="3711620">
                  <a:extLst>
                    <a:ext uri="{9D8B030D-6E8A-4147-A177-3AD203B41FA5}">
                      <a16:colId xmlns:a16="http://schemas.microsoft.com/office/drawing/2014/main" xmlns="" val="20001"/>
                    </a:ext>
                  </a:extLst>
                </a:gridCol>
              </a:tblGrid>
              <a:tr h="11996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项目</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详细情况</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xmlns="" val="10000"/>
                  </a:ext>
                </a:extLst>
              </a:tr>
              <a:tr h="99973">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合同时长</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合同签订</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10-15</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年，到期后一般会自动延续</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5</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extLst>
                  <a:ext uri="{0D108BD9-81ED-4DB2-BD59-A6C34878D82A}">
                    <a16:rowId xmlns:a16="http://schemas.microsoft.com/office/drawing/2014/main" xmlns="" val="10001"/>
                  </a:ext>
                </a:extLst>
              </a:tr>
              <a:tr h="56370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收费模式</a:t>
                      </a:r>
                    </a:p>
                  </a:txBody>
                  <a:tcPr marL="9525" marR="9525" marT="9525"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）项目初期阶段：</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按照实际爬坡用气情况进行实用实收，会出现一阶段只供变动气体情况；</a:t>
                      </a:r>
                      <a:b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）项目稳定阶段：</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执行照付不议机制。</a:t>
                      </a:r>
                      <a:b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800" b="0" i="0" u="sng"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①固定收费：</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整体系统费用，月度收费模式</a:t>
                      </a:r>
                      <a:b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800" b="0" i="0" u="sng"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②变动气费：</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主要是氦、氢、氩、氧、二氧化碳等气体，根据气体价格与实际用量收费</a:t>
                      </a:r>
                    </a:p>
                  </a:txBody>
                  <a:tcPr marL="9525" marR="9525" marT="9525" marB="0" anchor="ctr">
                    <a:lnL>
                      <a:noFill/>
                    </a:lnL>
                    <a:lnR>
                      <a:noFill/>
                    </a:lnR>
                    <a:lnT>
                      <a:noFill/>
                    </a:lnT>
                    <a:lnB>
                      <a:noFill/>
                    </a:lnB>
                  </a:tcPr>
                </a:tc>
                <a:extLst>
                  <a:ext uri="{0D108BD9-81ED-4DB2-BD59-A6C34878D82A}">
                    <a16:rowId xmlns:a16="http://schemas.microsoft.com/office/drawing/2014/main" xmlns="" val="10002"/>
                  </a:ext>
                </a:extLst>
              </a:tr>
              <a:tr h="56370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定价原则</a:t>
                      </a:r>
                    </a:p>
                  </a:txBody>
                  <a:tcPr marL="9525" marR="9525" marT="9525" marB="0" anchor="ctr">
                    <a:lnL>
                      <a:noFill/>
                    </a:lnL>
                    <a:lnR>
                      <a:noFill/>
                    </a:lnR>
                    <a:lnT>
                      <a:noFill/>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）固定收费：</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综合确定，可以理解为既定</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IRR</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要求情况下先计算基准收费，后续根据</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CPI</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PPI</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、地区人均工资变化进行调整（一般</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年调整）</a:t>
                      </a:r>
                      <a:b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）变动气费：</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①大部分偏成本加成方式，基准价格会根据能耗归属、用量情况等综合情况进行锚定，后续根据</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CPI</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PPI</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、地区人均工资变化进行调整（一般</a:t>
                      </a: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年调整）。</a:t>
                      </a:r>
                      <a:r>
                        <a:rPr lang="zh-CN" altLang="en-US" sz="800" b="1"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②</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氦气相对特殊，进口成本与价格会受到气源地稳定性、政治因素等影响，单独议价，调整间隔一般为</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6-9</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个月</a:t>
                      </a:r>
                    </a:p>
                  </a:txBody>
                  <a:tcPr marL="9525" marR="9525" marT="9525" marB="0"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xmlns="" val="10003"/>
                  </a:ext>
                </a:extLst>
              </a:tr>
              <a:tr h="214929">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IRR</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水平</a:t>
                      </a:r>
                    </a:p>
                  </a:txBody>
                  <a:tcPr marL="9525" marR="9525" marT="9525"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不考虑特气，</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IRR</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大约</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10%~12%</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左右，考虑特气更高，一般可达</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14%</a:t>
                      </a:r>
                      <a:r>
                        <a:rPr lang="zh-CN" altLang="en-US" sz="8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（后期增加）</a:t>
                      </a:r>
                    </a:p>
                  </a:txBody>
                  <a:tcPr marL="9525" marR="9525" marT="9525" marB="0" anchor="ctr">
                    <a:lnL>
                      <a:noFill/>
                    </a:lnL>
                    <a:lnR>
                      <a:noFill/>
                    </a:lnR>
                    <a:lnT>
                      <a:noFill/>
                    </a:lnT>
                    <a:lnB>
                      <a:noFill/>
                    </a:lnB>
                  </a:tcPr>
                </a:tc>
                <a:extLst>
                  <a:ext uri="{0D108BD9-81ED-4DB2-BD59-A6C34878D82A}">
                    <a16:rowId xmlns:a16="http://schemas.microsoft.com/office/drawing/2014/main" xmlns="" val="10004"/>
                  </a:ext>
                </a:extLst>
              </a:tr>
              <a:tr h="99973">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资金配比</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通常</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30%-40%</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自有资金，</a:t>
                      </a:r>
                      <a:r>
                        <a:rPr lang="en-US" altLang="zh-CN" sz="8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60%-70%</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外部融资</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xmlns="" val="10005"/>
                  </a:ext>
                </a:extLst>
              </a:tr>
            </a:tbl>
          </a:graphicData>
        </a:graphic>
      </p:graphicFrame>
      <p:grpSp>
        <p:nvGrpSpPr>
          <p:cNvPr id="7" name="组合 6">
            <a:extLst>
              <a:ext uri="{FF2B5EF4-FFF2-40B4-BE49-F238E27FC236}">
                <a16:creationId xmlns:a16="http://schemas.microsoft.com/office/drawing/2014/main" xmlns="" id="{B7A96C7A-6D98-E9D5-2D3B-713C4695C5EB}"/>
              </a:ext>
            </a:extLst>
          </p:cNvPr>
          <p:cNvGrpSpPr/>
          <p:nvPr/>
        </p:nvGrpSpPr>
        <p:grpSpPr>
          <a:xfrm>
            <a:off x="4812637" y="2547781"/>
            <a:ext cx="4097332" cy="2093280"/>
            <a:chOff x="6584601" y="3569660"/>
            <a:chExt cx="5105345" cy="2909515"/>
          </a:xfrm>
        </p:grpSpPr>
        <p:sp>
          <p:nvSpPr>
            <p:cNvPr id="10" name="矩形 9">
              <a:extLst>
                <a:ext uri="{FF2B5EF4-FFF2-40B4-BE49-F238E27FC236}">
                  <a16:creationId xmlns:a16="http://schemas.microsoft.com/office/drawing/2014/main" xmlns="" id="{CBF741F6-BA63-E92E-D401-F4F73539593C}"/>
                </a:ext>
              </a:extLst>
            </p:cNvPr>
            <p:cNvSpPr/>
            <p:nvPr/>
          </p:nvSpPr>
          <p:spPr>
            <a:xfrm>
              <a:off x="10371496" y="3569660"/>
              <a:ext cx="1261757" cy="2909514"/>
            </a:xfrm>
            <a:prstGeom prst="rect">
              <a:avLst/>
            </a:prstGeom>
            <a:solidFill>
              <a:schemeClr val="accent5"/>
            </a:solidFill>
            <a:ln w="25400" cap="flat" cmpd="sng" algn="ctr">
              <a:noFill/>
              <a:prstDash val="solid"/>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600">
                <a:solidFill>
                  <a:prstClr val="white"/>
                </a:solidFill>
                <a:latin typeface="Arial" panose="020B0604020202020204" pitchFamily="34" charset="0"/>
                <a:ea typeface="+mn-ea"/>
                <a:cs typeface="Arial" panose="020B0604020202020204" pitchFamily="34" charset="0"/>
              </a:endParaRPr>
            </a:p>
          </p:txBody>
        </p:sp>
        <p:sp>
          <p:nvSpPr>
            <p:cNvPr id="14" name="矩形 13">
              <a:extLst>
                <a:ext uri="{FF2B5EF4-FFF2-40B4-BE49-F238E27FC236}">
                  <a16:creationId xmlns:a16="http://schemas.microsoft.com/office/drawing/2014/main" xmlns="" id="{F4428DED-D0D7-B63B-160A-2292A95D4B2E}"/>
                </a:ext>
              </a:extLst>
            </p:cNvPr>
            <p:cNvSpPr/>
            <p:nvPr/>
          </p:nvSpPr>
          <p:spPr>
            <a:xfrm>
              <a:off x="9306174" y="3569661"/>
              <a:ext cx="1065322" cy="2909514"/>
            </a:xfrm>
            <a:prstGeom prst="rect">
              <a:avLst/>
            </a:prstGeom>
            <a:solidFill>
              <a:schemeClr val="bg2"/>
            </a:solidFill>
            <a:ln w="25400" cap="flat" cmpd="sng" algn="ctr">
              <a:noFill/>
              <a:prstDash val="solid"/>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600">
                <a:solidFill>
                  <a:prstClr val="white"/>
                </a:solidFill>
                <a:latin typeface="Arial" panose="020B0604020202020204" pitchFamily="34" charset="0"/>
                <a:ea typeface="+mn-ea"/>
                <a:cs typeface="Arial" panose="020B0604020202020204" pitchFamily="34" charset="0"/>
              </a:endParaRPr>
            </a:p>
          </p:txBody>
        </p:sp>
        <p:sp>
          <p:nvSpPr>
            <p:cNvPr id="15" name="矩形 14">
              <a:extLst>
                <a:ext uri="{FF2B5EF4-FFF2-40B4-BE49-F238E27FC236}">
                  <a16:creationId xmlns:a16="http://schemas.microsoft.com/office/drawing/2014/main" xmlns="" id="{D33D498E-AF9C-392A-5D68-9C7EF6FC2CFC}"/>
                </a:ext>
              </a:extLst>
            </p:cNvPr>
            <p:cNvSpPr/>
            <p:nvPr/>
          </p:nvSpPr>
          <p:spPr>
            <a:xfrm>
              <a:off x="6584601" y="3569661"/>
              <a:ext cx="2739730" cy="2909514"/>
            </a:xfrm>
            <a:prstGeom prst="rect">
              <a:avLst/>
            </a:prstGeom>
            <a:solidFill>
              <a:schemeClr val="accent5">
                <a:lumMod val="20000"/>
                <a:lumOff val="80000"/>
              </a:schemeClr>
            </a:solidFill>
            <a:ln w="25400" cap="flat" cmpd="sng" algn="ctr">
              <a:noFill/>
              <a:prstDash val="solid"/>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600" dirty="0">
                <a:solidFill>
                  <a:prstClr val="white"/>
                </a:solidFill>
                <a:latin typeface="Arial" panose="020B0604020202020204" pitchFamily="34" charset="0"/>
                <a:ea typeface="+mn-ea"/>
                <a:cs typeface="Arial" panose="020B0604020202020204" pitchFamily="34" charset="0"/>
              </a:endParaRPr>
            </a:p>
          </p:txBody>
        </p:sp>
        <p:sp>
          <p:nvSpPr>
            <p:cNvPr id="16" name="TextBox 8">
              <a:extLst>
                <a:ext uri="{FF2B5EF4-FFF2-40B4-BE49-F238E27FC236}">
                  <a16:creationId xmlns:a16="http://schemas.microsoft.com/office/drawing/2014/main" xmlns="" id="{A875D03E-D2A2-500B-636D-85867AEC2825}"/>
                </a:ext>
              </a:extLst>
            </p:cNvPr>
            <p:cNvSpPr txBox="1"/>
            <p:nvPr/>
          </p:nvSpPr>
          <p:spPr bwMode="auto">
            <a:xfrm>
              <a:off x="7331761" y="3602018"/>
              <a:ext cx="1413498" cy="279247"/>
            </a:xfrm>
            <a:prstGeom prst="rect">
              <a:avLst/>
            </a:prstGeom>
            <a:noFill/>
            <a:ln w="9525">
              <a:noFill/>
              <a:miter lim="800000"/>
            </a:ln>
          </p:spPr>
          <p:txBody>
            <a:bodyPr wrap="non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1100" b="1" dirty="0">
                  <a:solidFill>
                    <a:prstClr val="black"/>
                  </a:solidFill>
                  <a:latin typeface="Arial" panose="020B0604020202020204" pitchFamily="34" charset="0"/>
                  <a:ea typeface="思源黑体 Heavy" panose="020B0A00000000000000" pitchFamily="34" charset="-122"/>
                  <a:cs typeface="Arial" panose="020B0604020202020204" pitchFamily="34" charset="0"/>
                </a:rPr>
                <a:t>爬坡期（</a:t>
              </a:r>
              <a:r>
                <a:rPr lang="en-US" altLang="zh-CN" sz="1100" b="1" dirty="0">
                  <a:solidFill>
                    <a:prstClr val="black"/>
                  </a:solidFill>
                  <a:latin typeface="Arial" panose="020B0604020202020204" pitchFamily="34" charset="0"/>
                  <a:ea typeface="思源黑体 Heavy" panose="020B0A00000000000000" pitchFamily="34" charset="-122"/>
                  <a:cs typeface="Arial" panose="020B0604020202020204" pitchFamily="34" charset="0"/>
                </a:rPr>
                <a:t>2-3</a:t>
              </a:r>
              <a:r>
                <a:rPr lang="zh-CN" altLang="en-US" sz="1100" b="1" dirty="0">
                  <a:solidFill>
                    <a:prstClr val="black"/>
                  </a:solidFill>
                  <a:latin typeface="Arial" panose="020B0604020202020204" pitchFamily="34" charset="0"/>
                  <a:ea typeface="思源黑体 Heavy" panose="020B0A00000000000000" pitchFamily="34" charset="-122"/>
                  <a:cs typeface="Arial" panose="020B0604020202020204" pitchFamily="34" charset="0"/>
                </a:rPr>
                <a:t>年</a:t>
              </a:r>
              <a:r>
                <a:rPr lang="zh-CN" altLang="en-US" sz="1100" b="1" dirty="0">
                  <a:solidFill>
                    <a:prstClr val="black"/>
                  </a:solidFill>
                  <a:latin typeface="Arial" panose="020B0604020202020204" pitchFamily="34" charset="0"/>
                  <a:ea typeface="+mn-ea"/>
                  <a:cs typeface="Arial" panose="020B0604020202020204" pitchFamily="34" charset="0"/>
                </a:rPr>
                <a:t>）</a:t>
              </a:r>
            </a:p>
          </p:txBody>
        </p:sp>
        <p:sp>
          <p:nvSpPr>
            <p:cNvPr id="17" name="TextBox 15">
              <a:extLst>
                <a:ext uri="{FF2B5EF4-FFF2-40B4-BE49-F238E27FC236}">
                  <a16:creationId xmlns:a16="http://schemas.microsoft.com/office/drawing/2014/main" xmlns="" id="{4C36541F-67C8-14E0-CE96-805092C4B016}"/>
                </a:ext>
              </a:extLst>
            </p:cNvPr>
            <p:cNvSpPr txBox="1"/>
            <p:nvPr/>
          </p:nvSpPr>
          <p:spPr bwMode="auto">
            <a:xfrm>
              <a:off x="9481467" y="3645643"/>
              <a:ext cx="695922" cy="279247"/>
            </a:xfrm>
            <a:prstGeom prst="rect">
              <a:avLst/>
            </a:prstGeom>
            <a:noFill/>
            <a:ln w="9525">
              <a:noFill/>
              <a:miter lim="800000"/>
            </a:ln>
          </p:spPr>
          <p:txBody>
            <a:bodyPr wrap="non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1100" b="1" dirty="0">
                  <a:solidFill>
                    <a:prstClr val="black"/>
                  </a:solidFill>
                  <a:latin typeface="Arial" panose="020B0604020202020204" pitchFamily="34" charset="0"/>
                  <a:ea typeface="思源黑体 Heavy" panose="020B0A00000000000000" pitchFamily="34" charset="-122"/>
                  <a:cs typeface="Arial" panose="020B0604020202020204" pitchFamily="34" charset="0"/>
                </a:rPr>
                <a:t>稳定期</a:t>
              </a:r>
            </a:p>
          </p:txBody>
        </p:sp>
        <p:sp>
          <p:nvSpPr>
            <p:cNvPr id="18" name="TextBox 16">
              <a:extLst>
                <a:ext uri="{FF2B5EF4-FFF2-40B4-BE49-F238E27FC236}">
                  <a16:creationId xmlns:a16="http://schemas.microsoft.com/office/drawing/2014/main" xmlns="" id="{5532BAF7-13E8-87BC-920E-8946CF327706}"/>
                </a:ext>
              </a:extLst>
            </p:cNvPr>
            <p:cNvSpPr txBox="1"/>
            <p:nvPr/>
          </p:nvSpPr>
          <p:spPr bwMode="auto">
            <a:xfrm>
              <a:off x="10561763" y="3645643"/>
              <a:ext cx="857423" cy="279247"/>
            </a:xfrm>
            <a:prstGeom prst="rect">
              <a:avLst/>
            </a:prstGeom>
            <a:noFill/>
            <a:ln w="9525">
              <a:noFill/>
              <a:miter lim="800000"/>
            </a:ln>
          </p:spPr>
          <p:txBody>
            <a:bodyPr wrap="non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1100" b="1" dirty="0">
                  <a:solidFill>
                    <a:prstClr val="black"/>
                  </a:solidFill>
                  <a:latin typeface="Arial" panose="020B0604020202020204" pitchFamily="34" charset="0"/>
                  <a:ea typeface="思源黑体 Heavy" panose="020B0A00000000000000" pitchFamily="34" charset="-122"/>
                  <a:cs typeface="Arial" panose="020B0604020202020204" pitchFamily="34" charset="0"/>
                </a:rPr>
                <a:t>折旧尾期</a:t>
              </a:r>
            </a:p>
          </p:txBody>
        </p:sp>
        <p:sp>
          <p:nvSpPr>
            <p:cNvPr id="19" name="TextBox 9">
              <a:extLst>
                <a:ext uri="{FF2B5EF4-FFF2-40B4-BE49-F238E27FC236}">
                  <a16:creationId xmlns:a16="http://schemas.microsoft.com/office/drawing/2014/main" xmlns="" id="{BCE38219-EB74-4C83-21C0-D4213F7D0DE8}"/>
                </a:ext>
              </a:extLst>
            </p:cNvPr>
            <p:cNvSpPr txBox="1"/>
            <p:nvPr/>
          </p:nvSpPr>
          <p:spPr bwMode="auto">
            <a:xfrm>
              <a:off x="6613833" y="3866556"/>
              <a:ext cx="2635948" cy="394231"/>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rgbClr val="000000"/>
                  </a:solidFill>
                  <a:effectLst/>
                  <a:uFillTx/>
                </a:defRPr>
              </a:defPPr>
              <a:lvl1pPr marR="0" indent="0" algn="ctr" defTabSz="914400" fontAlgn="auto" hangingPunct="0">
                <a:lnSpc>
                  <a:spcPct val="100000"/>
                </a:lnSpc>
                <a:spcBef>
                  <a:spcPts val="0"/>
                </a:spcBef>
                <a:spcAft>
                  <a:spcPts val="0"/>
                </a:spcAft>
                <a:buClrTx/>
                <a:buSzTx/>
                <a:buFontTx/>
                <a:buNone/>
                <a:defRPr kumimoji="0" sz="900" b="1" i="0" u="none" strike="noStrike" cap="none" spc="0" normalizeH="0" baseline="0">
                  <a:ln>
                    <a:noFill/>
                  </a:ln>
                  <a:solidFill>
                    <a:schemeClr val="tx1">
                      <a:lumMod val="65000"/>
                      <a:lumOff val="35000"/>
                    </a:schemeClr>
                  </a:solidFill>
                  <a:effectLst/>
                  <a:uFillTx/>
                  <a:latin typeface="Arial" panose="020B0604020202020204" pitchFamily="34" charset="0"/>
                  <a:cs typeface="Arial" panose="020B0604020202020204" pitchFamily="34" charset="0"/>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defRPr>
              </a:lvl9pPr>
            </a:lstStyle>
            <a:p>
              <a:r>
                <a:rPr lang="zh-CN" altLang="en-US" dirty="0"/>
                <a:t>产能利用率从初期</a:t>
              </a:r>
              <a:r>
                <a:rPr lang="en-US" altLang="zh-CN" dirty="0"/>
                <a:t>40%</a:t>
              </a:r>
              <a:r>
                <a:rPr lang="zh-CN" altLang="en-US" dirty="0"/>
                <a:t>上行至</a:t>
              </a:r>
              <a:r>
                <a:rPr lang="en-US" altLang="zh-CN" dirty="0"/>
                <a:t>100%</a:t>
              </a:r>
              <a:r>
                <a:rPr lang="zh-CN" altLang="en-US" dirty="0"/>
                <a:t>，营收、毛利率抬升</a:t>
              </a:r>
            </a:p>
          </p:txBody>
        </p:sp>
        <p:sp>
          <p:nvSpPr>
            <p:cNvPr id="20" name="TextBox 18">
              <a:extLst>
                <a:ext uri="{FF2B5EF4-FFF2-40B4-BE49-F238E27FC236}">
                  <a16:creationId xmlns:a16="http://schemas.microsoft.com/office/drawing/2014/main" xmlns="" id="{92812764-4E1D-F367-87E9-3FBDDA626E65}"/>
                </a:ext>
              </a:extLst>
            </p:cNvPr>
            <p:cNvSpPr txBox="1"/>
            <p:nvPr/>
          </p:nvSpPr>
          <p:spPr bwMode="auto">
            <a:xfrm>
              <a:off x="9265752" y="3945921"/>
              <a:ext cx="1105967" cy="394231"/>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900" b="1" dirty="0">
                  <a:solidFill>
                    <a:schemeClr val="tx1">
                      <a:lumMod val="65000"/>
                      <a:lumOff val="35000"/>
                    </a:schemeClr>
                  </a:solidFill>
                  <a:latin typeface="Arial" panose="020B0604020202020204" pitchFamily="34" charset="0"/>
                  <a:ea typeface="+mn-ea"/>
                  <a:cs typeface="Arial" panose="020B0604020202020204" pitchFamily="34" charset="0"/>
                </a:rPr>
                <a:t>毛利率、营收基本维持</a:t>
              </a:r>
            </a:p>
          </p:txBody>
        </p:sp>
        <p:sp>
          <p:nvSpPr>
            <p:cNvPr id="21" name="TextBox 19">
              <a:extLst>
                <a:ext uri="{FF2B5EF4-FFF2-40B4-BE49-F238E27FC236}">
                  <a16:creationId xmlns:a16="http://schemas.microsoft.com/office/drawing/2014/main" xmlns="" id="{0695E14A-6E06-1FD2-64E6-AB0D643D9502}"/>
                </a:ext>
              </a:extLst>
            </p:cNvPr>
            <p:cNvSpPr txBox="1"/>
            <p:nvPr/>
          </p:nvSpPr>
          <p:spPr bwMode="auto">
            <a:xfrm>
              <a:off x="10387515" y="3913412"/>
              <a:ext cx="1302431" cy="394231"/>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en-US" altLang="zh-CN" sz="900" b="1" dirty="0">
                  <a:solidFill>
                    <a:schemeClr val="tx1">
                      <a:lumMod val="65000"/>
                      <a:lumOff val="35000"/>
                    </a:schemeClr>
                  </a:solidFill>
                  <a:latin typeface="Arial" panose="020B0604020202020204" pitchFamily="34" charset="0"/>
                  <a:ea typeface="+mn-ea"/>
                  <a:cs typeface="Arial" panose="020B0604020202020204" pitchFamily="34" charset="0"/>
                </a:rPr>
                <a:t>15</a:t>
              </a:r>
              <a:r>
                <a:rPr lang="zh-CN" altLang="en-US" sz="900" b="1" dirty="0">
                  <a:solidFill>
                    <a:schemeClr val="tx1">
                      <a:lumMod val="65000"/>
                      <a:lumOff val="35000"/>
                    </a:schemeClr>
                  </a:solidFill>
                  <a:latin typeface="Arial" panose="020B0604020202020204" pitchFamily="34" charset="0"/>
                  <a:ea typeface="+mn-ea"/>
                  <a:cs typeface="Arial" panose="020B0604020202020204" pitchFamily="34" charset="0"/>
                </a:rPr>
                <a:t>年折旧完毛利率提升</a:t>
              </a:r>
            </a:p>
          </p:txBody>
        </p:sp>
      </p:grpSp>
      <p:sp>
        <p:nvSpPr>
          <p:cNvPr id="22" name="文本框 18">
            <a:extLst>
              <a:ext uri="{FF2B5EF4-FFF2-40B4-BE49-F238E27FC236}">
                <a16:creationId xmlns:a16="http://schemas.microsoft.com/office/drawing/2014/main" xmlns="" id="{3B740847-4B66-83D7-9149-7A1380E844E2}"/>
              </a:ext>
            </a:extLst>
          </p:cNvPr>
          <p:cNvSpPr txBox="1"/>
          <p:nvPr/>
        </p:nvSpPr>
        <p:spPr>
          <a:xfrm>
            <a:off x="4426226" y="2286429"/>
            <a:ext cx="505073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图：电子大宗气体项目分阶段营收、毛利率（</a:t>
            </a:r>
            <a:r>
              <a:rPr lang="en-US" altLang="zh-CN" dirty="0"/>
              <a:t>2</a:t>
            </a:r>
            <a:r>
              <a:rPr lang="zh-CN" altLang="en-US" dirty="0"/>
              <a:t>万方对应关系）</a:t>
            </a:r>
          </a:p>
        </p:txBody>
      </p:sp>
      <p:graphicFrame>
        <p:nvGraphicFramePr>
          <p:cNvPr id="3" name="图表 2">
            <a:extLst>
              <a:ext uri="{FF2B5EF4-FFF2-40B4-BE49-F238E27FC236}">
                <a16:creationId xmlns:a16="http://schemas.microsoft.com/office/drawing/2014/main" xmlns="" id="{C007F5A4-FA0D-412A-8F4B-3F6C64065E8B}"/>
              </a:ext>
            </a:extLst>
          </p:cNvPr>
          <p:cNvGraphicFramePr>
            <a:graphicFrameLocks/>
          </p:cNvGraphicFramePr>
          <p:nvPr>
            <p:extLst>
              <p:ext uri="{D42A27DB-BD31-4B8C-83A1-F6EECF244321}">
                <p14:modId xmlns:p14="http://schemas.microsoft.com/office/powerpoint/2010/main" val="2570917749"/>
              </p:ext>
            </p:extLst>
          </p:nvPr>
        </p:nvGraphicFramePr>
        <p:xfrm>
          <a:off x="4889455" y="3074060"/>
          <a:ext cx="3975014" cy="15650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29467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FA15EF-02D9-37DA-A060-3AF4B9889F4D}"/>
            </a:ext>
          </a:extLst>
        </p:cNvPr>
        <p:cNvGrpSpPr/>
        <p:nvPr/>
      </p:nvGrpSpPr>
      <p:grpSpPr>
        <a:xfrm>
          <a:off x="0" y="0"/>
          <a:ext cx="0" cy="0"/>
          <a:chOff x="0" y="0"/>
          <a:chExt cx="0" cy="0"/>
        </a:xfrm>
      </p:grpSpPr>
      <p:sp>
        <p:nvSpPr>
          <p:cNvPr id="23" name="矩形 22">
            <a:extLst>
              <a:ext uri="{FF2B5EF4-FFF2-40B4-BE49-F238E27FC236}">
                <a16:creationId xmlns:a16="http://schemas.microsoft.com/office/drawing/2014/main" xmlns="" id="{84425C05-67ED-29CA-0E53-3DEE8D8CE1F6}"/>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24" name="矩形 23">
            <a:extLst>
              <a:ext uri="{FF2B5EF4-FFF2-40B4-BE49-F238E27FC236}">
                <a16:creationId xmlns:a16="http://schemas.microsoft.com/office/drawing/2014/main" xmlns="" id="{2A594EBB-5D94-CEAE-A36B-5555998A6A26}"/>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标题 1">
            <a:extLst>
              <a:ext uri="{FF2B5EF4-FFF2-40B4-BE49-F238E27FC236}">
                <a16:creationId xmlns:a16="http://schemas.microsoft.com/office/drawing/2014/main" xmlns="" id="{2B4EFA50-A968-26BF-CDB6-AF792D05AF3C}"/>
              </a:ext>
            </a:extLst>
          </p:cNvPr>
          <p:cNvSpPr>
            <a:spLocks noGrp="1"/>
          </p:cNvSpPr>
          <p:nvPr/>
        </p:nvSpPr>
        <p:spPr>
          <a:xfrm>
            <a:off x="783952" y="295922"/>
            <a:ext cx="6511225"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壁垒：进入壁垒极高，设备技术、经验业绩与氦气资源是核心</a:t>
            </a:r>
          </a:p>
        </p:txBody>
      </p:sp>
      <p:sp>
        <p:nvSpPr>
          <p:cNvPr id="3" name="文本占位符 5">
            <a:extLst>
              <a:ext uri="{FF2B5EF4-FFF2-40B4-BE49-F238E27FC236}">
                <a16:creationId xmlns:a16="http://schemas.microsoft.com/office/drawing/2014/main" xmlns="" id="{528EA052-1309-278E-DA38-4ADBF2162CDB}"/>
              </a:ext>
            </a:extLst>
          </p:cNvPr>
          <p:cNvSpPr txBox="1"/>
          <p:nvPr/>
        </p:nvSpPr>
        <p:spPr>
          <a:xfrm>
            <a:off x="232466" y="886805"/>
            <a:ext cx="8780870" cy="1340400"/>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cs typeface="Arial" panose="020B0604020202020204" pitchFamily="34" charset="0"/>
              </a:rPr>
              <a:t>电子大宗气体模式核心壁垒主要体现：一是核心设备技术，比如超高纯氮设备研制能力；二是气体渠道、供应链建立能力，三是工程设计能力。</a:t>
            </a: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cs typeface="Arial" panose="020B0604020202020204" pitchFamily="34" charset="0"/>
              </a:rPr>
              <a:t>壁垒一：</a:t>
            </a:r>
            <a:r>
              <a:rPr lang="zh-CN" altLang="en-US" sz="1100" dirty="0">
                <a:latin typeface="Arial" panose="020B0604020202020204" pitchFamily="34" charset="0"/>
                <a:cs typeface="Arial" panose="020B0604020202020204" pitchFamily="34" charset="0"/>
              </a:rPr>
              <a:t>核心设备技术。主要包括超高纯氮设备、精置装置与监测仪器等。其中，</a:t>
            </a:r>
            <a:r>
              <a:rPr lang="en-US" altLang="zh-CN" sz="1100" dirty="0">
                <a:solidFill>
                  <a:srgbClr val="C00000"/>
                </a:solidFill>
                <a:latin typeface="Arial" panose="020B0604020202020204" pitchFamily="34" charset="0"/>
                <a:cs typeface="Arial" panose="020B0604020202020204" pitchFamily="34" charset="0"/>
              </a:rPr>
              <a:t>9N</a:t>
            </a:r>
            <a:r>
              <a:rPr lang="zh-CN" altLang="en-US" sz="1100" dirty="0">
                <a:solidFill>
                  <a:srgbClr val="C00000"/>
                </a:solidFill>
                <a:latin typeface="Arial" panose="020B0604020202020204" pitchFamily="34" charset="0"/>
                <a:cs typeface="Arial" panose="020B0604020202020204" pitchFamily="34" charset="0"/>
              </a:rPr>
              <a:t>超高纯氮设备技术主要被外资气体厂垄断，是获取核心客户较大用气量项目的主要壁垒所在</a:t>
            </a:r>
            <a:r>
              <a:rPr lang="zh-CN" altLang="en-US" sz="1100" dirty="0">
                <a:latin typeface="Arial" panose="020B0604020202020204" pitchFamily="34" charset="0"/>
                <a:cs typeface="Arial" panose="020B0604020202020204" pitchFamily="34" charset="0"/>
              </a:rPr>
              <a:t>，也是气体厂长久发展的必要条件之一。</a:t>
            </a:r>
            <a:r>
              <a:rPr lang="zh-CN" altLang="en-US" sz="1100" b="1" dirty="0">
                <a:solidFill>
                  <a:srgbClr val="C00000"/>
                </a:solidFill>
                <a:latin typeface="Arial" panose="020B0604020202020204" pitchFamily="34" charset="0"/>
                <a:cs typeface="Arial" panose="020B0604020202020204" pitchFamily="34" charset="0"/>
              </a:rPr>
              <a:t>全球仅四家公司的方案能够满足像两存这类客户的严格要求：法液空、林德、</a:t>
            </a:r>
            <a:r>
              <a:rPr lang="en-US" altLang="zh-CN" sz="1100" b="1" dirty="0">
                <a:solidFill>
                  <a:srgbClr val="C00000"/>
                </a:solidFill>
                <a:latin typeface="Arial" panose="020B0604020202020204" pitchFamily="34" charset="0"/>
                <a:cs typeface="Arial" panose="020B0604020202020204" pitchFamily="34" charset="0"/>
              </a:rPr>
              <a:t>AP</a:t>
            </a:r>
            <a:r>
              <a:rPr lang="zh-CN" altLang="en-US" sz="1100" b="1" dirty="0">
                <a:solidFill>
                  <a:srgbClr val="C00000"/>
                </a:solidFill>
                <a:latin typeface="Arial" panose="020B0604020202020204" pitchFamily="34" charset="0"/>
                <a:cs typeface="Arial" panose="020B0604020202020204" pitchFamily="34" charset="0"/>
              </a:rPr>
              <a:t>与广钢气体。</a:t>
            </a: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cs typeface="Arial" panose="020B0604020202020204" pitchFamily="34" charset="0"/>
              </a:rPr>
              <a:t>高纯氮设备流速与纯度决定了厂商可接单个用气量项目规模上限。</a:t>
            </a:r>
            <a:r>
              <a:rPr lang="en-US" altLang="zh-CN" sz="1100" dirty="0">
                <a:latin typeface="Arial" panose="020B0604020202020204" pitchFamily="34" charset="0"/>
                <a:cs typeface="Arial" panose="020B0604020202020204" pitchFamily="34" charset="0"/>
              </a:rPr>
              <a:t>1</a:t>
            </a:r>
            <a:r>
              <a:rPr lang="zh-CN" altLang="en-US" sz="1100" dirty="0">
                <a:latin typeface="Arial" panose="020B0604020202020204" pitchFamily="34" charset="0"/>
                <a:cs typeface="Arial" panose="020B0604020202020204" pitchFamily="34" charset="0"/>
              </a:rPr>
              <a:t>）小于</a:t>
            </a:r>
            <a:r>
              <a:rPr lang="en-US" altLang="zh-CN" sz="1100" dirty="0">
                <a:latin typeface="Arial" panose="020B0604020202020204" pitchFamily="34" charset="0"/>
                <a:cs typeface="Arial" panose="020B0604020202020204" pitchFamily="34" charset="0"/>
              </a:rPr>
              <a:t>2or3</a:t>
            </a:r>
            <a:r>
              <a:rPr lang="zh-CN" altLang="en-US" sz="1100" dirty="0">
                <a:latin typeface="Arial" panose="020B0604020202020204" pitchFamily="34" charset="0"/>
                <a:cs typeface="Arial" panose="020B0604020202020204" pitchFamily="34" charset="0"/>
              </a:rPr>
              <a:t>万方</a:t>
            </a:r>
            <a:r>
              <a:rPr lang="en-US" altLang="zh-CN" sz="1100" dirty="0">
                <a:latin typeface="Arial" panose="020B0604020202020204" pitchFamily="34" charset="0"/>
                <a:cs typeface="Arial" panose="020B0604020202020204" pitchFamily="34" charset="0"/>
              </a:rPr>
              <a:t>/h</a:t>
            </a:r>
            <a:r>
              <a:rPr lang="zh-CN" altLang="en-US" sz="1100" dirty="0">
                <a:latin typeface="Arial" panose="020B0604020202020204" pitchFamily="34" charset="0"/>
                <a:cs typeface="Arial" panose="020B0604020202020204" pitchFamily="34" charset="0"/>
              </a:rPr>
              <a:t>氮用气：设备壁垒低，市场有设备厂具备</a:t>
            </a:r>
            <a:r>
              <a:rPr lang="en-US" altLang="zh-CN" sz="1100" dirty="0">
                <a:latin typeface="Arial" panose="020B0604020202020204" pitchFamily="34" charset="0"/>
                <a:cs typeface="Arial" panose="020B0604020202020204" pitchFamily="34" charset="0"/>
              </a:rPr>
              <a:t>5N</a:t>
            </a:r>
            <a:r>
              <a:rPr lang="zh-CN" altLang="en-US" sz="1100" dirty="0">
                <a:latin typeface="Arial" panose="020B0604020202020204" pitchFamily="34" charset="0"/>
                <a:cs typeface="Arial" panose="020B0604020202020204" pitchFamily="34" charset="0"/>
              </a:rPr>
              <a:t>纯氮设备技术，外采</a:t>
            </a:r>
            <a:r>
              <a:rPr lang="en-US" altLang="zh-CN" sz="1100" dirty="0">
                <a:latin typeface="Arial" panose="020B0604020202020204" pitchFamily="34" charset="0"/>
                <a:cs typeface="Arial" panose="020B0604020202020204" pitchFamily="34" charset="0"/>
              </a:rPr>
              <a:t>/</a:t>
            </a:r>
            <a:r>
              <a:rPr lang="zh-CN" altLang="en-US" sz="1100" dirty="0">
                <a:latin typeface="Arial" panose="020B0604020202020204" pitchFamily="34" charset="0"/>
                <a:cs typeface="Arial" panose="020B0604020202020204" pitchFamily="34" charset="0"/>
              </a:rPr>
              <a:t>自制；</a:t>
            </a:r>
            <a:r>
              <a:rPr lang="en-US" altLang="zh-CN" sz="1100" dirty="0">
                <a:latin typeface="Arial" panose="020B0604020202020204" pitchFamily="34" charset="0"/>
                <a:cs typeface="Arial" panose="020B0604020202020204" pitchFamily="34" charset="0"/>
              </a:rPr>
              <a:t>2</a:t>
            </a:r>
            <a:r>
              <a:rPr lang="zh-CN" altLang="en-US" sz="1100" dirty="0">
                <a:latin typeface="Arial" panose="020B0604020202020204" pitchFamily="34" charset="0"/>
                <a:cs typeface="Arial" panose="020B0604020202020204" pitchFamily="34" charset="0"/>
              </a:rPr>
              <a:t>）</a:t>
            </a:r>
            <a:r>
              <a:rPr lang="en-US" altLang="zh-CN" sz="1100" dirty="0">
                <a:latin typeface="Arial" panose="020B0604020202020204" pitchFamily="34" charset="0"/>
                <a:cs typeface="Arial" panose="020B0604020202020204" pitchFamily="34" charset="0"/>
              </a:rPr>
              <a:t>3+</a:t>
            </a:r>
            <a:r>
              <a:rPr lang="zh-CN" altLang="en-US" sz="1100" dirty="0">
                <a:latin typeface="Arial" panose="020B0604020202020204" pitchFamily="34" charset="0"/>
                <a:cs typeface="Arial" panose="020B0604020202020204" pitchFamily="34" charset="0"/>
              </a:rPr>
              <a:t>万方</a:t>
            </a:r>
            <a:r>
              <a:rPr lang="en-US" altLang="zh-CN" sz="1100" dirty="0">
                <a:latin typeface="Arial" panose="020B0604020202020204" pitchFamily="34" charset="0"/>
                <a:cs typeface="Arial" panose="020B0604020202020204" pitchFamily="34" charset="0"/>
              </a:rPr>
              <a:t>/h</a:t>
            </a:r>
            <a:r>
              <a:rPr lang="zh-CN" altLang="en-US" sz="1100" dirty="0">
                <a:latin typeface="Arial" panose="020B0604020202020204" pitchFamily="34" charset="0"/>
                <a:cs typeface="Arial" panose="020B0604020202020204" pitchFamily="34" charset="0"/>
              </a:rPr>
              <a:t>氮用气：</a:t>
            </a:r>
            <a:r>
              <a:rPr lang="en-US" altLang="zh-CN" sz="1100" dirty="0">
                <a:latin typeface="Arial" panose="020B0604020202020204" pitchFamily="34" charset="0"/>
                <a:cs typeface="Arial" panose="020B0604020202020204" pitchFamily="34" charset="0"/>
              </a:rPr>
              <a:t>9N</a:t>
            </a:r>
            <a:r>
              <a:rPr lang="zh-CN" altLang="en-US" sz="1100" dirty="0">
                <a:latin typeface="Arial" panose="020B0604020202020204" pitchFamily="34" charset="0"/>
                <a:cs typeface="Arial" panose="020B0604020202020204" pitchFamily="34" charset="0"/>
              </a:rPr>
              <a:t>高纯氮直出设备技术全球仅外资</a:t>
            </a:r>
            <a:r>
              <a:rPr lang="en-US" altLang="zh-CN" sz="1100" dirty="0">
                <a:latin typeface="Arial" panose="020B0604020202020204" pitchFamily="34" charset="0"/>
                <a:cs typeface="Arial" panose="020B0604020202020204" pitchFamily="34" charset="0"/>
              </a:rPr>
              <a:t>+</a:t>
            </a:r>
            <a:r>
              <a:rPr lang="zh-CN" altLang="en-US" sz="1100" dirty="0">
                <a:latin typeface="Arial" panose="020B0604020202020204" pitchFamily="34" charset="0"/>
                <a:cs typeface="Arial" panose="020B0604020202020204" pitchFamily="34" charset="0"/>
              </a:rPr>
              <a:t>广钢气体有。 </a:t>
            </a: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cs typeface="Arial" panose="020B0604020202020204" pitchFamily="34" charset="0"/>
              </a:rPr>
              <a:t>国际上无法做设备的公司最终被收购。</a:t>
            </a:r>
            <a:r>
              <a:rPr lang="zh-CN" altLang="en-US" sz="1100" dirty="0">
                <a:latin typeface="Arial" panose="020B0604020202020204" pitchFamily="34" charset="0"/>
                <a:cs typeface="Arial" panose="020B0604020202020204" pitchFamily="34" charset="0"/>
              </a:rPr>
              <a:t>例如</a:t>
            </a:r>
            <a:r>
              <a:rPr lang="en-US" altLang="zh-CN" sz="1100" dirty="0">
                <a:latin typeface="Arial" panose="020B0604020202020204" pitchFamily="34" charset="0"/>
                <a:cs typeface="Arial" panose="020B0604020202020204" pitchFamily="34" charset="0"/>
              </a:rPr>
              <a:t>BOC</a:t>
            </a:r>
            <a:r>
              <a:rPr lang="zh-CN" altLang="en-US" sz="1100" dirty="0">
                <a:latin typeface="Arial" panose="020B0604020202020204" pitchFamily="34" charset="0"/>
                <a:cs typeface="Arial" panose="020B0604020202020204" pitchFamily="34" charset="0"/>
              </a:rPr>
              <a:t>由于设备能力弱，逐步增长乏力，最终被林德收购（绝对不会卖竞对设备）。</a:t>
            </a:r>
          </a:p>
          <a:p>
            <a:pPr marL="285750" lvl="4" indent="-285750" algn="just">
              <a:lnSpc>
                <a:spcPct val="100000"/>
              </a:lnSpc>
              <a:spcBef>
                <a:spcPts val="0"/>
              </a:spcBef>
              <a:spcAft>
                <a:spcPts val="600"/>
              </a:spcAft>
              <a:buFont typeface="Wingdings" panose="05000000000000000000" pitchFamily="2" charset="2"/>
              <a:buChar char="n"/>
            </a:pPr>
            <a:endParaRPr lang="zh-CN" altLang="en-US" sz="1600" dirty="0">
              <a:latin typeface="Arial" panose="020B0604020202020204" pitchFamily="34" charset="0"/>
              <a:ea typeface="+mj-ea"/>
              <a:cs typeface="Arial" panose="020B0604020202020204" pitchFamily="34" charset="0"/>
            </a:endParaRPr>
          </a:p>
        </p:txBody>
      </p:sp>
      <p:grpSp>
        <p:nvGrpSpPr>
          <p:cNvPr id="11" name="组合 10">
            <a:extLst>
              <a:ext uri="{FF2B5EF4-FFF2-40B4-BE49-F238E27FC236}">
                <a16:creationId xmlns:a16="http://schemas.microsoft.com/office/drawing/2014/main" xmlns="" id="{C90E8AE6-F47D-3136-AEB0-CC9300516455}"/>
              </a:ext>
            </a:extLst>
          </p:cNvPr>
          <p:cNvGrpSpPr/>
          <p:nvPr/>
        </p:nvGrpSpPr>
        <p:grpSpPr>
          <a:xfrm>
            <a:off x="97526" y="2571750"/>
            <a:ext cx="8948947" cy="2181261"/>
            <a:chOff x="277657" y="2196330"/>
            <a:chExt cx="8674742" cy="2704832"/>
          </a:xfrm>
        </p:grpSpPr>
        <p:pic>
          <p:nvPicPr>
            <p:cNvPr id="12" name="Picture 5">
              <a:extLst>
                <a:ext uri="{FF2B5EF4-FFF2-40B4-BE49-F238E27FC236}">
                  <a16:creationId xmlns:a16="http://schemas.microsoft.com/office/drawing/2014/main" xmlns="" id="{5F70227F-8AED-59E7-907B-F2799CC7BA93}"/>
                </a:ext>
              </a:extLst>
            </p:cNvPr>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014" b="52954"/>
            <a:stretch>
              <a:fillRect/>
            </a:stretch>
          </p:blipFill>
          <p:spPr bwMode="auto">
            <a:xfrm>
              <a:off x="277657" y="3113075"/>
              <a:ext cx="5943600" cy="178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 name="直接箭头连接符 35">
              <a:extLst>
                <a:ext uri="{FF2B5EF4-FFF2-40B4-BE49-F238E27FC236}">
                  <a16:creationId xmlns:a16="http://schemas.microsoft.com/office/drawing/2014/main" xmlns="" id="{FEAC2AB4-2393-28D1-3253-3563C4E47504}"/>
                </a:ext>
              </a:extLst>
            </p:cNvPr>
            <p:cNvCxnSpPr>
              <a:cxnSpLocks noChangeShapeType="1"/>
            </p:cNvCxnSpPr>
            <p:nvPr/>
          </p:nvCxnSpPr>
          <p:spPr bwMode="auto">
            <a:xfrm flipV="1">
              <a:off x="7320928" y="3373292"/>
              <a:ext cx="666190" cy="422538"/>
            </a:xfrm>
            <a:prstGeom prst="straightConnector1">
              <a:avLst/>
            </a:prstGeom>
            <a:noFill/>
            <a:ln w="9525">
              <a:solidFill>
                <a:srgbClr val="C00000"/>
              </a:solidFill>
              <a:round/>
              <a:tailEnd type="arrow" w="med" len="med"/>
            </a:ln>
            <a:extLst>
              <a:ext uri="{909E8E84-426E-40DD-AFC4-6F175D3DCCD1}">
                <a14:hiddenFill xmlns:a14="http://schemas.microsoft.com/office/drawing/2010/main">
                  <a:noFill/>
                </a14:hiddenFill>
              </a:ext>
            </a:extLst>
          </p:spPr>
        </p:cxnSp>
        <p:sp>
          <p:nvSpPr>
            <p:cNvPr id="25" name="矩形 24">
              <a:extLst>
                <a:ext uri="{FF2B5EF4-FFF2-40B4-BE49-F238E27FC236}">
                  <a16:creationId xmlns:a16="http://schemas.microsoft.com/office/drawing/2014/main" xmlns="" id="{87673F39-7D39-DED8-F68A-CABBC9B3C43C}"/>
                </a:ext>
              </a:extLst>
            </p:cNvPr>
            <p:cNvSpPr/>
            <p:nvPr/>
          </p:nvSpPr>
          <p:spPr>
            <a:xfrm>
              <a:off x="1070547" y="2233682"/>
              <a:ext cx="1683105" cy="877801"/>
            </a:xfrm>
            <a:prstGeom prst="rect">
              <a:avLst/>
            </a:prstGeom>
            <a:solidFill>
              <a:schemeClr val="bg1">
                <a:lumMod val="95000"/>
              </a:schemeClr>
            </a:solidFill>
            <a:ln w="12700">
              <a:solidFill>
                <a:schemeClr val="tx1"/>
              </a:solidFill>
            </a:ln>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b="1" dirty="0">
                  <a:latin typeface="Arial" panose="020B0604020202020204" pitchFamily="34" charset="0"/>
                  <a:ea typeface="+mn-ea"/>
                  <a:cs typeface="Arial" panose="020B0604020202020204" pitchFamily="34" charset="0"/>
                </a:rPr>
                <a:t>标准系列：</a:t>
              </a:r>
              <a:r>
                <a:rPr lang="en-US" altLang="zh-CN" sz="800" dirty="0">
                  <a:latin typeface="Arial" panose="020B0604020202020204" pitchFamily="34" charset="0"/>
                  <a:ea typeface="+mn-ea"/>
                  <a:cs typeface="Arial" panose="020B0604020202020204" pitchFamily="34" charset="0"/>
                </a:rPr>
                <a:t>5N</a:t>
              </a:r>
              <a:r>
                <a:rPr lang="zh-CN" altLang="en-US" sz="800" dirty="0">
                  <a:latin typeface="Arial" panose="020B0604020202020204" pitchFamily="34" charset="0"/>
                  <a:ea typeface="+mn-ea"/>
                  <a:cs typeface="Arial" panose="020B0604020202020204" pitchFamily="34" charset="0"/>
                </a:rPr>
                <a:t>氮系统</a:t>
              </a:r>
              <a:r>
                <a:rPr lang="en-US" altLang="zh-CN" sz="800" dirty="0">
                  <a:latin typeface="Arial" panose="020B0604020202020204" pitchFamily="34" charset="0"/>
                  <a:ea typeface="+mn-ea"/>
                  <a:cs typeface="Arial" panose="020B0604020202020204" pitchFamily="34" charset="0"/>
                </a:rPr>
                <a:t>+</a:t>
              </a:r>
              <a:r>
                <a:rPr lang="zh-CN" altLang="en-US" sz="800" dirty="0">
                  <a:latin typeface="Arial" panose="020B0604020202020204" pitchFamily="34" charset="0"/>
                  <a:ea typeface="+mn-ea"/>
                  <a:cs typeface="Arial" panose="020B0604020202020204" pitchFamily="34" charset="0"/>
                </a:rPr>
                <a:t>后置纯化系统，一般适用</a:t>
              </a:r>
              <a:r>
                <a:rPr lang="en-US" altLang="zh-CN" sz="800" dirty="0">
                  <a:latin typeface="Arial" panose="020B0604020202020204" pitchFamily="34" charset="0"/>
                  <a:ea typeface="+mn-ea"/>
                  <a:cs typeface="Arial" panose="020B0604020202020204" pitchFamily="34" charset="0"/>
                </a:rPr>
                <a:t>0-1</a:t>
              </a:r>
              <a:r>
                <a:rPr lang="zh-CN" altLang="en-US" sz="800" dirty="0">
                  <a:latin typeface="Arial" panose="020B0604020202020204" pitchFamily="34" charset="0"/>
                  <a:ea typeface="+mn-ea"/>
                  <a:cs typeface="Arial" panose="020B0604020202020204" pitchFamily="34" charset="0"/>
                </a:rPr>
                <a:t>万方</a:t>
              </a:r>
              <a:r>
                <a:rPr lang="en-US" altLang="zh-CN" sz="800" dirty="0">
                  <a:latin typeface="Arial" panose="020B0604020202020204" pitchFamily="34" charset="0"/>
                  <a:ea typeface="+mn-ea"/>
                  <a:cs typeface="Arial" panose="020B0604020202020204" pitchFamily="34" charset="0"/>
                </a:rPr>
                <a:t>/h</a:t>
              </a:r>
              <a:r>
                <a:rPr lang="zh-CN" altLang="en-US" sz="800" dirty="0">
                  <a:latin typeface="Arial" panose="020B0604020202020204" pitchFamily="34" charset="0"/>
                  <a:ea typeface="+mn-ea"/>
                  <a:cs typeface="Arial" panose="020B0604020202020204" pitchFamily="34" charset="0"/>
                </a:rPr>
                <a:t>用氮需求，部分可达约</a:t>
              </a:r>
              <a:r>
                <a:rPr lang="en-US" altLang="zh-CN" sz="800" dirty="0">
                  <a:latin typeface="Arial" panose="020B0604020202020204" pitchFamily="34" charset="0"/>
                  <a:ea typeface="+mn-ea"/>
                  <a:cs typeface="Arial" panose="020B0604020202020204" pitchFamily="34" charset="0"/>
                </a:rPr>
                <a:t>2</a:t>
              </a:r>
              <a:r>
                <a:rPr lang="zh-CN" altLang="en-US" sz="800" dirty="0">
                  <a:latin typeface="Arial" panose="020B0604020202020204" pitchFamily="34" charset="0"/>
                  <a:ea typeface="+mn-ea"/>
                  <a:cs typeface="Arial" panose="020B0604020202020204" pitchFamily="34" charset="0"/>
                </a:rPr>
                <a:t>万方</a:t>
              </a:r>
              <a:r>
                <a:rPr lang="en-US" altLang="zh-CN" sz="800" dirty="0">
                  <a:latin typeface="Arial" panose="020B0604020202020204" pitchFamily="34" charset="0"/>
                  <a:ea typeface="+mn-ea"/>
                  <a:cs typeface="Arial" panose="020B0604020202020204" pitchFamily="34" charset="0"/>
                </a:rPr>
                <a:t>/h</a:t>
              </a:r>
              <a:r>
                <a:rPr lang="zh-CN" altLang="en-US" sz="800" dirty="0">
                  <a:latin typeface="Arial" panose="020B0604020202020204" pitchFamily="34" charset="0"/>
                  <a:ea typeface="+mn-ea"/>
                  <a:cs typeface="Arial" panose="020B0604020202020204" pitchFamily="34" charset="0"/>
                </a:rPr>
                <a:t>用氮需求</a:t>
              </a:r>
              <a:endParaRPr lang="en-US" altLang="zh-CN" sz="800" dirty="0">
                <a:latin typeface="Arial" panose="020B0604020202020204" pitchFamily="34" charset="0"/>
                <a:ea typeface="+mn-ea"/>
                <a:cs typeface="Arial" panose="020B0604020202020204" pitchFamily="34" charset="0"/>
              </a:endParaRPr>
            </a:p>
            <a:p>
              <a:pPr algn="just"/>
              <a:r>
                <a:rPr lang="zh-CN" altLang="en-US" sz="800" b="1" dirty="0">
                  <a:latin typeface="Arial" panose="020B0604020202020204" pitchFamily="34" charset="0"/>
                  <a:ea typeface="+mn-ea"/>
                  <a:cs typeface="Arial" panose="020B0604020202020204" pitchFamily="34" charset="0"/>
                </a:rPr>
                <a:t>竞争格局：</a:t>
              </a:r>
              <a:r>
                <a:rPr lang="zh-CN" altLang="en-US" sz="800" dirty="0">
                  <a:latin typeface="Arial" panose="020B0604020202020204" pitchFamily="34" charset="0"/>
                  <a:ea typeface="+mn-ea"/>
                  <a:cs typeface="Arial" panose="020B0604020202020204" pitchFamily="34" charset="0"/>
                </a:rPr>
                <a:t>由于</a:t>
              </a:r>
              <a:r>
                <a:rPr lang="en-US" altLang="zh-CN" sz="800" dirty="0">
                  <a:latin typeface="Arial" panose="020B0604020202020204" pitchFamily="34" charset="0"/>
                  <a:ea typeface="+mn-ea"/>
                  <a:cs typeface="Arial" panose="020B0604020202020204" pitchFamily="34" charset="0"/>
                </a:rPr>
                <a:t>5N</a:t>
              </a:r>
              <a:r>
                <a:rPr lang="zh-CN" altLang="en-US" sz="800" dirty="0">
                  <a:latin typeface="Arial" panose="020B0604020202020204" pitchFamily="34" charset="0"/>
                  <a:ea typeface="+mn-ea"/>
                  <a:cs typeface="Arial" panose="020B0604020202020204" pitchFamily="34" charset="0"/>
                </a:rPr>
                <a:t>氮设备生产厂商多，可外采，格局相对较乱。</a:t>
              </a:r>
              <a:endParaRPr lang="en-US" altLang="zh-CN" sz="800" dirty="0">
                <a:latin typeface="Arial" panose="020B0604020202020204" pitchFamily="34" charset="0"/>
                <a:ea typeface="+mn-ea"/>
                <a:cs typeface="Arial" panose="020B0604020202020204" pitchFamily="34" charset="0"/>
              </a:endParaRPr>
            </a:p>
          </p:txBody>
        </p:sp>
        <p:sp>
          <p:nvSpPr>
            <p:cNvPr id="26" name="矩形 25">
              <a:extLst>
                <a:ext uri="{FF2B5EF4-FFF2-40B4-BE49-F238E27FC236}">
                  <a16:creationId xmlns:a16="http://schemas.microsoft.com/office/drawing/2014/main" xmlns="" id="{CDBD6F0A-5B07-3485-F8E1-B06A5EB57892}"/>
                </a:ext>
              </a:extLst>
            </p:cNvPr>
            <p:cNvSpPr/>
            <p:nvPr/>
          </p:nvSpPr>
          <p:spPr>
            <a:xfrm>
              <a:off x="2793016" y="2235972"/>
              <a:ext cx="3351428" cy="877801"/>
            </a:xfrm>
            <a:prstGeom prst="rect">
              <a:avLst/>
            </a:prstGeom>
            <a:solidFill>
              <a:schemeClr val="bg1">
                <a:lumMod val="95000"/>
              </a:schemeClr>
            </a:solidFill>
            <a:ln w="12700">
              <a:solidFill>
                <a:schemeClr val="tx1"/>
              </a:solidFill>
            </a:ln>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defRPr/>
              </a:pPr>
              <a:r>
                <a:rPr lang="zh-CN" altLang="en-US" sz="800" b="1" dirty="0">
                  <a:latin typeface="Arial" panose="020B0604020202020204" pitchFamily="34" charset="0"/>
                  <a:ea typeface="+mn-ea"/>
                  <a:cs typeface="Arial" panose="020B0604020202020204" pitchFamily="34" charset="0"/>
                </a:rPr>
                <a:t>中大型系列：</a:t>
              </a:r>
              <a:r>
                <a:rPr lang="en-US" altLang="zh-CN" sz="800" b="1" dirty="0">
                  <a:latin typeface="Arial" panose="020B0604020202020204" pitchFamily="34" charset="0"/>
                  <a:ea typeface="+mn-ea"/>
                  <a:cs typeface="Arial" panose="020B0604020202020204" pitchFamily="34" charset="0"/>
                </a:rPr>
                <a:t>9N</a:t>
              </a:r>
              <a:r>
                <a:rPr lang="zh-CN" altLang="en-US" sz="800" b="1" dirty="0">
                  <a:latin typeface="Arial" panose="020B0604020202020204" pitchFamily="34" charset="0"/>
                  <a:ea typeface="+mn-ea"/>
                  <a:cs typeface="Arial" panose="020B0604020202020204" pitchFamily="34" charset="0"/>
                </a:rPr>
                <a:t>氮系统</a:t>
              </a:r>
              <a:r>
                <a:rPr lang="en-US" altLang="zh-CN" sz="800" b="1" dirty="0">
                  <a:latin typeface="Arial" panose="020B0604020202020204" pitchFamily="34" charset="0"/>
                  <a:ea typeface="+mn-ea"/>
                  <a:cs typeface="Arial" panose="020B0604020202020204" pitchFamily="34" charset="0"/>
                </a:rPr>
                <a:t>+</a:t>
              </a:r>
              <a:r>
                <a:rPr lang="zh-CN" altLang="en-US" sz="800" b="1" dirty="0">
                  <a:latin typeface="Arial" panose="020B0604020202020204" pitchFamily="34" charset="0"/>
                  <a:ea typeface="+mn-ea"/>
                  <a:cs typeface="Arial" panose="020B0604020202020204" pitchFamily="34" charset="0"/>
                </a:rPr>
                <a:t>后置纯化系统（保障作用），</a:t>
              </a:r>
              <a:r>
                <a:rPr lang="zh-CN" altLang="en-US" sz="800" dirty="0">
                  <a:latin typeface="Arial" panose="020B0604020202020204" pitchFamily="34" charset="0"/>
                  <a:ea typeface="+mn-ea"/>
                  <a:cs typeface="Arial" panose="020B0604020202020204" pitchFamily="34" charset="0"/>
                </a:rPr>
                <a:t>一般适用</a:t>
              </a:r>
              <a:r>
                <a:rPr lang="en-US" altLang="zh-CN" sz="800" dirty="0">
                  <a:latin typeface="Arial" panose="020B0604020202020204" pitchFamily="34" charset="0"/>
                  <a:ea typeface="+mn-ea"/>
                  <a:cs typeface="Arial" panose="020B0604020202020204" pitchFamily="34" charset="0"/>
                </a:rPr>
                <a:t>2+</a:t>
              </a:r>
              <a:r>
                <a:rPr lang="zh-CN" altLang="en-US" sz="800" dirty="0">
                  <a:latin typeface="Arial" panose="020B0604020202020204" pitchFamily="34" charset="0"/>
                  <a:ea typeface="+mn-ea"/>
                  <a:cs typeface="Arial" panose="020B0604020202020204" pitchFamily="34" charset="0"/>
                </a:rPr>
                <a:t>万方</a:t>
              </a:r>
              <a:r>
                <a:rPr lang="en-US" altLang="zh-CN" sz="800" dirty="0">
                  <a:latin typeface="Arial" panose="020B0604020202020204" pitchFamily="34" charset="0"/>
                  <a:ea typeface="+mn-ea"/>
                  <a:cs typeface="Arial" panose="020B0604020202020204" pitchFamily="34" charset="0"/>
                </a:rPr>
                <a:t>/h</a:t>
              </a:r>
              <a:r>
                <a:rPr lang="zh-CN" altLang="en-US" sz="800" dirty="0">
                  <a:latin typeface="Arial" panose="020B0604020202020204" pitchFamily="34" charset="0"/>
                  <a:ea typeface="+mn-ea"/>
                  <a:cs typeface="Arial" panose="020B0604020202020204" pitchFamily="34" charset="0"/>
                </a:rPr>
                <a:t>用氮需求，随着用氮需求规模越大，对大型</a:t>
              </a:r>
              <a:r>
                <a:rPr lang="en-US" altLang="zh-CN" sz="800" dirty="0">
                  <a:latin typeface="Arial" panose="020B0604020202020204" pitchFamily="34" charset="0"/>
                  <a:ea typeface="+mn-ea"/>
                  <a:cs typeface="Arial" panose="020B0604020202020204" pitchFamily="34" charset="0"/>
                </a:rPr>
                <a:t>9N</a:t>
              </a:r>
              <a:r>
                <a:rPr lang="zh-CN" altLang="en-US" sz="800" dirty="0">
                  <a:latin typeface="Arial" panose="020B0604020202020204" pitchFamily="34" charset="0"/>
                  <a:ea typeface="+mn-ea"/>
                  <a:cs typeface="Arial" panose="020B0604020202020204" pitchFamily="34" charset="0"/>
                </a:rPr>
                <a:t>直出氮设备技术要求更高，一般不接受单个项目阶段用</a:t>
              </a:r>
              <a:r>
                <a:rPr lang="en-US" altLang="zh-CN" sz="800" dirty="0">
                  <a:latin typeface="Arial" panose="020B0604020202020204" pitchFamily="34" charset="0"/>
                  <a:ea typeface="+mn-ea"/>
                  <a:cs typeface="Arial" panose="020B0604020202020204" pitchFamily="34" charset="0"/>
                </a:rPr>
                <a:t>3</a:t>
              </a:r>
              <a:r>
                <a:rPr lang="zh-CN" altLang="en-US" sz="800" dirty="0">
                  <a:latin typeface="Arial" panose="020B0604020202020204" pitchFamily="34" charset="0"/>
                  <a:ea typeface="+mn-ea"/>
                  <a:cs typeface="Arial" panose="020B0604020202020204" pitchFamily="34" charset="0"/>
                </a:rPr>
                <a:t>套</a:t>
              </a:r>
              <a:r>
                <a:rPr lang="en-US" altLang="zh-CN" sz="800" dirty="0">
                  <a:latin typeface="Arial" panose="020B0604020202020204" pitchFamily="34" charset="0"/>
                  <a:ea typeface="+mn-ea"/>
                  <a:cs typeface="Arial" panose="020B0604020202020204" pitchFamily="34" charset="0"/>
                </a:rPr>
                <a:t>+</a:t>
              </a:r>
              <a:r>
                <a:rPr lang="zh-CN" altLang="en-US" sz="800" dirty="0">
                  <a:latin typeface="Arial" panose="020B0604020202020204" pitchFamily="34" charset="0"/>
                  <a:ea typeface="+mn-ea"/>
                  <a:cs typeface="Arial" panose="020B0604020202020204" pitchFamily="34" charset="0"/>
                </a:rPr>
                <a:t>氮设备并联供应，以免供气不稳定。</a:t>
              </a:r>
              <a:endParaRPr lang="en-US" altLang="zh-CN" sz="800" dirty="0">
                <a:latin typeface="Arial" panose="020B0604020202020204" pitchFamily="34" charset="0"/>
                <a:ea typeface="+mn-ea"/>
                <a:cs typeface="Arial" panose="020B0604020202020204" pitchFamily="34" charset="0"/>
              </a:endParaRPr>
            </a:p>
            <a:p>
              <a:pPr algn="just">
                <a:defRPr/>
              </a:pPr>
              <a:r>
                <a:rPr lang="zh-CN" altLang="en-US" sz="800" b="1" dirty="0">
                  <a:latin typeface="Arial" panose="020B0604020202020204" pitchFamily="34" charset="0"/>
                  <a:ea typeface="+mn-ea"/>
                  <a:cs typeface="Arial" panose="020B0604020202020204" pitchFamily="34" charset="0"/>
                </a:rPr>
                <a:t>竞争格局：</a:t>
              </a:r>
              <a:r>
                <a:rPr lang="zh-CN" altLang="en-US" sz="800" dirty="0">
                  <a:latin typeface="Arial" panose="020B0604020202020204" pitchFamily="34" charset="0"/>
                  <a:ea typeface="+mn-ea"/>
                  <a:cs typeface="Arial" panose="020B0604020202020204" pitchFamily="34" charset="0"/>
                </a:rPr>
                <a:t>外资（</a:t>
              </a:r>
              <a:r>
                <a:rPr lang="en-US" altLang="zh-CN" sz="800" dirty="0">
                  <a:latin typeface="Arial" panose="020B0604020202020204" pitchFamily="34" charset="0"/>
                  <a:ea typeface="+mn-ea"/>
                  <a:cs typeface="Arial" panose="020B0604020202020204" pitchFamily="34" charset="0"/>
                </a:rPr>
                <a:t>7-10</a:t>
              </a:r>
              <a:r>
                <a:rPr lang="zh-CN" altLang="en-US" sz="800" dirty="0">
                  <a:latin typeface="Arial" panose="020B0604020202020204" pitchFamily="34" charset="0"/>
                  <a:ea typeface="+mn-ea"/>
                  <a:cs typeface="Arial" panose="020B0604020202020204" pitchFamily="34" charset="0"/>
                </a:rPr>
                <a:t>万方单机</a:t>
              </a:r>
              <a:r>
                <a:rPr lang="en-US" altLang="zh-CN" sz="800" dirty="0">
                  <a:latin typeface="Arial" panose="020B0604020202020204" pitchFamily="34" charset="0"/>
                  <a:ea typeface="+mn-ea"/>
                  <a:cs typeface="Arial" panose="020B0604020202020204" pitchFamily="34" charset="0"/>
                </a:rPr>
                <a:t>9N</a:t>
              </a:r>
              <a:r>
                <a:rPr lang="zh-CN" altLang="en-US" sz="800" dirty="0">
                  <a:latin typeface="Arial" panose="020B0604020202020204" pitchFamily="34" charset="0"/>
                  <a:ea typeface="+mn-ea"/>
                  <a:cs typeface="Arial" panose="020B0604020202020204" pitchFamily="34" charset="0"/>
                </a:rPr>
                <a:t>氮）、广钢（</a:t>
              </a:r>
              <a:r>
                <a:rPr lang="en-US" altLang="zh-CN" sz="800" dirty="0">
                  <a:latin typeface="Arial" panose="020B0604020202020204" pitchFamily="34" charset="0"/>
                  <a:ea typeface="+mn-ea"/>
                  <a:cs typeface="Arial" panose="020B0604020202020204" pitchFamily="34" charset="0"/>
                </a:rPr>
                <a:t>5</a:t>
              </a:r>
              <a:r>
                <a:rPr lang="zh-CN" altLang="en-US" sz="800" dirty="0">
                  <a:latin typeface="Arial" panose="020B0604020202020204" pitchFamily="34" charset="0"/>
                  <a:ea typeface="+mn-ea"/>
                  <a:cs typeface="Arial" panose="020B0604020202020204" pitchFamily="34" charset="0"/>
                </a:rPr>
                <a:t>万方单机</a:t>
              </a:r>
              <a:r>
                <a:rPr lang="en-US" altLang="zh-CN" sz="800" dirty="0">
                  <a:latin typeface="Arial" panose="020B0604020202020204" pitchFamily="34" charset="0"/>
                  <a:ea typeface="+mn-ea"/>
                  <a:cs typeface="Arial" panose="020B0604020202020204" pitchFamily="34" charset="0"/>
                </a:rPr>
                <a:t>9N</a:t>
              </a:r>
              <a:r>
                <a:rPr lang="zh-CN" altLang="en-US" sz="800" dirty="0">
                  <a:latin typeface="Arial" panose="020B0604020202020204" pitchFamily="34" charset="0"/>
                  <a:ea typeface="+mn-ea"/>
                  <a:cs typeface="Arial" panose="020B0604020202020204" pitchFamily="34" charset="0"/>
                </a:rPr>
                <a:t>氮落地，</a:t>
              </a:r>
              <a:r>
                <a:rPr lang="en-US" altLang="zh-CN" sz="800" dirty="0">
                  <a:latin typeface="Arial" panose="020B0604020202020204" pitchFamily="34" charset="0"/>
                  <a:ea typeface="+mn-ea"/>
                  <a:cs typeface="Arial" panose="020B0604020202020204" pitchFamily="34" charset="0"/>
                </a:rPr>
                <a:t>7-10</a:t>
              </a:r>
              <a:r>
                <a:rPr lang="zh-CN" altLang="en-US" sz="800" dirty="0">
                  <a:latin typeface="Arial" panose="020B0604020202020204" pitchFamily="34" charset="0"/>
                  <a:ea typeface="+mn-ea"/>
                  <a:cs typeface="Arial" panose="020B0604020202020204" pitchFamily="34" charset="0"/>
                </a:rPr>
                <a:t>万方单机在研）</a:t>
              </a:r>
              <a:endParaRPr lang="en-US" altLang="zh-CN" sz="800" dirty="0">
                <a:latin typeface="Arial" panose="020B0604020202020204" pitchFamily="34" charset="0"/>
                <a:ea typeface="+mn-ea"/>
                <a:cs typeface="Arial" panose="020B0604020202020204" pitchFamily="34" charset="0"/>
              </a:endParaRPr>
            </a:p>
          </p:txBody>
        </p:sp>
        <p:sp>
          <p:nvSpPr>
            <p:cNvPr id="27" name="圆角矩形 28">
              <a:extLst>
                <a:ext uri="{FF2B5EF4-FFF2-40B4-BE49-F238E27FC236}">
                  <a16:creationId xmlns:a16="http://schemas.microsoft.com/office/drawing/2014/main" xmlns="" id="{E6C21AC6-FD74-BA8D-A9A8-DE68A323DB49}"/>
                </a:ext>
              </a:extLst>
            </p:cNvPr>
            <p:cNvSpPr/>
            <p:nvPr/>
          </p:nvSpPr>
          <p:spPr>
            <a:xfrm>
              <a:off x="6163588" y="3222811"/>
              <a:ext cx="148821" cy="1310346"/>
            </a:xfrm>
            <a:prstGeom prst="roundRect">
              <a:avLst/>
            </a:prstGeom>
            <a:solidFill>
              <a:schemeClr val="bg1">
                <a:lumMod val="95000"/>
              </a:schemeClr>
            </a:solidFill>
            <a:ln w="1270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9pPr>
            </a:lstStyle>
            <a:p>
              <a:pPr algn="ctr"/>
              <a:r>
                <a:rPr lang="zh-CN" altLang="en-US" sz="800" b="1" dirty="0">
                  <a:solidFill>
                    <a:schemeClr val="tx1"/>
                  </a:solidFill>
                  <a:latin typeface="Arial" panose="020B0604020202020204" pitchFamily="34" charset="0"/>
                  <a:cs typeface="Arial" panose="020B0604020202020204" pitchFamily="34" charset="0"/>
                </a:rPr>
                <a:t>高纯氮消耗量对比</a:t>
              </a:r>
            </a:p>
          </p:txBody>
        </p:sp>
        <p:sp>
          <p:nvSpPr>
            <p:cNvPr id="28" name="椭圆 27">
              <a:extLst>
                <a:ext uri="{FF2B5EF4-FFF2-40B4-BE49-F238E27FC236}">
                  <a16:creationId xmlns:a16="http://schemas.microsoft.com/office/drawing/2014/main" xmlns="" id="{2F7C7CAF-3CF1-6180-641F-B9498EF81DAC}"/>
                </a:ext>
              </a:extLst>
            </p:cNvPr>
            <p:cNvSpPr/>
            <p:nvPr/>
          </p:nvSpPr>
          <p:spPr>
            <a:xfrm>
              <a:off x="6576135" y="2196330"/>
              <a:ext cx="2376264" cy="934088"/>
            </a:xfrm>
            <a:prstGeom prst="ellipse">
              <a:avLst/>
            </a:prstGeom>
            <a:solidFill>
              <a:schemeClr val="bg1">
                <a:lumMod val="95000"/>
              </a:schemeClr>
            </a:solidFill>
            <a:ln w="1270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9pPr>
            </a:lstStyle>
            <a:p>
              <a:pPr algn="ctr"/>
              <a:endParaRPr lang="zh-CN" altLang="en-US" sz="2400">
                <a:latin typeface="Arial" panose="020B0604020202020204" pitchFamily="34" charset="0"/>
                <a:cs typeface="Arial" panose="020B0604020202020204" pitchFamily="34" charset="0"/>
              </a:endParaRPr>
            </a:p>
          </p:txBody>
        </p:sp>
        <p:sp>
          <p:nvSpPr>
            <p:cNvPr id="29" name="右箭头 30">
              <a:extLst>
                <a:ext uri="{FF2B5EF4-FFF2-40B4-BE49-F238E27FC236}">
                  <a16:creationId xmlns:a16="http://schemas.microsoft.com/office/drawing/2014/main" xmlns="" id="{38F9E966-EFC1-075C-835E-6C5E43D26AEC}"/>
                </a:ext>
              </a:extLst>
            </p:cNvPr>
            <p:cNvSpPr/>
            <p:nvPr/>
          </p:nvSpPr>
          <p:spPr>
            <a:xfrm rot="10800000">
              <a:off x="6223379" y="2564203"/>
              <a:ext cx="271775" cy="216024"/>
            </a:xfrm>
            <a:prstGeom prst="rightArrow">
              <a:avLst/>
            </a:prstGeom>
            <a:solidFill>
              <a:schemeClr val="tx2">
                <a:lumMod val="20000"/>
                <a:lumOff val="80000"/>
              </a:schemeClr>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n-lt"/>
                  <a:ea typeface="+mn-ea"/>
                  <a:cs typeface="+mn-cs"/>
                  <a:sym typeface="等线" panose="02010600030101010101" charset="-122"/>
                </a:defRPr>
              </a:lvl9pPr>
            </a:lstStyle>
            <a:p>
              <a:pPr algn="ctr"/>
              <a:endParaRPr lang="zh-CN" altLang="en-US" sz="2400">
                <a:latin typeface="Arial" panose="020B0604020202020204" pitchFamily="34" charset="0"/>
                <a:cs typeface="Arial" panose="020B0604020202020204" pitchFamily="34" charset="0"/>
              </a:endParaRPr>
            </a:p>
          </p:txBody>
        </p:sp>
        <p:sp>
          <p:nvSpPr>
            <p:cNvPr id="31" name="矩形 30">
              <a:extLst>
                <a:ext uri="{FF2B5EF4-FFF2-40B4-BE49-F238E27FC236}">
                  <a16:creationId xmlns:a16="http://schemas.microsoft.com/office/drawing/2014/main" xmlns="" id="{26DD158E-DD2F-467C-A22E-2CA723D620D5}"/>
                </a:ext>
              </a:extLst>
            </p:cNvPr>
            <p:cNvSpPr/>
            <p:nvPr/>
          </p:nvSpPr>
          <p:spPr>
            <a:xfrm>
              <a:off x="445207" y="2233682"/>
              <a:ext cx="602286" cy="877801"/>
            </a:xfrm>
            <a:prstGeom prst="rect">
              <a:avLst/>
            </a:prstGeom>
            <a:solidFill>
              <a:schemeClr val="bg1">
                <a:lumMod val="95000"/>
              </a:schemeClr>
            </a:solidFill>
            <a:ln w="12700">
              <a:solidFill>
                <a:schemeClr val="tx1"/>
              </a:solidFill>
            </a:ln>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b="1" dirty="0">
                  <a:latin typeface="Arial" panose="020B0604020202020204" pitchFamily="34" charset="0"/>
                  <a:ea typeface="+mn-ea"/>
                  <a:cs typeface="Arial" panose="020B0604020202020204" pitchFamily="34" charset="0"/>
                </a:rPr>
                <a:t>液体装置</a:t>
              </a:r>
              <a:r>
                <a:rPr lang="en-US" altLang="zh-CN" sz="800" b="1" dirty="0">
                  <a:latin typeface="Arial" panose="020B0604020202020204" pitchFamily="34" charset="0"/>
                  <a:ea typeface="+mn-ea"/>
                  <a:cs typeface="Arial" panose="020B0604020202020204" pitchFamily="34" charset="0"/>
                </a:rPr>
                <a:t>+</a:t>
              </a:r>
              <a:r>
                <a:rPr lang="zh-CN" altLang="en-US" sz="800" b="1" dirty="0">
                  <a:latin typeface="Arial" panose="020B0604020202020204" pitchFamily="34" charset="0"/>
                  <a:ea typeface="+mn-ea"/>
                  <a:cs typeface="Arial" panose="020B0604020202020204" pitchFamily="34" charset="0"/>
                </a:rPr>
                <a:t>纯化：</a:t>
              </a:r>
              <a:endParaRPr lang="en-US" altLang="zh-CN" sz="800" b="1" dirty="0">
                <a:latin typeface="Arial" panose="020B0604020202020204" pitchFamily="34" charset="0"/>
                <a:ea typeface="+mn-ea"/>
                <a:cs typeface="Arial" panose="020B0604020202020204" pitchFamily="34" charset="0"/>
              </a:endParaRPr>
            </a:p>
            <a:p>
              <a:pPr algn="just"/>
              <a:endParaRPr lang="en-US" altLang="zh-CN" sz="500" b="1" dirty="0">
                <a:latin typeface="Arial" panose="020B0604020202020204" pitchFamily="34" charset="0"/>
                <a:ea typeface="+mn-ea"/>
                <a:cs typeface="Arial" panose="020B0604020202020204" pitchFamily="34" charset="0"/>
              </a:endParaRPr>
            </a:p>
            <a:p>
              <a:pPr algn="just"/>
              <a:r>
                <a:rPr lang="zh-CN" altLang="en-US" sz="800" dirty="0">
                  <a:latin typeface="Arial" panose="020B0604020202020204" pitchFamily="34" charset="0"/>
                  <a:ea typeface="+mn-ea"/>
                  <a:cs typeface="Arial" panose="020B0604020202020204" pitchFamily="34" charset="0"/>
                </a:rPr>
                <a:t>极小气体用量情况</a:t>
              </a:r>
              <a:endParaRPr lang="en-US" altLang="zh-CN" sz="800" dirty="0">
                <a:latin typeface="Arial" panose="020B0604020202020204" pitchFamily="34" charset="0"/>
                <a:ea typeface="+mn-ea"/>
                <a:cs typeface="Arial" panose="020B0604020202020204" pitchFamily="34" charset="0"/>
              </a:endParaRPr>
            </a:p>
            <a:p>
              <a:pPr algn="just"/>
              <a:endParaRPr lang="en-US" altLang="zh-CN" sz="300" dirty="0">
                <a:latin typeface="Arial" panose="020B0604020202020204" pitchFamily="34" charset="0"/>
                <a:ea typeface="+mn-ea"/>
                <a:cs typeface="Arial" panose="020B0604020202020204" pitchFamily="34" charset="0"/>
              </a:endParaRPr>
            </a:p>
          </p:txBody>
        </p:sp>
        <p:sp>
          <p:nvSpPr>
            <p:cNvPr id="32" name="TextBox 39">
              <a:extLst>
                <a:ext uri="{FF2B5EF4-FFF2-40B4-BE49-F238E27FC236}">
                  <a16:creationId xmlns:a16="http://schemas.microsoft.com/office/drawing/2014/main" xmlns="" id="{D6F19E87-1C0D-D475-1959-D44C58FFFEFA}"/>
                </a:ext>
              </a:extLst>
            </p:cNvPr>
            <p:cNvSpPr txBox="1"/>
            <p:nvPr/>
          </p:nvSpPr>
          <p:spPr bwMode="auto">
            <a:xfrm>
              <a:off x="6923141" y="2315389"/>
              <a:ext cx="1834144" cy="741742"/>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800" b="1" dirty="0">
                  <a:latin typeface="Arial" panose="020B0604020202020204" pitchFamily="34" charset="0"/>
                  <a:ea typeface="+mn-ea"/>
                  <a:cs typeface="Arial" panose="020B0604020202020204" pitchFamily="34" charset="0"/>
                </a:rPr>
                <a:t>趋势要求：晶圆厂单厂用气量随着制程技术、晶圆尺寸要求变高，单厂用气规模不断上行，提高对高流速超高纯氮供应要求，使得高纯氮设备技术成本优质项目门槛。</a:t>
              </a:r>
            </a:p>
          </p:txBody>
        </p:sp>
      </p:grpSp>
      <p:graphicFrame>
        <p:nvGraphicFramePr>
          <p:cNvPr id="2" name="图表 1">
            <a:extLst>
              <a:ext uri="{FF2B5EF4-FFF2-40B4-BE49-F238E27FC236}">
                <a16:creationId xmlns:a16="http://schemas.microsoft.com/office/drawing/2014/main" xmlns="" id="{CB81CDF1-A7ED-4E94-1571-CC8D0E9CD666}"/>
              </a:ext>
            </a:extLst>
          </p:cNvPr>
          <p:cNvGraphicFramePr>
            <a:graphicFrameLocks/>
          </p:cNvGraphicFramePr>
          <p:nvPr>
            <p:extLst>
              <p:ext uri="{D42A27DB-BD31-4B8C-83A1-F6EECF244321}">
                <p14:modId xmlns:p14="http://schemas.microsoft.com/office/powerpoint/2010/main" val="3004802849"/>
              </p:ext>
            </p:extLst>
          </p:nvPr>
        </p:nvGraphicFramePr>
        <p:xfrm>
          <a:off x="6341520" y="3102768"/>
          <a:ext cx="2704953" cy="16502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42289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5"/>
          <p:cNvSpPr txBox="1"/>
          <p:nvPr/>
        </p:nvSpPr>
        <p:spPr>
          <a:xfrm>
            <a:off x="341906" y="897577"/>
            <a:ext cx="8651019" cy="1250780"/>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壁垒二：气体渠道及安全供应链建立能力。</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除了</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小时连续供应的高纯氮，氧、氦、氩、氙、氢气等供应需要自制</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or</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获取稳定供应源，其中属于战略性资源的氦气供应有较大壁垒。</a:t>
            </a: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氦气：</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晶圆厂等客户非常在意氦气供应稳定性，</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一般氦气占变动气费</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30%-60%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（不同工艺差异）</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，是除了高纯氮之外用量最大的气体，且受海外气源影响。电子大宗气体拥有海外气源稳定长期合同，更利于其获取项目。</a:t>
            </a: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其余大宗气：</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可以选择自制</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or</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外采，但必须保证气体稳定渠道与品质，倾向于拥有自制可控能力。</a:t>
            </a: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壁垒三：项目工程设计能力。与客户基建同步，在规划气量、流速、合理厂布等多个方面具备设计、交付能力</a:t>
            </a:r>
            <a:r>
              <a:rPr lang="zh-CN" altLang="en-US" sz="1600" b="1" dirty="0">
                <a:solidFill>
                  <a:srgbClr val="141414"/>
                </a:solidFill>
                <a:latin typeface="Arial" panose="020B0604020202020204" pitchFamily="34" charset="0"/>
                <a:ea typeface="+mj-ea"/>
                <a:cs typeface="Arial" panose="020B0604020202020204" pitchFamily="34" charset="0"/>
              </a:rPr>
              <a:t>。</a:t>
            </a:r>
          </a:p>
        </p:txBody>
      </p:sp>
      <p:sp>
        <p:nvSpPr>
          <p:cNvPr id="4" name="文本框 20"/>
          <p:cNvSpPr txBox="1"/>
          <p:nvPr/>
        </p:nvSpPr>
        <p:spPr>
          <a:xfrm>
            <a:off x="-245720" y="2363100"/>
            <a:ext cx="57926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图：氦气获取难点：稳定气源合同</a:t>
            </a:r>
            <a:r>
              <a:rPr lang="en-US" altLang="zh-CN" dirty="0"/>
              <a:t>+</a:t>
            </a:r>
            <a:r>
              <a:rPr lang="zh-CN" altLang="en-US" dirty="0"/>
              <a:t>氦储罐签单</a:t>
            </a:r>
            <a:r>
              <a:rPr lang="en-US" altLang="zh-CN" dirty="0"/>
              <a:t>/</a:t>
            </a:r>
            <a:r>
              <a:rPr lang="zh-CN" altLang="en-US" dirty="0"/>
              <a:t>制造能力</a:t>
            </a:r>
          </a:p>
        </p:txBody>
      </p:sp>
      <p:grpSp>
        <p:nvGrpSpPr>
          <p:cNvPr id="5" name="组合 4"/>
          <p:cNvGrpSpPr/>
          <p:nvPr/>
        </p:nvGrpSpPr>
        <p:grpSpPr>
          <a:xfrm>
            <a:off x="284941" y="2620794"/>
            <a:ext cx="4925999" cy="2003595"/>
            <a:chOff x="331063" y="1480587"/>
            <a:chExt cx="9397444" cy="2957272"/>
          </a:xfrm>
        </p:grpSpPr>
        <p:sp>
          <p:nvSpPr>
            <p:cNvPr id="6" name="圆角矩形 59"/>
            <p:cNvSpPr/>
            <p:nvPr/>
          </p:nvSpPr>
          <p:spPr bwMode="auto">
            <a:xfrm>
              <a:off x="5237163" y="1480587"/>
              <a:ext cx="4441825" cy="1192587"/>
            </a:xfrm>
            <a:prstGeom prst="roundRect">
              <a:avLst/>
            </a:prstGeom>
            <a:solidFill>
              <a:schemeClr val="bg2"/>
            </a:solidFill>
            <a:ln w="9525" cap="flat" cmpd="sng" algn="ctr">
              <a:solidFill>
                <a:schemeClr val="tx1"/>
              </a:solidFill>
              <a:prstDash val="dash"/>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400">
                <a:solidFill>
                  <a:sysClr val="windowText" lastClr="000000"/>
                </a:solidFill>
                <a:latin typeface="Arial" panose="020B0604020202020204" pitchFamily="34" charset="0"/>
                <a:ea typeface="+mn-ea"/>
                <a:cs typeface="Arial" panose="020B0604020202020204" pitchFamily="34" charset="0"/>
              </a:endParaRPr>
            </a:p>
          </p:txBody>
        </p:sp>
        <p:sp>
          <p:nvSpPr>
            <p:cNvPr id="7" name="圆角矩形 5"/>
            <p:cNvSpPr>
              <a:spLocks noChangeArrowheads="1"/>
            </p:cNvSpPr>
            <p:nvPr/>
          </p:nvSpPr>
          <p:spPr bwMode="auto">
            <a:xfrm>
              <a:off x="1373186" y="1594941"/>
              <a:ext cx="3676654" cy="1029195"/>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100">
                <a:solidFill>
                  <a:sysClr val="windowText" lastClr="000000"/>
                </a:solidFill>
                <a:latin typeface="Arial" panose="020B0604020202020204" pitchFamily="34" charset="0"/>
                <a:ea typeface="+mn-ea"/>
                <a:cs typeface="Arial" panose="020B0604020202020204" pitchFamily="34" charset="0"/>
              </a:endParaRPr>
            </a:p>
          </p:txBody>
        </p:sp>
        <p:sp>
          <p:nvSpPr>
            <p:cNvPr id="8" name="圆角矩形 63"/>
            <p:cNvSpPr/>
            <p:nvPr/>
          </p:nvSpPr>
          <p:spPr bwMode="auto">
            <a:xfrm>
              <a:off x="331063" y="1685203"/>
              <a:ext cx="854798" cy="857222"/>
            </a:xfrm>
            <a:prstGeom prst="roundRect">
              <a:avLst/>
            </a:prstGeom>
            <a:solidFill>
              <a:srgbClr val="FFFFFF">
                <a:lumMod val="8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气源</a:t>
              </a:r>
            </a:p>
          </p:txBody>
        </p:sp>
        <p:sp>
          <p:nvSpPr>
            <p:cNvPr id="10" name="圆角矩形 11"/>
            <p:cNvSpPr>
              <a:spLocks noChangeArrowheads="1"/>
            </p:cNvSpPr>
            <p:nvPr/>
          </p:nvSpPr>
          <p:spPr bwMode="auto">
            <a:xfrm>
              <a:off x="1361284" y="3055141"/>
              <a:ext cx="3688558" cy="1243973"/>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200">
                <a:solidFill>
                  <a:sysClr val="windowText" lastClr="000000"/>
                </a:solidFill>
                <a:latin typeface="Arial" panose="020B0604020202020204" pitchFamily="34" charset="0"/>
                <a:ea typeface="+mn-ea"/>
                <a:cs typeface="Arial" panose="020B0604020202020204" pitchFamily="34" charset="0"/>
              </a:endParaRPr>
            </a:p>
          </p:txBody>
        </p:sp>
        <p:sp>
          <p:nvSpPr>
            <p:cNvPr id="11" name="圆角矩形 65"/>
            <p:cNvSpPr/>
            <p:nvPr/>
          </p:nvSpPr>
          <p:spPr bwMode="auto">
            <a:xfrm>
              <a:off x="342485" y="3248626"/>
              <a:ext cx="831478" cy="948721"/>
            </a:xfrm>
            <a:prstGeom prst="roundRect">
              <a:avLst/>
            </a:prstGeom>
            <a:solidFill>
              <a:srgbClr val="FFFFFF">
                <a:lumMod val="8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厂商</a:t>
              </a:r>
            </a:p>
          </p:txBody>
        </p:sp>
        <p:sp>
          <p:nvSpPr>
            <p:cNvPr id="12" name="矩形 11"/>
            <p:cNvSpPr>
              <a:spLocks noChangeArrowheads="1"/>
            </p:cNvSpPr>
            <p:nvPr/>
          </p:nvSpPr>
          <p:spPr bwMode="auto">
            <a:xfrm>
              <a:off x="1490678" y="1619588"/>
              <a:ext cx="3507746" cy="863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zh-CN" altLang="en-US" sz="800" dirty="0">
                  <a:latin typeface="Arial" panose="020B0604020202020204" pitchFamily="34" charset="0"/>
                  <a:ea typeface="思源黑体 Heavy" panose="020B0A00000000000000" pitchFamily="34" charset="-122"/>
                  <a:cs typeface="Arial" panose="020B0604020202020204" pitchFamily="34" charset="0"/>
                </a:rPr>
                <a:t>气源地天然气工厂（提氦厂）负责氦气开采、提取和纯化精炼等环节，获得原料液氦，一般一个工厂就给</a:t>
              </a:r>
              <a:r>
                <a:rPr lang="en-US" altLang="zh-CN" sz="800" dirty="0">
                  <a:latin typeface="Arial" panose="020B0604020202020204" pitchFamily="34" charset="0"/>
                  <a:ea typeface="思源黑体 Heavy" panose="020B0A00000000000000" pitchFamily="34" charset="-122"/>
                  <a:cs typeface="Arial" panose="020B0604020202020204" pitchFamily="34" charset="0"/>
                </a:rPr>
                <a:t>1-2</a:t>
              </a:r>
              <a:r>
                <a:rPr lang="zh-CN" altLang="en-US" sz="800" dirty="0">
                  <a:latin typeface="Arial" panose="020B0604020202020204" pitchFamily="34" charset="0"/>
                  <a:ea typeface="思源黑体 Heavy" panose="020B0A00000000000000" pitchFamily="34" charset="-122"/>
                  <a:cs typeface="Arial" panose="020B0604020202020204" pitchFamily="34" charset="0"/>
                </a:rPr>
                <a:t>家贸易商（配额）</a:t>
              </a:r>
            </a:p>
          </p:txBody>
        </p:sp>
        <p:sp>
          <p:nvSpPr>
            <p:cNvPr id="13" name="右箭头 67"/>
            <p:cNvSpPr/>
            <p:nvPr/>
          </p:nvSpPr>
          <p:spPr bwMode="auto">
            <a:xfrm rot="5400000">
              <a:off x="2908699" y="2423457"/>
              <a:ext cx="593725" cy="857812"/>
            </a:xfrm>
            <a:prstGeom prst="rightArrow">
              <a:avLst/>
            </a:prstGeom>
            <a:solidFill>
              <a:srgbClr val="FFFFFF">
                <a:lumMod val="8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200">
                <a:solidFill>
                  <a:sysClr val="windowText" lastClr="000000"/>
                </a:solidFill>
                <a:latin typeface="Arial" panose="020B0604020202020204" pitchFamily="34" charset="0"/>
                <a:ea typeface="+mn-ea"/>
                <a:cs typeface="Arial" panose="020B0604020202020204" pitchFamily="34" charset="0"/>
              </a:endParaRPr>
            </a:p>
          </p:txBody>
        </p:sp>
        <p:sp>
          <p:nvSpPr>
            <p:cNvPr id="14" name="矩形 13"/>
            <p:cNvSpPr>
              <a:spLocks noChangeArrowheads="1"/>
            </p:cNvSpPr>
            <p:nvPr/>
          </p:nvSpPr>
          <p:spPr bwMode="auto">
            <a:xfrm>
              <a:off x="2579325" y="2681723"/>
              <a:ext cx="1135162" cy="31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defTabSz="914400">
                <a:defRPr/>
              </a:pPr>
              <a:r>
                <a:rPr lang="zh-CN" altLang="en-US" sz="800" b="1" dirty="0">
                  <a:latin typeface="Arial" panose="020B0604020202020204" pitchFamily="34" charset="0"/>
                  <a:ea typeface="+mn-ea"/>
                  <a:cs typeface="Arial" panose="020B0604020202020204" pitchFamily="34" charset="0"/>
                </a:rPr>
                <a:t>原料液氦</a:t>
              </a:r>
            </a:p>
          </p:txBody>
        </p:sp>
        <p:sp>
          <p:nvSpPr>
            <p:cNvPr id="15" name="矩形 14"/>
            <p:cNvSpPr/>
            <p:nvPr/>
          </p:nvSpPr>
          <p:spPr>
            <a:xfrm>
              <a:off x="1488298" y="3228908"/>
              <a:ext cx="3561540" cy="863118"/>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defRPr/>
              </a:pPr>
              <a:r>
                <a:rPr lang="zh-CN" altLang="en-US" sz="800" dirty="0">
                  <a:latin typeface="Arial" panose="020B0604020202020204" pitchFamily="34" charset="0"/>
                  <a:ea typeface="思源黑体 Heavy" panose="020B0A00000000000000" pitchFamily="34" charset="-122"/>
                  <a:cs typeface="Arial" panose="020B0604020202020204" pitchFamily="34" charset="0"/>
                </a:rPr>
                <a:t>贸易商（国际大公司和国家油气寡头控制）将原料液氦储存于特制的</a:t>
              </a:r>
              <a:r>
                <a:rPr lang="en-US" altLang="zh-CN" sz="800" dirty="0">
                  <a:latin typeface="Arial" panose="020B0604020202020204" pitchFamily="34" charset="0"/>
                  <a:ea typeface="思源黑体 Heavy" panose="020B0A00000000000000" pitchFamily="34" charset="-122"/>
                  <a:cs typeface="Arial" panose="020B0604020202020204" pitchFamily="34" charset="0"/>
                </a:rPr>
                <a:t>ISO</a:t>
              </a:r>
              <a:r>
                <a:rPr lang="zh-CN" altLang="en-US" sz="800" dirty="0">
                  <a:latin typeface="Arial" panose="020B0604020202020204" pitchFamily="34" charset="0"/>
                  <a:ea typeface="思源黑体 Heavy" panose="020B0A00000000000000" pitchFamily="34" charset="-122"/>
                  <a:cs typeface="Arial" panose="020B0604020202020204" pitchFamily="34" charset="0"/>
                </a:rPr>
                <a:t>液氦冷箱中进行运输。后续提纯后可用于半导体、面板、核磁共振等</a:t>
              </a:r>
            </a:p>
          </p:txBody>
        </p:sp>
        <p:sp>
          <p:nvSpPr>
            <p:cNvPr id="16" name="矩形 15"/>
            <p:cNvSpPr/>
            <p:nvPr/>
          </p:nvSpPr>
          <p:spPr>
            <a:xfrm>
              <a:off x="5273673" y="1594942"/>
              <a:ext cx="4368801" cy="1044828"/>
            </a:xfrm>
            <a:prstGeom prst="rect">
              <a:avLst/>
            </a:prstGeom>
            <a:noFill/>
          </p:spPr>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zh-CN" altLang="en-US"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现状：</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全球规模较大的提氦厂共计</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19</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家，其中美国</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15</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家，卡塔尔</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家，阿尔及利亚</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家，俄罗斯</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家，波兰</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a:t>
              </a:r>
              <a:endPar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zh-CN" altLang="en-US"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新建：</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俄罗斯</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5</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家、卡特尔</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家、坦桑尼亚</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家、阿尔及利亚</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家</a:t>
              </a:r>
              <a:endPar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17" name="圆角矩形 73"/>
            <p:cNvSpPr/>
            <p:nvPr/>
          </p:nvSpPr>
          <p:spPr bwMode="auto">
            <a:xfrm>
              <a:off x="5237163" y="2824855"/>
              <a:ext cx="4441861" cy="1613004"/>
            </a:xfrm>
            <a:prstGeom prst="roundRect">
              <a:avLst/>
            </a:prstGeom>
            <a:solidFill>
              <a:schemeClr val="accent5">
                <a:lumMod val="20000"/>
                <a:lumOff val="80000"/>
              </a:schemeClr>
            </a:solidFill>
            <a:ln w="9525" cap="flat" cmpd="sng" algn="ctr">
              <a:solidFill>
                <a:schemeClr val="tx1"/>
              </a:solidFill>
              <a:prstDash val="dash"/>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200" dirty="0">
                <a:solidFill>
                  <a:sysClr val="windowText" lastClr="000000"/>
                </a:solidFill>
                <a:latin typeface="Arial" panose="020B0604020202020204" pitchFamily="34" charset="0"/>
                <a:ea typeface="+mn-ea"/>
                <a:cs typeface="Arial" panose="020B0604020202020204" pitchFamily="34" charset="0"/>
              </a:endParaRPr>
            </a:p>
          </p:txBody>
        </p:sp>
        <p:sp>
          <p:nvSpPr>
            <p:cNvPr id="18" name="矩形 17"/>
            <p:cNvSpPr>
              <a:spLocks noChangeArrowheads="1"/>
            </p:cNvSpPr>
            <p:nvPr/>
          </p:nvSpPr>
          <p:spPr bwMode="auto">
            <a:xfrm>
              <a:off x="5381612" y="2857366"/>
              <a:ext cx="4346895" cy="1408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en-US" altLang="zh-CN" sz="800" b="1" dirty="0">
                  <a:solidFill>
                    <a:sysClr val="windowText" lastClr="000000"/>
                  </a:solidFill>
                  <a:latin typeface="Arial" panose="020B0604020202020204" pitchFamily="34" charset="0"/>
                  <a:ea typeface="+mn-ea"/>
                  <a:cs typeface="Arial" panose="020B0604020202020204" pitchFamily="34" charset="0"/>
                </a:rPr>
                <a:t>1</a:t>
              </a:r>
              <a:r>
                <a:rPr lang="zh-CN" altLang="en-US"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、国际上氦气供应实行配额制。</a:t>
              </a:r>
              <a:endPar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2</a:t>
              </a:r>
              <a:r>
                <a:rPr lang="zh-CN" altLang="en-US"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、供应链体系是签氦气长协的关键：</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ISO</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供应体系（</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4K</a:t>
              </a:r>
              <a:r>
                <a:rPr lang="zh-CN"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温区</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），全球存量</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2100</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个，成熟供应厂商为林德和</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Gardner</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生产，</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100</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万美金</a:t>
              </a:r>
              <a:r>
                <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个；国内杭氧股份、中集安瑞科实现突破。</a:t>
              </a:r>
              <a:endParaRPr lang="en-US" altLang="zh-CN"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3</a:t>
              </a:r>
              <a:r>
                <a:rPr lang="zh-CN" altLang="en-US" sz="800" b="1"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、全球资源：</a:t>
              </a:r>
              <a:r>
                <a:rPr lang="zh-CN" altLang="en-US" sz="800" dirty="0">
                  <a:solidFill>
                    <a:sysClr val="windowText" lastClr="000000"/>
                  </a:solidFill>
                  <a:latin typeface="Arial" panose="020B0604020202020204" pitchFamily="34" charset="0"/>
                  <a:ea typeface="思源黑体 Heavy" panose="020B0A00000000000000" pitchFamily="34" charset="-122"/>
                  <a:cs typeface="Arial" panose="020B0604020202020204" pitchFamily="34" charset="0"/>
                </a:rPr>
                <a:t>被林德、液空、空气产品等公司垄断</a:t>
              </a:r>
            </a:p>
          </p:txBody>
        </p:sp>
      </p:grpSp>
      <p:sp>
        <p:nvSpPr>
          <p:cNvPr id="19" name="文本框 21"/>
          <p:cNvSpPr txBox="1"/>
          <p:nvPr/>
        </p:nvSpPr>
        <p:spPr>
          <a:xfrm>
            <a:off x="4764614" y="2374573"/>
            <a:ext cx="495517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图：整套电子大宗气体工程：涉及气体及厂房设计</a:t>
            </a:r>
          </a:p>
        </p:txBody>
      </p:sp>
      <p:pic>
        <p:nvPicPr>
          <p:cNvPr id="2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892" y="2709812"/>
            <a:ext cx="3258638" cy="188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xmlns="" id="{20E6E78D-2379-0CCE-647D-C4DEE8DB8A2F}"/>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21" name="矩形 20">
            <a:extLst>
              <a:ext uri="{FF2B5EF4-FFF2-40B4-BE49-F238E27FC236}">
                <a16:creationId xmlns:a16="http://schemas.microsoft.com/office/drawing/2014/main" xmlns="" id="{634E7FF4-21E0-3A8F-ABDE-209A8E6868B1}"/>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标题 1">
            <a:extLst>
              <a:ext uri="{FF2B5EF4-FFF2-40B4-BE49-F238E27FC236}">
                <a16:creationId xmlns:a16="http://schemas.microsoft.com/office/drawing/2014/main" xmlns="" id="{70AED45F-C7E1-5F1F-2759-8E61907B2946}"/>
              </a:ext>
            </a:extLst>
          </p:cNvPr>
          <p:cNvSpPr>
            <a:spLocks noGrp="1"/>
          </p:cNvSpPr>
          <p:nvPr/>
        </p:nvSpPr>
        <p:spPr>
          <a:xfrm>
            <a:off x="783952" y="295922"/>
            <a:ext cx="6511225"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壁垒：进入壁垒极高，设备技术、经验业绩与氦气资源是核心</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5" descr="C:\Users\Timcy\Desktop\PPT导出\images\icon\Finance\white\F_09.pngF_09"/>
          <p:cNvPicPr>
            <a:picLocks noChangeAspect="1" noChangeArrowheads="1"/>
          </p:cNvPicPr>
          <p:nvPr/>
        </p:nvPicPr>
        <p:blipFill>
          <a:blip r:embed="rId2" cstate="email"/>
          <a:srcRect/>
          <a:stretch>
            <a:fillRect/>
          </a:stretch>
        </p:blipFill>
        <p:spPr bwMode="auto">
          <a:xfrm>
            <a:off x="973455" y="3364046"/>
            <a:ext cx="287338" cy="223838"/>
          </a:xfrm>
          <a:prstGeom prst="rect">
            <a:avLst/>
          </a:prstGeom>
          <a:noFill/>
          <a:ln w="9525">
            <a:noFill/>
            <a:miter lim="800000"/>
            <a:headEnd/>
            <a:tailEnd/>
          </a:ln>
        </p:spPr>
      </p:pic>
      <p:pic>
        <p:nvPicPr>
          <p:cNvPr id="15" name="图片 70" descr="C:\Users\Timcy\Desktop\PPT导出\images\icon\Finance\white\F_08.pngF_08"/>
          <p:cNvPicPr>
            <a:picLocks noChangeAspect="1" noChangeArrowheads="1"/>
          </p:cNvPicPr>
          <p:nvPr/>
        </p:nvPicPr>
        <p:blipFill>
          <a:blip r:embed="rId3" cstate="email"/>
          <a:srcRect/>
          <a:stretch>
            <a:fillRect/>
          </a:stretch>
        </p:blipFill>
        <p:spPr bwMode="auto">
          <a:xfrm>
            <a:off x="5197475" y="3392621"/>
            <a:ext cx="287338" cy="168275"/>
          </a:xfrm>
          <a:prstGeom prst="rect">
            <a:avLst/>
          </a:prstGeom>
          <a:noFill/>
          <a:ln w="9525">
            <a:noFill/>
            <a:miter lim="800000"/>
            <a:headEnd/>
            <a:tailEnd/>
          </a:ln>
        </p:spPr>
      </p:pic>
      <p:sp>
        <p:nvSpPr>
          <p:cNvPr id="25" name="文本占位符 5"/>
          <p:cNvSpPr txBox="1"/>
          <p:nvPr/>
        </p:nvSpPr>
        <p:spPr>
          <a:xfrm>
            <a:off x="364695" y="923246"/>
            <a:ext cx="8494122" cy="1401435"/>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从结果来看，气体厂商的核心能力匹配要求是获取订单最重要的因素，大部分项目中标情况符合“能者上”。</a:t>
            </a: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成熟厂商打样：</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拥有大量过往成功经验背书、强设备迭代</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&amp;</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制造能力、强供应链能力（包括氦气在内的稳定多种气体支撑）、工程设计与交付能力。</a:t>
            </a: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中国气体厂商：</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①劣势：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无大量运营经验积累、设备研制、稳定渠道能力较弱，部分公司开始加强补足；②</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优势：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愿意为客户根据情况定制方案与供气方式（海外厂商对定制方案报价高）、贴近客户实现及时服务、部分厂商报价相对海外较低。</a:t>
            </a:r>
          </a:p>
        </p:txBody>
      </p:sp>
      <p:sp>
        <p:nvSpPr>
          <p:cNvPr id="26" name="矩形 25"/>
          <p:cNvSpPr/>
          <p:nvPr/>
        </p:nvSpPr>
        <p:spPr>
          <a:xfrm>
            <a:off x="-873590" y="2001104"/>
            <a:ext cx="109706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图：电子领域气体厂商核心能力匹配要求、布局及已有案例</a:t>
            </a:r>
            <a:r>
              <a:rPr lang="en-US" altLang="zh-CN" sz="1000" b="1" dirty="0">
                <a:solidFill>
                  <a:schemeClr val="tx1"/>
                </a:solidFill>
                <a:latin typeface="微软雅黑 Light" panose="020B0502040204020203" pitchFamily="34" charset="-122"/>
                <a:ea typeface="微软雅黑 Light" panose="020B0502040204020203" pitchFamily="34" charset="-122"/>
              </a:rPr>
              <a:t>/</a:t>
            </a:r>
            <a:r>
              <a:rPr lang="zh-CN" altLang="en-US" sz="1000" b="1" dirty="0">
                <a:solidFill>
                  <a:schemeClr val="tx1"/>
                </a:solidFill>
                <a:latin typeface="微软雅黑 Light" panose="020B0502040204020203" pitchFamily="34" charset="-122"/>
                <a:ea typeface="微软雅黑 Light" panose="020B0502040204020203" pitchFamily="34" charset="-122"/>
              </a:rPr>
              <a:t>现状梳理</a:t>
            </a:r>
          </a:p>
        </p:txBody>
      </p:sp>
      <p:graphicFrame>
        <p:nvGraphicFramePr>
          <p:cNvPr id="29" name="表格 28"/>
          <p:cNvGraphicFramePr>
            <a:graphicFrameLocks noGrp="1"/>
          </p:cNvGraphicFramePr>
          <p:nvPr>
            <p:extLst>
              <p:ext uri="{D42A27DB-BD31-4B8C-83A1-F6EECF244321}">
                <p14:modId xmlns:p14="http://schemas.microsoft.com/office/powerpoint/2010/main" val="2304646136"/>
              </p:ext>
            </p:extLst>
          </p:nvPr>
        </p:nvGraphicFramePr>
        <p:xfrm>
          <a:off x="444207" y="2249482"/>
          <a:ext cx="8414610" cy="2286278"/>
        </p:xfrm>
        <a:graphic>
          <a:graphicData uri="http://schemas.openxmlformats.org/drawingml/2006/table">
            <a:tbl>
              <a:tblPr/>
              <a:tblGrid>
                <a:gridCol w="574932">
                  <a:extLst>
                    <a:ext uri="{9D8B030D-6E8A-4147-A177-3AD203B41FA5}">
                      <a16:colId xmlns:a16="http://schemas.microsoft.com/office/drawing/2014/main" xmlns="" val="20000"/>
                    </a:ext>
                  </a:extLst>
                </a:gridCol>
                <a:gridCol w="959221">
                  <a:extLst>
                    <a:ext uri="{9D8B030D-6E8A-4147-A177-3AD203B41FA5}">
                      <a16:colId xmlns:a16="http://schemas.microsoft.com/office/drawing/2014/main" xmlns="" val="20001"/>
                    </a:ext>
                  </a:extLst>
                </a:gridCol>
                <a:gridCol w="2942686">
                  <a:extLst>
                    <a:ext uri="{9D8B030D-6E8A-4147-A177-3AD203B41FA5}">
                      <a16:colId xmlns:a16="http://schemas.microsoft.com/office/drawing/2014/main" xmlns="" val="20002"/>
                    </a:ext>
                  </a:extLst>
                </a:gridCol>
                <a:gridCol w="3937771">
                  <a:extLst>
                    <a:ext uri="{9D8B030D-6E8A-4147-A177-3AD203B41FA5}">
                      <a16:colId xmlns:a16="http://schemas.microsoft.com/office/drawing/2014/main" xmlns="" val="20003"/>
                    </a:ext>
                  </a:extLst>
                </a:gridCol>
              </a:tblGrid>
              <a:tr h="123656">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竞争要素</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要求</a:t>
                      </a:r>
                      <a:r>
                        <a:rPr lang="en-US" altLang="zh-CN"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情况</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厂商布局情况</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案例</a:t>
                      </a:r>
                      <a:r>
                        <a:rPr lang="en-US" altLang="zh-CN"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800" b="1" i="0" u="none" strike="noStrike" baseline="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现状情况</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49462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运营经验</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需要有过往成功项目参考</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大部分无成功经验，广钢、杭氧、金宏有运行项目</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广钢气体：</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承接广钢林德华星光电等多个项目经验，为后续获取长鑫二期、芯恩二期等大型电子大宗气打下坚实基础</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杭氧股份：</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青岛芯恩一期一阶段供气成功，后续凭借经验获取斯达半岛、芯恩二期二阶段项目</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tx2">
                        <a:lumMod val="20000"/>
                        <a:lumOff val="80000"/>
                      </a:schemeClr>
                    </a:solidFill>
                  </a:tcPr>
                </a:tc>
                <a:extLst>
                  <a:ext uri="{0D108BD9-81ED-4DB2-BD59-A6C34878D82A}">
                    <a16:rowId xmlns:a16="http://schemas.microsoft.com/office/drawing/2014/main" xmlns="" val="10001"/>
                  </a:ext>
                </a:extLst>
              </a:tr>
              <a:tr h="61828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设备能力</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应具备高技术设备研制能力，设备厂都在转型气体业务，未来不会卖竞对核心设备。</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）第一梯队：广钢，国内唯一具备大流速</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9N</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高纯氮直出设备技术公司（但仍需要制造内部化）</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）第二梯队：杭氧（大流速</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6N</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高纯氮直出设备研制）、正帆（</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5N</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高纯氮直出设备研制）</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）第三梯队：金宏等其他厂商（无设备研制能力，需外购）</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9N</a:t>
                      </a: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超高纯氮设备：</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可获取</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万方</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/h</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用氮项目，比如广钢气体与外资气体厂，可获取</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7</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至少</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7+</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万方</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/h</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用氮单体项目</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5-6N</a:t>
                      </a: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高纯氮设备：</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一般获取项目体量大部分为</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万方</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/h</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以内的用氮量，偶有</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万方</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/h</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以内的用氮量项目</a:t>
                      </a:r>
                    </a:p>
                  </a:txBody>
                  <a:tcPr marL="0" marR="0" marT="0" marB="0" anchor="ctr">
                    <a:lnL>
                      <a:noFill/>
                    </a:lnL>
                    <a:lnR>
                      <a:noFill/>
                    </a:lnR>
                    <a:lnT>
                      <a:noFill/>
                    </a:lnT>
                    <a:lnB>
                      <a:noFill/>
                    </a:lnB>
                  </a:tcPr>
                </a:tc>
                <a:extLst>
                  <a:ext uri="{0D108BD9-81ED-4DB2-BD59-A6C34878D82A}">
                    <a16:rowId xmlns:a16="http://schemas.microsoft.com/office/drawing/2014/main" xmlns="" val="10002"/>
                  </a:ext>
                </a:extLst>
              </a:tr>
              <a:tr h="37097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渠道能力</a:t>
                      </a:r>
                    </a:p>
                  </a:txBody>
                  <a:tcPr marL="0" marR="0" marT="0" marB="0" anchor="ctr">
                    <a:lnL>
                      <a:noFill/>
                    </a:lnL>
                    <a:lnR>
                      <a:noFill/>
                    </a:lnR>
                    <a:lnT>
                      <a:noFill/>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具备全套气体的生产</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or</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供应链</a:t>
                      </a:r>
                    </a:p>
                  </a:txBody>
                  <a:tcPr marL="0" marR="0" marT="0" marB="0" anchor="ctr">
                    <a:lnL>
                      <a:noFill/>
                    </a:lnL>
                    <a:lnR>
                      <a:noFill/>
                    </a:lnR>
                    <a:lnT>
                      <a:noFill/>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没有厂商具备完整供应链能力</a:t>
                      </a:r>
                    </a:p>
                  </a:txBody>
                  <a:tcPr marL="0" marR="0" marT="0" marB="0" anchor="ctr">
                    <a:lnL>
                      <a:noFill/>
                    </a:lnL>
                    <a:lnR>
                      <a:noFill/>
                    </a:lnR>
                    <a:lnT>
                      <a:noFill/>
                    </a:lnT>
                    <a:lnB>
                      <a:noFill/>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中国阶段性格局：</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电子大宗气、特种气体行业割裂明显，特气公司均想直接对应终端客户，顺势看是否有切电子大宗的可能性</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800" b="1"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海外生态：</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综合运营厂商可进行全套方案跟进，特气公司进行部分配套</a:t>
                      </a:r>
                    </a:p>
                  </a:txBody>
                  <a:tcPr marL="0" marR="0" marT="0" marB="0"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xmlns="" val="10003"/>
                  </a:ext>
                </a:extLst>
              </a:tr>
              <a:tr h="4314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氦气资源</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稳定氦源是获取订单的必要条件</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）第一梯队：广钢具先发优势，稳定进口氦源，占</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市占率</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）第二梯队：杭氧，自制氦罐</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俄罗斯气田资源</a:t>
                      </a:r>
                      <a:b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b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）第三梯队：金宏、华特，买到氦罐</a:t>
                      </a:r>
                      <a:r>
                        <a:rPr lang="en-US" altLang="zh-CN"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俄罗斯气田资源</a:t>
                      </a:r>
                    </a:p>
                  </a:txBody>
                  <a:tcPr marL="0" marR="0" marT="0" marB="0" anchor="ctr">
                    <a:lnL>
                      <a:noFill/>
                    </a:lnL>
                    <a:lnR>
                      <a:noFill/>
                    </a:lnR>
                    <a:lnT>
                      <a:noFill/>
                    </a:lnT>
                    <a:lnB>
                      <a:noFill/>
                    </a:lnB>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广钢气体：稳定大量氦气资源使得公司获取大量优质电子大宗订单 </a:t>
                      </a:r>
                    </a:p>
                  </a:txBody>
                  <a:tcPr marL="0" marR="0" marT="0" marB="0" anchor="ctr">
                    <a:lnL>
                      <a:noFill/>
                    </a:lnL>
                    <a:lnR>
                      <a:noFill/>
                    </a:lnR>
                    <a:lnT>
                      <a:noFill/>
                    </a:lnT>
                    <a:lnB>
                      <a:noFill/>
                    </a:lnB>
                  </a:tcPr>
                </a:tc>
                <a:extLst>
                  <a:ext uri="{0D108BD9-81ED-4DB2-BD59-A6C34878D82A}">
                    <a16:rowId xmlns:a16="http://schemas.microsoft.com/office/drawing/2014/main" xmlns="" val="10004"/>
                  </a:ext>
                </a:extLst>
              </a:tr>
              <a:tr h="247313">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工程能力</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基建设计、工程交付能力</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广钢、杭氧、金宏、正帆等具备初期基建规划能力，可进行定制方案设计</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baseline="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广钢经验成功案例多，更有评判能力；其他厂商需要观察项目甄别、设计能力</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xmlns="" val="10005"/>
                  </a:ext>
                </a:extLst>
              </a:tr>
            </a:tbl>
          </a:graphicData>
        </a:graphic>
      </p:graphicFrame>
      <p:sp>
        <p:nvSpPr>
          <p:cNvPr id="2" name="矩形 1">
            <a:extLst>
              <a:ext uri="{FF2B5EF4-FFF2-40B4-BE49-F238E27FC236}">
                <a16:creationId xmlns:a16="http://schemas.microsoft.com/office/drawing/2014/main" xmlns="" id="{4F0F6787-62B8-5709-8916-045872AFFC1B}"/>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3" name="矩形 2">
            <a:extLst>
              <a:ext uri="{FF2B5EF4-FFF2-40B4-BE49-F238E27FC236}">
                <a16:creationId xmlns:a16="http://schemas.microsoft.com/office/drawing/2014/main" xmlns="" id="{73CFA681-1F28-3679-9830-70AEBB28D9D6}"/>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标题 1">
            <a:extLst>
              <a:ext uri="{FF2B5EF4-FFF2-40B4-BE49-F238E27FC236}">
                <a16:creationId xmlns:a16="http://schemas.microsoft.com/office/drawing/2014/main" xmlns="" id="{44C7A8EC-2436-3711-3223-E91EF59BC780}"/>
              </a:ext>
            </a:extLst>
          </p:cNvPr>
          <p:cNvSpPr>
            <a:spLocks noGrp="1"/>
          </p:cNvSpPr>
          <p:nvPr/>
        </p:nvSpPr>
        <p:spPr>
          <a:xfrm>
            <a:off x="783952" y="295922"/>
            <a:ext cx="6511225" cy="646331"/>
          </a:xfrm>
          <a:prstGeom prst="rect">
            <a:avLst/>
          </a:prstGeom>
          <a:noFill/>
          <a:ln w="9525">
            <a:noFill/>
            <a:miter lim="800000"/>
          </a:ln>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壁垒：进入壁垒极高，设备技术、经验业绩与氦气资源是核心</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184401" y="858292"/>
            <a:ext cx="8721154" cy="164111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对于下游晶圆</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面板厂而言，对于三部分能力有高要求：运营经验、设备与工程能力、核心特种气体匹配能力，且当项目规模越大、技术先进程度越高时，这三个能力的要求呈现“数量级”提升，进入壁垒很高。</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运营经验：</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是否有成功的经验业绩成为较必要前提。从经验度与项目优劣情况上看，</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法液空＞梅塞尔＞林德</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=AP</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≥广钢气体＞金宏气体≥杭氧股份；</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设备与工程能力：</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是否拥有</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超高纯氮设备以及单机规模大小是考量标准，决定能否获取</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5+</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万方大型项目。从设备能力上看，</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法液空</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林德</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=AP</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＞梅塞尔＞广钢气体＞杭氧股份＞金宏气体；</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核心特种气体匹配：</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是否具有强渠道与特气生态圈以减少下游厂商的交易成本。从现有配套能力看，</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法液空＞梅塞尔＞林德</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=PA</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＞广钢气体＞金宏气体＞杭氧股份。</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（外资不是所有气体均生产，但有非常强大的供应链体系，作为整体方案的一部分）</a:t>
            </a:r>
          </a:p>
        </p:txBody>
      </p:sp>
      <p:sp>
        <p:nvSpPr>
          <p:cNvPr id="5" name="TextBox 23"/>
          <p:cNvSpPr txBox="1">
            <a:spLocks noChangeArrowheads="1"/>
          </p:cNvSpPr>
          <p:nvPr/>
        </p:nvSpPr>
        <p:spPr bwMode="auto">
          <a:xfrm>
            <a:off x="1784324" y="2464692"/>
            <a:ext cx="59598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表：主要电子大宗气体厂商氦气、特气及客户对比</a:t>
            </a:r>
          </a:p>
        </p:txBody>
      </p:sp>
      <p:graphicFrame>
        <p:nvGraphicFramePr>
          <p:cNvPr id="6" name="表格 5"/>
          <p:cNvGraphicFramePr>
            <a:graphicFrameLocks noGrp="1"/>
          </p:cNvGraphicFramePr>
          <p:nvPr/>
        </p:nvGraphicFramePr>
        <p:xfrm>
          <a:off x="357903" y="2678808"/>
          <a:ext cx="8547652" cy="2037010"/>
        </p:xfrm>
        <a:graphic>
          <a:graphicData uri="http://schemas.openxmlformats.org/drawingml/2006/table">
            <a:tbl>
              <a:tblPr>
                <a:tableStyleId>{5C22544A-7EE6-4342-B048-85BDC9FD1C3A}</a:tableStyleId>
              </a:tblPr>
              <a:tblGrid>
                <a:gridCol w="464165">
                  <a:extLst>
                    <a:ext uri="{9D8B030D-6E8A-4147-A177-3AD203B41FA5}">
                      <a16:colId xmlns:a16="http://schemas.microsoft.com/office/drawing/2014/main" xmlns="" val="20000"/>
                    </a:ext>
                  </a:extLst>
                </a:gridCol>
                <a:gridCol w="546489">
                  <a:extLst>
                    <a:ext uri="{9D8B030D-6E8A-4147-A177-3AD203B41FA5}">
                      <a16:colId xmlns:a16="http://schemas.microsoft.com/office/drawing/2014/main" xmlns="" val="20001"/>
                    </a:ext>
                  </a:extLst>
                </a:gridCol>
                <a:gridCol w="2413844">
                  <a:extLst>
                    <a:ext uri="{9D8B030D-6E8A-4147-A177-3AD203B41FA5}">
                      <a16:colId xmlns:a16="http://schemas.microsoft.com/office/drawing/2014/main" xmlns="" val="20002"/>
                    </a:ext>
                  </a:extLst>
                </a:gridCol>
                <a:gridCol w="1362093">
                  <a:extLst>
                    <a:ext uri="{9D8B030D-6E8A-4147-A177-3AD203B41FA5}">
                      <a16:colId xmlns:a16="http://schemas.microsoft.com/office/drawing/2014/main" xmlns="" val="20003"/>
                    </a:ext>
                  </a:extLst>
                </a:gridCol>
                <a:gridCol w="2076053">
                  <a:extLst>
                    <a:ext uri="{9D8B030D-6E8A-4147-A177-3AD203B41FA5}">
                      <a16:colId xmlns:a16="http://schemas.microsoft.com/office/drawing/2014/main" xmlns="" val="20004"/>
                    </a:ext>
                  </a:extLst>
                </a:gridCol>
                <a:gridCol w="1685008">
                  <a:extLst>
                    <a:ext uri="{9D8B030D-6E8A-4147-A177-3AD203B41FA5}">
                      <a16:colId xmlns:a16="http://schemas.microsoft.com/office/drawing/2014/main" xmlns="" val="20005"/>
                    </a:ext>
                  </a:extLst>
                </a:gridCol>
              </a:tblGrid>
              <a:tr h="91611">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分类</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厂商</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氦气布局</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accent1"/>
                    </a:solidFill>
                  </a:tcPr>
                </a:tc>
                <a:tc hMerge="1">
                  <a:txBody>
                    <a:bodyPr/>
                    <a:lstStyle/>
                    <a:p>
                      <a:endParaRPr lang="zh-CN"/>
                    </a:p>
                  </a:txBody>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其他特气布局</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典型客户</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91611">
                <a:tc vMerge="1">
                  <a:txBody>
                    <a:bodyPr/>
                    <a:lstStyle/>
                    <a:p>
                      <a:endParaRPr lang="zh-CN"/>
                    </a:p>
                  </a:txBody>
                  <a:tcPr/>
                </a:tc>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氦源与销售量</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氦罐个数与来源</a:t>
                      </a:r>
                      <a:endParaRPr lang="zh-CN" altLang="en-US" sz="68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solidFill>
                      <a:schemeClr val="accent1"/>
                    </a:solidFill>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xmlns="" val="10001"/>
                  </a:ext>
                </a:extLst>
              </a:tr>
              <a:tr h="274832">
                <a:tc rowSpan="3">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国内</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广钢气体</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占国内进口量约</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10%</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年进口约</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138</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load</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气源，主要来自卡特尔、美国美孚、俄罗斯</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）个数：</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46</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70+</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25</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年预计</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102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个，每个月交付</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b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b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）来源：林德和</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Gardner</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布局</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个特气基地，超临界</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CO2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、溴化氢、氢烷类气体混配、氪氙等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长鑫、长存、晶合、</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TCL</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、芯恩等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xmlns="" val="10002"/>
                  </a:ext>
                </a:extLst>
              </a:tr>
              <a:tr h="18322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金宏气体</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年开始布局氦气，</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年进口约</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30+Load</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，主要来自俄罗斯</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）个数：</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8</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b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b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）来源：主要为林德、中集安瑞科）</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超纯氨、高纯氧化亚氮、电子级正硅酸乙酯、高纯二氧化碳等</a:t>
                      </a:r>
                      <a:endParaRPr lang="zh-CN" altLang="en-US"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天马、中芯国际等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extLst>
                  <a:ext uri="{0D108BD9-81ED-4DB2-BD59-A6C34878D82A}">
                    <a16:rowId xmlns:a16="http://schemas.microsoft.com/office/drawing/2014/main" xmlns="" val="10003"/>
                  </a:ext>
                </a:extLst>
              </a:tr>
              <a:tr h="27483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杭氧股份</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月正式开始布局氦气，</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年进口约</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load</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11-12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月各一个），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年进口大概</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load</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，来自俄罗斯（土耳其中间商）</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）个数：</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23</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个，预计</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24</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a:t>
                      </a:r>
                      <a:b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b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）来源：自研自制</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衢州特气公司，二氧化碳、氪氙、前驱体等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芯恩、斯达半导、物元半导体等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extLst>
                  <a:ext uri="{0D108BD9-81ED-4DB2-BD59-A6C34878D82A}">
                    <a16:rowId xmlns:a16="http://schemas.microsoft.com/office/drawing/2014/main" xmlns="" val="10004"/>
                  </a:ext>
                </a:extLst>
              </a:tr>
              <a:tr h="255782">
                <a:tc rowSpan="5">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外资</a:t>
                      </a:r>
                      <a:endParaRPr lang="zh-CN" altLang="en-US"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林德</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占国内进口量的</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21%</a:t>
                      </a:r>
                      <a:endParaRPr lang="en-US" altLang="zh-CN"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个数充足，自己生产且向外售卖</a:t>
                      </a:r>
                      <a:endParaRPr lang="zh-CN" altLang="en-US"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氦、氖、氩等特种气体</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en-US" altLang="zh-CN" sz="680" u="none" strike="noStrike">
                          <a:effectLst/>
                          <a:latin typeface="Arial" panose="020B0604020202020204" pitchFamily="34" charset="0"/>
                          <a:ea typeface="思源黑体 Heavy" panose="020B0A00000000000000" pitchFamily="34" charset="-122"/>
                          <a:cs typeface="Arial" panose="020B0604020202020204" pitchFamily="34" charset="0"/>
                        </a:rPr>
                        <a:t>BOE</a:t>
                      </a: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、中芯国际、台积电、长江存储、创新科技、英特尔、三星、华星光电等</a:t>
                      </a:r>
                      <a:endParaRPr lang="zh-CN" altLang="en-US"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extLst>
                  <a:ext uri="{0D108BD9-81ED-4DB2-BD59-A6C34878D82A}">
                    <a16:rowId xmlns:a16="http://schemas.microsoft.com/office/drawing/2014/main" xmlns="" val="10005"/>
                  </a:ext>
                </a:extLst>
              </a:tr>
              <a:tr h="18322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液化空气</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占国内进口量的</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20%</a:t>
                      </a:r>
                      <a:endParaRPr lang="en-US" altLang="zh-CN"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个数充足，自己生产且向外售卖</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全球</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个电子材料中心，前驱体、刻蚀剂等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台积电、中芯国际、三星等</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extLst>
                  <a:ext uri="{0D108BD9-81ED-4DB2-BD59-A6C34878D82A}">
                    <a16:rowId xmlns:a16="http://schemas.microsoft.com/office/drawing/2014/main" xmlns="" val="10006"/>
                  </a:ext>
                </a:extLst>
              </a:tr>
              <a:tr h="18322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空气产品</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占国内进口量的</a:t>
                      </a:r>
                      <a:r>
                        <a:rPr lang="en-US" altLang="zh-CN" sz="680" u="none" strike="noStrike">
                          <a:effectLst/>
                          <a:latin typeface="Arial" panose="020B0604020202020204" pitchFamily="34" charset="0"/>
                          <a:ea typeface="思源黑体 Heavy" panose="020B0A00000000000000" pitchFamily="34" charset="-122"/>
                          <a:cs typeface="Arial" panose="020B0604020202020204" pitchFamily="34" charset="0"/>
                        </a:rPr>
                        <a:t>18%</a:t>
                      </a:r>
                      <a:endParaRPr lang="en-US" altLang="zh-CN"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个数充足，主要自己生产</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特种气体</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如氦气、氢气），电子特气，化学中间体产品</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a:effectLst/>
                          <a:latin typeface="Arial" panose="020B0604020202020204" pitchFamily="34" charset="0"/>
                          <a:ea typeface="思源黑体 Heavy" panose="020B0A00000000000000" pitchFamily="34" charset="-122"/>
                          <a:cs typeface="Arial" panose="020B0604020202020204" pitchFamily="34" charset="0"/>
                        </a:rPr>
                        <a:t>中芯国际、台积电、奇美电子、三星、天马等。</a:t>
                      </a:r>
                      <a:endParaRPr lang="zh-CN" altLang="en-US" sz="68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noFill/>
                  </a:tcPr>
                </a:tc>
                <a:extLst>
                  <a:ext uri="{0D108BD9-81ED-4DB2-BD59-A6C34878D82A}">
                    <a16:rowId xmlns:a16="http://schemas.microsoft.com/office/drawing/2014/main" xmlns="" val="10007"/>
                  </a:ext>
                </a:extLst>
              </a:tr>
              <a:tr h="18322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大阳日酸</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占国内进口量的</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6.6%</a:t>
                      </a:r>
                      <a:endParaRPr lang="en-US" altLang="zh-CN"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h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特种气体为主要产品，绝对部分气体生产，占营收</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80%+</a:t>
                      </a:r>
                      <a:endParaRPr lang="en-US" altLang="zh-CN"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丰田合成、日亚化</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solidFill>
                      <a:schemeClr val="bg1">
                        <a:lumMod val="85000"/>
                      </a:schemeClr>
                    </a:solidFill>
                  </a:tcPr>
                </a:tc>
                <a:extLst>
                  <a:ext uri="{0D108BD9-81ED-4DB2-BD59-A6C34878D82A}">
                    <a16:rowId xmlns:a16="http://schemas.microsoft.com/office/drawing/2014/main" xmlns="" val="10008"/>
                  </a:ext>
                </a:extLst>
              </a:tr>
              <a:tr h="18322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梅塞尔</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占国内进口量的</a:t>
                      </a:r>
                      <a:r>
                        <a:rPr lang="en-US" altLang="zh-CN" sz="680" u="none" strike="noStrike" dirty="0">
                          <a:effectLst/>
                          <a:latin typeface="Arial" panose="020B0604020202020204" pitchFamily="34" charset="0"/>
                          <a:ea typeface="思源黑体 Heavy" panose="020B0A00000000000000" pitchFamily="34" charset="-122"/>
                          <a:cs typeface="Arial" panose="020B0604020202020204" pitchFamily="34" charset="0"/>
                        </a:rPr>
                        <a:t>4.6%</a:t>
                      </a: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，较少</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h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一氧化二氮、四氟化碳、全氟丙烷、六氟化硫</a:t>
                      </a:r>
                      <a:endParaRPr lang="zh-CN" alt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rtl="0" fontAlgn="ctr"/>
                      <a:r>
                        <a:rPr lang="zh-CN" alt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惠科股份、</a:t>
                      </a:r>
                      <a:r>
                        <a:rPr lang="en-US" sz="680" u="none" strike="noStrike" dirty="0">
                          <a:effectLst/>
                          <a:latin typeface="Arial" panose="020B0604020202020204" pitchFamily="34" charset="0"/>
                          <a:ea typeface="思源黑体 Heavy" panose="020B0A00000000000000" pitchFamily="34" charset="-122"/>
                          <a:cs typeface="Arial" panose="020B0604020202020204" pitchFamily="34" charset="0"/>
                        </a:rPr>
                        <a:t>BOE</a:t>
                      </a:r>
                      <a:endParaRPr lang="en-US" sz="68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bl>
          </a:graphicData>
        </a:graphic>
      </p:graphicFrame>
      <p:sp>
        <p:nvSpPr>
          <p:cNvPr id="2" name="Rectangle 1">
            <a:extLst>
              <a:ext uri="{FF2B5EF4-FFF2-40B4-BE49-F238E27FC236}">
                <a16:creationId xmlns:a16="http://schemas.microsoft.com/office/drawing/2014/main" xmlns="" id="{E679646F-E884-9224-C5C4-47A2EFFAF3E7}"/>
              </a:ext>
            </a:extLst>
          </p:cNvPr>
          <p:cNvSpPr>
            <a:spLocks noChangeArrowheads="1"/>
          </p:cNvSpPr>
          <p:nvPr/>
        </p:nvSpPr>
        <p:spPr bwMode="auto">
          <a:xfrm>
            <a:off x="790529" y="442844"/>
            <a:ext cx="7295639" cy="369332"/>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竞争格局：</a:t>
            </a:r>
            <a:r>
              <a:rPr lang="en-US" altLang="zh-CN" sz="2000" b="1" dirty="0">
                <a:solidFill>
                  <a:srgbClr val="0677D5"/>
                </a:solidFill>
                <a:latin typeface="+mj-ea"/>
                <a:ea typeface="思源黑体 CN Regular" panose="020B0500000000000000" charset="-122"/>
                <a:cs typeface="Arial" panose="020B0604020202020204" pitchFamily="34" charset="0"/>
              </a:rPr>
              <a:t>3+1+N</a:t>
            </a:r>
            <a:r>
              <a:rPr lang="zh-CN" altLang="en-US" sz="2000" b="1" dirty="0">
                <a:solidFill>
                  <a:srgbClr val="0677D5"/>
                </a:solidFill>
                <a:latin typeface="+mj-ea"/>
                <a:ea typeface="思源黑体 CN Regular" panose="020B0500000000000000" charset="-122"/>
                <a:cs typeface="Arial" panose="020B0604020202020204" pitchFamily="34" charset="0"/>
              </a:rPr>
              <a:t>格局，国产替代率提升</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3" name="矩形 2">
            <a:extLst>
              <a:ext uri="{FF2B5EF4-FFF2-40B4-BE49-F238E27FC236}">
                <a16:creationId xmlns:a16="http://schemas.microsoft.com/office/drawing/2014/main" xmlns="" id="{6E7EAB36-6834-6739-8657-04A1BF12B3C2}"/>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7" name="矩形 6">
            <a:extLst>
              <a:ext uri="{FF2B5EF4-FFF2-40B4-BE49-F238E27FC236}">
                <a16:creationId xmlns:a16="http://schemas.microsoft.com/office/drawing/2014/main" xmlns="" id="{F078D1E1-9A10-E18A-6C81-F7DCF014ED7C}"/>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531940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0" y="887440"/>
            <a:ext cx="9418549" cy="773199"/>
          </a:xfrm>
        </p:spPr>
        <p:txBody>
          <a:bodyPr wrap="none" lIns="0" rIns="0" anchor="ctr" anchorCtr="0">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pPr marL="457200" indent="-457200" hangingPunct="0">
              <a:lnSpc>
                <a:spcPct val="100000"/>
              </a:lnSpc>
              <a:buClr>
                <a:srgbClr val="F69F27"/>
              </a:buClr>
              <a:buBlip>
                <a:blip r:embed="rId2"/>
              </a:buBlip>
            </a:pPr>
            <a:endParaRPr lang="zh-CN" altLang="en-US" sz="2400" b="1" dirty="0">
              <a:solidFill>
                <a:srgbClr val="0F4798"/>
              </a:solidFill>
              <a:latin typeface="+mj-ea"/>
              <a:ea typeface="+mj-ea"/>
              <a:cs typeface="+mj-cs"/>
              <a:sym typeface="等线" panose="02010600030101010101" charset="-122"/>
            </a:endParaRPr>
          </a:p>
        </p:txBody>
      </p:sp>
      <p:sp>
        <p:nvSpPr>
          <p:cNvPr id="5" name="AutoShape 2" descr="*"/>
          <p:cNvSpPr>
            <a:spLocks noChangeAspect="1" noChangeArrowheads="1"/>
          </p:cNvSpPr>
          <p:nvPr/>
        </p:nvSpPr>
        <p:spPr bwMode="auto">
          <a:xfrm>
            <a:off x="309563" y="-1825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文本占位符 5"/>
          <p:cNvSpPr txBox="1"/>
          <p:nvPr/>
        </p:nvSpPr>
        <p:spPr>
          <a:xfrm>
            <a:off x="309564" y="843510"/>
            <a:ext cx="8508434" cy="1701580"/>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电子大宗气体整体呈现“外资</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广钢</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国内</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N</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”格局，新增项目中国产厂商中标率明显提升。</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对于晶圆</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厂而言，厂区建设之初就对其需要用到的气体系统进行规划与对接，因此获取某期项目一阶段供气订单后，往往后面的阶段性产能扩建考虑气体供应稳定性、系统增加设计等方面，更倾向于原供应厂商，新供气厂商难以进入。但新产区规划时，如果有符合条件、服务更优的供气厂商获取验证及进入就有更大机会。</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存量项目：以外资供应为主，国产化率仅约</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以晶圆厂为例，已建成项目的国产气体厂商市占率大约对应</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12.3%</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，广钢</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金宏</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杭氧市占率仅为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9.8%/1.4%/1.2%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国产化率提升：</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24</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年国产气体厂商中标率为</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47%</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2024</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年，中国大陆大宗电子气体项目招标对应用氮量</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32</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，广钢气体</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梅塞尔</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法液空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杭氧分别获取</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13.5/10/7.2/1.5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，市占率达</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42%/31%/22%/5%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，国产化率达</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47%</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8" name="TextBox 23"/>
          <p:cNvSpPr txBox="1">
            <a:spLocks noChangeArrowheads="1"/>
          </p:cNvSpPr>
          <p:nvPr/>
        </p:nvSpPr>
        <p:spPr bwMode="auto">
          <a:xfrm>
            <a:off x="159972" y="2571750"/>
            <a:ext cx="464166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图：建成晶圆厂国产化率占比（按照产能，截至</a:t>
            </a:r>
            <a:r>
              <a:rPr lang="en-US" altLang="zh-CN" dirty="0"/>
              <a:t>25</a:t>
            </a:r>
            <a:r>
              <a:rPr lang="zh-CN" altLang="en-US" dirty="0"/>
              <a:t>年</a:t>
            </a:r>
            <a:r>
              <a:rPr lang="en-US" altLang="zh-CN" dirty="0"/>
              <a:t>9</a:t>
            </a:r>
            <a:r>
              <a:rPr lang="zh-CN" altLang="en-US" dirty="0"/>
              <a:t>月）</a:t>
            </a:r>
          </a:p>
        </p:txBody>
      </p:sp>
      <p:graphicFrame>
        <p:nvGraphicFramePr>
          <p:cNvPr id="10" name="图表 9"/>
          <p:cNvGraphicFramePr/>
          <p:nvPr/>
        </p:nvGraphicFramePr>
        <p:xfrm>
          <a:off x="159972" y="2751150"/>
          <a:ext cx="4213245" cy="17015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23"/>
          <p:cNvSpPr txBox="1">
            <a:spLocks noChangeArrowheads="1"/>
          </p:cNvSpPr>
          <p:nvPr/>
        </p:nvSpPr>
        <p:spPr bwMode="auto">
          <a:xfrm>
            <a:off x="4028085" y="2553976"/>
            <a:ext cx="495594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effectLst/>
                <a:uFillTx/>
                <a:latin typeface="+mj-lt"/>
                <a:ea typeface="+mj-ea"/>
                <a:cs typeface="+mj-cs"/>
              </a:defRPr>
            </a:lvl9pPr>
          </a:lstStyle>
          <a:p>
            <a:r>
              <a:rPr lang="zh-CN" altLang="en-US" dirty="0"/>
              <a:t>图：</a:t>
            </a:r>
            <a:r>
              <a:rPr lang="en-US" altLang="zh-CN" dirty="0"/>
              <a:t>2024</a:t>
            </a:r>
            <a:r>
              <a:rPr lang="zh-CN" altLang="en-US" dirty="0"/>
              <a:t>年新增电子大宗现场气体项目中标格局</a:t>
            </a:r>
          </a:p>
        </p:txBody>
      </p:sp>
      <p:graphicFrame>
        <p:nvGraphicFramePr>
          <p:cNvPr id="12" name="图表 11"/>
          <p:cNvGraphicFramePr/>
          <p:nvPr/>
        </p:nvGraphicFramePr>
        <p:xfrm>
          <a:off x="4572000" y="2798551"/>
          <a:ext cx="4097754" cy="1701581"/>
        </p:xfrm>
        <a:graphic>
          <a:graphicData uri="http://schemas.openxmlformats.org/drawingml/2006/chart">
            <c:chart xmlns:c="http://schemas.openxmlformats.org/drawingml/2006/chart" xmlns:r="http://schemas.openxmlformats.org/officeDocument/2006/relationships" r:id="rId4"/>
          </a:graphicData>
        </a:graphic>
      </p:graphicFrame>
      <p:sp>
        <p:nvSpPr>
          <p:cNvPr id="13" name="文本占位符 15"/>
          <p:cNvSpPr>
            <a:spLocks noGrp="1"/>
          </p:cNvSpPr>
          <p:nvPr/>
        </p:nvSpPr>
        <p:spPr>
          <a:xfrm>
            <a:off x="1320210" y="3729082"/>
            <a:ext cx="6106014" cy="2011680"/>
          </a:xfrm>
          <a:noFill/>
          <a:ln w="12700" cap="flat">
            <a:noFill/>
            <a:miter lim="400000"/>
          </a:ln>
          <a:effectLst/>
        </p:spPr>
        <p:style>
          <a:lnRef idx="0">
            <a:srgbClr val="FFFFFF"/>
          </a:lnRef>
          <a:fillRef idx="0">
            <a:srgbClr val="FFFFFF"/>
          </a:fillRef>
          <a:effectRef idx="0">
            <a:srgbClr val="FFFFFF"/>
          </a:effectRef>
          <a:fontRef idx="none"/>
        </p:style>
        <p:txBody>
          <a:bodyPr wrap="square" anchor="ctr">
            <a:spAutoFit/>
          </a:bodyPr>
          <a:lstStyle>
            <a:lvl1pPr marL="0" marR="0" indent="0" algn="l" defTabSz="914400" rtl="0" latinLnBrk="0">
              <a:lnSpc>
                <a:spcPct val="100000"/>
              </a:lnSpc>
              <a:spcBef>
                <a:spcPts val="1000"/>
              </a:spcBef>
              <a:spcAft>
                <a:spcPts val="0"/>
              </a:spcAft>
              <a:buClrTx/>
              <a:buSzPct val="100000"/>
              <a:buFont typeface="Arial" panose="020B0604020202020204"/>
              <a:buNone/>
              <a:defRPr sz="900" b="0" i="0" u="none" strike="noStrike" cap="none" spc="0" baseline="0">
                <a:ln>
                  <a:noFill/>
                </a:ln>
                <a:solidFill>
                  <a:schemeClr val="tx1">
                    <a:lumMod val="50000"/>
                    <a:lumOff val="50000"/>
                  </a:schemeClr>
                </a:solidFill>
                <a:uFillTx/>
                <a:latin typeface="+mj-lt"/>
                <a:ea typeface="+mj-ea"/>
                <a:cs typeface="+mj-cs"/>
                <a:sym typeface="等线" panose="02010600030101010101" charset="-122"/>
              </a:defRPr>
            </a:lvl1pPr>
            <a:lvl2pPr marL="457200" marR="0" indent="0" algn="l" defTabSz="914400" rtl="0" latinLnBrk="0">
              <a:lnSpc>
                <a:spcPct val="90000"/>
              </a:lnSpc>
              <a:spcBef>
                <a:spcPts val="1000"/>
              </a:spcBef>
              <a:spcAft>
                <a:spcPts val="0"/>
              </a:spcAft>
              <a:buClrTx/>
              <a:buSzPct val="100000"/>
              <a:buFont typeface="Arial" panose="020B0604020202020204"/>
              <a:buNone/>
              <a:defRPr sz="1400" b="0" i="0" u="none" strike="noStrike" cap="none" spc="0" baseline="0">
                <a:ln>
                  <a:noFill/>
                </a:ln>
                <a:solidFill>
                  <a:srgbClr val="000000"/>
                </a:solidFill>
                <a:uFillTx/>
                <a:latin typeface="+mj-lt"/>
                <a:ea typeface="+mj-ea"/>
                <a:cs typeface="+mj-cs"/>
                <a:sym typeface="等线" panose="02010600030101010101" charset="-122"/>
              </a:defRPr>
            </a:lvl2pPr>
            <a:lvl3pPr marL="914400" marR="0" indent="0" algn="l" defTabSz="914400" rtl="0" latinLnBrk="0">
              <a:lnSpc>
                <a:spcPct val="90000"/>
              </a:lnSpc>
              <a:spcBef>
                <a:spcPts val="1000"/>
              </a:spcBef>
              <a:spcAft>
                <a:spcPts val="0"/>
              </a:spcAft>
              <a:buClrTx/>
              <a:buSzPct val="100000"/>
              <a:buFont typeface="Arial" panose="020B0604020202020204"/>
              <a:buNone/>
              <a:defRPr sz="1400" b="0" i="0" u="none" strike="noStrike" cap="none" spc="0" baseline="0">
                <a:ln>
                  <a:noFill/>
                </a:ln>
                <a:solidFill>
                  <a:srgbClr val="000000"/>
                </a:solidFill>
                <a:uFillTx/>
                <a:latin typeface="+mj-lt"/>
                <a:ea typeface="+mj-ea"/>
                <a:cs typeface="+mj-cs"/>
                <a:sym typeface="等线" panose="02010600030101010101" charset="-122"/>
              </a:defRPr>
            </a:lvl3pPr>
            <a:lvl4pPr marL="1371600" marR="0" indent="0" algn="l" defTabSz="914400" rtl="0" latinLnBrk="0">
              <a:lnSpc>
                <a:spcPct val="90000"/>
              </a:lnSpc>
              <a:spcBef>
                <a:spcPts val="1000"/>
              </a:spcBef>
              <a:spcAft>
                <a:spcPts val="0"/>
              </a:spcAft>
              <a:buClrTx/>
              <a:buSzPct val="100000"/>
              <a:buFont typeface="Arial" panose="020B0604020202020204"/>
              <a:buNone/>
              <a:defRPr sz="1400" b="0" i="0" u="none" strike="noStrike" cap="none" spc="0" baseline="0">
                <a:ln>
                  <a:noFill/>
                </a:ln>
                <a:solidFill>
                  <a:srgbClr val="000000"/>
                </a:solidFill>
                <a:uFillTx/>
                <a:latin typeface="+mj-lt"/>
                <a:ea typeface="+mj-ea"/>
                <a:cs typeface="+mj-cs"/>
                <a:sym typeface="等线" panose="02010600030101010101" charset="-122"/>
              </a:defRPr>
            </a:lvl4pPr>
            <a:lvl5pPr marL="1828800" marR="0" indent="0" algn="l" defTabSz="914400" rtl="0" latinLnBrk="0">
              <a:lnSpc>
                <a:spcPct val="90000"/>
              </a:lnSpc>
              <a:spcBef>
                <a:spcPts val="1000"/>
              </a:spcBef>
              <a:spcAft>
                <a:spcPts val="0"/>
              </a:spcAft>
              <a:buClrTx/>
              <a:buSzPct val="100000"/>
              <a:buFont typeface="Arial" panose="020B0604020202020204"/>
              <a:buNone/>
              <a:defRPr sz="14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pPr hangingPunct="0">
              <a:spcBef>
                <a:spcPts val="0"/>
              </a:spcBef>
              <a:buSzTx/>
              <a:buFontTx/>
            </a:pPr>
            <a:r>
              <a:rPr lang="zh-CN" altLang="en-US" sz="800" i="1" dirty="0">
                <a:solidFill>
                  <a:schemeClr val="tx1">
                    <a:lumMod val="65000"/>
                    <a:lumOff val="35000"/>
                  </a:schemeClr>
                </a:solidFill>
                <a:latin typeface="思源黑体 Heavy" panose="020B0A00000000000000" pitchFamily="34" charset="-122"/>
                <a:ea typeface="思源黑体 Heavy" panose="020B0A00000000000000" pitchFamily="34" charset="-122"/>
              </a:rPr>
              <a:t>资料来源：新闻汇总整理、实体调研、公司公告</a:t>
            </a:r>
            <a:endParaRPr lang="en-US" altLang="zh-CN" sz="800" i="1" dirty="0">
              <a:solidFill>
                <a:schemeClr val="tx1">
                  <a:lumMod val="65000"/>
                  <a:lumOff val="35000"/>
                </a:schemeClr>
              </a:solidFill>
              <a:latin typeface="思源黑体 Heavy" panose="020B0A00000000000000" pitchFamily="34" charset="-122"/>
              <a:ea typeface="思源黑体 Heavy" panose="020B0A00000000000000" pitchFamily="34" charset="-122"/>
            </a:endParaRPr>
          </a:p>
          <a:p>
            <a:pPr hangingPunct="0">
              <a:spcBef>
                <a:spcPts val="0"/>
              </a:spcBef>
              <a:buSzTx/>
              <a:buFontTx/>
            </a:pPr>
            <a:r>
              <a:rPr lang="zh-CN" altLang="en-US" sz="800" i="1" dirty="0">
                <a:solidFill>
                  <a:schemeClr val="tx1">
                    <a:lumMod val="65000"/>
                    <a:lumOff val="35000"/>
                  </a:schemeClr>
                </a:solidFill>
                <a:latin typeface="思源黑体 Heavy" panose="020B0A00000000000000" pitchFamily="34" charset="-122"/>
                <a:ea typeface="思源黑体 Heavy" panose="020B0A00000000000000" pitchFamily="34" charset="-122"/>
              </a:rPr>
              <a:t>注：存量项目气体供应格局按照晶圆厂的产能进行粗略估算（项目具体用气量难以获取）</a:t>
            </a:r>
          </a:p>
        </p:txBody>
      </p:sp>
      <p:sp>
        <p:nvSpPr>
          <p:cNvPr id="3" name="Rectangle 1">
            <a:extLst>
              <a:ext uri="{FF2B5EF4-FFF2-40B4-BE49-F238E27FC236}">
                <a16:creationId xmlns:a16="http://schemas.microsoft.com/office/drawing/2014/main" xmlns="" id="{E7D5ECE1-FE3F-2F86-FC90-FDE9D84C9723}"/>
              </a:ext>
            </a:extLst>
          </p:cNvPr>
          <p:cNvSpPr>
            <a:spLocks noChangeArrowheads="1"/>
          </p:cNvSpPr>
          <p:nvPr/>
        </p:nvSpPr>
        <p:spPr bwMode="auto">
          <a:xfrm>
            <a:off x="790529" y="442844"/>
            <a:ext cx="7295639" cy="369332"/>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竞争格局：</a:t>
            </a:r>
            <a:r>
              <a:rPr lang="en-US" altLang="zh-CN" sz="2000" b="1" dirty="0">
                <a:solidFill>
                  <a:srgbClr val="0677D5"/>
                </a:solidFill>
                <a:latin typeface="+mj-ea"/>
                <a:ea typeface="思源黑体 CN Regular" panose="020B0500000000000000" charset="-122"/>
                <a:cs typeface="Arial" panose="020B0604020202020204" pitchFamily="34" charset="0"/>
              </a:rPr>
              <a:t>3+1+N</a:t>
            </a:r>
            <a:r>
              <a:rPr lang="zh-CN" altLang="en-US" sz="2000" b="1" dirty="0">
                <a:solidFill>
                  <a:srgbClr val="0677D5"/>
                </a:solidFill>
                <a:latin typeface="+mj-ea"/>
                <a:ea typeface="思源黑体 CN Regular" panose="020B0500000000000000" charset="-122"/>
                <a:cs typeface="Arial" panose="020B0604020202020204" pitchFamily="34" charset="0"/>
              </a:rPr>
              <a:t>格局，国产替代率提升</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9" name="矩形 8">
            <a:extLst>
              <a:ext uri="{FF2B5EF4-FFF2-40B4-BE49-F238E27FC236}">
                <a16:creationId xmlns:a16="http://schemas.microsoft.com/office/drawing/2014/main" xmlns="" id="{9EF05995-83CE-610C-E7C7-A3FD57C2F397}"/>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14" name="矩形 13">
            <a:extLst>
              <a:ext uri="{FF2B5EF4-FFF2-40B4-BE49-F238E27FC236}">
                <a16:creationId xmlns:a16="http://schemas.microsoft.com/office/drawing/2014/main" xmlns="" id="{5D24FE06-E011-9A84-5998-47D72314CFB7}"/>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59595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137274" y="2185150"/>
            <a:ext cx="9418549" cy="773199"/>
          </a:xfrm>
          <a:prstGeom prst="rect">
            <a:avLst/>
          </a:prstGeom>
        </p:spPr>
        <p:txBody>
          <a:bodyPr wrap="none" lIns="0" rIns="0" anchor="ctr" anchorCtr="0">
            <a:no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pPr marL="457200" indent="-457200" hangingPunct="0">
              <a:lnSpc>
                <a:spcPct val="100000"/>
              </a:lnSpc>
              <a:buClr>
                <a:srgbClr val="F69F27"/>
              </a:buClr>
              <a:buBlip>
                <a:blip r:embed="rId2"/>
              </a:buBlip>
            </a:pPr>
            <a:endParaRPr lang="zh-CN" altLang="en-US" sz="2400" b="1" dirty="0">
              <a:solidFill>
                <a:srgbClr val="0F4798"/>
              </a:solidFill>
              <a:latin typeface="微软雅黑" panose="020B0503020204020204" charset="-122"/>
              <a:cs typeface="+mj-cs"/>
              <a:sym typeface="等线" panose="02010600030101010101" charset="-122"/>
            </a:endParaRPr>
          </a:p>
        </p:txBody>
      </p:sp>
      <p:sp>
        <p:nvSpPr>
          <p:cNvPr id="5" name="文本占位符 5"/>
          <p:cNvSpPr txBox="1"/>
          <p:nvPr/>
        </p:nvSpPr>
        <p:spPr>
          <a:xfrm>
            <a:off x="139717" y="909369"/>
            <a:ext cx="11599817" cy="356038"/>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具体到国内气体厂商，可以看到获取电子大宗气体项目质地有较大区别：</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仅广钢中标超大供应项目（两存等</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5-15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万方，其他内资无项目）</a:t>
            </a:r>
          </a:p>
        </p:txBody>
      </p:sp>
      <p:sp>
        <p:nvSpPr>
          <p:cNvPr id="6" name="TextBox 23"/>
          <p:cNvSpPr txBox="1">
            <a:spLocks noChangeArrowheads="1"/>
          </p:cNvSpPr>
          <p:nvPr/>
        </p:nvSpPr>
        <p:spPr bwMode="auto">
          <a:xfrm>
            <a:off x="-909411" y="1152884"/>
            <a:ext cx="111536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表：国内主要电子大宗气体公司主要项目梳理（截至</a:t>
            </a:r>
            <a:r>
              <a:rPr lang="en-US" altLang="zh-CN" dirty="0"/>
              <a:t>25</a:t>
            </a:r>
            <a:r>
              <a:rPr lang="zh-CN" altLang="en-US" dirty="0"/>
              <a:t>年</a:t>
            </a:r>
            <a:r>
              <a:rPr lang="en-US" altLang="zh-CN" dirty="0"/>
              <a:t>9</a:t>
            </a:r>
            <a:r>
              <a:rPr lang="zh-CN" altLang="en-US" dirty="0"/>
              <a:t>月）</a:t>
            </a:r>
          </a:p>
        </p:txBody>
      </p:sp>
      <p:graphicFrame>
        <p:nvGraphicFramePr>
          <p:cNvPr id="10" name="表格 9"/>
          <p:cNvGraphicFramePr>
            <a:graphicFrameLocks noGrp="1"/>
          </p:cNvGraphicFramePr>
          <p:nvPr>
            <p:extLst>
              <p:ext uri="{D42A27DB-BD31-4B8C-83A1-F6EECF244321}">
                <p14:modId xmlns:p14="http://schemas.microsoft.com/office/powerpoint/2010/main" val="3170686772"/>
              </p:ext>
            </p:extLst>
          </p:nvPr>
        </p:nvGraphicFramePr>
        <p:xfrm>
          <a:off x="421419" y="1399105"/>
          <a:ext cx="8205746" cy="3526542"/>
        </p:xfrm>
        <a:graphic>
          <a:graphicData uri="http://schemas.openxmlformats.org/drawingml/2006/table">
            <a:tbl>
              <a:tblPr/>
              <a:tblGrid>
                <a:gridCol w="592883">
                  <a:extLst>
                    <a:ext uri="{9D8B030D-6E8A-4147-A177-3AD203B41FA5}">
                      <a16:colId xmlns:a16="http://schemas.microsoft.com/office/drawing/2014/main" xmlns="" val="20000"/>
                    </a:ext>
                  </a:extLst>
                </a:gridCol>
                <a:gridCol w="645447">
                  <a:extLst>
                    <a:ext uri="{9D8B030D-6E8A-4147-A177-3AD203B41FA5}">
                      <a16:colId xmlns:a16="http://schemas.microsoft.com/office/drawing/2014/main" xmlns="" val="20001"/>
                    </a:ext>
                  </a:extLst>
                </a:gridCol>
                <a:gridCol w="1229139">
                  <a:extLst>
                    <a:ext uri="{9D8B030D-6E8A-4147-A177-3AD203B41FA5}">
                      <a16:colId xmlns:a16="http://schemas.microsoft.com/office/drawing/2014/main" xmlns="" val="20002"/>
                    </a:ext>
                  </a:extLst>
                </a:gridCol>
                <a:gridCol w="669848">
                  <a:extLst>
                    <a:ext uri="{9D8B030D-6E8A-4147-A177-3AD203B41FA5}">
                      <a16:colId xmlns:a16="http://schemas.microsoft.com/office/drawing/2014/main" xmlns="" val="20003"/>
                    </a:ext>
                  </a:extLst>
                </a:gridCol>
                <a:gridCol w="1599829">
                  <a:extLst>
                    <a:ext uri="{9D8B030D-6E8A-4147-A177-3AD203B41FA5}">
                      <a16:colId xmlns:a16="http://schemas.microsoft.com/office/drawing/2014/main" xmlns="" val="20004"/>
                    </a:ext>
                  </a:extLst>
                </a:gridCol>
                <a:gridCol w="1300673">
                  <a:extLst>
                    <a:ext uri="{9D8B030D-6E8A-4147-A177-3AD203B41FA5}">
                      <a16:colId xmlns:a16="http://schemas.microsoft.com/office/drawing/2014/main" xmlns="" val="20005"/>
                    </a:ext>
                  </a:extLst>
                </a:gridCol>
                <a:gridCol w="819426">
                  <a:extLst>
                    <a:ext uri="{9D8B030D-6E8A-4147-A177-3AD203B41FA5}">
                      <a16:colId xmlns:a16="http://schemas.microsoft.com/office/drawing/2014/main" xmlns="" val="20006"/>
                    </a:ext>
                  </a:extLst>
                </a:gridCol>
                <a:gridCol w="611318">
                  <a:extLst>
                    <a:ext uri="{9D8B030D-6E8A-4147-A177-3AD203B41FA5}">
                      <a16:colId xmlns:a16="http://schemas.microsoft.com/office/drawing/2014/main" xmlns="" val="20007"/>
                    </a:ext>
                  </a:extLst>
                </a:gridCol>
                <a:gridCol w="737183">
                  <a:extLst>
                    <a:ext uri="{9D8B030D-6E8A-4147-A177-3AD203B41FA5}">
                      <a16:colId xmlns:a16="http://schemas.microsoft.com/office/drawing/2014/main" xmlns="" val="20008"/>
                    </a:ext>
                  </a:extLst>
                </a:gridCol>
              </a:tblGrid>
              <a:tr h="100545">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厂商名称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中标</a:t>
                      </a:r>
                      <a:r>
                        <a:rPr lang="en-US" altLang="zh-CN"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公告时间</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项目名称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项目所在地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a:solidFill>
                            <a:schemeClr val="bg1"/>
                          </a:solidFill>
                          <a:effectLst/>
                          <a:latin typeface="Arial" panose="020B0604020202020204" pitchFamily="34" charset="0"/>
                          <a:ea typeface="黑体" panose="02010609060101010101" charset="-122"/>
                        </a:rPr>
                        <a:t>客户情况</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chemeClr val="accent1"/>
                    </a:solidFill>
                  </a:tcPr>
                </a:tc>
                <a:tc hMerge="1">
                  <a:txBody>
                    <a:bodyPr/>
                    <a:lstStyle/>
                    <a:p>
                      <a:endParaRPr lang="zh-CN"/>
                    </a:p>
                  </a:txBody>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项目规模（万方</a:t>
                      </a:r>
                      <a:r>
                        <a:rPr lang="en-US" altLang="zh-CN" sz="700" b="1" i="0" u="none" strike="noStrike">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en-US" sz="700" b="1" i="0" u="none" strike="noStrike">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h)</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a:solidFill>
                            <a:schemeClr val="bg1"/>
                          </a:solidFill>
                          <a:effectLst/>
                          <a:latin typeface="Arial" panose="020B0604020202020204" pitchFamily="34" charset="0"/>
                          <a:ea typeface="思源黑体 Heavy" panose="020B0A00000000000000" pitchFamily="34" charset="-122"/>
                        </a:rPr>
                        <a:t>投资额（亿元）</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预计年收入（亿元）</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100545">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产品类型</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项目对应产品</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chemeClr val="accent1"/>
                    </a:solidFill>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xmlns="" val="10001"/>
                  </a:ext>
                </a:extLst>
              </a:tr>
              <a:tr h="100545">
                <a:tc rowSpan="2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广钢气体</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风华高科</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肇庆</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MLCC</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0.09</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xmlns="" val="10002"/>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赛意法微电子</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半导体芯片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0.09</a:t>
                      </a:r>
                    </a:p>
                  </a:txBody>
                  <a:tcPr marL="0" marR="0" marT="0" marB="0" anchor="ctr">
                    <a:lnL>
                      <a:noFill/>
                    </a:lnL>
                    <a:lnR>
                      <a:noFill/>
                    </a:lnR>
                    <a:lnT>
                      <a:noFill/>
                    </a:lnT>
                    <a:lnB>
                      <a:noFill/>
                    </a:lnB>
                    <a:noFill/>
                  </a:tcPr>
                </a:tc>
                <a:extLst>
                  <a:ext uri="{0D108BD9-81ED-4DB2-BD59-A6C34878D82A}">
                    <a16:rowId xmlns:a16="http://schemas.microsoft.com/office/drawing/2014/main" xmlns="" val="10003"/>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华科电子</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东莞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半导体芯片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0.07</a:t>
                      </a:r>
                    </a:p>
                  </a:txBody>
                  <a:tcPr marL="0" marR="0" marT="0" marB="0" anchor="ctr">
                    <a:lnL>
                      <a:noFill/>
                    </a:lnL>
                    <a:lnR>
                      <a:noFill/>
                    </a:lnR>
                    <a:lnT>
                      <a:noFill/>
                    </a:lnT>
                    <a:lnB>
                      <a:noFill/>
                    </a:lnB>
                    <a:noFill/>
                  </a:tcPr>
                </a:tc>
                <a:extLst>
                  <a:ext uri="{0D108BD9-81ED-4DB2-BD59-A6C34878D82A}">
                    <a16:rowId xmlns:a16="http://schemas.microsoft.com/office/drawing/2014/main" xmlns="" val="10004"/>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2016</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年之前</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信利半导体电子城一期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汕尾</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AMOLED</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TFT-LCD</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rowSpan="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0.5</a:t>
                      </a:r>
                    </a:p>
                  </a:txBody>
                  <a:tcPr marL="0" marR="0" marT="0" marB="0" anchor="ctr">
                    <a:lnL>
                      <a:noFill/>
                    </a:lnL>
                    <a:lnR>
                      <a:noFill/>
                    </a:lnR>
                    <a:lnT>
                      <a:noFill/>
                    </a:lnT>
                    <a:lnB>
                      <a:noFill/>
                    </a:lnB>
                    <a:noFill/>
                  </a:tcPr>
                </a:tc>
                <a:extLst>
                  <a:ext uri="{0D108BD9-81ED-4DB2-BD59-A6C34878D82A}">
                    <a16:rowId xmlns:a16="http://schemas.microsoft.com/office/drawing/2014/main" xmlns="" val="10005"/>
                  </a:ext>
                </a:extLst>
              </a:tr>
              <a:tr h="112782">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2020</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年之前</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信利半导体电子城二期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汕尾</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vMerge="1">
                  <a:txBody>
                    <a:bodyPr/>
                    <a:lstStyle/>
                    <a:p>
                      <a:endParaRPr lang="zh-CN"/>
                    </a:p>
                  </a:txBody>
                  <a:tcPr/>
                </a:tc>
                <a:extLst>
                  <a:ext uri="{0D108BD9-81ED-4DB2-BD59-A6C34878D82A}">
                    <a16:rowId xmlns:a16="http://schemas.microsoft.com/office/drawing/2014/main" xmlns="" val="10006"/>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2017</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年之前</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信利半导体红草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汕尾</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TFT-LCD</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vMerge="1">
                  <a:txBody>
                    <a:bodyPr/>
                    <a:lstStyle/>
                    <a:p>
                      <a:endParaRPr lang="zh-CN"/>
                    </a:p>
                  </a:txBody>
                  <a:tcPr/>
                </a:tc>
                <a:extLst>
                  <a:ext uri="{0D108BD9-81ED-4DB2-BD59-A6C34878D82A}">
                    <a16:rowId xmlns:a16="http://schemas.microsoft.com/office/drawing/2014/main" xmlns="" val="10007"/>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2016</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年之前</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信利半导体惠州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惠州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OLED</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vMerge="1">
                  <a:txBody>
                    <a:bodyPr/>
                    <a:lstStyle/>
                    <a:p>
                      <a:endParaRPr lang="zh-CN"/>
                    </a:p>
                  </a:txBody>
                  <a:tcPr/>
                </a:tc>
                <a:extLst>
                  <a:ext uri="{0D108BD9-81ED-4DB2-BD59-A6C34878D82A}">
                    <a16:rowId xmlns:a16="http://schemas.microsoft.com/office/drawing/2014/main" xmlns="" val="10008"/>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2018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滁州惠科</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滁州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8.6</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代显示面板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1.35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1.00</a:t>
                      </a:r>
                    </a:p>
                  </a:txBody>
                  <a:tcPr marL="0" marR="0" marT="0" marB="0" anchor="ctr">
                    <a:lnL>
                      <a:noFill/>
                    </a:lnL>
                    <a:lnR>
                      <a:noFill/>
                    </a:lnR>
                    <a:lnT>
                      <a:noFill/>
                    </a:lnT>
                    <a:lnB>
                      <a:noFill/>
                    </a:lnB>
                    <a:noFill/>
                  </a:tcPr>
                </a:tc>
                <a:extLst>
                  <a:ext uri="{0D108BD9-81ED-4DB2-BD59-A6C34878D82A}">
                    <a16:rowId xmlns:a16="http://schemas.microsoft.com/office/drawing/2014/main" xmlns="" val="10009"/>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2020</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长沙惠科</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长沙</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8.6</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代显示面板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16</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1.35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p>
                  </a:txBody>
                  <a:tcPr marL="0" marR="0" marT="0" marB="0" anchor="ctr">
                    <a:lnL>
                      <a:noFill/>
                    </a:lnL>
                    <a:lnR>
                      <a:noFill/>
                    </a:lnR>
                    <a:lnT>
                      <a:noFill/>
                    </a:lnT>
                    <a:lnB>
                      <a:noFill/>
                    </a:lnB>
                    <a:noFill/>
                  </a:tcPr>
                </a:tc>
                <a:tc vMerge="1">
                  <a:txBody>
                    <a:bodyPr/>
                    <a:lstStyle/>
                    <a:p>
                      <a:endParaRPr lang="zh-CN"/>
                    </a:p>
                  </a:txBody>
                  <a:tcPr/>
                </a:tc>
                <a:extLst>
                  <a:ext uri="{0D108BD9-81ED-4DB2-BD59-A6C34878D82A}">
                    <a16:rowId xmlns:a16="http://schemas.microsoft.com/office/drawing/2014/main" xmlns="" val="10010"/>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晶合扩建</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0.85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0.3</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p>
                  </a:txBody>
                  <a:tcPr marL="0" marR="0" marT="0" marB="0" anchor="ctr">
                    <a:lnL>
                      <a:noFill/>
                    </a:lnL>
                    <a:lnR>
                      <a:noFill/>
                    </a:lnR>
                    <a:lnT>
                      <a:noFill/>
                    </a:lnT>
                    <a:lnB>
                      <a:noFill/>
                    </a:lnB>
                    <a:noFill/>
                  </a:tcPr>
                </a:tc>
                <a:extLst>
                  <a:ext uri="{0D108BD9-81ED-4DB2-BD59-A6C34878D82A}">
                    <a16:rowId xmlns:a16="http://schemas.microsoft.com/office/drawing/2014/main" xmlns="" val="10011"/>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合肥长鑫二期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存储芯片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吋芯片</a:t>
                      </a: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10</a:t>
                      </a:r>
                      <a:r>
                        <a:rPr 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G4</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工艺</a:t>
                      </a: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20</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7.50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4.4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1.9</a:t>
                      </a:r>
                    </a:p>
                  </a:txBody>
                  <a:tcPr marL="0" marR="0" marT="0" marB="0" anchor="ctr">
                    <a:lnL>
                      <a:noFill/>
                    </a:lnL>
                    <a:lnR>
                      <a:noFill/>
                    </a:lnR>
                    <a:lnT>
                      <a:noFill/>
                    </a:lnT>
                    <a:lnB>
                      <a:noFill/>
                    </a:lnB>
                    <a:noFill/>
                  </a:tcPr>
                </a:tc>
                <a:extLst>
                  <a:ext uri="{0D108BD9-81ED-4DB2-BD59-A6C34878D82A}">
                    <a16:rowId xmlns:a16="http://schemas.microsoft.com/office/drawing/2014/main" xmlns="" val="10012"/>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华星光电</a:t>
                      </a: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T9</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8.6</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代玻璃基板</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万张</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2.40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3.2</a:t>
                      </a:r>
                    </a:p>
                  </a:txBody>
                  <a:tcPr marL="0" marR="0" marT="0" marB="0" anchor="ctr">
                    <a:lnL>
                      <a:noFill/>
                    </a:lnL>
                    <a:lnR>
                      <a:noFill/>
                    </a:lnR>
                    <a:lnT>
                      <a:noFill/>
                    </a:lnT>
                    <a:lnB>
                      <a:noFill/>
                    </a:lnB>
                    <a:noFill/>
                  </a:tcPr>
                </a:tc>
                <a:extLst>
                  <a:ext uri="{0D108BD9-81ED-4DB2-BD59-A6C34878D82A}">
                    <a16:rowId xmlns:a16="http://schemas.microsoft.com/office/drawing/2014/main" xmlns="" val="10013"/>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华星光电</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T7</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扩容</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K</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9</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xmlns="" val="10014"/>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鼎泰匠芯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功率半导体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芯片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0.9</a:t>
                      </a:r>
                    </a:p>
                  </a:txBody>
                  <a:tcPr marL="0" marR="0" marT="0" marB="0" anchor="ctr">
                    <a:lnL>
                      <a:noFill/>
                    </a:lnL>
                    <a:lnR>
                      <a:noFill/>
                    </a:lnR>
                    <a:lnT>
                      <a:noFill/>
                    </a:lnT>
                    <a:lnB>
                      <a:noFill/>
                    </a:lnB>
                    <a:noFill/>
                  </a:tcPr>
                </a:tc>
                <a:extLst>
                  <a:ext uri="{0D108BD9-81ED-4DB2-BD59-A6C34878D82A}">
                    <a16:rowId xmlns:a16="http://schemas.microsoft.com/office/drawing/2014/main" xmlns="" val="10015"/>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长鑫集电二期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存储芯片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6.40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6.3</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2.1</a:t>
                      </a:r>
                    </a:p>
                  </a:txBody>
                  <a:tcPr marL="0" marR="0" marT="0" marB="0" anchor="ctr">
                    <a:lnL>
                      <a:noFill/>
                    </a:lnL>
                    <a:lnR>
                      <a:noFill/>
                    </a:lnR>
                    <a:lnT>
                      <a:noFill/>
                    </a:lnT>
                    <a:lnB>
                      <a:noFill/>
                    </a:lnB>
                    <a:noFill/>
                  </a:tcPr>
                </a:tc>
                <a:extLst>
                  <a:ext uri="{0D108BD9-81ED-4DB2-BD59-A6C34878D82A}">
                    <a16:rowId xmlns:a16="http://schemas.microsoft.com/office/drawing/2014/main" xmlns="" val="10016"/>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青岛芯恩二期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青岛</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C00000"/>
                          </a:solidFill>
                          <a:effectLst/>
                          <a:latin typeface="Arial" panose="020B0604020202020204" pitchFamily="34" charset="0"/>
                          <a:ea typeface="思源黑体 Heavy" panose="020B0A00000000000000" pitchFamily="34" charset="-122"/>
                        </a:rPr>
                        <a:t>逻辑芯片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TW"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12</a:t>
                      </a:r>
                      <a:r>
                        <a:rPr lang="zh-TW"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吋芯片</a:t>
                      </a:r>
                      <a:r>
                        <a:rPr lang="en-US" altLang="zh-TW"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a:t>
                      </a:r>
                      <a:r>
                        <a:rPr lang="zh-TW"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TW"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a:t>
                      </a:r>
                      <a:r>
                        <a:rPr lang="zh-TW" altLang="en-US"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6.00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7</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4.4</a:t>
                      </a:r>
                    </a:p>
                  </a:txBody>
                  <a:tcPr marL="0" marR="0" marT="0" marB="0" anchor="ctr">
                    <a:lnL>
                      <a:noFill/>
                    </a:lnL>
                    <a:lnR>
                      <a:noFill/>
                    </a:lnR>
                    <a:lnT>
                      <a:noFill/>
                    </a:lnT>
                    <a:lnB>
                      <a:noFill/>
                    </a:lnB>
                    <a:noFill/>
                  </a:tcPr>
                </a:tc>
                <a:extLst>
                  <a:ext uri="{0D108BD9-81ED-4DB2-BD59-A6C34878D82A}">
                    <a16:rowId xmlns:a16="http://schemas.microsoft.com/office/drawing/2014/main" xmlns="" val="10017"/>
                  </a:ext>
                </a:extLst>
              </a:tr>
              <a:tr h="103388">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晶合集成</a:t>
                      </a: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N1A3</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N1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工厂</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吋芯片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4.95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2.4</a:t>
                      </a:r>
                    </a:p>
                  </a:txBody>
                  <a:tcPr marL="0" marR="0" marT="0" marB="0" anchor="ctr">
                    <a:lnL>
                      <a:noFill/>
                    </a:lnL>
                    <a:lnR>
                      <a:noFill/>
                    </a:lnR>
                    <a:lnT>
                      <a:noFill/>
                    </a:lnT>
                    <a:lnB>
                      <a:noFill/>
                    </a:lnB>
                    <a:noFill/>
                  </a:tcPr>
                </a:tc>
                <a:extLst>
                  <a:ext uri="{0D108BD9-81ED-4DB2-BD59-A6C34878D82A}">
                    <a16:rowId xmlns:a16="http://schemas.microsoft.com/office/drawing/2014/main" xmlns="" val="10018"/>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粤芯半导体三期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模拟芯片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吋芯片</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1.3</a:t>
                      </a:r>
                    </a:p>
                  </a:txBody>
                  <a:tcPr marL="0" marR="0" marT="0" marB="0" anchor="ctr">
                    <a:lnL>
                      <a:noFill/>
                    </a:lnL>
                    <a:lnR>
                      <a:noFill/>
                    </a:lnR>
                    <a:lnT>
                      <a:noFill/>
                    </a:lnT>
                    <a:lnB>
                      <a:noFill/>
                    </a:lnB>
                    <a:noFill/>
                  </a:tcPr>
                </a:tc>
                <a:extLst>
                  <a:ext uri="{0D108BD9-81ED-4DB2-BD59-A6C34878D82A}">
                    <a16:rowId xmlns:a16="http://schemas.microsoft.com/office/drawing/2014/main" xmlns="" val="10019"/>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深圳方正微二期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第三代半导体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0.60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0.2</a:t>
                      </a:r>
                    </a:p>
                  </a:txBody>
                  <a:tcPr marL="0" marR="0" marT="0" marB="0" anchor="ctr">
                    <a:lnL>
                      <a:noFill/>
                    </a:lnL>
                    <a:lnR>
                      <a:noFill/>
                    </a:lnR>
                    <a:lnT>
                      <a:noFill/>
                    </a:lnT>
                    <a:lnB>
                      <a:noFill/>
                    </a:lnB>
                    <a:noFill/>
                  </a:tcPr>
                </a:tc>
                <a:extLst>
                  <a:ext uri="{0D108BD9-81ED-4DB2-BD59-A6C34878D82A}">
                    <a16:rowId xmlns:a16="http://schemas.microsoft.com/office/drawing/2014/main" xmlns="" val="10020"/>
                  </a:ext>
                </a:extLst>
              </a:tr>
              <a:tr h="201091">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西安奕斯伟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西安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RISC-V CPU IP、</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智慧连接芯片、多媒体</a:t>
                      </a: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SoC</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1"/>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深圳鹏进高科</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先进功率器件</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2"/>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增芯科技</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传感器</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吋</a:t>
                      </a: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MEMS</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智能传感器</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3"/>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广州广芯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封装基板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4"/>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2024</a:t>
                      </a:r>
                      <a:r>
                        <a:rPr lang="zh-CN" altLang="en-US"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年</a:t>
                      </a:r>
                      <a:endPar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2025</a:t>
                      </a: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年</a:t>
                      </a: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12</a:t>
                      </a: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月</a:t>
                      </a:r>
                      <a:endPar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2025</a:t>
                      </a: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年</a:t>
                      </a: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11</a:t>
                      </a: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月</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长江存储</a:t>
                      </a:r>
                      <a:r>
                        <a:rPr lang="en-US"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FAB3</a:t>
                      </a:r>
                    </a:p>
                    <a:p>
                      <a:pPr algn="ctr" fontAlgn="ctr">
                        <a:buNone/>
                      </a:pP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长鑫</a:t>
                      </a: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P3</a:t>
                      </a:r>
                    </a:p>
                    <a:p>
                      <a:pPr algn="ctr" fontAlgn="ctr">
                        <a:buNone/>
                      </a:pP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武汉新芯</a:t>
                      </a:r>
                      <a:endParaRPr 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武汉</a:t>
                      </a:r>
                      <a:endPar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合肥</a:t>
                      </a:r>
                      <a:endPar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武汉</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存储芯片</a:t>
                      </a:r>
                      <a:endPar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r>
                        <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存储芯片</a:t>
                      </a:r>
                      <a:endPar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p>
                      <a:pPr algn="ctr" fontAlgn="ctr">
                        <a:buNone/>
                      </a:pPr>
                      <a:endPar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13</a:t>
                      </a: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3.75</a:t>
                      </a: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3</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kern="1200" cap="none" spc="0" baseline="0" dirty="0">
                          <a:ln>
                            <a:noFill/>
                          </a:ln>
                          <a:solidFill>
                            <a:srgbClr val="C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6.5</a:t>
                      </a: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1.88</a:t>
                      </a:r>
                    </a:p>
                    <a:p>
                      <a:pPr algn="ctr" fontAlgn="ctr">
                        <a:buNone/>
                      </a:pPr>
                      <a:r>
                        <a:rPr lang="en-US" altLang="zh-CN" sz="700" b="0" i="0" u="none" strike="noStrike" kern="1200" cap="none" spc="0" baseline="0" dirty="0">
                          <a:ln>
                            <a:noFill/>
                          </a:ln>
                          <a:solidFill>
                            <a:srgbClr val="000000"/>
                          </a:solidFill>
                          <a:effectLst/>
                          <a:uFillTx/>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1.5</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25"/>
                  </a:ext>
                </a:extLst>
              </a:tr>
              <a:tr h="100545">
                <a:tc rowSpan="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杭氧股份</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2019</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7</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青岛芯恩</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青岛</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逻辑芯片</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2.00</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2.15</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xmlns="" val="10026"/>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斯达微电子</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嘉兴市</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SiC</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err="1">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SiC</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芯片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0.40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0.54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7"/>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青岛芯恩一期二阶段</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青岛</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逻辑芯片</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8"/>
                  </a:ext>
                </a:extLst>
              </a:tr>
              <a:tr h="10054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2024</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物元半导体</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青岛</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先进封装</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1.50</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1.35</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29"/>
                  </a:ext>
                </a:extLst>
              </a:tr>
            </a:tbl>
          </a:graphicData>
        </a:graphic>
      </p:graphicFrame>
      <p:sp>
        <p:nvSpPr>
          <p:cNvPr id="3" name="Rectangle 1">
            <a:extLst>
              <a:ext uri="{FF2B5EF4-FFF2-40B4-BE49-F238E27FC236}">
                <a16:creationId xmlns:a16="http://schemas.microsoft.com/office/drawing/2014/main" xmlns="" id="{1329E6E1-17D0-A7A4-C986-8F8BC504B5B1}"/>
              </a:ext>
            </a:extLst>
          </p:cNvPr>
          <p:cNvSpPr>
            <a:spLocks noChangeArrowheads="1"/>
          </p:cNvSpPr>
          <p:nvPr/>
        </p:nvSpPr>
        <p:spPr bwMode="auto">
          <a:xfrm>
            <a:off x="790529" y="442844"/>
            <a:ext cx="7295639" cy="369332"/>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竞争格局：</a:t>
            </a:r>
            <a:r>
              <a:rPr lang="en-US" altLang="zh-CN" sz="2000" b="1" dirty="0">
                <a:solidFill>
                  <a:srgbClr val="0677D5"/>
                </a:solidFill>
                <a:latin typeface="+mj-ea"/>
                <a:ea typeface="思源黑体 CN Regular" panose="020B0500000000000000" charset="-122"/>
                <a:cs typeface="Arial" panose="020B0604020202020204" pitchFamily="34" charset="0"/>
              </a:rPr>
              <a:t>3+1+N</a:t>
            </a:r>
            <a:r>
              <a:rPr lang="zh-CN" altLang="en-US" sz="2000" b="1" dirty="0">
                <a:solidFill>
                  <a:srgbClr val="0677D5"/>
                </a:solidFill>
                <a:latin typeface="+mj-ea"/>
                <a:ea typeface="思源黑体 CN Regular" panose="020B0500000000000000" charset="-122"/>
                <a:cs typeface="Arial" panose="020B0604020202020204" pitchFamily="34" charset="0"/>
              </a:rPr>
              <a:t>格局，国产替代率提升</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7" name="矩形 6">
            <a:extLst>
              <a:ext uri="{FF2B5EF4-FFF2-40B4-BE49-F238E27FC236}">
                <a16:creationId xmlns:a16="http://schemas.microsoft.com/office/drawing/2014/main" xmlns="" id="{014D656E-0103-8188-8345-ECF4F17909F2}"/>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8" name="矩形 7">
            <a:extLst>
              <a:ext uri="{FF2B5EF4-FFF2-40B4-BE49-F238E27FC236}">
                <a16:creationId xmlns:a16="http://schemas.microsoft.com/office/drawing/2014/main" xmlns="" id="{816080E4-58BA-B10D-C6E0-FAA9E85CC0F1}"/>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587342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3"/>
          <p:cNvSpPr txBox="1">
            <a:spLocks noChangeArrowheads="1"/>
          </p:cNvSpPr>
          <p:nvPr/>
        </p:nvSpPr>
        <p:spPr bwMode="auto">
          <a:xfrm>
            <a:off x="-1004827" y="923008"/>
            <a:ext cx="111536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表：国内主要电子大宗气体公司主要项目梳理（续表，截至</a:t>
            </a:r>
            <a:r>
              <a:rPr lang="en-US" altLang="zh-CN" dirty="0"/>
              <a:t>25</a:t>
            </a:r>
            <a:r>
              <a:rPr lang="zh-CN" altLang="en-US" dirty="0"/>
              <a:t>年</a:t>
            </a:r>
            <a:r>
              <a:rPr lang="en-US" altLang="zh-CN" dirty="0"/>
              <a:t>9</a:t>
            </a:r>
            <a:r>
              <a:rPr lang="zh-CN" altLang="en-US" dirty="0"/>
              <a:t>月）</a:t>
            </a:r>
          </a:p>
        </p:txBody>
      </p:sp>
      <p:graphicFrame>
        <p:nvGraphicFramePr>
          <p:cNvPr id="5" name="表格 4"/>
          <p:cNvGraphicFramePr>
            <a:graphicFrameLocks noGrp="1"/>
          </p:cNvGraphicFramePr>
          <p:nvPr/>
        </p:nvGraphicFramePr>
        <p:xfrm>
          <a:off x="469127" y="1169229"/>
          <a:ext cx="8213698" cy="3494405"/>
        </p:xfrm>
        <a:graphic>
          <a:graphicData uri="http://schemas.openxmlformats.org/drawingml/2006/table">
            <a:tbl>
              <a:tblPr/>
              <a:tblGrid>
                <a:gridCol w="497129">
                  <a:extLst>
                    <a:ext uri="{9D8B030D-6E8A-4147-A177-3AD203B41FA5}">
                      <a16:colId xmlns:a16="http://schemas.microsoft.com/office/drawing/2014/main" xmlns="" val="20000"/>
                    </a:ext>
                  </a:extLst>
                </a:gridCol>
                <a:gridCol w="870590">
                  <a:extLst>
                    <a:ext uri="{9D8B030D-6E8A-4147-A177-3AD203B41FA5}">
                      <a16:colId xmlns:a16="http://schemas.microsoft.com/office/drawing/2014/main" xmlns="" val="20001"/>
                    </a:ext>
                  </a:extLst>
                </a:gridCol>
                <a:gridCol w="1735644">
                  <a:extLst>
                    <a:ext uri="{9D8B030D-6E8A-4147-A177-3AD203B41FA5}">
                      <a16:colId xmlns:a16="http://schemas.microsoft.com/office/drawing/2014/main" xmlns="" val="20002"/>
                    </a:ext>
                  </a:extLst>
                </a:gridCol>
                <a:gridCol w="642329">
                  <a:extLst>
                    <a:ext uri="{9D8B030D-6E8A-4147-A177-3AD203B41FA5}">
                      <a16:colId xmlns:a16="http://schemas.microsoft.com/office/drawing/2014/main" xmlns="" val="20003"/>
                    </a:ext>
                  </a:extLst>
                </a:gridCol>
                <a:gridCol w="1289582">
                  <a:extLst>
                    <a:ext uri="{9D8B030D-6E8A-4147-A177-3AD203B41FA5}">
                      <a16:colId xmlns:a16="http://schemas.microsoft.com/office/drawing/2014/main" xmlns="" val="20004"/>
                    </a:ext>
                  </a:extLst>
                </a:gridCol>
                <a:gridCol w="969032">
                  <a:extLst>
                    <a:ext uri="{9D8B030D-6E8A-4147-A177-3AD203B41FA5}">
                      <a16:colId xmlns:a16="http://schemas.microsoft.com/office/drawing/2014/main" xmlns="" val="20005"/>
                    </a:ext>
                  </a:extLst>
                </a:gridCol>
                <a:gridCol w="766612">
                  <a:extLst>
                    <a:ext uri="{9D8B030D-6E8A-4147-A177-3AD203B41FA5}">
                      <a16:colId xmlns:a16="http://schemas.microsoft.com/office/drawing/2014/main" xmlns="" val="20006"/>
                    </a:ext>
                  </a:extLst>
                </a:gridCol>
                <a:gridCol w="589417">
                  <a:extLst>
                    <a:ext uri="{9D8B030D-6E8A-4147-A177-3AD203B41FA5}">
                      <a16:colId xmlns:a16="http://schemas.microsoft.com/office/drawing/2014/main" xmlns="" val="20007"/>
                    </a:ext>
                  </a:extLst>
                </a:gridCol>
                <a:gridCol w="853363">
                  <a:extLst>
                    <a:ext uri="{9D8B030D-6E8A-4147-A177-3AD203B41FA5}">
                      <a16:colId xmlns:a16="http://schemas.microsoft.com/office/drawing/2014/main" xmlns="" val="20008"/>
                    </a:ext>
                  </a:extLst>
                </a:gridCol>
              </a:tblGrid>
              <a:tr h="0">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厂商名称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中标</a:t>
                      </a:r>
                      <a:r>
                        <a:rPr lang="en-US" altLang="zh-CN"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公告时间</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项目名称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项目所在地</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客户情况</a:t>
                      </a:r>
                    </a:p>
                  </a:txBody>
                  <a:tcPr marL="0" marR="0" marT="0" marB="0" anchor="ctr">
                    <a:lnL>
                      <a:noFill/>
                    </a:lnL>
                    <a:lnR>
                      <a:noFill/>
                    </a:lnR>
                    <a:lnT w="12700" cap="flat" cmpd="sng" algn="ctr">
                      <a:solidFill>
                        <a:schemeClr val="tx1"/>
                      </a:solidFill>
                      <a:prstDash val="solid"/>
                      <a:round/>
                      <a:headEnd type="none" w="med" len="med"/>
                      <a:tailEnd type="none" w="med" len="med"/>
                    </a:lnT>
                    <a:lnB>
                      <a:noFill/>
                    </a:lnB>
                    <a:solidFill>
                      <a:schemeClr val="accent1"/>
                    </a:solidFill>
                  </a:tcPr>
                </a:tc>
                <a:tc hMerge="1">
                  <a:txBody>
                    <a:bodyPr/>
                    <a:lstStyle/>
                    <a:p>
                      <a:endParaRPr lang="zh-CN"/>
                    </a:p>
                  </a:txBody>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项目规模（万方</a:t>
                      </a:r>
                      <a:r>
                        <a:rPr lang="en-US" altLang="zh-CN"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h)</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投资额（亿元）</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预计年收入（亿元）</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0">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产品类型</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项目对应产品</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chemeClr val="accent1"/>
                    </a:solidFill>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xmlns="" val="10001"/>
                  </a:ext>
                </a:extLst>
              </a:tr>
              <a:tr h="0">
                <a:tc rowSpan="1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金宏气体</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北方集成电路一期</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0.8</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xmlns="" val="10002"/>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芯粤能半导体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SiC</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0.5</a:t>
                      </a:r>
                    </a:p>
                  </a:txBody>
                  <a:tcPr marL="0" marR="0" marT="0" marB="0" anchor="ctr">
                    <a:lnL>
                      <a:noFill/>
                    </a:lnL>
                    <a:lnR>
                      <a:noFill/>
                    </a:lnR>
                    <a:lnT>
                      <a:noFill/>
                    </a:lnT>
                    <a:lnB>
                      <a:noFill/>
                    </a:lnB>
                    <a:noFill/>
                  </a:tcPr>
                </a:tc>
                <a:extLst>
                  <a:ext uri="{0D108BD9-81ED-4DB2-BD59-A6C34878D82A}">
                    <a16:rowId xmlns:a16="http://schemas.microsoft.com/office/drawing/2014/main" xmlns="" val="10003"/>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广东光大</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MINI-LED、GaN</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0.13-0.17</a:t>
                      </a:r>
                    </a:p>
                  </a:txBody>
                  <a:tcPr marL="0" marR="0" marT="0" marB="0" anchor="ctr">
                    <a:lnL>
                      <a:noFill/>
                    </a:lnL>
                    <a:lnR>
                      <a:noFill/>
                    </a:lnR>
                    <a:lnT>
                      <a:noFill/>
                    </a:lnT>
                    <a:lnB>
                      <a:noFill/>
                    </a:lnB>
                    <a:noFill/>
                  </a:tcPr>
                </a:tc>
                <a:extLst>
                  <a:ext uri="{0D108BD9-81ED-4DB2-BD59-A6C34878D82A}">
                    <a16:rowId xmlns:a16="http://schemas.microsoft.com/office/drawing/2014/main" xmlns="" val="10004"/>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天马</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厦门</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显示面板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3.00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0.37-0.49</a:t>
                      </a:r>
                    </a:p>
                  </a:txBody>
                  <a:tcPr marL="0" marR="0" marT="0" marB="0" anchor="ctr">
                    <a:lnL>
                      <a:noFill/>
                    </a:lnL>
                    <a:lnR>
                      <a:noFill/>
                    </a:lnR>
                    <a:lnT>
                      <a:noFill/>
                    </a:lnT>
                    <a:lnB>
                      <a:noFill/>
                    </a:lnB>
                    <a:noFill/>
                  </a:tcPr>
                </a:tc>
                <a:extLst>
                  <a:ext uri="{0D108BD9-81ED-4DB2-BD59-A6C34878D82A}">
                    <a16:rowId xmlns:a16="http://schemas.microsoft.com/office/drawing/2014/main" xmlns="" val="10005"/>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华润上华</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无锡</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0.43-0.57</a:t>
                      </a:r>
                    </a:p>
                  </a:txBody>
                  <a:tcPr marL="0" marR="0" marT="0" marB="0" anchor="ctr">
                    <a:lnL>
                      <a:noFill/>
                    </a:lnL>
                    <a:lnR>
                      <a:noFill/>
                    </a:lnR>
                    <a:lnT>
                      <a:noFill/>
                    </a:lnT>
                    <a:lnB>
                      <a:noFill/>
                    </a:lnB>
                    <a:noFill/>
                  </a:tcPr>
                </a:tc>
                <a:extLst>
                  <a:ext uri="{0D108BD9-81ED-4DB2-BD59-A6C34878D82A}">
                    <a16:rowId xmlns:a16="http://schemas.microsoft.com/office/drawing/2014/main" xmlns="" val="10006"/>
                  </a:ext>
                </a:extLst>
              </a:tr>
              <a:tr h="229235">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7</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苏州龙驰</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苏州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吋硅片</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07"/>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卫光科技</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西安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08"/>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年下半年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武汉长飞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武汉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第三代半导体功率器件</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09"/>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芯成汉奇半导体二期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广东东莞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晶圆级先进封测</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 </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0.20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0"/>
                  </a:ext>
                </a:extLst>
              </a:tr>
              <a:tr h="91821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浙江莱宝</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浙江湖州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微腔电子纸显示器件</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(MED)</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月产</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320</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万块微电腔显示屏（以</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英寸为代表尺寸折算），或</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50</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万块微电腔显示屏（以</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英寸为代表尺寸折算）</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1.60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1"/>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芯业时代（一期）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西安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英寸高性能特色工艺半导体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0.30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2"/>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武汉敏声</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武汉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高端射频滤波器</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千方级别</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3"/>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高芯科技</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武汉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0.10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4"/>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7</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信利</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汕尾</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Micro-LED </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实验线</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0.36</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15"/>
                  </a:ext>
                </a:extLst>
              </a:tr>
              <a:tr h="0">
                <a:tc rowSpan="6">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宏芯气体（未上市）</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某头部半导体设备上市公司</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xmlns="" val="10016"/>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北京某顶级硬科技孵化器产业园区</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7"/>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2023Q4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某</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吋</a:t>
                      </a:r>
                      <a:r>
                        <a:rPr lang="en-US" altLang="zh-TW"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a:t>
                      </a:r>
                      <a:r>
                        <a:rPr lang="zh-TW"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厂</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8"/>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2023Q4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美国知名半导体公司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19"/>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辰显光电</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成都</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Micro-LED</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显示</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千方级别</a:t>
                      </a:r>
                      <a:endPar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extLst>
                  <a:ext uri="{0D108BD9-81ED-4DB2-BD59-A6C34878D82A}">
                    <a16:rowId xmlns:a16="http://schemas.microsoft.com/office/drawing/2014/main" xmlns="" val="10020"/>
                  </a:ext>
                </a:extLst>
              </a:tr>
              <a:tr h="0">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2024</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舜宇奥来</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AR</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眼镜微纳光学</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年产数百万片</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千方级别</a:t>
                      </a:r>
                      <a:endPar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21"/>
                  </a:ext>
                </a:extLst>
              </a:tr>
              <a:tr h="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正帆科技</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潍坊高纯大宗项目</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潍坊</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2.13</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1.5</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22"/>
                  </a:ext>
                </a:extLst>
              </a:tr>
              <a:tr h="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至纯科技</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年初</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上海集成电路装备材料产业创新中心</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晶圆代工</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28nm</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晶圆代工</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23"/>
                  </a:ext>
                </a:extLst>
              </a:tr>
            </a:tbl>
          </a:graphicData>
        </a:graphic>
      </p:graphicFrame>
      <p:sp>
        <p:nvSpPr>
          <p:cNvPr id="3" name="Rectangle 1">
            <a:extLst>
              <a:ext uri="{FF2B5EF4-FFF2-40B4-BE49-F238E27FC236}">
                <a16:creationId xmlns:a16="http://schemas.microsoft.com/office/drawing/2014/main" xmlns="" id="{511CC99C-250E-19EE-D586-F2CA44B03103}"/>
              </a:ext>
            </a:extLst>
          </p:cNvPr>
          <p:cNvSpPr>
            <a:spLocks noChangeArrowheads="1"/>
          </p:cNvSpPr>
          <p:nvPr/>
        </p:nvSpPr>
        <p:spPr bwMode="auto">
          <a:xfrm>
            <a:off x="790529" y="442844"/>
            <a:ext cx="7295639" cy="369332"/>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竞争格局：</a:t>
            </a:r>
            <a:r>
              <a:rPr lang="en-US" altLang="zh-CN" sz="2000" b="1" dirty="0">
                <a:solidFill>
                  <a:srgbClr val="0677D5"/>
                </a:solidFill>
                <a:latin typeface="+mj-ea"/>
                <a:ea typeface="思源黑体 CN Regular" panose="020B0500000000000000" charset="-122"/>
                <a:cs typeface="Arial" panose="020B0604020202020204" pitchFamily="34" charset="0"/>
              </a:rPr>
              <a:t>3+1+N</a:t>
            </a:r>
            <a:r>
              <a:rPr lang="zh-CN" altLang="en-US" sz="2000" b="1" dirty="0">
                <a:solidFill>
                  <a:srgbClr val="0677D5"/>
                </a:solidFill>
                <a:latin typeface="+mj-ea"/>
                <a:ea typeface="思源黑体 CN Regular" panose="020B0500000000000000" charset="-122"/>
                <a:cs typeface="Arial" panose="020B0604020202020204" pitchFamily="34" charset="0"/>
              </a:rPr>
              <a:t>格局，国产替代率提升</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6" name="矩形 5">
            <a:extLst>
              <a:ext uri="{FF2B5EF4-FFF2-40B4-BE49-F238E27FC236}">
                <a16:creationId xmlns:a16="http://schemas.microsoft.com/office/drawing/2014/main" xmlns="" id="{E0D29E95-41FF-0D29-FA64-2088E108E893}"/>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7" name="矩形 6">
            <a:extLst>
              <a:ext uri="{FF2B5EF4-FFF2-40B4-BE49-F238E27FC236}">
                <a16:creationId xmlns:a16="http://schemas.microsoft.com/office/drawing/2014/main" xmlns="" id="{CE3C040B-4AD2-010A-41F8-1CFFEB3B05D4}"/>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10615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5"/>
          <p:cNvSpPr txBox="1"/>
          <p:nvPr/>
        </p:nvSpPr>
        <p:spPr>
          <a:xfrm>
            <a:off x="313012" y="887946"/>
            <a:ext cx="8517975" cy="1774963"/>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下游扩产加速：</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①下游晶圆、面板厂加大资本开支：</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包括扩建原有厂区、新建厂区。其中，</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新建厂区对于国产气体厂获取订单的概率越大</a:t>
            </a:r>
            <a:r>
              <a:rPr lang="zh-CN" altLang="en-US" sz="1100" dirty="0">
                <a:solidFill>
                  <a:srgbClr val="084498"/>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②技术进步带来用气规模上行：</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晶圆尺寸、制程技术等演进对电子大宗气供应稳定性、特种气体技术迭代与纯度等提出更高要求，以超高纯氮为例，当前三星、长存、京东方部分单厂用氮量大于</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，用气量超过部分大型钢铁、化工厂区。</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短中期看，电子大宗气体项目年均新增市场（包括扩建，晶圆</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面板）</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60-70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万方，对应年均新增电子大宗气体空间为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30-35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亿元。长期看，电子特气</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电子大宗气体市场空间有望达</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524</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a:t>
            </a: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国产化率提升：</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①存量市场：</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电子大宗气体在跑马圈地的商业模式下，存量市场难以替代，国产化率约为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②新增市场：</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由于中国市场有望进入加速扩产周期，</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往未来看，</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2-3</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年新建项目国产化率有望超</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50%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，国产化率提升快速</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，此外，国内公司氦供应链加速突破，为后续承接半导体电子大宗气长协合同打下坚实基础。</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氦供应端改善：</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俄罗斯氦源下降</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高端氦相对稀缺，</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外资</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广钢气体电子大宗气体用氦开始涨价</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p>
        </p:txBody>
      </p:sp>
      <p:sp>
        <p:nvSpPr>
          <p:cNvPr id="8" name="文本框 47"/>
          <p:cNvSpPr txBox="1"/>
          <p:nvPr/>
        </p:nvSpPr>
        <p:spPr>
          <a:xfrm>
            <a:off x="1793965" y="2776167"/>
            <a:ext cx="555606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图：未来三年行业成长驱动</a:t>
            </a:r>
          </a:p>
        </p:txBody>
      </p:sp>
      <p:grpSp>
        <p:nvGrpSpPr>
          <p:cNvPr id="10" name="组合 9"/>
          <p:cNvGrpSpPr/>
          <p:nvPr/>
        </p:nvGrpSpPr>
        <p:grpSpPr>
          <a:xfrm>
            <a:off x="537301" y="2975842"/>
            <a:ext cx="8209134" cy="1610731"/>
            <a:chOff x="749740" y="3831627"/>
            <a:chExt cx="10941419" cy="2573708"/>
          </a:xfrm>
        </p:grpSpPr>
        <p:grpSp>
          <p:nvGrpSpPr>
            <p:cNvPr id="11" name="组合 10"/>
            <p:cNvGrpSpPr/>
            <p:nvPr/>
          </p:nvGrpSpPr>
          <p:grpSpPr>
            <a:xfrm>
              <a:off x="749740" y="3831627"/>
              <a:ext cx="10941419" cy="2573708"/>
              <a:chOff x="513029" y="2678029"/>
              <a:chExt cx="7054423" cy="2261265"/>
            </a:xfrm>
          </p:grpSpPr>
          <p:grpSp>
            <p:nvGrpSpPr>
              <p:cNvPr id="14" name="组合 13"/>
              <p:cNvGrpSpPr/>
              <p:nvPr/>
            </p:nvGrpSpPr>
            <p:grpSpPr>
              <a:xfrm>
                <a:off x="513029" y="2882245"/>
                <a:ext cx="7054423" cy="1952428"/>
                <a:chOff x="536922" y="3178300"/>
                <a:chExt cx="7054423" cy="1649879"/>
              </a:xfrm>
            </p:grpSpPr>
            <p:sp>
              <p:nvSpPr>
                <p:cNvPr id="17" name="圆角矩形 1"/>
                <p:cNvSpPr/>
                <p:nvPr/>
              </p:nvSpPr>
              <p:spPr>
                <a:xfrm>
                  <a:off x="536922" y="3871236"/>
                  <a:ext cx="1230344" cy="412785"/>
                </a:xfrm>
                <a:prstGeom prst="roundRect">
                  <a:avLst/>
                </a:prstGeom>
                <a:solidFill>
                  <a:schemeClr val="accent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行业趋势</a:t>
                  </a:r>
                </a:p>
              </p:txBody>
            </p:sp>
            <p:cxnSp>
              <p:nvCxnSpPr>
                <p:cNvPr id="18" name="直接连接符 17"/>
                <p:cNvCxnSpPr/>
                <p:nvPr/>
              </p:nvCxnSpPr>
              <p:spPr>
                <a:xfrm>
                  <a:off x="1987264" y="3542540"/>
                  <a:ext cx="1" cy="1128925"/>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772544" y="4080991"/>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992980" y="3542540"/>
                  <a:ext cx="219999" cy="2"/>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992980" y="4671463"/>
                  <a:ext cx="219999" cy="2"/>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圆角矩形 13"/>
                <p:cNvSpPr/>
                <p:nvPr/>
              </p:nvSpPr>
              <p:spPr>
                <a:xfrm>
                  <a:off x="2212979" y="3368708"/>
                  <a:ext cx="1056004" cy="347667"/>
                </a:xfrm>
                <a:prstGeom prst="round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下游扩产加速带来扩容</a:t>
                  </a:r>
                  <a:r>
                    <a:rPr lang="en-US" altLang="zh-CN"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国产替代</a:t>
                  </a:r>
                </a:p>
              </p:txBody>
            </p:sp>
            <p:sp>
              <p:nvSpPr>
                <p:cNvPr id="25" name="圆角矩形 18"/>
                <p:cNvSpPr/>
                <p:nvPr/>
              </p:nvSpPr>
              <p:spPr>
                <a:xfrm>
                  <a:off x="2217627" y="4480512"/>
                  <a:ext cx="1056004" cy="347667"/>
                </a:xfrm>
                <a:prstGeom prst="roundRect">
                  <a:avLst/>
                </a:prstGeom>
                <a:solidFill>
                  <a:schemeClr val="accent1">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高端氦价格上提</a:t>
                  </a:r>
                </a:p>
              </p:txBody>
            </p:sp>
            <p:cxnSp>
              <p:nvCxnSpPr>
                <p:cNvPr id="26" name="直接连接符 25"/>
                <p:cNvCxnSpPr/>
                <p:nvPr/>
              </p:nvCxnSpPr>
              <p:spPr>
                <a:xfrm>
                  <a:off x="3485054" y="3302035"/>
                  <a:ext cx="0" cy="441183"/>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3263593" y="3521346"/>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485054" y="3302033"/>
                  <a:ext cx="219999" cy="2"/>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3485054" y="3743218"/>
                  <a:ext cx="219999" cy="2"/>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圆角矩形 29"/>
                <p:cNvSpPr/>
                <p:nvPr/>
              </p:nvSpPr>
              <p:spPr>
                <a:xfrm>
                  <a:off x="3705053" y="3178300"/>
                  <a:ext cx="1056003" cy="281009"/>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资本开支</a:t>
                  </a:r>
                </a:p>
              </p:txBody>
            </p:sp>
            <p:sp>
              <p:nvSpPr>
                <p:cNvPr id="31" name="圆角矩形 32"/>
                <p:cNvSpPr/>
                <p:nvPr/>
              </p:nvSpPr>
              <p:spPr>
                <a:xfrm>
                  <a:off x="3705053" y="3602716"/>
                  <a:ext cx="1056003" cy="281009"/>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技术进步</a:t>
                  </a:r>
                </a:p>
              </p:txBody>
            </p:sp>
            <p:sp>
              <p:nvSpPr>
                <p:cNvPr id="32" name="TextBox 30"/>
                <p:cNvSpPr txBox="1"/>
                <p:nvPr/>
              </p:nvSpPr>
              <p:spPr bwMode="auto">
                <a:xfrm>
                  <a:off x="4933695" y="3982320"/>
                  <a:ext cx="2657650" cy="452369"/>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前期陪跑的气体厂在客户新建厂区时有更大进入机会。</a:t>
                  </a:r>
                  <a:r>
                    <a:rPr lang="zh-CN" altLang="en-US" sz="800" b="1" i="1" dirty="0">
                      <a:latin typeface="Arial" panose="020B0604020202020204" pitchFamily="34" charset="0"/>
                      <a:ea typeface="思源黑体 Heavy" panose="020B0A00000000000000" pitchFamily="34" charset="-122"/>
                      <a:cs typeface="Arial" panose="020B0604020202020204" pitchFamily="34" charset="0"/>
                    </a:rPr>
                    <a:t>比如广钢气体陪跑长存项目，已获取武汉</a:t>
                  </a:r>
                  <a:r>
                    <a:rPr lang="en-US" altLang="zh-CN" sz="800" b="1" i="1" dirty="0">
                      <a:latin typeface="Arial" panose="020B0604020202020204" pitchFamily="34" charset="0"/>
                      <a:ea typeface="思源黑体 Heavy" panose="020B0A00000000000000" pitchFamily="34" charset="-122"/>
                      <a:cs typeface="Arial" panose="020B0604020202020204" pitchFamily="34" charset="0"/>
                    </a:rPr>
                    <a:t>FAB</a:t>
                  </a:r>
                  <a:r>
                    <a:rPr lang="zh-CN" altLang="en-US" sz="800" b="1" i="1" dirty="0">
                      <a:latin typeface="Arial" panose="020B0604020202020204" pitchFamily="34" charset="0"/>
                      <a:ea typeface="思源黑体 Heavy" panose="020B0A00000000000000" pitchFamily="34" charset="-122"/>
                      <a:cs typeface="Arial" panose="020B0604020202020204" pitchFamily="34" charset="0"/>
                    </a:rPr>
                    <a:t>项目。</a:t>
                  </a:r>
                </a:p>
              </p:txBody>
            </p:sp>
            <p:sp>
              <p:nvSpPr>
                <p:cNvPr id="33" name="矩形 32"/>
                <p:cNvSpPr/>
                <p:nvPr/>
              </p:nvSpPr>
              <p:spPr>
                <a:xfrm>
                  <a:off x="4913551" y="3599339"/>
                  <a:ext cx="2592288" cy="287872"/>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晶圆尺寸、制程技术等演进会加大用气量</a:t>
                  </a:r>
                </a:p>
              </p:txBody>
            </p:sp>
            <p:cxnSp>
              <p:nvCxnSpPr>
                <p:cNvPr id="34" name="直接连接符 33"/>
                <p:cNvCxnSpPr/>
                <p:nvPr/>
              </p:nvCxnSpPr>
              <p:spPr>
                <a:xfrm flipV="1">
                  <a:off x="4761054" y="3302032"/>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4761056" y="3743220"/>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485054" y="3716375"/>
                  <a:ext cx="0" cy="47445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5" idx="3"/>
                  <a:endCxn id="38" idx="1"/>
                </p:cNvCxnSpPr>
                <p:nvPr/>
              </p:nvCxnSpPr>
              <p:spPr>
                <a:xfrm flipV="1">
                  <a:off x="3273632" y="4654345"/>
                  <a:ext cx="45035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圆角矩形 45"/>
                <p:cNvSpPr/>
                <p:nvPr/>
              </p:nvSpPr>
              <p:spPr>
                <a:xfrm>
                  <a:off x="3723990" y="4513840"/>
                  <a:ext cx="1056003" cy="281009"/>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供应端改善</a:t>
                  </a:r>
                </a:p>
              </p:txBody>
            </p:sp>
            <p:cxnSp>
              <p:nvCxnSpPr>
                <p:cNvPr id="39" name="直接连接符 38"/>
                <p:cNvCxnSpPr/>
                <p:nvPr/>
              </p:nvCxnSpPr>
              <p:spPr>
                <a:xfrm flipV="1">
                  <a:off x="4761052" y="4208505"/>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V="1">
                  <a:off x="4780547" y="4652925"/>
                  <a:ext cx="208509" cy="1"/>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a:xfrm>
                <a:off x="4911666" y="4403971"/>
                <a:ext cx="2619919" cy="535323"/>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俄罗斯氦源下降</a:t>
                </a:r>
                <a:r>
                  <a:rPr lang="en-US" altLang="zh-CN"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高端氦相对稀缺，</a:t>
                </a:r>
                <a:r>
                  <a:rPr lang="zh-CN" altLang="en-US" sz="8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部分电子大宗气体用氦开始涨价。</a:t>
                </a:r>
              </a:p>
            </p:txBody>
          </p:sp>
          <p:sp>
            <p:nvSpPr>
              <p:cNvPr id="16" name="TextBox 60"/>
              <p:cNvSpPr txBox="1"/>
              <p:nvPr/>
            </p:nvSpPr>
            <p:spPr bwMode="auto">
              <a:xfrm>
                <a:off x="4909802" y="2678029"/>
                <a:ext cx="2585916" cy="729987"/>
              </a:xfrm>
              <a:prstGeom prst="rect">
                <a:avLst/>
              </a:prstGeom>
              <a:noFill/>
              <a:ln w="9525">
                <a:noFill/>
                <a:miter lim="800000"/>
              </a:ln>
            </p:spPr>
            <p:txBody>
              <a:bodyPr wrap="square"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a:r>
                  <a:rPr lang="zh-CN" altLang="en-US" sz="8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下游扩产加速。</a:t>
                </a:r>
                <a:r>
                  <a:rPr lang="en-US" altLang="zh-CN" sz="800" dirty="0">
                    <a:latin typeface="Arial" panose="020B0604020202020204" pitchFamily="34" charset="0"/>
                    <a:ea typeface="思源黑体 Heavy" panose="020B0A00000000000000" pitchFamily="34" charset="-122"/>
                    <a:cs typeface="Arial" panose="020B0604020202020204" pitchFamily="34" charset="0"/>
                  </a:rPr>
                  <a:t>25</a:t>
                </a:r>
                <a:r>
                  <a:rPr lang="zh-CN" altLang="en-US" sz="800" dirty="0">
                    <a:latin typeface="Arial" panose="020B0604020202020204" pitchFamily="34" charset="0"/>
                    <a:ea typeface="思源黑体 Heavy" panose="020B0A00000000000000" pitchFamily="34" charset="-122"/>
                    <a:cs typeface="Arial" panose="020B0604020202020204" pitchFamily="34" charset="0"/>
                  </a:rPr>
                  <a:t>年已触底（全市场预计</a:t>
                </a:r>
                <a:r>
                  <a:rPr lang="en-US" altLang="zh-CN" sz="800" dirty="0">
                    <a:latin typeface="Arial" panose="020B0604020202020204" pitchFamily="34" charset="0"/>
                    <a:ea typeface="思源黑体 Heavy" panose="020B0A00000000000000" pitchFamily="34" charset="-122"/>
                    <a:cs typeface="Arial" panose="020B0604020202020204" pitchFamily="34" charset="0"/>
                  </a:rPr>
                  <a:t>10-20</a:t>
                </a:r>
                <a:r>
                  <a:rPr lang="zh-CN" altLang="en-US" sz="8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800" dirty="0">
                    <a:latin typeface="Arial" panose="020B0604020202020204" pitchFamily="34" charset="0"/>
                    <a:ea typeface="思源黑体 Heavy" panose="020B0A00000000000000" pitchFamily="34" charset="-122"/>
                    <a:cs typeface="Arial" panose="020B0604020202020204" pitchFamily="34" charset="0"/>
                  </a:rPr>
                  <a:t>/h</a:t>
                </a:r>
                <a:r>
                  <a:rPr lang="zh-CN" altLang="en-US" sz="800" dirty="0">
                    <a:latin typeface="Arial" panose="020B0604020202020204" pitchFamily="34" charset="0"/>
                    <a:ea typeface="思源黑体 Heavy" panose="020B0A00000000000000" pitchFamily="34" charset="-122"/>
                    <a:cs typeface="Arial" panose="020B0604020202020204" pitchFamily="34" charset="0"/>
                  </a:rPr>
                  <a:t>电子大宗气体招标），</a:t>
                </a:r>
                <a:r>
                  <a:rPr lang="en-US" altLang="zh-CN" sz="800" dirty="0">
                    <a:latin typeface="Arial" panose="020B0604020202020204" pitchFamily="34" charset="0"/>
                    <a:ea typeface="思源黑体 Heavy" panose="020B0A00000000000000" pitchFamily="34" charset="-122"/>
                    <a:cs typeface="Arial" panose="020B0604020202020204" pitchFamily="34" charset="0"/>
                  </a:rPr>
                  <a:t>26</a:t>
                </a:r>
                <a:r>
                  <a:rPr lang="zh-CN" altLang="en-US" sz="800" dirty="0">
                    <a:latin typeface="Arial" panose="020B0604020202020204" pitchFamily="34" charset="0"/>
                    <a:ea typeface="思源黑体 Heavy" panose="020B0A00000000000000" pitchFamily="34" charset="-122"/>
                    <a:cs typeface="Arial" panose="020B0604020202020204" pitchFamily="34" charset="0"/>
                  </a:rPr>
                  <a:t>年开始新增招标市场重回增长轨道</a:t>
                </a:r>
              </a:p>
            </p:txBody>
          </p:sp>
        </p:grpSp>
        <p:sp>
          <p:nvSpPr>
            <p:cNvPr id="12" name="圆角矩形 45"/>
            <p:cNvSpPr/>
            <p:nvPr/>
          </p:nvSpPr>
          <p:spPr>
            <a:xfrm>
              <a:off x="5692886" y="5260477"/>
              <a:ext cx="1637862" cy="378487"/>
            </a:xfrm>
            <a:prstGeom prst="round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800" b="1" dirty="0">
                  <a:solidFill>
                    <a:schemeClr val="tx1"/>
                  </a:solidFill>
                  <a:latin typeface="Arial" panose="020B0604020202020204" pitchFamily="34" charset="0"/>
                  <a:ea typeface="思源黑体 Heavy" panose="020B0A00000000000000" pitchFamily="34" charset="-122"/>
                  <a:cs typeface="Arial" panose="020B0604020202020204" pitchFamily="34" charset="0"/>
                </a:rPr>
                <a:t>新厂建设机会</a:t>
              </a:r>
            </a:p>
          </p:txBody>
        </p:sp>
        <p:cxnSp>
          <p:nvCxnSpPr>
            <p:cNvPr id="13" name="直接连接符 12"/>
            <p:cNvCxnSpPr/>
            <p:nvPr/>
          </p:nvCxnSpPr>
          <p:spPr>
            <a:xfrm flipV="1">
              <a:off x="5336549" y="5427816"/>
              <a:ext cx="341219" cy="3"/>
            </a:xfrm>
            <a:prstGeom prst="line">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xmlns="" id="{015816B6-87B6-525B-78F8-52A7074F1B56}"/>
              </a:ext>
            </a:extLst>
          </p:cNvPr>
          <p:cNvSpPr>
            <a:spLocks noChangeArrowheads="1"/>
          </p:cNvSpPr>
          <p:nvPr/>
        </p:nvSpPr>
        <p:spPr bwMode="auto">
          <a:xfrm>
            <a:off x="790530" y="442844"/>
            <a:ext cx="6969944" cy="369332"/>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下游市场：受益大厂扩建</a:t>
            </a:r>
            <a:r>
              <a:rPr lang="en-US" altLang="zh-CN" sz="2000" b="1" dirty="0">
                <a:solidFill>
                  <a:srgbClr val="0677D5"/>
                </a:solidFill>
                <a:latin typeface="+mj-ea"/>
                <a:ea typeface="思源黑体 CN Regular" panose="020B0500000000000000" charset="-122"/>
                <a:cs typeface="Arial" panose="020B0604020202020204" pitchFamily="34" charset="0"/>
              </a:rPr>
              <a:t>+</a:t>
            </a:r>
            <a:r>
              <a:rPr lang="zh-CN" altLang="en-US" sz="2000" b="1" dirty="0">
                <a:solidFill>
                  <a:srgbClr val="0677D5"/>
                </a:solidFill>
                <a:latin typeface="+mj-ea"/>
                <a:ea typeface="思源黑体 CN Regular" panose="020B0500000000000000" charset="-122"/>
                <a:cs typeface="Arial" panose="020B0604020202020204" pitchFamily="34" charset="0"/>
              </a:rPr>
              <a:t>市占率提升</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3" name="矩形 2">
            <a:extLst>
              <a:ext uri="{FF2B5EF4-FFF2-40B4-BE49-F238E27FC236}">
                <a16:creationId xmlns:a16="http://schemas.microsoft.com/office/drawing/2014/main" xmlns="" id="{081BDA9B-837A-F287-6301-48E236D0DEC7}"/>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5" name="矩形 4">
            <a:extLst>
              <a:ext uri="{FF2B5EF4-FFF2-40B4-BE49-F238E27FC236}">
                <a16:creationId xmlns:a16="http://schemas.microsoft.com/office/drawing/2014/main" xmlns="" id="{98C8547A-DC28-8D28-A337-8E44D127EEE6}"/>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41463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07AB8AA-8833-F7A9-3CF0-28F051E10EEB}"/>
              </a:ext>
            </a:extLst>
          </p:cNvPr>
          <p:cNvSpPr>
            <a:spLocks noChangeArrowheads="1"/>
          </p:cNvSpPr>
          <p:nvPr/>
        </p:nvSpPr>
        <p:spPr bwMode="auto">
          <a:xfrm>
            <a:off x="755576" y="304344"/>
            <a:ext cx="6652316" cy="646331"/>
          </a:xfrm>
          <a:prstGeom prst="rect">
            <a:avLst/>
          </a:prstGeom>
          <a:noFill/>
          <a:ln w="9525">
            <a:noFill/>
            <a:miter lim="800000"/>
          </a:ln>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存储：扩产加速，十五五规划明确，增量对应约</a:t>
            </a:r>
            <a:r>
              <a:rPr lang="en-US" altLang="zh-CN" sz="2000" b="1" dirty="0">
                <a:solidFill>
                  <a:srgbClr val="0677D5"/>
                </a:solidFill>
                <a:latin typeface="+mj-ea"/>
                <a:ea typeface="思源黑体 CN Regular" panose="020B0500000000000000" charset="-122"/>
                <a:cs typeface="Arial" panose="020B0604020202020204" pitchFamily="34" charset="0"/>
              </a:rPr>
              <a:t>150-160</a:t>
            </a:r>
            <a:r>
              <a:rPr lang="zh-CN" altLang="en-US" sz="2000" b="1" dirty="0">
                <a:solidFill>
                  <a:srgbClr val="0677D5"/>
                </a:solidFill>
                <a:latin typeface="+mj-ea"/>
                <a:ea typeface="思源黑体 CN Regular" panose="020B0500000000000000" charset="-122"/>
                <a:cs typeface="Arial" panose="020B0604020202020204" pitchFamily="34" charset="0"/>
              </a:rPr>
              <a:t>万方用气</a:t>
            </a:r>
            <a:endParaRPr lang="en-US" altLang="zh-CN" sz="2000" b="1" dirty="0">
              <a:solidFill>
                <a:srgbClr val="0677D5"/>
              </a:solidFill>
              <a:latin typeface="+mj-ea"/>
              <a:ea typeface="思源黑体 CN Regular" panose="020B0500000000000000" charset="-122"/>
              <a:cs typeface="Arial" panose="020B0604020202020204" pitchFamily="34" charset="0"/>
            </a:endParaRPr>
          </a:p>
        </p:txBody>
      </p:sp>
      <p:sp>
        <p:nvSpPr>
          <p:cNvPr id="3" name="矩形 2">
            <a:extLst>
              <a:ext uri="{FF2B5EF4-FFF2-40B4-BE49-F238E27FC236}">
                <a16:creationId xmlns:a16="http://schemas.microsoft.com/office/drawing/2014/main" xmlns="" id="{8F3AB7A8-6421-25BD-36DC-D0E1EC5D1154}"/>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4" name="矩形 3">
            <a:extLst>
              <a:ext uri="{FF2B5EF4-FFF2-40B4-BE49-F238E27FC236}">
                <a16:creationId xmlns:a16="http://schemas.microsoft.com/office/drawing/2014/main" xmlns="" id="{251F8A05-4297-6C40-D4C9-5D4CFBB96047}"/>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xmlns="" id="{47CD62BE-97C8-E436-F0C1-844FC9154674}"/>
              </a:ext>
            </a:extLst>
          </p:cNvPr>
          <p:cNvSpPr txBox="1"/>
          <p:nvPr/>
        </p:nvSpPr>
        <p:spPr>
          <a:xfrm>
            <a:off x="235131" y="968090"/>
            <a:ext cx="8499908" cy="1709795"/>
          </a:xfrm>
          <a:prstGeom prst="rect">
            <a:avLst/>
          </a:prstGeom>
        </p:spPr>
        <p:txBody>
          <a:bodyPr/>
          <a:lstStyle>
            <a:defPPr>
              <a:defRPr lang="zh-CN"/>
            </a:defPPr>
            <a:lvl1pPr marL="400050" indent="-400050" defTabSz="914400">
              <a:lnSpc>
                <a:spcPct val="90000"/>
              </a:lnSpc>
              <a:spcBef>
                <a:spcPts val="1000"/>
              </a:spcBef>
              <a:buFont typeface="Arial" panose="020B0604020202020204" pitchFamily="34" charset="0"/>
              <a:buChar char="•"/>
              <a:defRPr sz="1400">
                <a:solidFill>
                  <a:schemeClr val="tx1"/>
                </a:solidFill>
              </a:defRPr>
            </a:lvl1pPr>
            <a:lvl2pPr marL="685800" indent="-228600" defTabSz="914400">
              <a:lnSpc>
                <a:spcPct val="90000"/>
              </a:lnSpc>
              <a:spcBef>
                <a:spcPts val="500"/>
              </a:spcBef>
              <a:buFont typeface="Arial" panose="020B0604020202020204" pitchFamily="34" charset="0"/>
              <a:buChar char="‒"/>
              <a:defRPr sz="1200">
                <a:solidFill>
                  <a:schemeClr val="tx1"/>
                </a:solidFill>
              </a:defRPr>
            </a:lvl2pPr>
            <a:lvl3pPr marL="1143000" indent="-228600" defTabSz="914400">
              <a:lnSpc>
                <a:spcPct val="90000"/>
              </a:lnSpc>
              <a:spcBef>
                <a:spcPts val="500"/>
              </a:spcBef>
              <a:buFont typeface="Arial" panose="020B0604020202020204" pitchFamily="34" charset="0"/>
              <a:buChar char="•"/>
              <a:defRPr sz="1100">
                <a:solidFill>
                  <a:schemeClr val="tx1"/>
                </a:solidFill>
              </a:defRPr>
            </a:lvl3pPr>
            <a:lvl4pPr marL="1600200" indent="-228600" defTabSz="914400">
              <a:lnSpc>
                <a:spcPct val="90000"/>
              </a:lnSpc>
              <a:spcBef>
                <a:spcPts val="500"/>
              </a:spcBef>
              <a:buFont typeface="Arial" panose="020B0604020202020204" pitchFamily="34" charset="0"/>
              <a:buChar char="•"/>
              <a:defRPr sz="1050">
                <a:solidFill>
                  <a:schemeClr val="tx1"/>
                </a:solidFill>
              </a:defRPr>
            </a:lvl4pPr>
            <a:lvl5pPr marL="285750" lvl="4" indent="-285750" algn="just" defTabSz="914400">
              <a:lnSpc>
                <a:spcPct val="100000"/>
              </a:lnSpc>
              <a:spcBef>
                <a:spcPts val="0"/>
              </a:spcBef>
              <a:spcAft>
                <a:spcPts val="600"/>
              </a:spcAft>
              <a:buFont typeface="Wingdings" panose="05000000000000000000" pitchFamily="2" charset="2"/>
              <a:buChar char="n"/>
              <a:defRPr sz="1100" b="1">
                <a:solidFill>
                  <a:srgbClr val="141414"/>
                </a:solidFill>
                <a:latin typeface="Arial" panose="020B0604020202020204" pitchFamily="34" charset="0"/>
                <a:ea typeface="思源黑体 Heavy" panose="020B0A00000000000000" pitchFamily="34" charset="-122"/>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defRPr sz="1800">
                <a:solidFill>
                  <a:schemeClr val="tx1"/>
                </a:solidFill>
              </a:defRPr>
            </a:lvl6pPr>
            <a:lvl7pPr marL="2971800" indent="-228600" defTabSz="914400">
              <a:lnSpc>
                <a:spcPct val="90000"/>
              </a:lnSpc>
              <a:spcBef>
                <a:spcPts val="500"/>
              </a:spcBef>
              <a:buFont typeface="Arial" panose="020B0604020202020204" pitchFamily="34" charset="0"/>
              <a:buChar char="•"/>
              <a:defRPr sz="1800">
                <a:solidFill>
                  <a:schemeClr val="tx1"/>
                </a:solidFill>
              </a:defRPr>
            </a:lvl7pPr>
            <a:lvl8pPr marL="3429000" indent="-228600" defTabSz="914400">
              <a:lnSpc>
                <a:spcPct val="90000"/>
              </a:lnSpc>
              <a:spcBef>
                <a:spcPts val="500"/>
              </a:spcBef>
              <a:buFont typeface="Arial" panose="020B0604020202020204" pitchFamily="34" charset="0"/>
              <a:buChar char="•"/>
              <a:defRPr sz="1800">
                <a:solidFill>
                  <a:schemeClr val="tx1"/>
                </a:solidFill>
              </a:defRPr>
            </a:lvl8pPr>
            <a:lvl9pPr marL="3886200" indent="-228600" defTabSz="914400">
              <a:lnSpc>
                <a:spcPct val="90000"/>
              </a:lnSpc>
              <a:spcBef>
                <a:spcPts val="500"/>
              </a:spcBef>
              <a:buFont typeface="Arial" panose="020B0604020202020204" pitchFamily="34" charset="0"/>
              <a:buChar char="•"/>
              <a:defRPr sz="1800">
                <a:solidFill>
                  <a:schemeClr val="tx1"/>
                </a:solidFill>
              </a:defRPr>
            </a:lvl9pPr>
          </a:lstStyle>
          <a:p>
            <a:pPr algn="just">
              <a:buFont typeface="Wingdings" panose="05000000000000000000" pitchFamily="2" charset="2"/>
              <a:buChar char="n"/>
            </a:pPr>
            <a:r>
              <a:rPr lang="zh-CN" altLang="en-US" sz="1100" dirty="0">
                <a:latin typeface="+mn-ea"/>
              </a:rPr>
              <a:t>公司接洽预期的两存十五五规划情况：存储芯片至少带来</a:t>
            </a:r>
            <a:r>
              <a:rPr lang="en-US" altLang="zh-CN" sz="1100" dirty="0">
                <a:latin typeface="+mn-ea"/>
              </a:rPr>
              <a:t>100</a:t>
            </a:r>
            <a:r>
              <a:rPr lang="zh-CN" altLang="en-US" sz="1100" dirty="0">
                <a:latin typeface="+mn-ea"/>
              </a:rPr>
              <a:t>万片</a:t>
            </a:r>
            <a:r>
              <a:rPr lang="en-US" altLang="zh-CN" sz="1100" dirty="0">
                <a:latin typeface="+mn-ea"/>
              </a:rPr>
              <a:t>+/</a:t>
            </a:r>
            <a:r>
              <a:rPr lang="zh-CN" altLang="en-US" sz="1100" dirty="0">
                <a:latin typeface="+mn-ea"/>
              </a:rPr>
              <a:t>月的增量需求（按照现有规划来看大约对应</a:t>
            </a:r>
            <a:r>
              <a:rPr lang="en-US" altLang="zh-CN" sz="1100" dirty="0">
                <a:latin typeface="+mn-ea"/>
              </a:rPr>
              <a:t>5</a:t>
            </a:r>
            <a:r>
              <a:rPr lang="zh-CN" altLang="en-US" sz="1100" dirty="0">
                <a:latin typeface="+mn-ea"/>
              </a:rPr>
              <a:t>年规划是</a:t>
            </a:r>
            <a:r>
              <a:rPr lang="en-US" altLang="zh-CN" sz="1100" dirty="0">
                <a:latin typeface="+mn-ea"/>
              </a:rPr>
              <a:t>120~125</a:t>
            </a:r>
            <a:r>
              <a:rPr lang="zh-CN" altLang="en-US" sz="1100" dirty="0">
                <a:latin typeface="+mn-ea"/>
              </a:rPr>
              <a:t>万片新增需求），按照现有产能用气量，单万片</a:t>
            </a:r>
            <a:r>
              <a:rPr lang="en-US" altLang="zh-CN" sz="1100" dirty="0">
                <a:latin typeface="+mn-ea"/>
              </a:rPr>
              <a:t>/</a:t>
            </a:r>
            <a:r>
              <a:rPr lang="zh-CN" altLang="en-US" sz="1100" dirty="0">
                <a:latin typeface="+mn-ea"/>
              </a:rPr>
              <a:t>月对应用气量平均在</a:t>
            </a:r>
            <a:r>
              <a:rPr lang="en-US" altLang="zh-CN" sz="1100" dirty="0">
                <a:latin typeface="+mn-ea"/>
              </a:rPr>
              <a:t>1.3</a:t>
            </a:r>
            <a:r>
              <a:rPr lang="zh-CN" altLang="en-US" sz="1100" dirty="0">
                <a:latin typeface="+mn-ea"/>
              </a:rPr>
              <a:t>万方</a:t>
            </a:r>
            <a:r>
              <a:rPr lang="en-US" altLang="zh-CN" sz="1100" dirty="0">
                <a:latin typeface="+mn-ea"/>
              </a:rPr>
              <a:t>/H</a:t>
            </a:r>
            <a:r>
              <a:rPr lang="zh-CN" altLang="en-US" sz="1100" dirty="0">
                <a:latin typeface="+mn-ea"/>
              </a:rPr>
              <a:t>，</a:t>
            </a:r>
            <a:r>
              <a:rPr lang="zh-CN" altLang="en-US" sz="1100" b="1" dirty="0">
                <a:solidFill>
                  <a:srgbClr val="C00000"/>
                </a:solidFill>
                <a:latin typeface="+mn-ea"/>
              </a:rPr>
              <a:t>则对应至少</a:t>
            </a:r>
            <a:r>
              <a:rPr lang="en-US" altLang="zh-CN" sz="1100" b="1" dirty="0">
                <a:solidFill>
                  <a:srgbClr val="C00000"/>
                </a:solidFill>
                <a:latin typeface="+mn-ea"/>
              </a:rPr>
              <a:t>130</a:t>
            </a:r>
            <a:r>
              <a:rPr lang="zh-CN" altLang="en-US" sz="1100" b="1" dirty="0">
                <a:solidFill>
                  <a:srgbClr val="C00000"/>
                </a:solidFill>
                <a:latin typeface="+mn-ea"/>
              </a:rPr>
              <a:t>万方大宗电子气（以氮计量用气市场），正常大约对应</a:t>
            </a:r>
            <a:r>
              <a:rPr lang="en-US" altLang="zh-CN" sz="1100" b="1" dirty="0">
                <a:solidFill>
                  <a:srgbClr val="C00000"/>
                </a:solidFill>
                <a:latin typeface="+mn-ea"/>
              </a:rPr>
              <a:t>150-160</a:t>
            </a:r>
            <a:r>
              <a:rPr lang="zh-CN" altLang="en-US" sz="1100" b="1" dirty="0">
                <a:solidFill>
                  <a:srgbClr val="C00000"/>
                </a:solidFill>
                <a:latin typeface="+mn-ea"/>
              </a:rPr>
              <a:t>万方</a:t>
            </a:r>
            <a:r>
              <a:rPr lang="en-US" altLang="zh-CN" sz="1100" b="1" dirty="0">
                <a:solidFill>
                  <a:srgbClr val="C00000"/>
                </a:solidFill>
                <a:latin typeface="+mn-ea"/>
              </a:rPr>
              <a:t>/H</a:t>
            </a:r>
            <a:r>
              <a:rPr lang="zh-CN" altLang="en-US" sz="1100" b="1" dirty="0">
                <a:solidFill>
                  <a:srgbClr val="C00000"/>
                </a:solidFill>
                <a:latin typeface="+mn-ea"/>
              </a:rPr>
              <a:t>。</a:t>
            </a:r>
            <a:endParaRPr lang="en-US" altLang="zh-CN" sz="1100" b="1" dirty="0">
              <a:solidFill>
                <a:srgbClr val="C00000"/>
              </a:solidFill>
              <a:latin typeface="+mn-ea"/>
            </a:endParaRPr>
          </a:p>
          <a:p>
            <a:pPr algn="just">
              <a:buFont typeface="Wingdings" panose="05000000000000000000" pitchFamily="2" charset="2"/>
              <a:buChar char="ü"/>
            </a:pPr>
            <a:r>
              <a:rPr lang="zh-CN" altLang="en-US" sz="1100" b="1" dirty="0">
                <a:solidFill>
                  <a:srgbClr val="C00000"/>
                </a:solidFill>
                <a:latin typeface="+mn-ea"/>
              </a:rPr>
              <a:t>长鑫：</a:t>
            </a:r>
            <a:r>
              <a:rPr lang="zh-CN" altLang="en-US" sz="1100" b="1" dirty="0">
                <a:latin typeface="+mn-ea"/>
              </a:rPr>
              <a:t>十五五在合肥、北京、上海等有明确，预计新增约</a:t>
            </a:r>
            <a:r>
              <a:rPr lang="en-US" altLang="zh-CN" sz="1100" b="1" dirty="0">
                <a:latin typeface="+mn-ea"/>
              </a:rPr>
              <a:t>50</a:t>
            </a:r>
            <a:r>
              <a:rPr lang="zh-CN" altLang="en-US" sz="1100" b="1" dirty="0">
                <a:latin typeface="+mn-ea"/>
              </a:rPr>
              <a:t>万片</a:t>
            </a:r>
            <a:r>
              <a:rPr lang="en-US" altLang="zh-CN" sz="1100" b="1" dirty="0">
                <a:latin typeface="+mn-ea"/>
              </a:rPr>
              <a:t>/</a:t>
            </a:r>
            <a:r>
              <a:rPr lang="zh-CN" altLang="en-US" sz="1100" b="1" dirty="0">
                <a:latin typeface="+mn-ea"/>
              </a:rPr>
              <a:t>月的产能。</a:t>
            </a:r>
            <a:endParaRPr lang="en-US" altLang="zh-CN" sz="1100" b="1" dirty="0">
              <a:latin typeface="+mn-ea"/>
            </a:endParaRPr>
          </a:p>
          <a:p>
            <a:pPr algn="just">
              <a:buFont typeface="Wingdings" panose="05000000000000000000" pitchFamily="2" charset="2"/>
              <a:buChar char="ü"/>
            </a:pPr>
            <a:r>
              <a:rPr lang="zh-CN" altLang="en-US" sz="1100" b="1" dirty="0">
                <a:latin typeface="+mn-ea"/>
              </a:rPr>
              <a:t>长存：十五五武汉</a:t>
            </a:r>
            <a:r>
              <a:rPr lang="en-US" altLang="zh-CN" sz="1100" b="1" dirty="0">
                <a:latin typeface="+mn-ea"/>
              </a:rPr>
              <a:t>10</a:t>
            </a:r>
            <a:r>
              <a:rPr lang="zh-CN" altLang="en-US" sz="1100" b="1" dirty="0">
                <a:latin typeface="+mn-ea"/>
              </a:rPr>
              <a:t>座工厂规划，目前执行到第</a:t>
            </a:r>
            <a:r>
              <a:rPr lang="en-US" altLang="zh-CN" sz="1100" b="1" dirty="0">
                <a:latin typeface="+mn-ea"/>
              </a:rPr>
              <a:t>3</a:t>
            </a:r>
            <a:r>
              <a:rPr lang="zh-CN" altLang="en-US" sz="1100" b="1" dirty="0">
                <a:latin typeface="+mn-ea"/>
              </a:rPr>
              <a:t>期。每座厂月度产能</a:t>
            </a:r>
            <a:r>
              <a:rPr lang="en-US" altLang="zh-CN" sz="1100" b="1" dirty="0">
                <a:latin typeface="+mn-ea"/>
              </a:rPr>
              <a:t>10</a:t>
            </a:r>
            <a:r>
              <a:rPr lang="zh-CN" altLang="en-US" sz="1100" b="1" dirty="0">
                <a:latin typeface="+mn-ea"/>
              </a:rPr>
              <a:t>万片，后续新增</a:t>
            </a:r>
            <a:r>
              <a:rPr lang="en-US" altLang="zh-CN" sz="1100" b="1" dirty="0">
                <a:latin typeface="+mn-ea"/>
              </a:rPr>
              <a:t>7</a:t>
            </a:r>
            <a:r>
              <a:rPr lang="zh-CN" altLang="en-US" sz="1100" b="1" dirty="0">
                <a:latin typeface="+mn-ea"/>
              </a:rPr>
              <a:t>座厂对应</a:t>
            </a:r>
            <a:r>
              <a:rPr lang="en-US" altLang="zh-CN" sz="1100" b="1" dirty="0">
                <a:latin typeface="+mn-ea"/>
              </a:rPr>
              <a:t>70</a:t>
            </a:r>
            <a:r>
              <a:rPr lang="zh-CN" altLang="en-US" sz="1100" b="1" dirty="0">
                <a:latin typeface="+mn-ea"/>
              </a:rPr>
              <a:t>万片</a:t>
            </a:r>
            <a:r>
              <a:rPr lang="en-US" altLang="zh-CN" sz="1100" b="1" dirty="0">
                <a:latin typeface="+mn-ea"/>
              </a:rPr>
              <a:t>/</a:t>
            </a:r>
            <a:r>
              <a:rPr lang="zh-CN" altLang="en-US" sz="1100" b="1" dirty="0">
                <a:latin typeface="+mn-ea"/>
              </a:rPr>
              <a:t>月新产能。</a:t>
            </a:r>
            <a:endParaRPr lang="en-US" altLang="zh-CN" sz="1100" b="1" dirty="0">
              <a:latin typeface="+mn-ea"/>
            </a:endParaRPr>
          </a:p>
          <a:p>
            <a:pPr algn="just">
              <a:buFont typeface="Wingdings" panose="05000000000000000000" pitchFamily="2" charset="2"/>
              <a:buChar char="n"/>
            </a:pPr>
            <a:r>
              <a:rPr lang="zh-CN" altLang="en-US" sz="1100" b="1" dirty="0">
                <a:latin typeface="+mn-ea"/>
              </a:rPr>
              <a:t>执行进度：长鑫二期扩建至</a:t>
            </a:r>
            <a:r>
              <a:rPr lang="en-US" altLang="zh-CN" sz="1100" b="1" dirty="0">
                <a:latin typeface="+mn-ea"/>
              </a:rPr>
              <a:t>P3</a:t>
            </a:r>
            <a:r>
              <a:rPr lang="zh-CN" altLang="en-US" sz="1100" b="1" dirty="0">
                <a:latin typeface="+mn-ea"/>
              </a:rPr>
              <a:t>阶段（</a:t>
            </a:r>
            <a:r>
              <a:rPr lang="en-US" altLang="zh-CN" sz="1100" b="1" dirty="0">
                <a:latin typeface="+mn-ea"/>
              </a:rPr>
              <a:t>P1-3</a:t>
            </a:r>
            <a:r>
              <a:rPr lang="zh-CN" altLang="en-US" sz="1100" b="1" dirty="0">
                <a:latin typeface="+mn-ea"/>
              </a:rPr>
              <a:t>阶段为二期厂，均签约广钢）；三期（</a:t>
            </a:r>
            <a:r>
              <a:rPr lang="en-US" altLang="zh-CN" sz="1100" b="1" dirty="0">
                <a:latin typeface="+mn-ea"/>
              </a:rPr>
              <a:t>P4</a:t>
            </a:r>
            <a:r>
              <a:rPr lang="zh-CN" altLang="en-US" sz="1100" b="1" dirty="0">
                <a:latin typeface="+mn-ea"/>
              </a:rPr>
              <a:t>即第</a:t>
            </a:r>
            <a:r>
              <a:rPr lang="en-US" altLang="zh-CN" sz="1100" b="1" dirty="0">
                <a:latin typeface="+mn-ea"/>
              </a:rPr>
              <a:t>1</a:t>
            </a:r>
            <a:r>
              <a:rPr lang="zh-CN" altLang="en-US" sz="1100" b="1" dirty="0">
                <a:latin typeface="+mn-ea"/>
              </a:rPr>
              <a:t>阶段）即将与广钢签约；长存三期为广钢签约，第一阶段</a:t>
            </a:r>
            <a:r>
              <a:rPr lang="en-US" altLang="zh-CN" sz="1100" b="1" dirty="0">
                <a:latin typeface="+mn-ea"/>
              </a:rPr>
              <a:t>26</a:t>
            </a:r>
            <a:r>
              <a:rPr lang="zh-CN" altLang="en-US" sz="1100" b="1" dirty="0">
                <a:latin typeface="+mn-ea"/>
              </a:rPr>
              <a:t>年</a:t>
            </a:r>
            <a:r>
              <a:rPr lang="en-US" altLang="zh-CN" sz="1100" b="1" dirty="0">
                <a:latin typeface="+mn-ea"/>
              </a:rPr>
              <a:t>6</a:t>
            </a:r>
            <a:r>
              <a:rPr lang="zh-CN" altLang="en-US" sz="1100" b="1" dirty="0">
                <a:latin typeface="+mn-ea"/>
              </a:rPr>
              <a:t>月投产；</a:t>
            </a:r>
            <a:r>
              <a:rPr lang="zh-CN" altLang="en-US" sz="1100" b="1" dirty="0">
                <a:solidFill>
                  <a:srgbClr val="C00000"/>
                </a:solidFill>
                <a:latin typeface="+mn-ea"/>
              </a:rPr>
              <a:t>第</a:t>
            </a:r>
            <a:r>
              <a:rPr lang="en-US" altLang="zh-CN" sz="1100" b="1" dirty="0">
                <a:solidFill>
                  <a:srgbClr val="C00000"/>
                </a:solidFill>
                <a:latin typeface="+mn-ea"/>
              </a:rPr>
              <a:t>4</a:t>
            </a:r>
            <a:r>
              <a:rPr lang="zh-CN" altLang="en-US" sz="1100" b="1" dirty="0">
                <a:solidFill>
                  <a:srgbClr val="C00000"/>
                </a:solidFill>
                <a:latin typeface="+mn-ea"/>
              </a:rPr>
              <a:t>期已经开始规划与接洽（预计</a:t>
            </a:r>
            <a:r>
              <a:rPr lang="en-US" altLang="zh-CN" sz="1100" b="1" dirty="0">
                <a:solidFill>
                  <a:srgbClr val="C00000"/>
                </a:solidFill>
                <a:latin typeface="+mn-ea"/>
              </a:rPr>
              <a:t>26</a:t>
            </a:r>
            <a:r>
              <a:rPr lang="zh-CN" altLang="en-US" sz="1100" b="1" dirty="0">
                <a:solidFill>
                  <a:srgbClr val="C00000"/>
                </a:solidFill>
                <a:latin typeface="+mn-ea"/>
              </a:rPr>
              <a:t>年上马招标）。</a:t>
            </a:r>
            <a:endParaRPr lang="en-US" altLang="zh-CN" sz="1100" b="1" dirty="0">
              <a:solidFill>
                <a:srgbClr val="C00000"/>
              </a:solidFill>
              <a:latin typeface="+mn-ea"/>
            </a:endParaRPr>
          </a:p>
          <a:p>
            <a:pPr marL="0" indent="0" algn="just">
              <a:buNone/>
            </a:pPr>
            <a:endParaRPr lang="zh-CN" altLang="en-US" sz="1100" b="1" dirty="0">
              <a:solidFill>
                <a:srgbClr val="C00000"/>
              </a:solidFill>
              <a:latin typeface="+mn-ea"/>
            </a:endParaRPr>
          </a:p>
        </p:txBody>
      </p:sp>
      <p:graphicFrame>
        <p:nvGraphicFramePr>
          <p:cNvPr id="7" name="表格 6">
            <a:extLst>
              <a:ext uri="{FF2B5EF4-FFF2-40B4-BE49-F238E27FC236}">
                <a16:creationId xmlns:a16="http://schemas.microsoft.com/office/drawing/2014/main" xmlns="" id="{C7491810-BD3E-875D-0897-32CA2026B3B1}"/>
              </a:ext>
            </a:extLst>
          </p:cNvPr>
          <p:cNvGraphicFramePr>
            <a:graphicFrameLocks noGrp="1"/>
          </p:cNvGraphicFramePr>
          <p:nvPr>
            <p:extLst>
              <p:ext uri="{D42A27DB-BD31-4B8C-83A1-F6EECF244321}">
                <p14:modId xmlns:p14="http://schemas.microsoft.com/office/powerpoint/2010/main" val="2246333572"/>
              </p:ext>
            </p:extLst>
          </p:nvPr>
        </p:nvGraphicFramePr>
        <p:xfrm>
          <a:off x="541735" y="3147676"/>
          <a:ext cx="8118939" cy="1027734"/>
        </p:xfrm>
        <a:graphic>
          <a:graphicData uri="http://schemas.openxmlformats.org/drawingml/2006/table">
            <a:tbl>
              <a:tblPr/>
              <a:tblGrid>
                <a:gridCol w="646978">
                  <a:extLst>
                    <a:ext uri="{9D8B030D-6E8A-4147-A177-3AD203B41FA5}">
                      <a16:colId xmlns:a16="http://schemas.microsoft.com/office/drawing/2014/main" xmlns="" val="4114248888"/>
                    </a:ext>
                  </a:extLst>
                </a:gridCol>
                <a:gridCol w="1425793">
                  <a:extLst>
                    <a:ext uri="{9D8B030D-6E8A-4147-A177-3AD203B41FA5}">
                      <a16:colId xmlns:a16="http://schemas.microsoft.com/office/drawing/2014/main" xmlns="" val="3700130729"/>
                    </a:ext>
                  </a:extLst>
                </a:gridCol>
                <a:gridCol w="3344084">
                  <a:extLst>
                    <a:ext uri="{9D8B030D-6E8A-4147-A177-3AD203B41FA5}">
                      <a16:colId xmlns:a16="http://schemas.microsoft.com/office/drawing/2014/main" xmlns="" val="2038865371"/>
                    </a:ext>
                  </a:extLst>
                </a:gridCol>
                <a:gridCol w="1179783">
                  <a:extLst>
                    <a:ext uri="{9D8B030D-6E8A-4147-A177-3AD203B41FA5}">
                      <a16:colId xmlns:a16="http://schemas.microsoft.com/office/drawing/2014/main" xmlns="" val="1839319826"/>
                    </a:ext>
                  </a:extLst>
                </a:gridCol>
                <a:gridCol w="1522301">
                  <a:extLst>
                    <a:ext uri="{9D8B030D-6E8A-4147-A177-3AD203B41FA5}">
                      <a16:colId xmlns:a16="http://schemas.microsoft.com/office/drawing/2014/main" xmlns="" val="4020663546"/>
                    </a:ext>
                  </a:extLst>
                </a:gridCol>
              </a:tblGrid>
              <a:tr h="171289">
                <a:tc>
                  <a:txBody>
                    <a:bodyPr/>
                    <a:lstStyle/>
                    <a:p>
                      <a:pPr algn="l" fontAlgn="ctr">
                        <a:buNone/>
                      </a:pPr>
                      <a:r>
                        <a:rPr lang="zh-CN" altLang="en-US" sz="1100" b="1" i="0" u="none" strike="noStrike">
                          <a:solidFill>
                            <a:srgbClr val="000000"/>
                          </a:solidFill>
                          <a:effectLst/>
                          <a:latin typeface="+mn-ea"/>
                          <a:ea typeface="+mn-ea"/>
                        </a:rPr>
                        <a:t>厂商</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1" i="0" u="none" strike="noStrike">
                          <a:solidFill>
                            <a:srgbClr val="000000"/>
                          </a:solidFill>
                          <a:effectLst/>
                          <a:latin typeface="+mn-ea"/>
                          <a:ea typeface="+mn-ea"/>
                        </a:rPr>
                        <a:t>新增产能（万片</a:t>
                      </a:r>
                      <a:r>
                        <a:rPr lang="en-US" altLang="zh-CN" sz="1100" b="1" i="0" u="none" strike="noStrike">
                          <a:solidFill>
                            <a:srgbClr val="000000"/>
                          </a:solidFill>
                          <a:effectLst/>
                          <a:latin typeface="+mn-ea"/>
                          <a:ea typeface="+mn-ea"/>
                        </a:rPr>
                        <a:t>/</a:t>
                      </a:r>
                      <a:r>
                        <a:rPr lang="zh-CN" altLang="en-US" sz="1100" b="1" i="0" u="none" strike="noStrike">
                          <a:solidFill>
                            <a:srgbClr val="000000"/>
                          </a:solidFill>
                          <a:effectLst/>
                          <a:latin typeface="+mn-ea"/>
                          <a:ea typeface="+mn-ea"/>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1" i="0" u="none" strike="noStrike">
                          <a:solidFill>
                            <a:srgbClr val="000000"/>
                          </a:solidFill>
                          <a:effectLst/>
                          <a:latin typeface="+mn-ea"/>
                          <a:ea typeface="+mn-ea"/>
                        </a:rPr>
                        <a:t>新厂区规划</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1100" b="1" i="0" u="none" strike="noStrike">
                          <a:solidFill>
                            <a:srgbClr val="000000"/>
                          </a:solidFill>
                          <a:effectLst/>
                          <a:latin typeface="+mn-ea"/>
                          <a:ea typeface="+mn-ea"/>
                        </a:rPr>
                        <a:t>单万片</a:t>
                      </a:r>
                      <a:r>
                        <a:rPr lang="en-US" altLang="zh-CN" sz="1100" b="1" i="0" u="none" strike="noStrike">
                          <a:solidFill>
                            <a:srgbClr val="000000"/>
                          </a:solidFill>
                          <a:effectLst/>
                          <a:latin typeface="+mn-ea"/>
                          <a:ea typeface="+mn-ea"/>
                        </a:rPr>
                        <a:t>/</a:t>
                      </a:r>
                      <a:r>
                        <a:rPr lang="zh-CN" altLang="en-US" sz="1100" b="1" i="0" u="none" strike="noStrike">
                          <a:solidFill>
                            <a:srgbClr val="000000"/>
                          </a:solidFill>
                          <a:effectLst/>
                          <a:latin typeface="+mn-ea"/>
                          <a:ea typeface="+mn-ea"/>
                        </a:rPr>
                        <a:t>月用气量</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1100" b="1" i="0" u="none" strike="noStrike" dirty="0">
                          <a:solidFill>
                            <a:srgbClr val="000000"/>
                          </a:solidFill>
                          <a:effectLst/>
                          <a:latin typeface="+mn-ea"/>
                          <a:ea typeface="+mn-ea"/>
                        </a:rPr>
                        <a:t>新增用气量（万方</a:t>
                      </a:r>
                      <a:r>
                        <a:rPr lang="en-US" altLang="zh-CN" sz="1100" b="1" i="0" u="none" strike="noStrike" dirty="0">
                          <a:solidFill>
                            <a:srgbClr val="000000"/>
                          </a:solidFill>
                          <a:effectLst/>
                          <a:latin typeface="+mn-ea"/>
                          <a:ea typeface="+mn-ea"/>
                        </a:rPr>
                        <a:t>/</a:t>
                      </a:r>
                      <a:r>
                        <a:rPr lang="en-US" sz="1100" b="1" i="0" u="none" strike="noStrike" dirty="0">
                          <a:solidFill>
                            <a:srgbClr val="000000"/>
                          </a:solidFill>
                          <a:effectLst/>
                          <a:latin typeface="+mn-ea"/>
                          <a:ea typeface="+mn-ea"/>
                        </a:rPr>
                        <a:t>H）</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48160499"/>
                  </a:ext>
                </a:extLst>
              </a:tr>
              <a:tr h="171289">
                <a:tc rowSpan="3">
                  <a:txBody>
                    <a:bodyPr/>
                    <a:lstStyle/>
                    <a:p>
                      <a:pPr algn="l" fontAlgn="ctr">
                        <a:buNone/>
                      </a:pPr>
                      <a:r>
                        <a:rPr lang="zh-CN" altLang="en-US" sz="1100" b="0" i="0" u="none" strike="noStrike">
                          <a:solidFill>
                            <a:srgbClr val="000000"/>
                          </a:solidFill>
                          <a:effectLst/>
                          <a:latin typeface="+mn-ea"/>
                          <a:ea typeface="+mn-ea"/>
                        </a:rPr>
                        <a:t>长鑫</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rowSpan="3">
                  <a:txBody>
                    <a:bodyPr/>
                    <a:lstStyle/>
                    <a:p>
                      <a:pPr algn="ctr" fontAlgn="ctr">
                        <a:buNone/>
                      </a:pPr>
                      <a:r>
                        <a:rPr lang="en-US" altLang="zh-CN" sz="1100" b="0" i="0" u="none" strike="noStrike">
                          <a:solidFill>
                            <a:srgbClr val="000000"/>
                          </a:solidFill>
                          <a:effectLst/>
                          <a:latin typeface="+mn-ea"/>
                          <a:ea typeface="+mn-ea"/>
                        </a:rPr>
                        <a:t>55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zh-CN" altLang="en-US" sz="1100" b="0" i="0" u="none" strike="noStrike" dirty="0">
                          <a:solidFill>
                            <a:srgbClr val="000000"/>
                          </a:solidFill>
                          <a:effectLst/>
                          <a:latin typeface="+mn-ea"/>
                          <a:ea typeface="+mn-ea"/>
                        </a:rPr>
                        <a:t>上海</a:t>
                      </a:r>
                      <a:r>
                        <a:rPr lang="en-US" altLang="zh-CN" sz="1100" b="0" i="0" u="none" strike="noStrike" dirty="0">
                          <a:solidFill>
                            <a:srgbClr val="000000"/>
                          </a:solidFill>
                          <a:effectLst/>
                          <a:latin typeface="+mn-ea"/>
                          <a:ea typeface="+mn-ea"/>
                        </a:rPr>
                        <a:t>1</a:t>
                      </a:r>
                      <a:r>
                        <a:rPr lang="zh-CN" altLang="en-US" sz="1100" b="0" i="0" u="none" strike="noStrike" dirty="0">
                          <a:solidFill>
                            <a:srgbClr val="000000"/>
                          </a:solidFill>
                          <a:effectLst/>
                          <a:latin typeface="+mn-ea"/>
                          <a:ea typeface="+mn-ea"/>
                        </a:rPr>
                        <a:t>座</a:t>
                      </a:r>
                      <a:r>
                        <a:rPr lang="en-US" altLang="zh-CN" sz="1100" b="0" i="0" u="none" strike="noStrike" dirty="0">
                          <a:solidFill>
                            <a:srgbClr val="000000"/>
                          </a:solidFill>
                          <a:effectLst/>
                          <a:latin typeface="+mn-ea"/>
                          <a:ea typeface="+mn-ea"/>
                        </a:rPr>
                        <a:t>10</a:t>
                      </a:r>
                      <a:r>
                        <a:rPr lang="zh-CN" altLang="en-US" sz="1100" b="0" i="0" u="none" strike="noStrike" dirty="0">
                          <a:solidFill>
                            <a:srgbClr val="000000"/>
                          </a:solidFill>
                          <a:effectLst/>
                          <a:latin typeface="+mn-ea"/>
                          <a:ea typeface="+mn-ea"/>
                        </a:rPr>
                        <a:t>万片</a:t>
                      </a:r>
                      <a:r>
                        <a:rPr lang="en-US" altLang="zh-CN" sz="1100" b="0" i="0" u="none" strike="noStrike" dirty="0">
                          <a:solidFill>
                            <a:srgbClr val="000000"/>
                          </a:solidFill>
                          <a:effectLst/>
                          <a:latin typeface="+mn-ea"/>
                          <a:ea typeface="+mn-ea"/>
                        </a:rPr>
                        <a:t>/</a:t>
                      </a:r>
                      <a:r>
                        <a:rPr lang="zh-CN" altLang="en-US" sz="1100" b="0" i="0" u="none" strike="noStrike" dirty="0">
                          <a:solidFill>
                            <a:srgbClr val="000000"/>
                          </a:solidFill>
                          <a:effectLst/>
                          <a:latin typeface="+mn-ea"/>
                          <a:ea typeface="+mn-ea"/>
                        </a:rPr>
                        <a:t>月</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rowSpan="4">
                  <a:txBody>
                    <a:bodyPr/>
                    <a:lstStyle/>
                    <a:p>
                      <a:pPr algn="ctr" fontAlgn="ctr">
                        <a:buNone/>
                      </a:pPr>
                      <a:r>
                        <a:rPr lang="en-US" altLang="zh-CN" sz="1100" b="0" i="0" u="none" strike="noStrike">
                          <a:solidFill>
                            <a:srgbClr val="000000"/>
                          </a:solidFill>
                          <a:effectLst/>
                          <a:latin typeface="+mn-ea"/>
                          <a:ea typeface="+mn-ea"/>
                        </a:rPr>
                        <a:t>1.3</a:t>
                      </a:r>
                      <a:r>
                        <a:rPr lang="zh-CN" altLang="en-US" sz="1100" b="0" i="0" u="none" strike="noStrike">
                          <a:solidFill>
                            <a:srgbClr val="000000"/>
                          </a:solidFill>
                          <a:effectLst/>
                          <a:latin typeface="+mn-ea"/>
                          <a:ea typeface="+mn-ea"/>
                        </a:rPr>
                        <a:t>万方</a:t>
                      </a:r>
                      <a:r>
                        <a:rPr lang="en-US" altLang="zh-CN" sz="1100" b="0" i="0" u="none" strike="noStrike">
                          <a:solidFill>
                            <a:srgbClr val="000000"/>
                          </a:solidFill>
                          <a:effectLst/>
                          <a:latin typeface="+mn-ea"/>
                          <a:ea typeface="+mn-ea"/>
                        </a:rPr>
                        <a:t>/</a:t>
                      </a:r>
                      <a:r>
                        <a:rPr lang="en-US" sz="1100" b="0" i="0" u="none" strike="noStrike">
                          <a:solidFill>
                            <a:srgbClr val="000000"/>
                          </a:solidFill>
                          <a:effectLst/>
                          <a:latin typeface="+mn-ea"/>
                          <a:ea typeface="+mn-ea"/>
                        </a:rPr>
                        <a:t>H</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1100" b="0" i="0" u="none" strike="noStrike">
                          <a:solidFill>
                            <a:srgbClr val="000000"/>
                          </a:solidFill>
                          <a:effectLst/>
                          <a:latin typeface="+mn-ea"/>
                          <a:ea typeface="+mn-ea"/>
                        </a:rPr>
                        <a:t>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xmlns="" val="607749556"/>
                  </a:ext>
                </a:extLst>
              </a:tr>
              <a:tr h="171289">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b="0" i="0" u="none" strike="noStrike">
                          <a:solidFill>
                            <a:srgbClr val="000000"/>
                          </a:solidFill>
                          <a:effectLst/>
                          <a:latin typeface="+mn-ea"/>
                          <a:ea typeface="+mn-ea"/>
                        </a:rPr>
                        <a:t>合肥</a:t>
                      </a:r>
                      <a:r>
                        <a:rPr lang="en-US" altLang="zh-CN" sz="1100" b="0" i="0" u="none" strike="noStrike">
                          <a:solidFill>
                            <a:srgbClr val="000000"/>
                          </a:solidFill>
                          <a:effectLst/>
                          <a:latin typeface="+mn-ea"/>
                          <a:ea typeface="+mn-ea"/>
                        </a:rPr>
                        <a:t>7</a:t>
                      </a:r>
                      <a:r>
                        <a:rPr lang="zh-CN" altLang="en-US" sz="1100" b="0" i="0" u="none" strike="noStrike">
                          <a:solidFill>
                            <a:srgbClr val="000000"/>
                          </a:solidFill>
                          <a:effectLst/>
                          <a:latin typeface="+mn-ea"/>
                          <a:ea typeface="+mn-ea"/>
                        </a:rPr>
                        <a:t>座，每座</a:t>
                      </a:r>
                      <a:r>
                        <a:rPr lang="en-US" altLang="zh-CN" sz="1100" b="0" i="0" u="none" strike="noStrike">
                          <a:solidFill>
                            <a:srgbClr val="000000"/>
                          </a:solidFill>
                          <a:effectLst/>
                          <a:latin typeface="+mn-ea"/>
                          <a:ea typeface="+mn-ea"/>
                        </a:rPr>
                        <a:t>5</a:t>
                      </a:r>
                      <a:r>
                        <a:rPr lang="zh-CN" altLang="en-US" sz="1100" b="0" i="0" u="none" strike="noStrike">
                          <a:solidFill>
                            <a:srgbClr val="000000"/>
                          </a:solidFill>
                          <a:effectLst/>
                          <a:latin typeface="+mn-ea"/>
                          <a:ea typeface="+mn-ea"/>
                        </a:rPr>
                        <a:t>万片</a:t>
                      </a:r>
                      <a:r>
                        <a:rPr lang="en-US" altLang="zh-CN" sz="1100" b="0" i="0" u="none" strike="noStrike">
                          <a:solidFill>
                            <a:srgbClr val="000000"/>
                          </a:solidFill>
                          <a:effectLst/>
                          <a:latin typeface="+mn-ea"/>
                          <a:ea typeface="+mn-ea"/>
                        </a:rPr>
                        <a:t>/</a:t>
                      </a:r>
                      <a:r>
                        <a:rPr lang="zh-CN" altLang="en-US" sz="1100" b="0" i="0" u="none" strike="noStrike">
                          <a:solidFill>
                            <a:srgbClr val="000000"/>
                          </a:solidFill>
                          <a:effectLst/>
                          <a:latin typeface="+mn-ea"/>
                          <a:ea typeface="+mn-ea"/>
                        </a:rPr>
                        <a:t>月，合计</a:t>
                      </a:r>
                      <a:r>
                        <a:rPr lang="en-US" altLang="zh-CN" sz="1100" b="0" i="0" u="none" strike="noStrike">
                          <a:solidFill>
                            <a:srgbClr val="000000"/>
                          </a:solidFill>
                          <a:effectLst/>
                          <a:latin typeface="+mn-ea"/>
                          <a:ea typeface="+mn-ea"/>
                        </a:rPr>
                        <a:t>35</a:t>
                      </a:r>
                      <a:r>
                        <a:rPr lang="zh-CN" altLang="en-US" sz="1100" b="0" i="0" u="none" strike="noStrike">
                          <a:solidFill>
                            <a:srgbClr val="000000"/>
                          </a:solidFill>
                          <a:effectLst/>
                          <a:latin typeface="+mn-ea"/>
                          <a:ea typeface="+mn-ea"/>
                        </a:rPr>
                        <a:t>万片</a:t>
                      </a:r>
                      <a:r>
                        <a:rPr lang="en-US" altLang="zh-CN" sz="1100" b="0" i="0" u="none" strike="noStrike">
                          <a:solidFill>
                            <a:srgbClr val="000000"/>
                          </a:solidFill>
                          <a:effectLst/>
                          <a:latin typeface="+mn-ea"/>
                          <a:ea typeface="+mn-ea"/>
                        </a:rPr>
                        <a:t>/</a:t>
                      </a:r>
                      <a:r>
                        <a:rPr lang="zh-CN" altLang="en-US" sz="1100" b="0" i="0" u="none" strike="noStrike">
                          <a:solidFill>
                            <a:srgbClr val="000000"/>
                          </a:solidFill>
                          <a:effectLst/>
                          <a:latin typeface="+mn-ea"/>
                          <a:ea typeface="+mn-ea"/>
                        </a:rPr>
                        <a:t>月</a:t>
                      </a:r>
                    </a:p>
                  </a:txBody>
                  <a:tcPr marL="0" marR="0" marT="0" marB="0" anchor="ctr">
                    <a:lnL>
                      <a:noFill/>
                    </a:lnL>
                    <a:lnR>
                      <a:noFill/>
                    </a:lnR>
                    <a:lnT>
                      <a:noFill/>
                    </a:lnT>
                    <a:lnB>
                      <a:noFill/>
                    </a:lnB>
                    <a:noFill/>
                  </a:tcPr>
                </a:tc>
                <a:tc vMerge="1">
                  <a:txBody>
                    <a:bodyPr/>
                    <a:lstStyle/>
                    <a:p>
                      <a:endParaRPr lang="zh-CN" altLang="en-US"/>
                    </a:p>
                  </a:txBody>
                  <a:tcPr/>
                </a:tc>
                <a:tc>
                  <a:txBody>
                    <a:bodyPr/>
                    <a:lstStyle/>
                    <a:p>
                      <a:pPr algn="ctr" fontAlgn="ctr">
                        <a:buNone/>
                      </a:pPr>
                      <a:r>
                        <a:rPr lang="en-US" altLang="zh-CN" sz="1100" b="0" i="0" u="none" strike="noStrike" dirty="0">
                          <a:solidFill>
                            <a:srgbClr val="000000"/>
                          </a:solidFill>
                          <a:effectLst/>
                          <a:latin typeface="+mn-ea"/>
                          <a:ea typeface="+mn-ea"/>
                        </a:rPr>
                        <a:t>45.5</a:t>
                      </a:r>
                    </a:p>
                  </a:txBody>
                  <a:tcPr marL="0" marR="0" marT="0" marB="0" anchor="ctr">
                    <a:lnL>
                      <a:noFill/>
                    </a:lnL>
                    <a:lnR>
                      <a:noFill/>
                    </a:lnR>
                    <a:lnT>
                      <a:noFill/>
                    </a:lnT>
                    <a:lnB>
                      <a:noFill/>
                    </a:lnB>
                    <a:noFill/>
                  </a:tcPr>
                </a:tc>
                <a:extLst>
                  <a:ext uri="{0D108BD9-81ED-4DB2-BD59-A6C34878D82A}">
                    <a16:rowId xmlns:a16="http://schemas.microsoft.com/office/drawing/2014/main" xmlns="" val="3618606071"/>
                  </a:ext>
                </a:extLst>
              </a:tr>
              <a:tr h="171289">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1100" b="0" i="0" u="none" strike="noStrike">
                          <a:solidFill>
                            <a:srgbClr val="000000"/>
                          </a:solidFill>
                          <a:effectLst/>
                          <a:latin typeface="+mn-ea"/>
                          <a:ea typeface="+mn-ea"/>
                        </a:rPr>
                        <a:t>北京</a:t>
                      </a:r>
                      <a:r>
                        <a:rPr lang="en-US" altLang="zh-CN" sz="1100" b="0" i="0" u="none" strike="noStrike">
                          <a:solidFill>
                            <a:srgbClr val="000000"/>
                          </a:solidFill>
                          <a:effectLst/>
                          <a:latin typeface="+mn-ea"/>
                          <a:ea typeface="+mn-ea"/>
                        </a:rPr>
                        <a:t>1</a:t>
                      </a:r>
                      <a:r>
                        <a:rPr lang="zh-CN" altLang="en-US" sz="1100" b="0" i="0" u="none" strike="noStrike">
                          <a:solidFill>
                            <a:srgbClr val="000000"/>
                          </a:solidFill>
                          <a:effectLst/>
                          <a:latin typeface="+mn-ea"/>
                          <a:ea typeface="+mn-ea"/>
                        </a:rPr>
                        <a:t>座（马驹桥），</a:t>
                      </a:r>
                      <a:r>
                        <a:rPr lang="en-US" altLang="zh-CN" sz="1100" b="0" i="0" u="none" strike="noStrike">
                          <a:solidFill>
                            <a:srgbClr val="000000"/>
                          </a:solidFill>
                          <a:effectLst/>
                          <a:latin typeface="+mn-ea"/>
                          <a:ea typeface="+mn-ea"/>
                        </a:rPr>
                        <a:t>10</a:t>
                      </a:r>
                      <a:r>
                        <a:rPr lang="zh-CN" altLang="en-US" sz="1100" b="0" i="0" u="none" strike="noStrike">
                          <a:solidFill>
                            <a:srgbClr val="000000"/>
                          </a:solidFill>
                          <a:effectLst/>
                          <a:latin typeface="+mn-ea"/>
                          <a:ea typeface="+mn-ea"/>
                        </a:rPr>
                        <a:t>万片</a:t>
                      </a:r>
                      <a:r>
                        <a:rPr lang="en-US" altLang="zh-CN" sz="1100" b="0" i="0" u="none" strike="noStrike">
                          <a:solidFill>
                            <a:srgbClr val="000000"/>
                          </a:solidFill>
                          <a:effectLst/>
                          <a:latin typeface="+mn-ea"/>
                          <a:ea typeface="+mn-ea"/>
                        </a:rPr>
                        <a:t>/</a:t>
                      </a:r>
                      <a:r>
                        <a:rPr lang="zh-CN" altLang="en-US" sz="1100" b="0" i="0" u="none" strike="noStrike">
                          <a:solidFill>
                            <a:srgbClr val="000000"/>
                          </a:solidFill>
                          <a:effectLst/>
                          <a:latin typeface="+mn-ea"/>
                          <a:ea typeface="+mn-ea"/>
                        </a:rPr>
                        <a:t>月</a:t>
                      </a:r>
                    </a:p>
                  </a:txBody>
                  <a:tcPr marL="0" marR="0" marT="0" marB="0" anchor="ctr">
                    <a:lnL>
                      <a:noFill/>
                    </a:lnL>
                    <a:lnR>
                      <a:noFill/>
                    </a:lnR>
                    <a:lnT>
                      <a:noFill/>
                    </a:lnT>
                    <a:lnB>
                      <a:noFill/>
                    </a:lnB>
                    <a:noFill/>
                  </a:tcPr>
                </a:tc>
                <a:tc vMerge="1">
                  <a:txBody>
                    <a:bodyPr/>
                    <a:lstStyle/>
                    <a:p>
                      <a:endParaRPr lang="zh-CN" altLang="en-US"/>
                    </a:p>
                  </a:txBody>
                  <a:tcPr/>
                </a:tc>
                <a:tc>
                  <a:txBody>
                    <a:bodyPr/>
                    <a:lstStyle/>
                    <a:p>
                      <a:pPr algn="ctr" fontAlgn="ctr">
                        <a:buNone/>
                      </a:pPr>
                      <a:r>
                        <a:rPr lang="en-US" altLang="zh-CN" sz="1100" b="0" i="0" u="none" strike="noStrike">
                          <a:solidFill>
                            <a:srgbClr val="000000"/>
                          </a:solidFill>
                          <a:effectLst/>
                          <a:latin typeface="+mn-ea"/>
                          <a:ea typeface="+mn-ea"/>
                        </a:rPr>
                        <a:t>13</a:t>
                      </a:r>
                    </a:p>
                  </a:txBody>
                  <a:tcPr marL="0" marR="0" marT="0" marB="0" anchor="ctr">
                    <a:lnL>
                      <a:noFill/>
                    </a:lnL>
                    <a:lnR>
                      <a:noFill/>
                    </a:lnR>
                    <a:lnT>
                      <a:noFill/>
                    </a:lnT>
                    <a:lnB>
                      <a:noFill/>
                    </a:lnB>
                    <a:noFill/>
                  </a:tcPr>
                </a:tc>
                <a:extLst>
                  <a:ext uri="{0D108BD9-81ED-4DB2-BD59-A6C34878D82A}">
                    <a16:rowId xmlns:a16="http://schemas.microsoft.com/office/drawing/2014/main" xmlns="" val="2883185258"/>
                  </a:ext>
                </a:extLst>
              </a:tr>
              <a:tr h="171289">
                <a:tc>
                  <a:txBody>
                    <a:bodyPr/>
                    <a:lstStyle/>
                    <a:p>
                      <a:pPr algn="l" fontAlgn="ctr">
                        <a:buNone/>
                      </a:pPr>
                      <a:r>
                        <a:rPr lang="zh-CN" altLang="en-US" sz="1100" b="0" i="0" u="none" strike="noStrike">
                          <a:solidFill>
                            <a:srgbClr val="000000"/>
                          </a:solidFill>
                          <a:effectLst/>
                          <a:latin typeface="+mn-ea"/>
                          <a:ea typeface="+mn-ea"/>
                        </a:rPr>
                        <a:t>长存</a:t>
                      </a:r>
                    </a:p>
                  </a:txBody>
                  <a:tcPr marL="0" marR="0" marT="0" marB="0" anchor="ctr">
                    <a:lnL>
                      <a:noFill/>
                    </a:lnL>
                    <a:lnR>
                      <a:noFill/>
                    </a:lnR>
                    <a:lnT>
                      <a:noFill/>
                    </a:lnT>
                    <a:lnB>
                      <a:noFill/>
                    </a:lnB>
                    <a:noFill/>
                  </a:tcPr>
                </a:tc>
                <a:tc>
                  <a:txBody>
                    <a:bodyPr/>
                    <a:lstStyle/>
                    <a:p>
                      <a:pPr algn="ctr" fontAlgn="ctr">
                        <a:buNone/>
                      </a:pPr>
                      <a:r>
                        <a:rPr lang="en-US" altLang="zh-CN" sz="1100" b="0" i="0" u="none" strike="noStrike">
                          <a:solidFill>
                            <a:srgbClr val="000000"/>
                          </a:solidFill>
                          <a:effectLst/>
                          <a:latin typeface="+mn-ea"/>
                          <a:ea typeface="+mn-ea"/>
                        </a:rPr>
                        <a:t>70</a:t>
                      </a:r>
                    </a:p>
                  </a:txBody>
                  <a:tcPr marL="0" marR="0" marT="0" marB="0" anchor="ctr">
                    <a:lnL>
                      <a:noFill/>
                    </a:lnL>
                    <a:lnR>
                      <a:noFill/>
                    </a:lnR>
                    <a:lnT>
                      <a:noFill/>
                    </a:lnT>
                    <a:lnB>
                      <a:noFill/>
                    </a:lnB>
                    <a:noFill/>
                  </a:tcPr>
                </a:tc>
                <a:tc>
                  <a:txBody>
                    <a:bodyPr/>
                    <a:lstStyle/>
                    <a:p>
                      <a:pPr algn="l" fontAlgn="ctr">
                        <a:buNone/>
                      </a:pPr>
                      <a:r>
                        <a:rPr lang="zh-CN" altLang="en-US" sz="1100" b="0" i="0" u="none" strike="noStrike">
                          <a:solidFill>
                            <a:srgbClr val="000000"/>
                          </a:solidFill>
                          <a:effectLst/>
                          <a:latin typeface="+mn-ea"/>
                          <a:ea typeface="+mn-ea"/>
                        </a:rPr>
                        <a:t>武汉再新增</a:t>
                      </a:r>
                      <a:r>
                        <a:rPr lang="en-US" altLang="zh-CN" sz="1100" b="0" i="0" u="none" strike="noStrike">
                          <a:solidFill>
                            <a:srgbClr val="000000"/>
                          </a:solidFill>
                          <a:effectLst/>
                          <a:latin typeface="+mn-ea"/>
                          <a:ea typeface="+mn-ea"/>
                        </a:rPr>
                        <a:t>7</a:t>
                      </a:r>
                      <a:r>
                        <a:rPr lang="zh-CN" altLang="en-US" sz="1100" b="0" i="0" u="none" strike="noStrike">
                          <a:solidFill>
                            <a:srgbClr val="000000"/>
                          </a:solidFill>
                          <a:effectLst/>
                          <a:latin typeface="+mn-ea"/>
                          <a:ea typeface="+mn-ea"/>
                        </a:rPr>
                        <a:t>座，每座</a:t>
                      </a:r>
                      <a:r>
                        <a:rPr lang="en-US" altLang="zh-CN" sz="1100" b="0" i="0" u="none" strike="noStrike">
                          <a:solidFill>
                            <a:srgbClr val="000000"/>
                          </a:solidFill>
                          <a:effectLst/>
                          <a:latin typeface="+mn-ea"/>
                          <a:ea typeface="+mn-ea"/>
                        </a:rPr>
                        <a:t>10</a:t>
                      </a:r>
                      <a:r>
                        <a:rPr lang="zh-CN" altLang="en-US" sz="1100" b="0" i="0" u="none" strike="noStrike">
                          <a:solidFill>
                            <a:srgbClr val="000000"/>
                          </a:solidFill>
                          <a:effectLst/>
                          <a:latin typeface="+mn-ea"/>
                          <a:ea typeface="+mn-ea"/>
                        </a:rPr>
                        <a:t>万片</a:t>
                      </a:r>
                      <a:r>
                        <a:rPr lang="en-US" altLang="zh-CN" sz="1100" b="0" i="0" u="none" strike="noStrike">
                          <a:solidFill>
                            <a:srgbClr val="000000"/>
                          </a:solidFill>
                          <a:effectLst/>
                          <a:latin typeface="+mn-ea"/>
                          <a:ea typeface="+mn-ea"/>
                        </a:rPr>
                        <a:t>/</a:t>
                      </a:r>
                      <a:r>
                        <a:rPr lang="zh-CN" altLang="en-US" sz="1100" b="0" i="0" u="none" strike="noStrike">
                          <a:solidFill>
                            <a:srgbClr val="000000"/>
                          </a:solidFill>
                          <a:effectLst/>
                          <a:latin typeface="+mn-ea"/>
                          <a:ea typeface="+mn-ea"/>
                        </a:rPr>
                        <a:t>月，合计</a:t>
                      </a:r>
                      <a:r>
                        <a:rPr lang="en-US" altLang="zh-CN" sz="1100" b="0" i="0" u="none" strike="noStrike">
                          <a:solidFill>
                            <a:srgbClr val="000000"/>
                          </a:solidFill>
                          <a:effectLst/>
                          <a:latin typeface="+mn-ea"/>
                          <a:ea typeface="+mn-ea"/>
                        </a:rPr>
                        <a:t>70</a:t>
                      </a:r>
                      <a:r>
                        <a:rPr lang="zh-CN" altLang="en-US" sz="1100" b="0" i="0" u="none" strike="noStrike">
                          <a:solidFill>
                            <a:srgbClr val="000000"/>
                          </a:solidFill>
                          <a:effectLst/>
                          <a:latin typeface="+mn-ea"/>
                          <a:ea typeface="+mn-ea"/>
                        </a:rPr>
                        <a:t>万片</a:t>
                      </a:r>
                      <a:r>
                        <a:rPr lang="en-US" altLang="zh-CN" sz="1100" b="0" i="0" u="none" strike="noStrike">
                          <a:solidFill>
                            <a:srgbClr val="000000"/>
                          </a:solidFill>
                          <a:effectLst/>
                          <a:latin typeface="+mn-ea"/>
                          <a:ea typeface="+mn-ea"/>
                        </a:rPr>
                        <a:t>/</a:t>
                      </a:r>
                      <a:r>
                        <a:rPr lang="zh-CN" altLang="en-US" sz="1100" b="0" i="0" u="none" strike="noStrike">
                          <a:solidFill>
                            <a:srgbClr val="000000"/>
                          </a:solidFill>
                          <a:effectLst/>
                          <a:latin typeface="+mn-ea"/>
                          <a:ea typeface="+mn-ea"/>
                        </a:rPr>
                        <a:t>月</a:t>
                      </a:r>
                    </a:p>
                  </a:txBody>
                  <a:tcPr marL="0" marR="0" marT="0" marB="0" anchor="ctr">
                    <a:lnL>
                      <a:noFill/>
                    </a:lnL>
                    <a:lnR>
                      <a:noFill/>
                    </a:lnR>
                    <a:lnT>
                      <a:noFill/>
                    </a:lnT>
                    <a:lnB>
                      <a:noFill/>
                    </a:lnB>
                    <a:noFill/>
                  </a:tcPr>
                </a:tc>
                <a:tc vMerge="1">
                  <a:txBody>
                    <a:bodyPr/>
                    <a:lstStyle/>
                    <a:p>
                      <a:endParaRPr lang="zh-CN" altLang="en-US"/>
                    </a:p>
                  </a:txBody>
                  <a:tcPr/>
                </a:tc>
                <a:tc>
                  <a:txBody>
                    <a:bodyPr/>
                    <a:lstStyle/>
                    <a:p>
                      <a:pPr algn="ctr" fontAlgn="ctr">
                        <a:buNone/>
                      </a:pPr>
                      <a:r>
                        <a:rPr lang="en-US" altLang="zh-CN" sz="1100" b="0" i="0" u="none" strike="noStrike" dirty="0">
                          <a:solidFill>
                            <a:srgbClr val="000000"/>
                          </a:solidFill>
                          <a:effectLst/>
                          <a:latin typeface="+mn-ea"/>
                          <a:ea typeface="+mn-ea"/>
                        </a:rPr>
                        <a:t>91</a:t>
                      </a:r>
                    </a:p>
                  </a:txBody>
                  <a:tcPr marL="0" marR="0" marT="0" marB="0" anchor="ctr">
                    <a:lnL>
                      <a:noFill/>
                    </a:lnL>
                    <a:lnR>
                      <a:noFill/>
                    </a:lnR>
                    <a:lnT>
                      <a:noFill/>
                    </a:lnT>
                    <a:lnB>
                      <a:noFill/>
                    </a:lnB>
                    <a:noFill/>
                  </a:tcPr>
                </a:tc>
                <a:extLst>
                  <a:ext uri="{0D108BD9-81ED-4DB2-BD59-A6C34878D82A}">
                    <a16:rowId xmlns:a16="http://schemas.microsoft.com/office/drawing/2014/main" xmlns="" val="1492653603"/>
                  </a:ext>
                </a:extLst>
              </a:tr>
              <a:tr h="171289">
                <a:tc>
                  <a:txBody>
                    <a:bodyPr/>
                    <a:lstStyle/>
                    <a:p>
                      <a:pPr algn="l" fontAlgn="ctr">
                        <a:buNone/>
                      </a:pPr>
                      <a:r>
                        <a:rPr lang="zh-CN" altLang="en-US" sz="1100" b="1" i="0" u="none" strike="noStrike" dirty="0">
                          <a:solidFill>
                            <a:srgbClr val="C00000"/>
                          </a:solidFill>
                          <a:effectLst/>
                          <a:latin typeface="+mn-ea"/>
                          <a:ea typeface="+mn-ea"/>
                        </a:rPr>
                        <a:t>合计</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1" i="0" u="none" strike="noStrike" dirty="0">
                          <a:solidFill>
                            <a:srgbClr val="C00000"/>
                          </a:solidFill>
                          <a:effectLst/>
                          <a:latin typeface="+mn-ea"/>
                          <a:ea typeface="+mn-ea"/>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100" b="1" i="0" u="none" strike="noStrike" dirty="0">
                          <a:solidFill>
                            <a:srgbClr val="C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1100" b="1" i="0" u="none" strike="noStrike" dirty="0">
                          <a:solidFill>
                            <a:srgbClr val="C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100" b="1" i="0" u="none" strike="noStrike" dirty="0">
                          <a:solidFill>
                            <a:srgbClr val="C00000"/>
                          </a:solidFill>
                          <a:effectLst/>
                          <a:latin typeface="+mn-ea"/>
                          <a:ea typeface="+mn-ea"/>
                        </a:rPr>
                        <a:t>162.5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243127382"/>
                  </a:ext>
                </a:extLst>
              </a:tr>
            </a:tbl>
          </a:graphicData>
        </a:graphic>
      </p:graphicFrame>
      <p:sp>
        <p:nvSpPr>
          <p:cNvPr id="8" name="文本框 11">
            <a:extLst>
              <a:ext uri="{FF2B5EF4-FFF2-40B4-BE49-F238E27FC236}">
                <a16:creationId xmlns:a16="http://schemas.microsoft.com/office/drawing/2014/main" xmlns="" id="{2D0FBDE4-53F6-D7FF-672C-227C156AC601}"/>
              </a:ext>
            </a:extLst>
          </p:cNvPr>
          <p:cNvSpPr txBox="1"/>
          <p:nvPr/>
        </p:nvSpPr>
        <p:spPr>
          <a:xfrm>
            <a:off x="1793966" y="2901455"/>
            <a:ext cx="555606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表：两存十五五扩产规划与用气量梳理</a:t>
            </a:r>
          </a:p>
        </p:txBody>
      </p:sp>
    </p:spTree>
    <p:extLst>
      <p:ext uri="{BB962C8B-B14F-4D97-AF65-F5344CB8AC3E}">
        <p14:creationId xmlns:p14="http://schemas.microsoft.com/office/powerpoint/2010/main" val="2347359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138616" y="843509"/>
            <a:ext cx="5121704" cy="1574941"/>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000" b="1" dirty="0">
                <a:latin typeface="Arial" panose="020B0604020202020204" pitchFamily="34" charset="0"/>
                <a:ea typeface="思源黑体 Heavy" panose="020B0A00000000000000" pitchFamily="34" charset="-122"/>
                <a:cs typeface="Arial" panose="020B0604020202020204" pitchFamily="34" charset="0"/>
              </a:rPr>
              <a:t>晶圆厂：</a:t>
            </a:r>
            <a:r>
              <a:rPr lang="en-US" altLang="zh-CN" sz="1000" b="1" dirty="0">
                <a:latin typeface="Arial" panose="020B0604020202020204" pitchFamily="34" charset="0"/>
                <a:ea typeface="思源黑体 Heavy" panose="020B0A00000000000000" pitchFamily="34" charset="-122"/>
                <a:cs typeface="Arial" panose="020B0604020202020204" pitchFamily="34" charset="0"/>
              </a:rPr>
              <a:t>24H2</a:t>
            </a:r>
            <a:r>
              <a:rPr lang="zh-CN" altLang="en-US" sz="1000" b="1" dirty="0">
                <a:latin typeface="Arial" panose="020B0604020202020204" pitchFamily="34" charset="0"/>
                <a:ea typeface="思源黑体 Heavy" panose="020B0A00000000000000" pitchFamily="34" charset="-122"/>
                <a:cs typeface="Arial" panose="020B0604020202020204" pitchFamily="34" charset="0"/>
              </a:rPr>
              <a:t>至今因制裁原因扩产减慢，近期部分标志性项目开始对接与重启，未来</a:t>
            </a:r>
            <a:r>
              <a:rPr lang="en-US" altLang="zh-CN" sz="1000" b="1" dirty="0">
                <a:latin typeface="Arial" panose="020B0604020202020204" pitchFamily="34" charset="0"/>
                <a:ea typeface="思源黑体 Heavy" panose="020B0A00000000000000" pitchFamily="34" charset="-122"/>
                <a:cs typeface="Arial" panose="020B0604020202020204" pitchFamily="34" charset="0"/>
              </a:rPr>
              <a:t>3</a:t>
            </a:r>
            <a:r>
              <a:rPr lang="zh-CN" altLang="en-US" sz="1000" b="1" dirty="0">
                <a:latin typeface="Arial" panose="020B0604020202020204" pitchFamily="34" charset="0"/>
                <a:ea typeface="思源黑体 Heavy" panose="020B0A00000000000000" pitchFamily="34" charset="-122"/>
                <a:cs typeface="Arial" panose="020B0604020202020204" pitchFamily="34" charset="0"/>
              </a:rPr>
              <a:t>年有望迎来扩产向上周期。</a:t>
            </a:r>
            <a:endParaRPr lang="en-US" altLang="zh-CN" sz="10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en-US" altLang="zh-CN" sz="10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1000" b="1" dirty="0">
                <a:latin typeface="Arial" panose="020B0604020202020204" pitchFamily="34" charset="0"/>
                <a:ea typeface="思源黑体 Heavy" panose="020B0A00000000000000" pitchFamily="34" charset="-122"/>
                <a:cs typeface="Arial" panose="020B0604020202020204" pitchFamily="34" charset="0"/>
              </a:rPr>
              <a:t>年维度：</a:t>
            </a:r>
            <a:r>
              <a:rPr lang="en-US" altLang="zh-CN" sz="1000" b="1" dirty="0">
                <a:latin typeface="Arial" panose="020B0604020202020204" pitchFamily="34" charset="0"/>
                <a:ea typeface="思源黑体 Heavy" panose="020B0A00000000000000" pitchFamily="34" charset="-122"/>
                <a:cs typeface="Arial" panose="020B0604020202020204" pitchFamily="34" charset="0"/>
              </a:rPr>
              <a:t>26</a:t>
            </a:r>
            <a:r>
              <a:rPr lang="zh-CN" altLang="en-US" sz="1000" b="1" dirty="0">
                <a:latin typeface="Arial" panose="020B0604020202020204" pitchFamily="34" charset="0"/>
                <a:ea typeface="思源黑体 Heavy" panose="020B0A00000000000000" pitchFamily="34" charset="-122"/>
                <a:cs typeface="Arial" panose="020B0604020202020204" pitchFamily="34" charset="0"/>
              </a:rPr>
              <a:t>年核心项目计划</a:t>
            </a:r>
            <a:r>
              <a:rPr lang="en-US" altLang="zh-CN" sz="10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中芯天津（</a:t>
            </a:r>
            <a:r>
              <a:rPr lang="en-US" altLang="zh-CN" sz="1000" dirty="0">
                <a:latin typeface="Arial" panose="020B0604020202020204" pitchFamily="34" charset="0"/>
                <a:ea typeface="思源黑体 Heavy" panose="020B0A00000000000000" pitchFamily="34" charset="-122"/>
                <a:cs typeface="Arial" panose="020B0604020202020204" pitchFamily="34" charset="0"/>
              </a:rPr>
              <a:t>10</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万方）、</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方晶联合一期（约</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万方）、晶合合肥三期（扩产，约</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万方，已对接）、晶合四期（</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5-6</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万方，已对接）、合肥长鑫</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P4</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（三期一阶段，</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3.75</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已对接）、长存</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4</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期（</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10-13</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万方，接洽）、华力上海（规划</a:t>
            </a:r>
            <a:r>
              <a:rPr lang="en-US" altLang="zh-CN"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8</a:t>
            </a:r>
            <a:r>
              <a:rPr lang="zh-CN" altLang="en-US" sz="10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万方，接洽）</a:t>
            </a:r>
            <a:r>
              <a:rPr lang="zh-CN" altLang="en-US" sz="1000" dirty="0">
                <a:latin typeface="Arial" panose="020B0604020202020204" pitchFamily="34" charset="0"/>
                <a:ea typeface="思源黑体 Heavy" panose="020B0A00000000000000" pitchFamily="34" charset="-122"/>
                <a:cs typeface="Arial" panose="020B0604020202020204" pitchFamily="34" charset="0"/>
              </a:rPr>
              <a:t>等项目预计招标，</a:t>
            </a:r>
            <a:r>
              <a:rPr lang="zh-CN" altLang="en-US"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预计大厂明确招标</a:t>
            </a:r>
            <a:r>
              <a:rPr lang="en-US" altLang="zh-CN"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45</a:t>
            </a:r>
            <a:r>
              <a:rPr lang="zh-CN" altLang="en-US"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万方项目</a:t>
            </a:r>
            <a:r>
              <a:rPr lang="zh-CN" altLang="en-US" sz="10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0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en-US" altLang="zh-CN" sz="1000" b="1" dirty="0">
                <a:latin typeface="Arial" panose="020B0604020202020204" pitchFamily="34" charset="0"/>
                <a:ea typeface="思源黑体 Heavy" panose="020B0A00000000000000" pitchFamily="34" charset="-122"/>
                <a:cs typeface="Arial" panose="020B0604020202020204" pitchFamily="34" charset="0"/>
              </a:rPr>
              <a:t>3</a:t>
            </a:r>
            <a:r>
              <a:rPr lang="zh-CN" altLang="en-US" sz="1000" b="1" dirty="0">
                <a:latin typeface="Arial" panose="020B0604020202020204" pitchFamily="34" charset="0"/>
                <a:ea typeface="思源黑体 Heavy" panose="020B0A00000000000000" pitchFamily="34" charset="-122"/>
                <a:cs typeface="Arial" panose="020B0604020202020204" pitchFamily="34" charset="0"/>
              </a:rPr>
              <a:t>年维度：</a:t>
            </a:r>
            <a:r>
              <a:rPr lang="zh-CN" altLang="en-US" sz="1000" dirty="0">
                <a:latin typeface="Arial" panose="020B0604020202020204" pitchFamily="34" charset="0"/>
                <a:ea typeface="思源黑体 Heavy" panose="020B0A00000000000000" pitchFamily="34" charset="-122"/>
                <a:cs typeface="Arial" panose="020B0604020202020204" pitchFamily="34" charset="0"/>
              </a:rPr>
              <a:t>截至</a:t>
            </a:r>
            <a:r>
              <a:rPr lang="en-US" altLang="zh-CN" sz="1000" dirty="0">
                <a:latin typeface="Arial" panose="020B0604020202020204" pitchFamily="34" charset="0"/>
                <a:ea typeface="思源黑体 Heavy" panose="020B0A00000000000000" pitchFamily="34" charset="-122"/>
                <a:cs typeface="Arial" panose="020B0604020202020204" pitchFamily="34" charset="0"/>
              </a:rPr>
              <a:t>25</a:t>
            </a:r>
            <a:r>
              <a:rPr lang="zh-CN" altLang="en-US" sz="10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000" dirty="0">
                <a:latin typeface="Arial" panose="020B0604020202020204" pitchFamily="34" charset="0"/>
                <a:ea typeface="思源黑体 Heavy" panose="020B0A00000000000000" pitchFamily="34" charset="-122"/>
                <a:cs typeface="Arial" panose="020B0604020202020204" pitchFamily="34" charset="0"/>
              </a:rPr>
              <a:t>9</a:t>
            </a:r>
            <a:r>
              <a:rPr lang="zh-CN" altLang="en-US" sz="1000" dirty="0">
                <a:latin typeface="Arial" panose="020B0604020202020204" pitchFamily="34" charset="0"/>
                <a:ea typeface="思源黑体 Heavy" panose="020B0A00000000000000" pitchFamily="34" charset="-122"/>
                <a:cs typeface="Arial" panose="020B0604020202020204" pitchFamily="34" charset="0"/>
              </a:rPr>
              <a:t>月，晶圆厂规划新建</a:t>
            </a:r>
            <a:r>
              <a:rPr lang="en-US" altLang="zh-CN" sz="1000" dirty="0">
                <a:latin typeface="Arial" panose="020B0604020202020204" pitchFamily="34" charset="0"/>
                <a:ea typeface="思源黑体 Heavy" panose="020B0A00000000000000" pitchFamily="34" charset="-122"/>
                <a:cs typeface="Arial" panose="020B0604020202020204" pitchFamily="34" charset="0"/>
              </a:rPr>
              <a:t>/</a:t>
            </a:r>
            <a:r>
              <a:rPr lang="zh-CN" altLang="en-US" sz="1000" dirty="0">
                <a:latin typeface="Arial" panose="020B0604020202020204" pitchFamily="34" charset="0"/>
                <a:ea typeface="思源黑体 Heavy" panose="020B0A00000000000000" pitchFamily="34" charset="-122"/>
                <a:cs typeface="Arial" panose="020B0604020202020204" pitchFamily="34" charset="0"/>
              </a:rPr>
              <a:t>在建产能约为</a:t>
            </a:r>
            <a:r>
              <a:rPr lang="en-US" altLang="zh-CN" sz="1000" dirty="0">
                <a:latin typeface="Arial" panose="020B0604020202020204" pitchFamily="34" charset="0"/>
                <a:ea typeface="思源黑体 Heavy" panose="020B0A00000000000000" pitchFamily="34" charset="-122"/>
                <a:cs typeface="Arial" panose="020B0604020202020204" pitchFamily="34" charset="0"/>
              </a:rPr>
              <a:t>194</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万片</a:t>
            </a:r>
            <a:r>
              <a:rPr lang="en-US" altLang="zh-CN" sz="1000" dirty="0">
                <a:latin typeface="Arial" panose="020B0604020202020204" pitchFamily="34" charset="0"/>
                <a:ea typeface="思源黑体 Heavy" panose="020B0A00000000000000" pitchFamily="34" charset="-122"/>
                <a:cs typeface="Arial" panose="020B0604020202020204" pitchFamily="34" charset="0"/>
              </a:rPr>
              <a:t>/</a:t>
            </a:r>
            <a:r>
              <a:rPr lang="zh-CN" altLang="en-US" sz="1000" dirty="0">
                <a:latin typeface="Arial" panose="020B0604020202020204" pitchFamily="34" charset="0"/>
                <a:ea typeface="思源黑体 Heavy" panose="020B0A00000000000000" pitchFamily="34" charset="-122"/>
                <a:cs typeface="Arial" panose="020B0604020202020204" pitchFamily="34" charset="0"/>
              </a:rPr>
              <a:t>月，大部分为</a:t>
            </a:r>
            <a:r>
              <a:rPr lang="en-US" altLang="zh-CN" sz="1000" dirty="0">
                <a:latin typeface="Arial" panose="020B0604020202020204" pitchFamily="34" charset="0"/>
                <a:ea typeface="思源黑体 Heavy" panose="020B0A00000000000000" pitchFamily="34" charset="-122"/>
                <a:cs typeface="Arial" panose="020B0604020202020204" pitchFamily="34" charset="0"/>
              </a:rPr>
              <a:t>12</a:t>
            </a:r>
            <a:r>
              <a:rPr lang="zh-CN" altLang="en-US" sz="1000" dirty="0">
                <a:latin typeface="Arial" panose="020B0604020202020204" pitchFamily="34" charset="0"/>
                <a:ea typeface="思源黑体 Heavy" panose="020B0A00000000000000" pitchFamily="34" charset="-122"/>
                <a:cs typeface="Arial" panose="020B0604020202020204" pitchFamily="34" charset="0"/>
              </a:rPr>
              <a:t>英寸，</a:t>
            </a:r>
            <a:r>
              <a:rPr lang="en-US" altLang="zh-CN" sz="1000" dirty="0">
                <a:latin typeface="Arial" panose="020B0604020202020204" pitchFamily="34" charset="0"/>
                <a:ea typeface="思源黑体 Heavy" panose="020B0A00000000000000" pitchFamily="34" charset="-122"/>
                <a:cs typeface="Arial" panose="020B0604020202020204" pitchFamily="34" charset="0"/>
              </a:rPr>
              <a:t>1</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万片</a:t>
            </a:r>
            <a:r>
              <a:rPr lang="en-US" altLang="zh-CN" sz="1000" dirty="0">
                <a:latin typeface="Arial" panose="020B0604020202020204" pitchFamily="34" charset="0"/>
                <a:ea typeface="思源黑体 Heavy" panose="020B0A00000000000000" pitchFamily="34" charset="-122"/>
                <a:cs typeface="Arial" panose="020B0604020202020204" pitchFamily="34" charset="0"/>
              </a:rPr>
              <a:t>/</a:t>
            </a:r>
            <a:r>
              <a:rPr lang="zh-CN" altLang="en-US" sz="1000" dirty="0">
                <a:latin typeface="Arial" panose="020B0604020202020204" pitchFamily="34" charset="0"/>
                <a:ea typeface="思源黑体 Heavy" panose="020B0A00000000000000" pitchFamily="34" charset="-122"/>
                <a:cs typeface="Arial" panose="020B0604020202020204" pitchFamily="34" charset="0"/>
              </a:rPr>
              <a:t>月对应</a:t>
            </a:r>
            <a:r>
              <a:rPr lang="en-US" altLang="zh-CN" sz="1000" dirty="0">
                <a:latin typeface="Arial" panose="020B0604020202020204" pitchFamily="34" charset="0"/>
                <a:ea typeface="思源黑体 Heavy" panose="020B0A00000000000000" pitchFamily="34" charset="-122"/>
                <a:cs typeface="Arial" panose="020B0604020202020204" pitchFamily="34" charset="0"/>
              </a:rPr>
              <a:t>1.15</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000" dirty="0">
                <a:latin typeface="Arial" panose="020B0604020202020204" pitchFamily="34" charset="0"/>
                <a:ea typeface="思源黑体 Heavy" panose="020B0A00000000000000" pitchFamily="34" charset="-122"/>
                <a:cs typeface="Arial" panose="020B0604020202020204" pitchFamily="34" charset="0"/>
              </a:rPr>
              <a:t>/h</a:t>
            </a:r>
            <a:r>
              <a:rPr lang="zh-CN" altLang="en-US" sz="1000" dirty="0">
                <a:latin typeface="Arial" panose="020B0604020202020204" pitchFamily="34" charset="0"/>
                <a:ea typeface="思源黑体 Heavy" panose="020B0A00000000000000" pitchFamily="34" charset="-122"/>
                <a:cs typeface="Arial" panose="020B0604020202020204" pitchFamily="34" charset="0"/>
              </a:rPr>
              <a:t>用氮，增量约</a:t>
            </a:r>
            <a:r>
              <a:rPr lang="en-US" altLang="zh-CN" sz="1000" dirty="0">
                <a:latin typeface="Arial" panose="020B0604020202020204" pitchFamily="34" charset="0"/>
                <a:ea typeface="思源黑体 Heavy" panose="020B0A00000000000000" pitchFamily="34" charset="-122"/>
                <a:cs typeface="Arial" panose="020B0604020202020204" pitchFamily="34" charset="0"/>
              </a:rPr>
              <a:t>194</a:t>
            </a:r>
            <a:r>
              <a:rPr lang="zh-CN" altLang="en-US" sz="10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000" dirty="0">
                <a:latin typeface="Arial" panose="020B0604020202020204" pitchFamily="34" charset="0"/>
                <a:ea typeface="思源黑体 Heavy" panose="020B0A00000000000000" pitchFamily="34" charset="-122"/>
                <a:cs typeface="Arial" panose="020B0604020202020204" pitchFamily="34" charset="0"/>
              </a:rPr>
              <a:t>/h</a:t>
            </a:r>
            <a:r>
              <a:rPr lang="zh-CN" altLang="en-US" sz="1000" dirty="0">
                <a:latin typeface="Arial" panose="020B0604020202020204" pitchFamily="34" charset="0"/>
                <a:ea typeface="思源黑体 Heavy" panose="020B0A00000000000000" pitchFamily="34" charset="-122"/>
                <a:cs typeface="Arial" panose="020B0604020202020204" pitchFamily="34" charset="0"/>
              </a:rPr>
              <a:t>，从开建到正式用气大约需要</a:t>
            </a:r>
            <a:r>
              <a:rPr lang="en-US" altLang="zh-CN" sz="1000" dirty="0">
                <a:latin typeface="Arial" panose="020B0604020202020204" pitchFamily="34" charset="0"/>
                <a:ea typeface="思源黑体 Heavy" panose="020B0A00000000000000" pitchFamily="34" charset="-122"/>
                <a:cs typeface="Arial" panose="020B0604020202020204" pitchFamily="34" charset="0"/>
              </a:rPr>
              <a:t>3-4</a:t>
            </a:r>
            <a:r>
              <a:rPr lang="zh-CN" altLang="en-US" sz="1000" dirty="0">
                <a:latin typeface="Arial" panose="020B0604020202020204" pitchFamily="34" charset="0"/>
                <a:ea typeface="思源黑体 Heavy" panose="020B0A00000000000000" pitchFamily="34" charset="-122"/>
                <a:cs typeface="Arial" panose="020B0604020202020204" pitchFamily="34" charset="0"/>
              </a:rPr>
              <a:t>年时间，</a:t>
            </a:r>
            <a:r>
              <a:rPr lang="zh-CN" altLang="en-US"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对应年均新增</a:t>
            </a:r>
            <a:r>
              <a:rPr lang="en-US" altLang="zh-CN"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55-60</a:t>
            </a:r>
            <a:r>
              <a:rPr lang="zh-CN" altLang="en-US"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0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的新增用氮市场</a:t>
            </a:r>
            <a:r>
              <a:rPr lang="zh-CN" altLang="en-US" sz="10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0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5" name="文本框 9"/>
          <p:cNvSpPr txBox="1"/>
          <p:nvPr/>
        </p:nvSpPr>
        <p:spPr>
          <a:xfrm>
            <a:off x="-76350" y="2418451"/>
            <a:ext cx="571410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表：晶圆厂计划新建项目梳理（</a:t>
            </a:r>
            <a:r>
              <a:rPr lang="en-US" altLang="zh-CN" dirty="0"/>
              <a:t>2025</a:t>
            </a:r>
            <a:r>
              <a:rPr lang="zh-CN" altLang="en-US" dirty="0"/>
              <a:t>年）</a:t>
            </a:r>
          </a:p>
        </p:txBody>
      </p:sp>
      <p:graphicFrame>
        <p:nvGraphicFramePr>
          <p:cNvPr id="6" name="表格 5"/>
          <p:cNvGraphicFramePr>
            <a:graphicFrameLocks noGrp="1"/>
          </p:cNvGraphicFramePr>
          <p:nvPr/>
        </p:nvGraphicFramePr>
        <p:xfrm>
          <a:off x="298425" y="2645016"/>
          <a:ext cx="4762831" cy="2133600"/>
        </p:xfrm>
        <a:graphic>
          <a:graphicData uri="http://schemas.openxmlformats.org/drawingml/2006/table">
            <a:tbl>
              <a:tblPr/>
              <a:tblGrid>
                <a:gridCol w="1266816">
                  <a:extLst>
                    <a:ext uri="{9D8B030D-6E8A-4147-A177-3AD203B41FA5}">
                      <a16:colId xmlns:a16="http://schemas.microsoft.com/office/drawing/2014/main" xmlns="" val="20000"/>
                    </a:ext>
                  </a:extLst>
                </a:gridCol>
                <a:gridCol w="707059">
                  <a:extLst>
                    <a:ext uri="{9D8B030D-6E8A-4147-A177-3AD203B41FA5}">
                      <a16:colId xmlns:a16="http://schemas.microsoft.com/office/drawing/2014/main" xmlns="" val="20001"/>
                    </a:ext>
                  </a:extLst>
                </a:gridCol>
                <a:gridCol w="628498">
                  <a:extLst>
                    <a:ext uri="{9D8B030D-6E8A-4147-A177-3AD203B41FA5}">
                      <a16:colId xmlns:a16="http://schemas.microsoft.com/office/drawing/2014/main" xmlns="" val="20002"/>
                    </a:ext>
                  </a:extLst>
                </a:gridCol>
                <a:gridCol w="608856">
                  <a:extLst>
                    <a:ext uri="{9D8B030D-6E8A-4147-A177-3AD203B41FA5}">
                      <a16:colId xmlns:a16="http://schemas.microsoft.com/office/drawing/2014/main" xmlns="" val="20003"/>
                    </a:ext>
                  </a:extLst>
                </a:gridCol>
                <a:gridCol w="795440">
                  <a:extLst>
                    <a:ext uri="{9D8B030D-6E8A-4147-A177-3AD203B41FA5}">
                      <a16:colId xmlns:a16="http://schemas.microsoft.com/office/drawing/2014/main" xmlns="" val="20004"/>
                    </a:ext>
                  </a:extLst>
                </a:gridCol>
                <a:gridCol w="756162">
                  <a:extLst>
                    <a:ext uri="{9D8B030D-6E8A-4147-A177-3AD203B41FA5}">
                      <a16:colId xmlns:a16="http://schemas.microsoft.com/office/drawing/2014/main" xmlns="" val="20005"/>
                    </a:ext>
                  </a:extLst>
                </a:gridCol>
              </a:tblGrid>
              <a:tr h="17507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mn-cs"/>
                          <a:sym typeface="等线" panose="02010600030101010101" charset="-122"/>
                        </a:rPr>
                        <a:t>公司</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mn-cs"/>
                          <a:sym typeface="等线" panose="02010600030101010101" charset="-122"/>
                        </a:rPr>
                        <a:t>名称</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mn-cs"/>
                          <a:sym typeface="等线" panose="02010600030101010101" charset="-122"/>
                        </a:rPr>
                        <a:t>地点</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mn-cs"/>
                          <a:sym typeface="等线" panose="02010600030101010101" charset="-122"/>
                        </a:rPr>
                        <a:t>晶圆尺寸</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当前产能</a:t>
                      </a:r>
                      <a:b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b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（万片</a:t>
                      </a:r>
                      <a:r>
                        <a:rPr lang="en-US" altLang="zh-CN"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a:t>
                      </a: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indent="0" algn="ctr" defTabSz="914400" rtl="0" fontAlgn="ctr" latinLnBrk="0">
                        <a:lnSpc>
                          <a:spcPct val="100000"/>
                        </a:lnSpc>
                        <a:spcBef>
                          <a:spcPts val="0"/>
                        </a:spcBef>
                        <a:spcAft>
                          <a:spcPts val="0"/>
                        </a:spcAft>
                        <a:buClrTx/>
                        <a:buSzTx/>
                        <a:buFontTx/>
                        <a:buNone/>
                      </a:pP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规划产能</a:t>
                      </a:r>
                      <a:b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b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（万片</a:t>
                      </a:r>
                      <a:r>
                        <a:rPr lang="en-US" altLang="zh-CN"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a:t>
                      </a:r>
                      <a:r>
                        <a:rPr lang="zh-CN" altLang="en-US" sz="700" b="1" i="0" u="none" strike="noStrike" cap="none" spc="0" baseline="0" dirty="0">
                          <a:ln>
                            <a:noFill/>
                          </a:ln>
                          <a:solidFill>
                            <a:schemeClr val="bg1"/>
                          </a:solidFill>
                          <a:effectLst/>
                          <a:uFillTx/>
                          <a:latin typeface="Arial" panose="020B0604020202020204" pitchFamily="34" charset="0"/>
                          <a:ea typeface="思源宋体 CN Heavy" panose="02020900000000000000" pitchFamily="18" charset="-122"/>
                          <a:cs typeface="Arial" panose="020B0604020202020204" pitchFamily="34" charset="0"/>
                          <a:sym typeface="等线" panose="02010600030101010101" charset="-122"/>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中芯西青</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天津</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10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xmlns="" val="10001"/>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中芯国际</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B3P2</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北京</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5</a:t>
                      </a:r>
                    </a:p>
                  </a:txBody>
                  <a:tcPr marL="0" marR="0" marT="0" marB="0" anchor="ctr">
                    <a:lnL>
                      <a:noFill/>
                    </a:lnL>
                    <a:lnR>
                      <a:noFill/>
                    </a:lnR>
                    <a:lnT>
                      <a:noFill/>
                    </a:lnT>
                    <a:lnB>
                      <a:noFill/>
                    </a:lnB>
                    <a:noFill/>
                  </a:tcPr>
                </a:tc>
                <a:extLst>
                  <a:ext uri="{0D108BD9-81ED-4DB2-BD59-A6C34878D82A}">
                    <a16:rowId xmlns:a16="http://schemas.microsoft.com/office/drawing/2014/main" xmlns="" val="10002"/>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中芯国际</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B3P3</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北京</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5</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3"/>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中芯国际</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B3P4</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北京</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5</a:t>
                      </a:r>
                    </a:p>
                  </a:txBody>
                  <a:tcPr marL="0" marR="0" marT="0" marB="0" anchor="ctr">
                    <a:lnL>
                      <a:noFill/>
                    </a:lnL>
                    <a:lnR>
                      <a:noFill/>
                    </a:lnR>
                    <a:lnT>
                      <a:noFill/>
                    </a:lnT>
                    <a:lnB>
                      <a:noFill/>
                    </a:lnB>
                    <a:noFill/>
                  </a:tcPr>
                </a:tc>
                <a:extLst>
                  <a:ext uri="{0D108BD9-81ED-4DB2-BD59-A6C34878D82A}">
                    <a16:rowId xmlns:a16="http://schemas.microsoft.com/office/drawing/2014/main" xmlns="" val="10004"/>
                  </a:ext>
                </a:extLst>
              </a:tr>
              <a:tr h="8787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华虹集团（华虹成都）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Fab10（</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二期）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成都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3</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5"/>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华虹集团（上海华力）</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Fab8</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上海</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4</a:t>
                      </a:r>
                    </a:p>
                  </a:txBody>
                  <a:tcPr marL="0" marR="0" marT="0" marB="0" anchor="ctr">
                    <a:lnL>
                      <a:noFill/>
                    </a:lnL>
                    <a:lnR>
                      <a:noFill/>
                    </a:lnR>
                    <a:lnT>
                      <a:noFill/>
                    </a:lnT>
                    <a:lnB>
                      <a:noFill/>
                    </a:lnB>
                    <a:noFill/>
                  </a:tcPr>
                </a:tc>
                <a:extLst>
                  <a:ext uri="{0D108BD9-81ED-4DB2-BD59-A6C34878D82A}">
                    <a16:rowId xmlns:a16="http://schemas.microsoft.com/office/drawing/2014/main" xmlns="" val="10006"/>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晶合集成</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N4</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合肥</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12</a:t>
                      </a:r>
                      <a:r>
                        <a:rPr lang="zh-CN" altLang="en-US"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kern="1200" cap="none" spc="0" baseline="0" dirty="0">
                          <a:ln>
                            <a:noFill/>
                          </a:ln>
                          <a:solidFill>
                            <a:srgbClr val="C00000"/>
                          </a:solidFill>
                          <a:effectLst/>
                          <a:uFillTx/>
                          <a:latin typeface="Arial" panose="020B0604020202020204" pitchFamily="34" charset="0"/>
                          <a:ea typeface="思源宋体 CN Heavy" panose="02020900000000000000" pitchFamily="18" charset="-122"/>
                          <a:cs typeface="+mn-cs"/>
                          <a:sym typeface="等线" panose="02010600030101010101" charset="-122"/>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7"/>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方晶联合半导体（晶合持股）</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1.5</a:t>
                      </a:r>
                    </a:p>
                  </a:txBody>
                  <a:tcPr marL="0" marR="0" marT="0" marB="0" anchor="ctr">
                    <a:lnL>
                      <a:noFill/>
                    </a:lnL>
                    <a:lnR>
                      <a:noFill/>
                    </a:lnR>
                    <a:lnT>
                      <a:noFill/>
                    </a:lnT>
                    <a:lnB>
                      <a:noFill/>
                    </a:lnB>
                    <a:noFill/>
                  </a:tcPr>
                </a:tc>
                <a:extLst>
                  <a:ext uri="{0D108BD9-81ED-4DB2-BD59-A6C34878D82A}">
                    <a16:rowId xmlns:a16="http://schemas.microsoft.com/office/drawing/2014/main" xmlns="" val="10008"/>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长江存储</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Fab3</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武汉</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10</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9"/>
                  </a:ext>
                </a:extLst>
              </a:tr>
              <a:tr h="8787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武汉新芯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Fab3</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rPr>
                        <a:t>武汉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宋体 CN Heavy" panose="02020900000000000000" pitchFamily="18" charset="-122"/>
                          <a:cs typeface="Arial" panose="020B0604020202020204" pitchFamily="34" charset="0"/>
                        </a:rPr>
                        <a:t>2</a:t>
                      </a:r>
                    </a:p>
                  </a:txBody>
                  <a:tcPr marL="0" marR="0" marT="0" marB="0" anchor="ctr">
                    <a:lnL>
                      <a:noFill/>
                    </a:lnL>
                    <a:lnR>
                      <a:noFill/>
                    </a:lnR>
                    <a:lnT>
                      <a:noFill/>
                    </a:lnT>
                    <a:lnB>
                      <a:noFill/>
                    </a:lnB>
                    <a:noFill/>
                  </a:tcPr>
                </a:tc>
                <a:extLst>
                  <a:ext uri="{0D108BD9-81ED-4DB2-BD59-A6C34878D82A}">
                    <a16:rowId xmlns:a16="http://schemas.microsoft.com/office/drawing/2014/main" xmlns="" val="10010"/>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粤芯半导体</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粤芯四期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广州</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1"/>
                  </a:ext>
                </a:extLst>
              </a:tr>
              <a:tr h="8787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增芯科技</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南沙项目</a:t>
                      </a:r>
                      <a:r>
                        <a:rPr 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FAB2</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6</a:t>
                      </a:r>
                    </a:p>
                  </a:txBody>
                  <a:tcPr marL="0" marR="0" marT="0" marB="0" anchor="ctr">
                    <a:lnL>
                      <a:noFill/>
                    </a:lnL>
                    <a:lnR>
                      <a:noFill/>
                    </a:lnR>
                    <a:lnT>
                      <a:noFill/>
                    </a:lnT>
                    <a:lnB>
                      <a:noFill/>
                    </a:lnB>
                    <a:noFill/>
                  </a:tcPr>
                </a:tc>
                <a:extLst>
                  <a:ext uri="{0D108BD9-81ED-4DB2-BD59-A6C34878D82A}">
                    <a16:rowId xmlns:a16="http://schemas.microsoft.com/office/drawing/2014/main" xmlns="" val="10012"/>
                  </a:ext>
                </a:extLst>
              </a:tr>
              <a:tr h="17507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芯粤能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碳化硅芯片项目（三期）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广州</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 </a:t>
                      </a: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8 </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2</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3"/>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闻泰</a:t>
                      </a: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a:t>
                      </a: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安世半导体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上海</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3.5</a:t>
                      </a:r>
                    </a:p>
                  </a:txBody>
                  <a:tcPr marL="0" marR="0" marT="0" marB="0" anchor="ctr">
                    <a:lnL>
                      <a:noFill/>
                    </a:lnL>
                    <a:lnR>
                      <a:noFill/>
                    </a:lnR>
                    <a:lnT>
                      <a:noFill/>
                    </a:lnT>
                    <a:lnB>
                      <a:noFill/>
                    </a:lnB>
                    <a:noFill/>
                  </a:tcPr>
                </a:tc>
                <a:extLst>
                  <a:ext uri="{0D108BD9-81ED-4DB2-BD59-A6C34878D82A}">
                    <a16:rowId xmlns:a16="http://schemas.microsoft.com/office/drawing/2014/main" xmlns="" val="10014"/>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矽力杰</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rPr>
                        <a:t>青岛</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5"/>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济南富能</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宋体 CN Heavy" panose="02020900000000000000" pitchFamily="18" charset="-122"/>
                        </a:rPr>
                        <a:t>济南</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5</a:t>
                      </a:r>
                    </a:p>
                  </a:txBody>
                  <a:tcPr marL="0" marR="0" marT="0" marB="0" anchor="ctr">
                    <a:lnL>
                      <a:noFill/>
                    </a:lnL>
                    <a:lnR>
                      <a:noFill/>
                    </a:lnR>
                    <a:lnT>
                      <a:noFill/>
                    </a:lnT>
                    <a:lnB>
                      <a:noFill/>
                    </a:lnB>
                    <a:noFill/>
                  </a:tcPr>
                </a:tc>
                <a:extLst>
                  <a:ext uri="{0D108BD9-81ED-4DB2-BD59-A6C34878D82A}">
                    <a16:rowId xmlns:a16="http://schemas.microsoft.com/office/drawing/2014/main" xmlns="" val="10016"/>
                  </a:ext>
                </a:extLst>
              </a:tr>
              <a:tr h="8753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000000"/>
                          </a:solidFill>
                          <a:effectLst/>
                          <a:latin typeface="Arial" panose="020B0604020202020204" pitchFamily="34" charset="0"/>
                          <a:ea typeface="思源宋体 CN Heavy" panose="02020900000000000000" pitchFamily="18" charset="-122"/>
                        </a:rPr>
                        <a:t>合计</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000000"/>
                          </a:solidFill>
                          <a:effectLst/>
                          <a:latin typeface="Arial" panose="020B0604020202020204" pitchFamily="34" charset="0"/>
                          <a:ea typeface="思源宋体 CN Heavy" panose="02020900000000000000" pitchFamily="18"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000000"/>
                          </a:solidFill>
                          <a:effectLst/>
                          <a:latin typeface="Arial" panose="020B0604020202020204" pitchFamily="34" charset="0"/>
                          <a:ea typeface="思源宋体 CN Heavy" panose="02020900000000000000" pitchFamily="18"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000000"/>
                          </a:solidFill>
                          <a:effectLst/>
                          <a:latin typeface="Arial" panose="020B0604020202020204" pitchFamily="34" charset="0"/>
                          <a:ea typeface="思源宋体 CN Heavy" panose="02020900000000000000" pitchFamily="18"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000000"/>
                          </a:solidFill>
                          <a:effectLst/>
                          <a:latin typeface="Arial" panose="020B0604020202020204" pitchFamily="34" charset="0"/>
                          <a:ea typeface="思源宋体 CN Heavy" panose="02020900000000000000" pitchFamily="18" charset="-122"/>
                          <a:cs typeface="Arial" panose="020B0604020202020204" pitchFamily="34" charset="0"/>
                        </a:rPr>
                        <a:t>74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xmlns="" val="10017"/>
                  </a:ext>
                </a:extLst>
              </a:tr>
            </a:tbl>
          </a:graphicData>
        </a:graphic>
      </p:graphicFrame>
      <p:sp>
        <p:nvSpPr>
          <p:cNvPr id="7" name="文本框 11"/>
          <p:cNvSpPr txBox="1"/>
          <p:nvPr/>
        </p:nvSpPr>
        <p:spPr>
          <a:xfrm>
            <a:off x="4376418" y="843510"/>
            <a:ext cx="555606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表：晶圆厂在建</a:t>
            </a:r>
            <a:r>
              <a:rPr lang="en-US" altLang="zh-CN" dirty="0"/>
              <a:t>/</a:t>
            </a:r>
            <a:r>
              <a:rPr lang="zh-CN" altLang="en-US" dirty="0"/>
              <a:t>扩建项目梳理（</a:t>
            </a:r>
            <a:r>
              <a:rPr lang="en-US" altLang="zh-CN" dirty="0"/>
              <a:t>2025</a:t>
            </a:r>
            <a:r>
              <a:rPr lang="zh-CN" altLang="en-US" dirty="0"/>
              <a:t>年）</a:t>
            </a:r>
          </a:p>
        </p:txBody>
      </p:sp>
      <p:graphicFrame>
        <p:nvGraphicFramePr>
          <p:cNvPr id="13" name="表格 12"/>
          <p:cNvGraphicFramePr>
            <a:graphicFrameLocks noGrp="1"/>
          </p:cNvGraphicFramePr>
          <p:nvPr/>
        </p:nvGraphicFramePr>
        <p:xfrm>
          <a:off x="5303520" y="1054818"/>
          <a:ext cx="3701864" cy="3723798"/>
        </p:xfrm>
        <a:graphic>
          <a:graphicData uri="http://schemas.openxmlformats.org/drawingml/2006/table">
            <a:tbl>
              <a:tblPr/>
              <a:tblGrid>
                <a:gridCol w="984619">
                  <a:extLst>
                    <a:ext uri="{9D8B030D-6E8A-4147-A177-3AD203B41FA5}">
                      <a16:colId xmlns:a16="http://schemas.microsoft.com/office/drawing/2014/main" xmlns="" val="20000"/>
                    </a:ext>
                  </a:extLst>
                </a:gridCol>
                <a:gridCol w="549556">
                  <a:extLst>
                    <a:ext uri="{9D8B030D-6E8A-4147-A177-3AD203B41FA5}">
                      <a16:colId xmlns:a16="http://schemas.microsoft.com/office/drawing/2014/main" xmlns="" val="20001"/>
                    </a:ext>
                  </a:extLst>
                </a:gridCol>
                <a:gridCol w="488494">
                  <a:extLst>
                    <a:ext uri="{9D8B030D-6E8A-4147-A177-3AD203B41FA5}">
                      <a16:colId xmlns:a16="http://schemas.microsoft.com/office/drawing/2014/main" xmlns="" val="20002"/>
                    </a:ext>
                  </a:extLst>
                </a:gridCol>
                <a:gridCol w="473227">
                  <a:extLst>
                    <a:ext uri="{9D8B030D-6E8A-4147-A177-3AD203B41FA5}">
                      <a16:colId xmlns:a16="http://schemas.microsoft.com/office/drawing/2014/main" xmlns="" val="20003"/>
                    </a:ext>
                  </a:extLst>
                </a:gridCol>
                <a:gridCol w="618249">
                  <a:extLst>
                    <a:ext uri="{9D8B030D-6E8A-4147-A177-3AD203B41FA5}">
                      <a16:colId xmlns:a16="http://schemas.microsoft.com/office/drawing/2014/main" xmlns="" val="20004"/>
                    </a:ext>
                  </a:extLst>
                </a:gridCol>
                <a:gridCol w="587719">
                  <a:extLst>
                    <a:ext uri="{9D8B030D-6E8A-4147-A177-3AD203B41FA5}">
                      <a16:colId xmlns:a16="http://schemas.microsoft.com/office/drawing/2014/main" xmlns="" val="20005"/>
                    </a:ext>
                  </a:extLst>
                </a:gridCol>
              </a:tblGrid>
              <a:tr h="20598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公司</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名称</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地点</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rPr>
                        <a:t>晶圆尺寸</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当前产能</a:t>
                      </a:r>
                      <a:b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规划产能</a:t>
                      </a:r>
                      <a:b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b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（万片</a:t>
                      </a:r>
                      <a:r>
                        <a:rPr lang="en-US" altLang="zh-CN"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中芯国际</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SN2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xmlns="" val="10001"/>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中芯东方</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p>
                  </a:txBody>
                  <a:tcPr marL="0" marR="0" marT="0" marB="0" anchor="ctr">
                    <a:lnL>
                      <a:noFill/>
                    </a:lnL>
                    <a:lnR>
                      <a:noFill/>
                    </a:lnR>
                    <a:lnT>
                      <a:noFill/>
                    </a:lnT>
                    <a:lnB>
                      <a:noFill/>
                    </a:lnB>
                    <a:noFill/>
                  </a:tcPr>
                </a:tc>
                <a:extLst>
                  <a:ext uri="{0D108BD9-81ED-4DB2-BD59-A6C34878D82A}">
                    <a16:rowId xmlns:a16="http://schemas.microsoft.com/office/drawing/2014/main" xmlns="" val="10002"/>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中芯国际</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B3P1</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3"/>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中芯国际</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FAB16B</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p>
                  </a:txBody>
                  <a:tcPr marL="0" marR="0" marT="0" marB="0" anchor="ctr">
                    <a:lnL>
                      <a:noFill/>
                    </a:lnL>
                    <a:lnR>
                      <a:noFill/>
                    </a:lnR>
                    <a:lnT>
                      <a:noFill/>
                    </a:lnT>
                    <a:lnB>
                      <a:noFill/>
                    </a:lnB>
                    <a:noFill/>
                  </a:tcPr>
                </a:tc>
                <a:extLst>
                  <a:ext uri="{0D108BD9-81ED-4DB2-BD59-A6C34878D82A}">
                    <a16:rowId xmlns:a16="http://schemas.microsoft.com/office/drawing/2014/main" xmlns="" val="10004"/>
                  </a:ext>
                </a:extLst>
              </a:tr>
              <a:tr h="151076">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华虹集团（华虹成都）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Fab10（</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一期）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成都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5"/>
                  </a:ext>
                </a:extLst>
              </a:tr>
              <a:tr h="151076">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华虹集团（华虹半导体）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Fab9</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无锡</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8.3</a:t>
                      </a:r>
                    </a:p>
                  </a:txBody>
                  <a:tcPr marL="0" marR="0" marT="0" marB="0" anchor="ctr">
                    <a:lnL>
                      <a:noFill/>
                    </a:lnL>
                    <a:lnR>
                      <a:noFill/>
                    </a:lnR>
                    <a:lnT>
                      <a:noFill/>
                    </a:lnT>
                    <a:lnB>
                      <a:noFill/>
                    </a:lnB>
                    <a:noFill/>
                  </a:tcPr>
                </a:tc>
                <a:extLst>
                  <a:ext uri="{0D108BD9-81ED-4DB2-BD59-A6C34878D82A}">
                    <a16:rowId xmlns:a16="http://schemas.microsoft.com/office/drawing/2014/main" xmlns="" val="10006"/>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格科微半导体</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二期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7"/>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上海新进</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英寸扩建</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endPar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p>
                  </a:txBody>
                  <a:tcPr marL="0" marR="0" marT="0" marB="0" anchor="ctr">
                    <a:lnL>
                      <a:noFill/>
                    </a:lnL>
                    <a:lnR>
                      <a:noFill/>
                    </a:lnR>
                    <a:lnT>
                      <a:noFill/>
                    </a:lnT>
                    <a:lnB>
                      <a:noFill/>
                    </a:lnB>
                    <a:noFill/>
                  </a:tcPr>
                </a:tc>
                <a:extLst>
                  <a:ext uri="{0D108BD9-81ED-4DB2-BD59-A6C34878D82A}">
                    <a16:rowId xmlns:a16="http://schemas.microsoft.com/office/drawing/2014/main" xmlns="" val="10008"/>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黑体 Heavy" panose="020B0A00000000000000" pitchFamily="34" charset="-122"/>
                        </a:rPr>
                        <a:t>方晶联合半导体</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黑体 Heavy" panose="020B0A00000000000000" pitchFamily="34" charset="-122"/>
                        </a:rPr>
                        <a:t>一期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C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1.25</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9"/>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合肥长鑫</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兆易创新</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Fab2/Fab3</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30</a:t>
                      </a:r>
                    </a:p>
                  </a:txBody>
                  <a:tcPr marL="0" marR="0" marT="0" marB="0" anchor="ctr">
                    <a:lnL>
                      <a:noFill/>
                    </a:lnL>
                    <a:lnR>
                      <a:noFill/>
                    </a:lnR>
                    <a:lnT>
                      <a:noFill/>
                    </a:lnT>
                    <a:lnB>
                      <a:noFill/>
                    </a:lnB>
                    <a:noFill/>
                  </a:tcPr>
                </a:tc>
                <a:extLst>
                  <a:ext uri="{0D108BD9-81ED-4DB2-BD59-A6C34878D82A}">
                    <a16:rowId xmlns:a16="http://schemas.microsoft.com/office/drawing/2014/main" xmlns="" val="10010"/>
                  </a:ext>
                </a:extLst>
              </a:tr>
              <a:tr h="17685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 长鑫集电（北京）</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北京集电项目</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1"/>
                  </a:ext>
                </a:extLst>
              </a:tr>
              <a:tr h="20598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长鑫存储</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金桥南区先进封测项目</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上海</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noFill/>
                  </a:tcPr>
                </a:tc>
                <a:extLst>
                  <a:ext uri="{0D108BD9-81ED-4DB2-BD59-A6C34878D82A}">
                    <a16:rowId xmlns:a16="http://schemas.microsoft.com/office/drawing/2014/main" xmlns="" val="10012"/>
                  </a:ext>
                </a:extLst>
              </a:tr>
              <a:tr h="20598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增芯科技</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南沙项目</a:t>
                      </a: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FAB1</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二期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3"/>
                  </a:ext>
                </a:extLst>
              </a:tr>
              <a:tr h="20598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芯粤能</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碳化硅芯片项目（二期）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noFill/>
                  </a:tcPr>
                </a:tc>
                <a:extLst>
                  <a:ext uri="{0D108BD9-81ED-4DB2-BD59-A6C34878D82A}">
                    <a16:rowId xmlns:a16="http://schemas.microsoft.com/office/drawing/2014/main" xmlns="" val="10014"/>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鹏芯微</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二期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5"/>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昇维旭</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深圳</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noFill/>
                  </a:tcPr>
                </a:tc>
                <a:extLst>
                  <a:ext uri="{0D108BD9-81ED-4DB2-BD59-A6C34878D82A}">
                    <a16:rowId xmlns:a16="http://schemas.microsoft.com/office/drawing/2014/main" xmlns="" val="10016"/>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芯恩集成</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芯恩二期</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青岛</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7"/>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士兰微</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杭州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a:t>
                      </a:r>
                    </a:p>
                  </a:txBody>
                  <a:tcPr marL="0" marR="0" marT="0" marB="0" anchor="ctr">
                    <a:lnL>
                      <a:noFill/>
                    </a:lnL>
                    <a:lnR>
                      <a:noFill/>
                    </a:lnR>
                    <a:lnT>
                      <a:noFill/>
                    </a:lnT>
                    <a:lnB>
                      <a:noFill/>
                    </a:lnB>
                    <a:noFill/>
                  </a:tcPr>
                </a:tc>
                <a:extLst>
                  <a:ext uri="{0D108BD9-81ED-4DB2-BD59-A6C34878D82A}">
                    <a16:rowId xmlns:a16="http://schemas.microsoft.com/office/drawing/2014/main" xmlns="" val="10018"/>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士兰微（士兰集宏）</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厦门</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9"/>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杭州富芯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二期</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杭州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noFill/>
                  </a:tcPr>
                </a:tc>
                <a:extLst>
                  <a:ext uri="{0D108BD9-81ED-4DB2-BD59-A6C34878D82A}">
                    <a16:rowId xmlns:a16="http://schemas.microsoft.com/office/drawing/2014/main" xmlns="" val="10020"/>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燕东微电子</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北京</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21"/>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赛莱克斯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FAB6</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noFill/>
                  </a:tcPr>
                </a:tc>
                <a:extLst>
                  <a:ext uri="{0D108BD9-81ED-4DB2-BD59-A6C34878D82A}">
                    <a16:rowId xmlns:a16="http://schemas.microsoft.com/office/drawing/2014/main" xmlns="" val="10022"/>
                  </a:ext>
                </a:extLst>
              </a:tr>
              <a:tr h="151076">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中科晶芯</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英寸晶圆厂</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无锡</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3.5</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23"/>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中科晶芯</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SiC</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产线</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无锡</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0.5</a:t>
                      </a:r>
                    </a:p>
                  </a:txBody>
                  <a:tcPr marL="0" marR="0" marT="0" marB="0" anchor="ctr">
                    <a:lnL>
                      <a:noFill/>
                    </a:lnL>
                    <a:lnR>
                      <a:noFill/>
                    </a:lnR>
                    <a:lnT>
                      <a:noFill/>
                    </a:lnT>
                    <a:lnB>
                      <a:noFill/>
                    </a:lnB>
                    <a:noFill/>
                  </a:tcPr>
                </a:tc>
                <a:extLst>
                  <a:ext uri="{0D108BD9-81ED-4DB2-BD59-A6C34878D82A}">
                    <a16:rowId xmlns:a16="http://schemas.microsoft.com/office/drawing/2014/main" xmlns="" val="10024"/>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华微电子</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吉林</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25"/>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荣芯半导体</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宁波</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12</a:t>
                      </a:r>
                      <a:r>
                        <a:rPr lang="zh-CN" altLang="en-US"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3.5</a:t>
                      </a:r>
                    </a:p>
                  </a:txBody>
                  <a:tcPr marL="0" marR="0" marT="0" marB="0" anchor="ctr">
                    <a:lnL>
                      <a:noFill/>
                    </a:lnL>
                    <a:lnR>
                      <a:noFill/>
                    </a:lnR>
                    <a:lnT>
                      <a:noFill/>
                    </a:lnT>
                    <a:lnB>
                      <a:noFill/>
                    </a:lnB>
                    <a:noFill/>
                  </a:tcPr>
                </a:tc>
                <a:extLst>
                  <a:ext uri="{0D108BD9-81ED-4DB2-BD59-A6C34878D82A}">
                    <a16:rowId xmlns:a16="http://schemas.microsoft.com/office/drawing/2014/main" xmlns="" val="10026"/>
                  </a:ext>
                </a:extLst>
              </a:tr>
              <a:tr h="10299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dirty="0">
                          <a:solidFill>
                            <a:srgbClr val="000000"/>
                          </a:solidFill>
                          <a:effectLst/>
                          <a:latin typeface="Arial" panose="020B0604020202020204" pitchFamily="34" charset="0"/>
                          <a:ea typeface="思源黑体 Heavy" panose="020B0A00000000000000" pitchFamily="34" charset="-122"/>
                        </a:rPr>
                        <a:t>济南富能</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0" i="0" u="none" strike="noStrike">
                          <a:solidFill>
                            <a:srgbClr val="000000"/>
                          </a:solidFill>
                          <a:effectLst/>
                          <a:latin typeface="Arial" panose="020B0604020202020204" pitchFamily="34" charset="0"/>
                          <a:ea typeface="思源黑体 Heavy" panose="020B0A00000000000000" pitchFamily="34" charset="-122"/>
                        </a:rPr>
                        <a:t>济南</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a:t>
                      </a:r>
                      <a:r>
                        <a:rPr lang="zh-CN" altLang="en-US"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英寸</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2.4</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27"/>
                  </a:ext>
                </a:extLst>
              </a:tr>
              <a:tr h="102990">
                <a:tc gridSpan="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700" b="1" i="0" u="none" strike="noStrike" dirty="0">
                          <a:solidFill>
                            <a:srgbClr val="000000"/>
                          </a:solidFill>
                          <a:effectLst/>
                          <a:latin typeface="Arial" panose="020B0604020202020204" pitchFamily="34" charset="0"/>
                          <a:ea typeface="思源黑体 Heavy" panose="020B0A00000000000000" pitchFamily="34" charset="-122"/>
                        </a:rPr>
                        <a:t>合计</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17.9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7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138.05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xmlns="" val="10028"/>
                  </a:ext>
                </a:extLst>
              </a:tr>
            </a:tbl>
          </a:graphicData>
        </a:graphic>
      </p:graphicFrame>
      <p:sp>
        <p:nvSpPr>
          <p:cNvPr id="3" name="Rectangle 1">
            <a:extLst>
              <a:ext uri="{FF2B5EF4-FFF2-40B4-BE49-F238E27FC236}">
                <a16:creationId xmlns:a16="http://schemas.microsoft.com/office/drawing/2014/main" xmlns="" id="{5727334C-339C-7A1C-78A1-8DA47BF3F8F4}"/>
              </a:ext>
            </a:extLst>
          </p:cNvPr>
          <p:cNvSpPr>
            <a:spLocks noChangeArrowheads="1"/>
          </p:cNvSpPr>
          <p:nvPr/>
        </p:nvSpPr>
        <p:spPr bwMode="auto">
          <a:xfrm>
            <a:off x="755576" y="271225"/>
            <a:ext cx="6477852"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14400">
              <a:lnSpc>
                <a:spcPct val="90000"/>
              </a:lnSpc>
            </a:pPr>
            <a:r>
              <a:rPr lang="zh-CN" altLang="en-US" sz="2000" b="1" dirty="0">
                <a:solidFill>
                  <a:srgbClr val="0677D5"/>
                </a:solidFill>
                <a:latin typeface="+mj-ea"/>
                <a:ea typeface="思源黑体 CN Regular" panose="020B0500000000000000" charset="-122"/>
                <a:cs typeface="Arial" panose="020B0604020202020204" pitchFamily="34" charset="0"/>
              </a:rPr>
              <a:t>晶圆厂：三年期项目梳理，确定性每年至少增量</a:t>
            </a:r>
            <a:r>
              <a:rPr lang="en-US" altLang="zh-CN" sz="2000" b="1" dirty="0">
                <a:solidFill>
                  <a:srgbClr val="0677D5"/>
                </a:solidFill>
                <a:latin typeface="+mj-ea"/>
                <a:ea typeface="思源黑体 CN Regular" panose="020B0500000000000000" charset="-122"/>
                <a:cs typeface="Arial" panose="020B0604020202020204" pitchFamily="34" charset="0"/>
              </a:rPr>
              <a:t>55-60</a:t>
            </a:r>
            <a:r>
              <a:rPr lang="zh-CN" altLang="en-US" sz="2000" b="1" dirty="0">
                <a:solidFill>
                  <a:srgbClr val="0677D5"/>
                </a:solidFill>
                <a:latin typeface="+mj-ea"/>
                <a:ea typeface="思源黑体 CN Regular" panose="020B0500000000000000" charset="-122"/>
                <a:cs typeface="Arial" panose="020B0604020202020204" pitchFamily="34" charset="0"/>
              </a:rPr>
              <a:t>万方</a:t>
            </a:r>
          </a:p>
        </p:txBody>
      </p:sp>
      <p:sp>
        <p:nvSpPr>
          <p:cNvPr id="8" name="矩形 7">
            <a:extLst>
              <a:ext uri="{FF2B5EF4-FFF2-40B4-BE49-F238E27FC236}">
                <a16:creationId xmlns:a16="http://schemas.microsoft.com/office/drawing/2014/main" xmlns="" id="{B5ED1669-56C0-1E5A-3D29-0463B731DB0A}"/>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9" name="矩形 8">
            <a:extLst>
              <a:ext uri="{FF2B5EF4-FFF2-40B4-BE49-F238E27FC236}">
                <a16:creationId xmlns:a16="http://schemas.microsoft.com/office/drawing/2014/main" xmlns="" id="{E2D70F9D-A44E-8E3E-EC4E-2D1E21075AC7}"/>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32994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783952" y="310338"/>
            <a:ext cx="5671382"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面板厂：高世代线扩产为主，未来</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3</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年年均新增市场</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13</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万方</a:t>
            </a:r>
          </a:p>
        </p:txBody>
      </p:sp>
      <p:sp>
        <p:nvSpPr>
          <p:cNvPr id="4" name="文本占位符 5"/>
          <p:cNvSpPr txBox="1"/>
          <p:nvPr/>
        </p:nvSpPr>
        <p:spPr>
          <a:xfrm>
            <a:off x="270344" y="956669"/>
            <a:ext cx="8611263" cy="1360871"/>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面板厂：未来</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年扩产规划对应月产能大约为</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23</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万片</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月，且高世代线（</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6</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代以上）占比较高，对用气要求提升。从市场空间看，未来</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年面板增量气量按照氮铆钉年均对应</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13</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项目特点：</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）扩产以大面板厂为主：</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主要包括</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TCL</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、京东方、惠科、维信诺等面板大厂，对供气厂商要求较高；</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）高世代线项目占比高：</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均为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6</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代以上，</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8.6</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代线占比大，大约对应</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19.7</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万片</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月产能，占比高达</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87%</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，在用气量</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气体厂进入要求上提升。</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新增项目对应气体需求测算：</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）半年维度：</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华星光电</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T8</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项目于</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9</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月签约，预期</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27</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年投产，有望进入较快招标阶段，预计对应</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3-5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万方用气量</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3</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年维度：</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剔除已招标项目（京东方</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B16</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），大约有</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19.5</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片</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月产能在签约</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计划项目（高世代线为主，单万片大约对应</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用氮量），累计新增对应用氮量大约</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40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，年均</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13</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增量市场，对应年均约</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6</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亿市场新增空间。</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5" name="文本框 7"/>
          <p:cNvSpPr txBox="1"/>
          <p:nvPr/>
        </p:nvSpPr>
        <p:spPr>
          <a:xfrm>
            <a:off x="-855178" y="2448639"/>
            <a:ext cx="1104518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表：主要面板扩产梳理：签约</a:t>
            </a:r>
            <a:r>
              <a:rPr lang="en-US" altLang="zh-CN" dirty="0"/>
              <a:t>/</a:t>
            </a:r>
            <a:r>
              <a:rPr lang="zh-CN" altLang="en-US" dirty="0"/>
              <a:t>开工（截至</a:t>
            </a:r>
            <a:r>
              <a:rPr lang="en-US" altLang="zh-CN" dirty="0"/>
              <a:t>2025</a:t>
            </a:r>
            <a:r>
              <a:rPr lang="zh-CN" altLang="en-US" dirty="0"/>
              <a:t>年</a:t>
            </a:r>
            <a:r>
              <a:rPr lang="en-US" altLang="zh-CN" dirty="0"/>
              <a:t>9</a:t>
            </a:r>
            <a:r>
              <a:rPr lang="zh-CN" altLang="en-US" dirty="0"/>
              <a:t>月）</a:t>
            </a:r>
          </a:p>
        </p:txBody>
      </p:sp>
      <p:graphicFrame>
        <p:nvGraphicFramePr>
          <p:cNvPr id="6" name="表格 5"/>
          <p:cNvGraphicFramePr>
            <a:graphicFrameLocks noGrp="1"/>
          </p:cNvGraphicFramePr>
          <p:nvPr/>
        </p:nvGraphicFramePr>
        <p:xfrm>
          <a:off x="319978" y="2723223"/>
          <a:ext cx="8484041" cy="1643037"/>
        </p:xfrm>
        <a:graphic>
          <a:graphicData uri="http://schemas.openxmlformats.org/drawingml/2006/table">
            <a:tbl>
              <a:tblPr/>
              <a:tblGrid>
                <a:gridCol w="854980">
                  <a:extLst>
                    <a:ext uri="{9D8B030D-6E8A-4147-A177-3AD203B41FA5}">
                      <a16:colId xmlns:a16="http://schemas.microsoft.com/office/drawing/2014/main" xmlns="" val="20000"/>
                    </a:ext>
                  </a:extLst>
                </a:gridCol>
                <a:gridCol w="1104898">
                  <a:extLst>
                    <a:ext uri="{9D8B030D-6E8A-4147-A177-3AD203B41FA5}">
                      <a16:colId xmlns:a16="http://schemas.microsoft.com/office/drawing/2014/main" xmlns="" val="20001"/>
                    </a:ext>
                  </a:extLst>
                </a:gridCol>
                <a:gridCol w="854980">
                  <a:extLst>
                    <a:ext uri="{9D8B030D-6E8A-4147-A177-3AD203B41FA5}">
                      <a16:colId xmlns:a16="http://schemas.microsoft.com/office/drawing/2014/main" xmlns="" val="20002"/>
                    </a:ext>
                  </a:extLst>
                </a:gridCol>
                <a:gridCol w="1025977">
                  <a:extLst>
                    <a:ext uri="{9D8B030D-6E8A-4147-A177-3AD203B41FA5}">
                      <a16:colId xmlns:a16="http://schemas.microsoft.com/office/drawing/2014/main" xmlns="" val="20003"/>
                    </a:ext>
                  </a:extLst>
                </a:gridCol>
                <a:gridCol w="1052285">
                  <a:extLst>
                    <a:ext uri="{9D8B030D-6E8A-4147-A177-3AD203B41FA5}">
                      <a16:colId xmlns:a16="http://schemas.microsoft.com/office/drawing/2014/main" xmlns="" val="20004"/>
                    </a:ext>
                  </a:extLst>
                </a:gridCol>
                <a:gridCol w="1604733">
                  <a:extLst>
                    <a:ext uri="{9D8B030D-6E8A-4147-A177-3AD203B41FA5}">
                      <a16:colId xmlns:a16="http://schemas.microsoft.com/office/drawing/2014/main" xmlns="" val="20005"/>
                    </a:ext>
                  </a:extLst>
                </a:gridCol>
                <a:gridCol w="986517">
                  <a:extLst>
                    <a:ext uri="{9D8B030D-6E8A-4147-A177-3AD203B41FA5}">
                      <a16:colId xmlns:a16="http://schemas.microsoft.com/office/drawing/2014/main" xmlns="" val="20006"/>
                    </a:ext>
                  </a:extLst>
                </a:gridCol>
                <a:gridCol w="999671">
                  <a:extLst>
                    <a:ext uri="{9D8B030D-6E8A-4147-A177-3AD203B41FA5}">
                      <a16:colId xmlns:a16="http://schemas.microsoft.com/office/drawing/2014/main" xmlns="" val="20007"/>
                    </a:ext>
                  </a:extLst>
                </a:gridCol>
              </a:tblGrid>
              <a:tr h="25867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建设情况</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厂商</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地区</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产线</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技术路线</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投产时间</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投资金额</a:t>
                      </a:r>
                      <a:r>
                        <a:rPr lang="en-US" altLang="zh-CN" sz="9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a:t>
                      </a:r>
                      <a:r>
                        <a:rPr lang="zh-CN" altLang="en-US" sz="9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亿元）</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chemeClr val="bg1"/>
                          </a:solidFill>
                          <a:effectLst/>
                          <a:latin typeface="Arial" panose="020B0604020202020204" pitchFamily="34" charset="0"/>
                          <a:ea typeface="思源黑体 Heavy" panose="020B0A00000000000000" pitchFamily="34" charset="-122"/>
                        </a:rPr>
                        <a:t>设计月产能（万片）</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139287">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签约</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京东方</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福州</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r>
                        <a:rPr 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B15）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AMOLED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未实质性推动</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465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4.8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xmlns="" val="10001"/>
                  </a:ext>
                </a:extLst>
              </a:tr>
              <a:tr h="27857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签约</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京东方</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成都</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8.6</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B16)</a:t>
                      </a:r>
                      <a:endPar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AMOLED</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预计</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2026Q3</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提点亮，</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2027</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年全面达产</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630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3.2 </a:t>
                      </a:r>
                    </a:p>
                  </a:txBody>
                  <a:tcPr marL="0" marR="0" marT="0" marB="0" anchor="ctr">
                    <a:lnL>
                      <a:noFill/>
                    </a:lnL>
                    <a:lnR>
                      <a:noFill/>
                    </a:lnR>
                    <a:lnT>
                      <a:noFill/>
                    </a:lnT>
                    <a:lnB>
                      <a:noFill/>
                    </a:lnB>
                    <a:noFill/>
                  </a:tcPr>
                </a:tc>
                <a:extLst>
                  <a:ext uri="{0D108BD9-81ED-4DB2-BD59-A6C34878D82A}">
                    <a16:rowId xmlns:a16="http://schemas.microsoft.com/office/drawing/2014/main" xmlns="" val="10002"/>
                  </a:ext>
                </a:extLst>
              </a:tr>
              <a:tr h="139287">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C00000"/>
                          </a:solidFill>
                          <a:effectLst/>
                          <a:latin typeface="Arial" panose="020B0604020202020204" pitchFamily="34" charset="0"/>
                          <a:ea typeface="思源黑体 Heavy" panose="020B0A00000000000000" pitchFamily="34" charset="-122"/>
                        </a:rPr>
                        <a:t>签约</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TCL</a:t>
                      </a:r>
                      <a:r>
                        <a:rPr lang="zh-CN" alt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华星光电</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C00000"/>
                          </a:solidFill>
                          <a:effectLst/>
                          <a:latin typeface="Arial" panose="020B0604020202020204" pitchFamily="34" charset="0"/>
                          <a:ea typeface="思源黑体 Heavy" panose="020B0A00000000000000" pitchFamily="34" charset="-122"/>
                        </a:rPr>
                        <a:t>广州</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8.5</a:t>
                      </a:r>
                      <a:r>
                        <a:rPr lang="zh-CN" alt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代</a:t>
                      </a:r>
                      <a:r>
                        <a:rPr lang="en-US" altLang="zh-CN"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a:t>
                      </a:r>
                      <a:r>
                        <a:rPr 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T8)</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印刷</a:t>
                      </a:r>
                      <a:r>
                        <a:rPr 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OLED</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规划</a:t>
                      </a:r>
                      <a:r>
                        <a:rPr lang="en-US" altLang="zh-CN"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2027</a:t>
                      </a:r>
                      <a:r>
                        <a:rPr lang="zh-CN" altLang="en-US"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年</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295</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6.5 </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3"/>
                  </a:ext>
                </a:extLst>
              </a:tr>
              <a:tr h="139287">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签约</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惠科</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郑州</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a-Si</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一期投产，二期签约</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400</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3.0 </a:t>
                      </a:r>
                    </a:p>
                  </a:txBody>
                  <a:tcPr marL="0" marR="0" marT="0" marB="0" anchor="ctr">
                    <a:lnL>
                      <a:noFill/>
                    </a:lnL>
                    <a:lnR>
                      <a:noFill/>
                    </a:lnR>
                    <a:lnT>
                      <a:noFill/>
                    </a:lnT>
                    <a:lnB>
                      <a:noFill/>
                    </a:lnB>
                    <a:noFill/>
                  </a:tcPr>
                </a:tc>
                <a:extLst>
                  <a:ext uri="{0D108BD9-81ED-4DB2-BD59-A6C34878D82A}">
                    <a16:rowId xmlns:a16="http://schemas.microsoft.com/office/drawing/2014/main" xmlns="" val="10004"/>
                  </a:ext>
                </a:extLst>
              </a:tr>
              <a:tr h="37806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开工</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维信诺</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合肥</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8.6</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AMOLED</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2026</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月产品点亮，</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2026</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10</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月实现量产，并在</a:t>
                      </a: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2029</a:t>
                      </a:r>
                      <a:r>
                        <a:rPr lang="zh-CN" altLang="en-US"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年达到满产‌</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550</a:t>
                      </a:r>
                    </a:p>
                  </a:txBody>
                  <a:tcPr marL="0" marR="0" marT="0"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3.2 </a:t>
                      </a:r>
                    </a:p>
                  </a:txBody>
                  <a:tcPr marL="0" marR="0" marT="0"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5"/>
                  </a:ext>
                </a:extLst>
              </a:tr>
              <a:tr h="139287">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签约</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莱宝高科</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a:solidFill>
                            <a:srgbClr val="000000"/>
                          </a:solidFill>
                          <a:effectLst/>
                          <a:latin typeface="Arial" panose="020B0604020202020204" pitchFamily="34" charset="0"/>
                          <a:ea typeface="思源黑体 Heavy" panose="020B0A00000000000000" pitchFamily="34" charset="-122"/>
                        </a:rPr>
                        <a:t>武汉</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8.5</a:t>
                      </a:r>
                      <a:r>
                        <a:rPr lang="zh-CN" altLang="en-US"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代</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a-Si</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0" i="0" u="none" strike="noStrike" dirty="0">
                          <a:solidFill>
                            <a:srgbClr val="000000"/>
                          </a:solidFill>
                          <a:effectLst/>
                          <a:latin typeface="Arial" panose="020B0604020202020204" pitchFamily="34" charset="0"/>
                          <a:ea typeface="思源黑体 Heavy" panose="020B0A00000000000000" pitchFamily="34" charset="-122"/>
                        </a:rPr>
                        <a:t>暂无进展</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115</a:t>
                      </a:r>
                    </a:p>
                  </a:txBody>
                  <a:tcPr marL="0" marR="0" marT="0"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2.0 </a:t>
                      </a:r>
                    </a:p>
                  </a:txBody>
                  <a:tcPr marL="0" marR="0" marT="0" marB="0" anchor="ctr">
                    <a:lnL>
                      <a:noFill/>
                    </a:lnL>
                    <a:lnR>
                      <a:noFill/>
                    </a:lnR>
                    <a:lnT>
                      <a:noFill/>
                    </a:lnT>
                    <a:lnB>
                      <a:noFill/>
                    </a:lnB>
                    <a:noFill/>
                  </a:tcPr>
                </a:tc>
                <a:extLst>
                  <a:ext uri="{0D108BD9-81ED-4DB2-BD59-A6C34878D82A}">
                    <a16:rowId xmlns:a16="http://schemas.microsoft.com/office/drawing/2014/main" xmlns="" val="10006"/>
                  </a:ext>
                </a:extLst>
              </a:tr>
              <a:tr h="132654">
                <a:tc gridSpan="6">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zh-CN" altLang="en-US" sz="900" b="1" i="0" u="none" strike="noStrike" dirty="0">
                          <a:solidFill>
                            <a:srgbClr val="000000"/>
                          </a:solidFill>
                          <a:effectLst/>
                          <a:latin typeface="Arial" panose="020B0604020202020204" pitchFamily="34" charset="0"/>
                          <a:ea typeface="思源黑体 Heavy" panose="020B0A00000000000000" pitchFamily="34" charset="-122"/>
                        </a:rPr>
                        <a:t>合计</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2455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buNone/>
                      </a:pPr>
                      <a:r>
                        <a:rPr lang="en-US" altLang="zh-CN" sz="900" b="1"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22.7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5"/>
                    </a:solidFill>
                  </a:tcPr>
                </a:tc>
                <a:extLst>
                  <a:ext uri="{0D108BD9-81ED-4DB2-BD59-A6C34878D82A}">
                    <a16:rowId xmlns:a16="http://schemas.microsoft.com/office/drawing/2014/main" xmlns="" val="10007"/>
                  </a:ext>
                </a:extLst>
              </a:tr>
            </a:tbl>
          </a:graphicData>
        </a:graphic>
      </p:graphicFrame>
      <p:sp>
        <p:nvSpPr>
          <p:cNvPr id="7" name="文本占位符 15"/>
          <p:cNvSpPr txBox="1"/>
          <p:nvPr/>
        </p:nvSpPr>
        <p:spPr>
          <a:xfrm>
            <a:off x="684000" y="4366260"/>
            <a:ext cx="3643341" cy="1463040"/>
          </a:xfr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i="1">
                <a:solidFill>
                  <a:schemeClr val="tx1">
                    <a:lumMod val="65000"/>
                    <a:lumOff val="35000"/>
                  </a:schemeClr>
                </a:solidFill>
                <a:latin typeface="微软雅黑" panose="020B0503020204020204" charset="-122"/>
                <a:ea typeface="微软雅黑" panose="020B0503020204020204"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r>
              <a:rPr lang="zh-CN" altLang="en-US" sz="1000" dirty="0">
                <a:latin typeface="思源黑体 Heavy" panose="020B0A00000000000000" pitchFamily="34" charset="-122"/>
                <a:ea typeface="思源黑体 Heavy" panose="020B0A00000000000000" pitchFamily="34" charset="-122"/>
              </a:rPr>
              <a:t>资料来源：各政府官网、新闻梳理</a:t>
            </a:r>
          </a:p>
        </p:txBody>
      </p:sp>
      <p:sp>
        <p:nvSpPr>
          <p:cNvPr id="3" name="矩形 2">
            <a:extLst>
              <a:ext uri="{FF2B5EF4-FFF2-40B4-BE49-F238E27FC236}">
                <a16:creationId xmlns:a16="http://schemas.microsoft.com/office/drawing/2014/main" xmlns="" id="{962425F5-8F82-30FC-AE1E-526617867909}"/>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8" name="矩形 7">
            <a:extLst>
              <a:ext uri="{FF2B5EF4-FFF2-40B4-BE49-F238E27FC236}">
                <a16:creationId xmlns:a16="http://schemas.microsoft.com/office/drawing/2014/main" xmlns="" id="{7B701E60-F7D4-159E-97E7-CCE101C0EFBE}"/>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45244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413468" y="1039385"/>
            <a:ext cx="3248639" cy="3484555"/>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从现有整体规划看，晶圆厂的后续增量市场更大，面板厂增量机会较小。</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晶圆厂：</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不完全统计，</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）假设规划项目均建成并稳定运行，则对应年市场规模约为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432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亿元，其中电子大宗气体市场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259</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亿元，电子特气市场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173</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需建设产能对于国产气体厂商进入更有利，这部分市场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259</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亿元，其中电子大宗气体市场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180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元，电子特气市场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120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a:t>
            </a:r>
            <a:endPar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面板厂：</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大型扩产周期已过，虽然中国整体量大，但绝大部分都是外资为主，新建项目规划仅不到</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万片</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月产能，增量机会相对较小。对应未来电子气需求</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84</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亿元，其中电子大宗</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54</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亿元，特气约为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亿元。</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未来随着晶圆厂</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面板厂的新扩项目继续增加，电子气中长期市场将继续扩容。</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5" name="文本框 3"/>
          <p:cNvSpPr txBox="1"/>
          <p:nvPr/>
        </p:nvSpPr>
        <p:spPr>
          <a:xfrm>
            <a:off x="4081176" y="840201"/>
            <a:ext cx="47185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表：中国现有晶圆厂</a:t>
            </a:r>
            <a:r>
              <a:rPr lang="en-US" altLang="zh-CN" dirty="0"/>
              <a:t>+</a:t>
            </a:r>
            <a:r>
              <a:rPr lang="zh-CN" altLang="en-US" dirty="0"/>
              <a:t>面板厂规划投产且稳定运行后的电子气需求测算</a:t>
            </a:r>
          </a:p>
        </p:txBody>
      </p:sp>
      <p:sp>
        <p:nvSpPr>
          <p:cNvPr id="3" name="标题 1">
            <a:extLst>
              <a:ext uri="{FF2B5EF4-FFF2-40B4-BE49-F238E27FC236}">
                <a16:creationId xmlns:a16="http://schemas.microsoft.com/office/drawing/2014/main" xmlns="" id="{495BC0CD-FC41-86ED-5182-CFB18697D756}"/>
              </a:ext>
            </a:extLst>
          </p:cNvPr>
          <p:cNvSpPr>
            <a:spLocks noGrp="1"/>
          </p:cNvSpPr>
          <p:nvPr/>
        </p:nvSpPr>
        <p:spPr>
          <a:xfrm>
            <a:off x="783951" y="310338"/>
            <a:ext cx="656305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中长期：晶圆厂现有规划下，</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300+</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亿电子气市场增量对于中国厂商机遇大</a:t>
            </a:r>
          </a:p>
        </p:txBody>
      </p:sp>
      <p:sp>
        <p:nvSpPr>
          <p:cNvPr id="9" name="矩形 8">
            <a:extLst>
              <a:ext uri="{FF2B5EF4-FFF2-40B4-BE49-F238E27FC236}">
                <a16:creationId xmlns:a16="http://schemas.microsoft.com/office/drawing/2014/main" xmlns="" id="{36C550EA-69FA-0EFA-DBC2-EAD15B364481}"/>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12" name="矩形 11">
            <a:extLst>
              <a:ext uri="{FF2B5EF4-FFF2-40B4-BE49-F238E27FC236}">
                <a16:creationId xmlns:a16="http://schemas.microsoft.com/office/drawing/2014/main" xmlns="" id="{9A54C7F6-9E04-6C5A-052F-363B8251C3E5}"/>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6" name="表格 5">
            <a:extLst>
              <a:ext uri="{FF2B5EF4-FFF2-40B4-BE49-F238E27FC236}">
                <a16:creationId xmlns:a16="http://schemas.microsoft.com/office/drawing/2014/main" xmlns="" id="{1D48224D-12BB-C68B-0E7B-C16E7C989A2C}"/>
              </a:ext>
            </a:extLst>
          </p:cNvPr>
          <p:cNvGraphicFramePr>
            <a:graphicFrameLocks noGrp="1"/>
          </p:cNvGraphicFramePr>
          <p:nvPr>
            <p:extLst>
              <p:ext uri="{D42A27DB-BD31-4B8C-83A1-F6EECF244321}">
                <p14:modId xmlns:p14="http://schemas.microsoft.com/office/powerpoint/2010/main" val="2809236651"/>
              </p:ext>
            </p:extLst>
          </p:nvPr>
        </p:nvGraphicFramePr>
        <p:xfrm>
          <a:off x="3753871" y="1086422"/>
          <a:ext cx="4843172" cy="3860116"/>
        </p:xfrm>
        <a:graphic>
          <a:graphicData uri="http://schemas.openxmlformats.org/drawingml/2006/table">
            <a:tbl>
              <a:tblPr/>
              <a:tblGrid>
                <a:gridCol w="2053811">
                  <a:extLst>
                    <a:ext uri="{9D8B030D-6E8A-4147-A177-3AD203B41FA5}">
                      <a16:colId xmlns:a16="http://schemas.microsoft.com/office/drawing/2014/main" xmlns="" val="3960663952"/>
                    </a:ext>
                  </a:extLst>
                </a:gridCol>
                <a:gridCol w="917050">
                  <a:extLst>
                    <a:ext uri="{9D8B030D-6E8A-4147-A177-3AD203B41FA5}">
                      <a16:colId xmlns:a16="http://schemas.microsoft.com/office/drawing/2014/main" xmlns="" val="1526095777"/>
                    </a:ext>
                  </a:extLst>
                </a:gridCol>
                <a:gridCol w="878840">
                  <a:extLst>
                    <a:ext uri="{9D8B030D-6E8A-4147-A177-3AD203B41FA5}">
                      <a16:colId xmlns:a16="http://schemas.microsoft.com/office/drawing/2014/main" xmlns="" val="3515759984"/>
                    </a:ext>
                  </a:extLst>
                </a:gridCol>
                <a:gridCol w="993471">
                  <a:extLst>
                    <a:ext uri="{9D8B030D-6E8A-4147-A177-3AD203B41FA5}">
                      <a16:colId xmlns:a16="http://schemas.microsoft.com/office/drawing/2014/main" xmlns="" val="775630795"/>
                    </a:ext>
                  </a:extLst>
                </a:gridCol>
              </a:tblGrid>
              <a:tr h="155348">
                <a:tc gridSpan="4">
                  <a:txBody>
                    <a:bodyPr/>
                    <a:lstStyle/>
                    <a:p>
                      <a:pPr algn="l" rtl="0" fontAlgn="ctr">
                        <a:buNone/>
                      </a:pPr>
                      <a:r>
                        <a:rPr lang="zh-CN" altLang="en-US" sz="1000" b="1" i="0" u="none" strike="noStrike">
                          <a:solidFill>
                            <a:srgbClr val="000000"/>
                          </a:solidFill>
                          <a:effectLst/>
                          <a:latin typeface="+mn-ea"/>
                          <a:ea typeface="+mn-ea"/>
                        </a:rPr>
                        <a:t>晶圆厂</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1243868363"/>
                  </a:ext>
                </a:extLst>
              </a:tr>
              <a:tr h="155348">
                <a:tc>
                  <a:txBody>
                    <a:bodyPr/>
                    <a:lstStyle/>
                    <a:p>
                      <a:pPr algn="l" fontAlgn="ctr">
                        <a:buNone/>
                      </a:pPr>
                      <a:r>
                        <a:rPr lang="zh-CN" altLang="en-US" sz="1000" b="1" i="0" u="none" strike="noStrike">
                          <a:solidFill>
                            <a:srgbClr val="000000"/>
                          </a:solidFill>
                          <a:effectLst/>
                          <a:latin typeface="+mn-ea"/>
                          <a:ea typeface="+mn-ea"/>
                        </a:rPr>
                        <a:t>项目</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zh-CN" altLang="en-US" sz="1000" b="1" i="0" u="none" strike="noStrike">
                          <a:solidFill>
                            <a:srgbClr val="000000"/>
                          </a:solidFill>
                          <a:effectLst/>
                          <a:latin typeface="+mn-ea"/>
                          <a:ea typeface="+mn-ea"/>
                        </a:rPr>
                        <a:t>当前产能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zh-CN" altLang="en-US" sz="1000" b="1" i="0" u="none" strike="noStrike">
                          <a:solidFill>
                            <a:srgbClr val="000000"/>
                          </a:solidFill>
                          <a:effectLst/>
                          <a:latin typeface="+mn-ea"/>
                          <a:ea typeface="+mn-ea"/>
                        </a:rPr>
                        <a:t>需建设产能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zh-CN" altLang="en-US" sz="1000" b="1" i="0" u="none" strike="noStrike">
                          <a:solidFill>
                            <a:srgbClr val="000000"/>
                          </a:solidFill>
                          <a:effectLst/>
                          <a:latin typeface="+mn-ea"/>
                          <a:ea typeface="+mn-ea"/>
                        </a:rPr>
                        <a:t>规划（合计）产能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xmlns="" val="1487584439"/>
                  </a:ext>
                </a:extLst>
              </a:tr>
              <a:tr h="155348">
                <a:tc>
                  <a:txBody>
                    <a:bodyPr/>
                    <a:lstStyle/>
                    <a:p>
                      <a:pPr algn="l" fontAlgn="ctr">
                        <a:buNone/>
                      </a:pPr>
                      <a:r>
                        <a:rPr lang="zh-CN" altLang="en-US" sz="1000" b="0" i="0" u="none" strike="noStrike">
                          <a:solidFill>
                            <a:srgbClr val="000000"/>
                          </a:solidFill>
                          <a:effectLst/>
                          <a:latin typeface="+mn-ea"/>
                          <a:ea typeface="+mn-ea"/>
                        </a:rPr>
                        <a:t>产能（万片</a:t>
                      </a:r>
                      <a:r>
                        <a:rPr lang="en-US" altLang="zh-CN" sz="1000" b="0" i="0" u="none" strike="noStrike">
                          <a:solidFill>
                            <a:srgbClr val="000000"/>
                          </a:solidFill>
                          <a:effectLst/>
                          <a:latin typeface="+mn-ea"/>
                          <a:ea typeface="+mn-ea"/>
                        </a:rPr>
                        <a:t>/</a:t>
                      </a:r>
                      <a:r>
                        <a:rPr lang="zh-CN" altLang="en-US" sz="1000" b="0" i="0" u="none" strike="noStrike">
                          <a:solidFill>
                            <a:srgbClr val="000000"/>
                          </a:solidFill>
                          <a:effectLst/>
                          <a:latin typeface="+mn-ea"/>
                          <a:ea typeface="+mn-ea"/>
                        </a:rPr>
                        <a:t>月）</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354</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348</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701</a:t>
                      </a:r>
                    </a:p>
                  </a:txBody>
                  <a:tcPr marL="0" marR="0" marT="0" marB="0" anchor="ctr">
                    <a:lnL>
                      <a:noFill/>
                    </a:lnL>
                    <a:lnR>
                      <a:noFill/>
                    </a:lnR>
                    <a:lnT>
                      <a:noFill/>
                    </a:lnT>
                    <a:lnB>
                      <a:noFill/>
                    </a:lnB>
                    <a:noFill/>
                  </a:tcPr>
                </a:tc>
                <a:extLst>
                  <a:ext uri="{0D108BD9-81ED-4DB2-BD59-A6C34878D82A}">
                    <a16:rowId xmlns:a16="http://schemas.microsoft.com/office/drawing/2014/main" xmlns="" val="2978565440"/>
                  </a:ext>
                </a:extLst>
              </a:tr>
              <a:tr h="155348">
                <a:tc>
                  <a:txBody>
                    <a:bodyPr/>
                    <a:lstStyle/>
                    <a:p>
                      <a:pPr algn="l" fontAlgn="ctr">
                        <a:buNone/>
                      </a:pPr>
                      <a:r>
                        <a:rPr lang="zh-CN" altLang="en-US" sz="1000" b="0" i="0" u="none" strike="noStrike">
                          <a:solidFill>
                            <a:srgbClr val="000000"/>
                          </a:solidFill>
                          <a:effectLst/>
                          <a:latin typeface="+mn-ea"/>
                          <a:ea typeface="+mn-ea"/>
                        </a:rPr>
                        <a:t>每万方对应的氮用气量（万方</a:t>
                      </a:r>
                      <a:r>
                        <a:rPr lang="en-US" altLang="zh-CN" sz="1000" b="0" i="0" u="none" strike="noStrike">
                          <a:solidFill>
                            <a:srgbClr val="000000"/>
                          </a:solidFill>
                          <a:effectLst/>
                          <a:latin typeface="+mn-ea"/>
                          <a:ea typeface="+mn-ea"/>
                        </a:rPr>
                        <a:t>/h</a:t>
                      </a:r>
                      <a:r>
                        <a:rPr lang="zh-CN" altLang="en-US" sz="1000" b="0" i="0" u="none" strike="noStrike">
                          <a:solidFill>
                            <a:srgbClr val="000000"/>
                          </a:solidFill>
                          <a:effectLst/>
                          <a:latin typeface="+mn-ea"/>
                          <a:ea typeface="+mn-ea"/>
                        </a:rPr>
                        <a:t>）</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0.5</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1.15</a:t>
                      </a:r>
                    </a:p>
                  </a:txBody>
                  <a:tcPr marL="0" marR="0" marT="0" marB="0" anchor="ctr">
                    <a:lnL>
                      <a:noFill/>
                    </a:lnL>
                    <a:lnR>
                      <a:noFill/>
                    </a:lnR>
                    <a:lnT>
                      <a:noFill/>
                    </a:lnT>
                    <a:lnB>
                      <a:noFill/>
                    </a:lnB>
                    <a:noFill/>
                  </a:tcPr>
                </a:tc>
                <a:tc>
                  <a:txBody>
                    <a:bodyPr/>
                    <a:lstStyle/>
                    <a:p>
                      <a:pPr algn="l" fontAlgn="ctr">
                        <a:buNone/>
                      </a:pPr>
                      <a:r>
                        <a:rPr lang="en-US" altLang="zh-CN" sz="1000" b="0" i="0" u="none" strike="noStrike">
                          <a:solidFill>
                            <a:srgbClr val="000000"/>
                          </a:solidFill>
                          <a:effectLst/>
                          <a:latin typeface="+mn-ea"/>
                          <a:ea typeface="+mn-ea"/>
                        </a:rPr>
                        <a:t>-</a:t>
                      </a:r>
                    </a:p>
                  </a:txBody>
                  <a:tcPr marL="0" marR="0" marT="0" marB="0" anchor="ctr">
                    <a:lnL>
                      <a:noFill/>
                    </a:lnL>
                    <a:lnR>
                      <a:noFill/>
                    </a:lnR>
                    <a:lnT>
                      <a:noFill/>
                    </a:lnT>
                    <a:lnB>
                      <a:noFill/>
                    </a:lnB>
                    <a:noFill/>
                  </a:tcPr>
                </a:tc>
                <a:extLst>
                  <a:ext uri="{0D108BD9-81ED-4DB2-BD59-A6C34878D82A}">
                    <a16:rowId xmlns:a16="http://schemas.microsoft.com/office/drawing/2014/main" xmlns="" val="3428877406"/>
                  </a:ext>
                </a:extLst>
              </a:tr>
              <a:tr h="155348">
                <a:tc>
                  <a:txBody>
                    <a:bodyPr/>
                    <a:lstStyle/>
                    <a:p>
                      <a:pPr algn="l" fontAlgn="ctr">
                        <a:buNone/>
                      </a:pPr>
                      <a:r>
                        <a:rPr lang="zh-CN" altLang="en-US" sz="1000" b="0" i="0" u="none" strike="noStrike">
                          <a:solidFill>
                            <a:srgbClr val="000000"/>
                          </a:solidFill>
                          <a:effectLst/>
                          <a:latin typeface="+mn-ea"/>
                          <a:ea typeface="+mn-ea"/>
                        </a:rPr>
                        <a:t>用气量（万方</a:t>
                      </a:r>
                      <a:r>
                        <a:rPr lang="en-US" altLang="zh-CN" sz="1000" b="0" i="0" u="none" strike="noStrike">
                          <a:solidFill>
                            <a:srgbClr val="000000"/>
                          </a:solidFill>
                          <a:effectLst/>
                          <a:latin typeface="+mn-ea"/>
                          <a:ea typeface="+mn-ea"/>
                        </a:rPr>
                        <a:t>/</a:t>
                      </a:r>
                      <a:r>
                        <a:rPr lang="en-US" sz="1000" b="0" i="0" u="none" strike="noStrike">
                          <a:solidFill>
                            <a:srgbClr val="000000"/>
                          </a:solidFill>
                          <a:effectLst/>
                          <a:latin typeface="+mn-ea"/>
                          <a:ea typeface="+mn-ea"/>
                        </a:rPr>
                        <a:t>h）</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177</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400</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577</a:t>
                      </a:r>
                    </a:p>
                  </a:txBody>
                  <a:tcPr marL="0" marR="0" marT="0" marB="0" anchor="ctr">
                    <a:lnL>
                      <a:noFill/>
                    </a:lnL>
                    <a:lnR>
                      <a:noFill/>
                    </a:lnR>
                    <a:lnT>
                      <a:noFill/>
                    </a:lnT>
                    <a:lnB>
                      <a:noFill/>
                    </a:lnB>
                    <a:noFill/>
                  </a:tcPr>
                </a:tc>
                <a:extLst>
                  <a:ext uri="{0D108BD9-81ED-4DB2-BD59-A6C34878D82A}">
                    <a16:rowId xmlns:a16="http://schemas.microsoft.com/office/drawing/2014/main" xmlns="" val="2631472565"/>
                  </a:ext>
                </a:extLst>
              </a:tr>
              <a:tr h="155348">
                <a:tc>
                  <a:txBody>
                    <a:bodyPr/>
                    <a:lstStyle/>
                    <a:p>
                      <a:pPr algn="l" fontAlgn="ctr">
                        <a:buNone/>
                      </a:pPr>
                      <a:r>
                        <a:rPr lang="zh-CN" altLang="en-US" sz="1000" b="0" i="0" u="none" strike="noStrike">
                          <a:solidFill>
                            <a:srgbClr val="000000"/>
                          </a:solidFill>
                          <a:effectLst/>
                          <a:latin typeface="+mn-ea"/>
                          <a:ea typeface="+mn-ea"/>
                        </a:rPr>
                        <a:t>单万方</a:t>
                      </a:r>
                      <a:r>
                        <a:rPr lang="en-US" altLang="zh-CN" sz="1000" b="0" i="0" u="none" strike="noStrike">
                          <a:solidFill>
                            <a:srgbClr val="000000"/>
                          </a:solidFill>
                          <a:effectLst/>
                          <a:latin typeface="+mn-ea"/>
                          <a:ea typeface="+mn-ea"/>
                        </a:rPr>
                        <a:t>/h</a:t>
                      </a:r>
                      <a:r>
                        <a:rPr lang="zh-CN" altLang="en-US" sz="1000" b="0" i="0" u="none" strike="noStrike">
                          <a:solidFill>
                            <a:srgbClr val="000000"/>
                          </a:solidFill>
                          <a:effectLst/>
                          <a:latin typeface="+mn-ea"/>
                          <a:ea typeface="+mn-ea"/>
                        </a:rPr>
                        <a:t>对应年收入（亿元）</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0.45</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0.45</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0.45</a:t>
                      </a:r>
                    </a:p>
                  </a:txBody>
                  <a:tcPr marL="0" marR="0" marT="0" marB="0" anchor="ctr">
                    <a:lnL>
                      <a:noFill/>
                    </a:lnL>
                    <a:lnR>
                      <a:noFill/>
                    </a:lnR>
                    <a:lnT>
                      <a:noFill/>
                    </a:lnT>
                    <a:lnB>
                      <a:noFill/>
                    </a:lnB>
                    <a:noFill/>
                  </a:tcPr>
                </a:tc>
                <a:extLst>
                  <a:ext uri="{0D108BD9-81ED-4DB2-BD59-A6C34878D82A}">
                    <a16:rowId xmlns:a16="http://schemas.microsoft.com/office/drawing/2014/main" xmlns="" val="3017272503"/>
                  </a:ext>
                </a:extLst>
              </a:tr>
              <a:tr h="155348">
                <a:tc>
                  <a:txBody>
                    <a:bodyPr/>
                    <a:lstStyle/>
                    <a:p>
                      <a:pPr algn="l" fontAlgn="ctr">
                        <a:buNone/>
                      </a:pPr>
                      <a:r>
                        <a:rPr lang="en-US" altLang="zh-CN" sz="1000" b="1" i="0" u="none" strike="noStrike">
                          <a:solidFill>
                            <a:srgbClr val="000000"/>
                          </a:solidFill>
                          <a:effectLst/>
                          <a:latin typeface="+mn-ea"/>
                          <a:ea typeface="+mn-ea"/>
                        </a:rPr>
                        <a:t>1</a:t>
                      </a:r>
                      <a:r>
                        <a:rPr lang="zh-CN" altLang="en-US" sz="1000" b="1" i="0" u="none" strike="noStrike">
                          <a:solidFill>
                            <a:srgbClr val="000000"/>
                          </a:solidFill>
                          <a:effectLst/>
                          <a:latin typeface="+mn-ea"/>
                          <a:ea typeface="+mn-ea"/>
                        </a:rPr>
                        <a:t>）电子大宗气体年市场规模（亿元）</a:t>
                      </a:r>
                    </a:p>
                  </a:txBody>
                  <a:tcPr marL="0" marR="0" marT="0" marB="0" anchor="ctr">
                    <a:lnL>
                      <a:noFill/>
                    </a:lnL>
                    <a:lnR>
                      <a:noFill/>
                    </a:lnR>
                    <a:lnT>
                      <a:noFill/>
                    </a:lnT>
                    <a:lnB>
                      <a:noFill/>
                    </a:lnB>
                    <a:noFill/>
                  </a:tcPr>
                </a:tc>
                <a:tc>
                  <a:txBody>
                    <a:bodyPr/>
                    <a:lstStyle/>
                    <a:p>
                      <a:pPr algn="ctr" fontAlgn="ctr">
                        <a:buNone/>
                      </a:pPr>
                      <a:r>
                        <a:rPr lang="en-US" altLang="zh-CN" sz="1000" b="1" i="0" u="none" strike="noStrike">
                          <a:solidFill>
                            <a:srgbClr val="FF0000"/>
                          </a:solidFill>
                          <a:effectLst/>
                          <a:latin typeface="+mn-ea"/>
                          <a:ea typeface="+mn-ea"/>
                        </a:rPr>
                        <a:t>80</a:t>
                      </a:r>
                    </a:p>
                  </a:txBody>
                  <a:tcPr marL="0" marR="0" marT="0" marB="0" anchor="ctr">
                    <a:lnL>
                      <a:noFill/>
                    </a:lnL>
                    <a:lnR>
                      <a:noFill/>
                    </a:lnR>
                    <a:lnT>
                      <a:noFill/>
                    </a:lnT>
                    <a:lnB>
                      <a:noFill/>
                    </a:lnB>
                    <a:noFill/>
                  </a:tcPr>
                </a:tc>
                <a:tc>
                  <a:txBody>
                    <a:bodyPr/>
                    <a:lstStyle/>
                    <a:p>
                      <a:pPr algn="ctr" fontAlgn="ctr">
                        <a:buNone/>
                      </a:pPr>
                      <a:r>
                        <a:rPr lang="en-US" altLang="zh-CN" sz="1000" b="1" i="0" u="none" strike="noStrike">
                          <a:solidFill>
                            <a:srgbClr val="FF0000"/>
                          </a:solidFill>
                          <a:effectLst/>
                          <a:latin typeface="+mn-ea"/>
                          <a:ea typeface="+mn-ea"/>
                        </a:rPr>
                        <a:t>180</a:t>
                      </a:r>
                    </a:p>
                  </a:txBody>
                  <a:tcPr marL="0" marR="0" marT="0" marB="0" anchor="ctr">
                    <a:lnL>
                      <a:noFill/>
                    </a:lnL>
                    <a:lnR>
                      <a:noFill/>
                    </a:lnR>
                    <a:lnT>
                      <a:noFill/>
                    </a:lnT>
                    <a:lnB>
                      <a:noFill/>
                    </a:lnB>
                    <a:noFill/>
                  </a:tcPr>
                </a:tc>
                <a:tc>
                  <a:txBody>
                    <a:bodyPr/>
                    <a:lstStyle/>
                    <a:p>
                      <a:pPr algn="ctr" fontAlgn="ctr">
                        <a:buNone/>
                      </a:pPr>
                      <a:r>
                        <a:rPr lang="en-US" altLang="zh-CN" sz="1000" b="1" i="0" u="none" strike="noStrike">
                          <a:solidFill>
                            <a:srgbClr val="000000"/>
                          </a:solidFill>
                          <a:effectLst/>
                          <a:latin typeface="+mn-ea"/>
                          <a:ea typeface="+mn-ea"/>
                        </a:rPr>
                        <a:t>259</a:t>
                      </a:r>
                    </a:p>
                  </a:txBody>
                  <a:tcPr marL="0" marR="0" marT="0" marB="0" anchor="ctr">
                    <a:lnL>
                      <a:noFill/>
                    </a:lnL>
                    <a:lnR>
                      <a:noFill/>
                    </a:lnR>
                    <a:lnT>
                      <a:noFill/>
                    </a:lnT>
                    <a:lnB>
                      <a:noFill/>
                    </a:lnB>
                    <a:noFill/>
                  </a:tcPr>
                </a:tc>
                <a:extLst>
                  <a:ext uri="{0D108BD9-81ED-4DB2-BD59-A6C34878D82A}">
                    <a16:rowId xmlns:a16="http://schemas.microsoft.com/office/drawing/2014/main" xmlns="" val="3511568833"/>
                  </a:ext>
                </a:extLst>
              </a:tr>
              <a:tr h="155348">
                <a:tc>
                  <a:txBody>
                    <a:bodyPr/>
                    <a:lstStyle/>
                    <a:p>
                      <a:pPr algn="l" fontAlgn="ctr">
                        <a:buNone/>
                      </a:pPr>
                      <a:r>
                        <a:rPr lang="en-US" altLang="zh-CN" sz="1000" b="1" i="0" u="none" strike="noStrike">
                          <a:solidFill>
                            <a:srgbClr val="000000"/>
                          </a:solidFill>
                          <a:effectLst/>
                          <a:latin typeface="+mn-ea"/>
                          <a:ea typeface="+mn-ea"/>
                        </a:rPr>
                        <a:t>2</a:t>
                      </a:r>
                      <a:r>
                        <a:rPr lang="zh-CN" altLang="en-US" sz="1000" b="1" i="0" u="none" strike="noStrike">
                          <a:solidFill>
                            <a:srgbClr val="000000"/>
                          </a:solidFill>
                          <a:effectLst/>
                          <a:latin typeface="+mn-ea"/>
                          <a:ea typeface="+mn-ea"/>
                        </a:rPr>
                        <a:t>）电子特气年市场规模（亿元）</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53</a:t>
                      </a:r>
                    </a:p>
                  </a:txBody>
                  <a:tcPr marL="0" marR="0" marT="0" marB="0" anchor="ctr">
                    <a:lnL>
                      <a:noFill/>
                    </a:lnL>
                    <a:lnR>
                      <a:noFill/>
                    </a:lnR>
                    <a:lnT>
                      <a:noFill/>
                    </a:lnT>
                    <a:lnB>
                      <a:noFill/>
                    </a:lnB>
                    <a:noFill/>
                  </a:tcPr>
                </a:tc>
                <a:tc>
                  <a:txBody>
                    <a:bodyPr/>
                    <a:lstStyle/>
                    <a:p>
                      <a:pPr algn="ctr" fontAlgn="ctr">
                        <a:buNone/>
                      </a:pPr>
                      <a:r>
                        <a:rPr lang="en-US" altLang="zh-CN" sz="1000" b="0" i="0" u="none" strike="noStrike">
                          <a:solidFill>
                            <a:srgbClr val="000000"/>
                          </a:solidFill>
                          <a:effectLst/>
                          <a:latin typeface="+mn-ea"/>
                          <a:ea typeface="+mn-ea"/>
                        </a:rPr>
                        <a:t>120</a:t>
                      </a:r>
                    </a:p>
                  </a:txBody>
                  <a:tcPr marL="0" marR="0" marT="0" marB="0" anchor="ctr">
                    <a:lnL>
                      <a:noFill/>
                    </a:lnL>
                    <a:lnR>
                      <a:noFill/>
                    </a:lnR>
                    <a:lnT>
                      <a:noFill/>
                    </a:lnT>
                    <a:lnB>
                      <a:noFill/>
                    </a:lnB>
                    <a:noFill/>
                  </a:tcPr>
                </a:tc>
                <a:tc>
                  <a:txBody>
                    <a:bodyPr/>
                    <a:lstStyle/>
                    <a:p>
                      <a:pPr algn="ctr" fontAlgn="ctr">
                        <a:buNone/>
                      </a:pPr>
                      <a:r>
                        <a:rPr lang="en-US" altLang="zh-CN" sz="1000" b="1" i="0" u="none" strike="noStrike">
                          <a:solidFill>
                            <a:srgbClr val="000000"/>
                          </a:solidFill>
                          <a:effectLst/>
                          <a:latin typeface="+mn-ea"/>
                          <a:ea typeface="+mn-ea"/>
                        </a:rPr>
                        <a:t>173</a:t>
                      </a:r>
                    </a:p>
                  </a:txBody>
                  <a:tcPr marL="0" marR="0" marT="0" marB="0" anchor="ctr">
                    <a:lnL>
                      <a:noFill/>
                    </a:lnL>
                    <a:lnR>
                      <a:noFill/>
                    </a:lnR>
                    <a:lnT>
                      <a:noFill/>
                    </a:lnT>
                    <a:lnB>
                      <a:noFill/>
                    </a:lnB>
                    <a:noFill/>
                  </a:tcPr>
                </a:tc>
                <a:extLst>
                  <a:ext uri="{0D108BD9-81ED-4DB2-BD59-A6C34878D82A}">
                    <a16:rowId xmlns:a16="http://schemas.microsoft.com/office/drawing/2014/main" xmlns="" val="56671027"/>
                  </a:ext>
                </a:extLst>
              </a:tr>
              <a:tr h="155348">
                <a:tc>
                  <a:txBody>
                    <a:bodyPr/>
                    <a:lstStyle/>
                    <a:p>
                      <a:pPr algn="l" fontAlgn="ctr">
                        <a:buNone/>
                      </a:pPr>
                      <a:r>
                        <a:rPr lang="en-US" altLang="zh-CN" sz="1000" b="1" i="0" u="none" strike="noStrike">
                          <a:solidFill>
                            <a:srgbClr val="000000"/>
                          </a:solidFill>
                          <a:effectLst/>
                          <a:latin typeface="+mn-ea"/>
                          <a:ea typeface="+mn-ea"/>
                        </a:rPr>
                        <a:t>3</a:t>
                      </a:r>
                      <a:r>
                        <a:rPr lang="zh-CN" altLang="en-US" sz="1000" b="1" i="0" u="none" strike="noStrike">
                          <a:solidFill>
                            <a:srgbClr val="000000"/>
                          </a:solidFill>
                          <a:effectLst/>
                          <a:latin typeface="+mn-ea"/>
                          <a:ea typeface="+mn-ea"/>
                        </a:rPr>
                        <a:t>）电子气市场规模（亿元）</a:t>
                      </a:r>
                      <a:r>
                        <a:rPr lang="en-US" altLang="zh-CN" sz="1000" b="1" i="0" u="none" strike="noStrike">
                          <a:solidFill>
                            <a:srgbClr val="000000"/>
                          </a:solidFill>
                          <a:effectLst/>
                          <a:latin typeface="+mn-ea"/>
                          <a:ea typeface="+mn-ea"/>
                        </a:rPr>
                        <a:t>=1</a:t>
                      </a:r>
                      <a:r>
                        <a:rPr lang="zh-CN" altLang="en-US" sz="1000" b="1" i="0" u="none" strike="noStrike">
                          <a:solidFill>
                            <a:srgbClr val="000000"/>
                          </a:solidFill>
                          <a:effectLst/>
                          <a:latin typeface="+mn-ea"/>
                          <a:ea typeface="+mn-ea"/>
                        </a:rPr>
                        <a:t>）</a:t>
                      </a:r>
                      <a:r>
                        <a:rPr lang="en-US" altLang="zh-CN" sz="1000" b="1" i="0" u="none" strike="noStrike">
                          <a:solidFill>
                            <a:srgbClr val="000000"/>
                          </a:solidFill>
                          <a:effectLst/>
                          <a:latin typeface="+mn-ea"/>
                          <a:ea typeface="+mn-ea"/>
                        </a:rPr>
                        <a:t>+2</a:t>
                      </a:r>
                      <a:r>
                        <a:rPr lang="zh-CN" altLang="en-US" sz="1000" b="1" i="0" u="none" strike="noStrike">
                          <a:solidFill>
                            <a:srgbClr val="0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a:solidFill>
                            <a:srgbClr val="000000"/>
                          </a:solidFill>
                          <a:effectLst/>
                          <a:latin typeface="+mn-ea"/>
                          <a:ea typeface="+mn-ea"/>
                        </a:rPr>
                        <a:t>133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0" i="0" u="none" strike="noStrike" dirty="0">
                          <a:solidFill>
                            <a:srgbClr val="000000"/>
                          </a:solidFill>
                          <a:effectLst/>
                          <a:latin typeface="+mn-ea"/>
                          <a:ea typeface="+mn-ea"/>
                        </a:rPr>
                        <a:t>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zh-CN" sz="1000" b="1" i="0" u="none" strike="noStrike">
                          <a:solidFill>
                            <a:srgbClr val="000000"/>
                          </a:solidFill>
                          <a:effectLst/>
                          <a:latin typeface="+mn-ea"/>
                          <a:ea typeface="+mn-ea"/>
                        </a:rPr>
                        <a:t>432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886111758"/>
                  </a:ext>
                </a:extLst>
              </a:tr>
              <a:tr h="155348">
                <a:tc gridSpan="4">
                  <a:txBody>
                    <a:bodyPr/>
                    <a:lstStyle/>
                    <a:p>
                      <a:pPr algn="l" rtl="0" fontAlgn="ctr">
                        <a:buNone/>
                      </a:pPr>
                      <a:r>
                        <a:rPr lang="zh-CN" altLang="en-US" sz="1000" b="1" i="0" u="none" strike="noStrike">
                          <a:solidFill>
                            <a:srgbClr val="000000"/>
                          </a:solidFill>
                          <a:effectLst/>
                          <a:latin typeface="+mn-ea"/>
                          <a:ea typeface="+mn-ea"/>
                        </a:rPr>
                        <a:t>面板厂</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xmlns="" val="2286609483"/>
                  </a:ext>
                </a:extLst>
              </a:tr>
              <a:tr h="155348">
                <a:tc>
                  <a:txBody>
                    <a:bodyPr/>
                    <a:lstStyle/>
                    <a:p>
                      <a:pPr algn="l" rtl="0" fontAlgn="ctr">
                        <a:buNone/>
                      </a:pPr>
                      <a:r>
                        <a:rPr lang="zh-CN" altLang="en-US" sz="1000" b="1" i="0" u="none" strike="noStrike" dirty="0">
                          <a:solidFill>
                            <a:srgbClr val="000000"/>
                          </a:solidFill>
                          <a:effectLst/>
                          <a:latin typeface="+mn-ea"/>
                          <a:ea typeface="+mn-ea"/>
                        </a:rPr>
                        <a:t>项目</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zh-CN" altLang="en-US" sz="1000" b="1" i="0" u="none" strike="noStrike">
                          <a:solidFill>
                            <a:srgbClr val="000000"/>
                          </a:solidFill>
                          <a:effectLst/>
                          <a:latin typeface="+mn-ea"/>
                          <a:ea typeface="+mn-ea"/>
                        </a:rPr>
                        <a:t>当前产能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zh-CN" altLang="en-US" sz="1000" b="1" i="0" u="none" strike="noStrike">
                          <a:solidFill>
                            <a:srgbClr val="000000"/>
                          </a:solidFill>
                          <a:effectLst/>
                          <a:latin typeface="+mn-ea"/>
                          <a:ea typeface="+mn-ea"/>
                        </a:rPr>
                        <a:t>需建设产能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zh-CN" altLang="en-US" sz="1000" b="1" i="0" u="none" strike="noStrike">
                          <a:solidFill>
                            <a:srgbClr val="000000"/>
                          </a:solidFill>
                          <a:effectLst/>
                          <a:latin typeface="+mn-ea"/>
                          <a:ea typeface="+mn-ea"/>
                        </a:rPr>
                        <a:t>规划（合计）产能</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xmlns="" val="2001247803"/>
                  </a:ext>
                </a:extLst>
              </a:tr>
              <a:tr h="155348">
                <a:tc>
                  <a:txBody>
                    <a:bodyPr/>
                    <a:lstStyle/>
                    <a:p>
                      <a:pPr algn="l" rtl="0" fontAlgn="ctr">
                        <a:buNone/>
                      </a:pPr>
                      <a:r>
                        <a:rPr lang="zh-CN" altLang="en-US" sz="1000" b="0" i="0" u="none" strike="noStrike" dirty="0">
                          <a:solidFill>
                            <a:srgbClr val="000000"/>
                          </a:solidFill>
                          <a:effectLst/>
                          <a:latin typeface="+mn-ea"/>
                          <a:ea typeface="+mn-ea"/>
                        </a:rPr>
                        <a:t>产能（万片</a:t>
                      </a:r>
                      <a:r>
                        <a:rPr lang="en-US" altLang="zh-CN" sz="1000" b="0" i="0" u="none" strike="noStrike" dirty="0">
                          <a:solidFill>
                            <a:srgbClr val="000000"/>
                          </a:solidFill>
                          <a:effectLst/>
                          <a:latin typeface="+mn-ea"/>
                          <a:ea typeface="+mn-ea"/>
                        </a:rPr>
                        <a:t>/</a:t>
                      </a:r>
                      <a:r>
                        <a:rPr lang="zh-CN" altLang="en-US" sz="1000" b="0" i="0" u="none" strike="noStrike" dirty="0">
                          <a:solidFill>
                            <a:srgbClr val="000000"/>
                          </a:solidFill>
                          <a:effectLst/>
                          <a:latin typeface="+mn-ea"/>
                          <a:ea typeface="+mn-ea"/>
                        </a:rPr>
                        <a:t>月）</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437</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23</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460</a:t>
                      </a:r>
                    </a:p>
                  </a:txBody>
                  <a:tcPr marL="0" marR="0" marT="0" marB="0" anchor="ctr">
                    <a:lnL>
                      <a:noFill/>
                    </a:lnL>
                    <a:lnR>
                      <a:noFill/>
                    </a:lnR>
                    <a:lnT>
                      <a:noFill/>
                    </a:lnT>
                    <a:lnB>
                      <a:noFill/>
                    </a:lnB>
                    <a:noFill/>
                  </a:tcPr>
                </a:tc>
                <a:extLst>
                  <a:ext uri="{0D108BD9-81ED-4DB2-BD59-A6C34878D82A}">
                    <a16:rowId xmlns:a16="http://schemas.microsoft.com/office/drawing/2014/main" xmlns="" val="1636166120"/>
                  </a:ext>
                </a:extLst>
              </a:tr>
              <a:tr h="155348">
                <a:tc>
                  <a:txBody>
                    <a:bodyPr/>
                    <a:lstStyle/>
                    <a:p>
                      <a:pPr algn="l" rtl="0" fontAlgn="ctr">
                        <a:buNone/>
                      </a:pPr>
                      <a:r>
                        <a:rPr lang="zh-CN" altLang="en-US" sz="1000" b="0" i="0" u="none" strike="noStrike">
                          <a:solidFill>
                            <a:srgbClr val="000000"/>
                          </a:solidFill>
                          <a:effectLst/>
                          <a:latin typeface="+mn-ea"/>
                          <a:ea typeface="+mn-ea"/>
                        </a:rPr>
                        <a:t>每万方对应的氮用气量（万方</a:t>
                      </a:r>
                      <a:r>
                        <a:rPr lang="en-US" altLang="zh-CN" sz="1000" b="0" i="0" u="none" strike="noStrike">
                          <a:solidFill>
                            <a:srgbClr val="000000"/>
                          </a:solidFill>
                          <a:effectLst/>
                          <a:latin typeface="+mn-ea"/>
                          <a:ea typeface="+mn-ea"/>
                        </a:rPr>
                        <a:t>/h</a:t>
                      </a:r>
                      <a:r>
                        <a:rPr lang="zh-CN" altLang="en-US" sz="1000" b="0" i="0" u="none" strike="noStrike">
                          <a:solidFill>
                            <a:srgbClr val="000000"/>
                          </a:solidFill>
                          <a:effectLst/>
                          <a:latin typeface="+mn-ea"/>
                          <a:ea typeface="+mn-ea"/>
                        </a:rPr>
                        <a:t>）</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dirty="0">
                          <a:solidFill>
                            <a:srgbClr val="000000"/>
                          </a:solidFill>
                          <a:effectLst/>
                          <a:latin typeface="+mn-ea"/>
                          <a:ea typeface="+mn-ea"/>
                        </a:rPr>
                        <a:t>0.17</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1.58</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a:t>
                      </a:r>
                    </a:p>
                  </a:txBody>
                  <a:tcPr marL="0" marR="0" marT="0" marB="0" anchor="ctr">
                    <a:lnL>
                      <a:noFill/>
                    </a:lnL>
                    <a:lnR>
                      <a:noFill/>
                    </a:lnR>
                    <a:lnT>
                      <a:noFill/>
                    </a:lnT>
                    <a:lnB>
                      <a:noFill/>
                    </a:lnB>
                    <a:noFill/>
                  </a:tcPr>
                </a:tc>
                <a:extLst>
                  <a:ext uri="{0D108BD9-81ED-4DB2-BD59-A6C34878D82A}">
                    <a16:rowId xmlns:a16="http://schemas.microsoft.com/office/drawing/2014/main" xmlns="" val="43469656"/>
                  </a:ext>
                </a:extLst>
              </a:tr>
              <a:tr h="155348">
                <a:tc>
                  <a:txBody>
                    <a:bodyPr/>
                    <a:lstStyle/>
                    <a:p>
                      <a:pPr algn="l" rtl="0" fontAlgn="ctr">
                        <a:buNone/>
                      </a:pPr>
                      <a:r>
                        <a:rPr lang="zh-CN" altLang="en-US" sz="1000" b="0" i="0" u="none" strike="noStrike">
                          <a:solidFill>
                            <a:srgbClr val="000000"/>
                          </a:solidFill>
                          <a:effectLst/>
                          <a:latin typeface="+mn-ea"/>
                          <a:ea typeface="+mn-ea"/>
                        </a:rPr>
                        <a:t>用气量（万方</a:t>
                      </a:r>
                      <a:r>
                        <a:rPr lang="en-US" altLang="zh-CN" sz="1000" b="0" i="0" u="none" strike="noStrike">
                          <a:solidFill>
                            <a:srgbClr val="000000"/>
                          </a:solidFill>
                          <a:effectLst/>
                          <a:latin typeface="+mn-ea"/>
                          <a:ea typeface="+mn-ea"/>
                        </a:rPr>
                        <a:t>/</a:t>
                      </a:r>
                      <a:r>
                        <a:rPr lang="en-US" sz="1000" b="0" i="0" u="none" strike="noStrike">
                          <a:solidFill>
                            <a:srgbClr val="000000"/>
                          </a:solidFill>
                          <a:effectLst/>
                          <a:latin typeface="+mn-ea"/>
                          <a:ea typeface="+mn-ea"/>
                        </a:rPr>
                        <a:t>h）</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dirty="0">
                          <a:solidFill>
                            <a:srgbClr val="000000"/>
                          </a:solidFill>
                          <a:effectLst/>
                          <a:latin typeface="+mn-ea"/>
                          <a:ea typeface="+mn-ea"/>
                        </a:rPr>
                        <a:t>73</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36</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109</a:t>
                      </a:r>
                    </a:p>
                  </a:txBody>
                  <a:tcPr marL="0" marR="0" marT="0" marB="0" anchor="ctr">
                    <a:lnL>
                      <a:noFill/>
                    </a:lnL>
                    <a:lnR>
                      <a:noFill/>
                    </a:lnR>
                    <a:lnT>
                      <a:noFill/>
                    </a:lnT>
                    <a:lnB>
                      <a:noFill/>
                    </a:lnB>
                    <a:noFill/>
                  </a:tcPr>
                </a:tc>
                <a:extLst>
                  <a:ext uri="{0D108BD9-81ED-4DB2-BD59-A6C34878D82A}">
                    <a16:rowId xmlns:a16="http://schemas.microsoft.com/office/drawing/2014/main" xmlns="" val="1595272359"/>
                  </a:ext>
                </a:extLst>
              </a:tr>
              <a:tr h="155348">
                <a:tc>
                  <a:txBody>
                    <a:bodyPr/>
                    <a:lstStyle/>
                    <a:p>
                      <a:pPr algn="l" rtl="0" fontAlgn="ctr">
                        <a:buNone/>
                      </a:pPr>
                      <a:r>
                        <a:rPr lang="zh-CN" altLang="en-US" sz="1000" b="0" i="0" u="none" strike="noStrike">
                          <a:solidFill>
                            <a:srgbClr val="000000"/>
                          </a:solidFill>
                          <a:effectLst/>
                          <a:latin typeface="+mn-ea"/>
                          <a:ea typeface="+mn-ea"/>
                        </a:rPr>
                        <a:t>单万方</a:t>
                      </a:r>
                      <a:r>
                        <a:rPr lang="en-US" altLang="zh-CN" sz="1000" b="0" i="0" u="none" strike="noStrike">
                          <a:solidFill>
                            <a:srgbClr val="000000"/>
                          </a:solidFill>
                          <a:effectLst/>
                          <a:latin typeface="+mn-ea"/>
                          <a:ea typeface="+mn-ea"/>
                        </a:rPr>
                        <a:t>/h</a:t>
                      </a:r>
                      <a:r>
                        <a:rPr lang="zh-CN" altLang="en-US" sz="1000" b="0" i="0" u="none" strike="noStrike">
                          <a:solidFill>
                            <a:srgbClr val="000000"/>
                          </a:solidFill>
                          <a:effectLst/>
                          <a:latin typeface="+mn-ea"/>
                          <a:ea typeface="+mn-ea"/>
                        </a:rPr>
                        <a:t>对应年收入（亿元）</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0.5</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dirty="0">
                          <a:solidFill>
                            <a:srgbClr val="000000"/>
                          </a:solidFill>
                          <a:effectLst/>
                          <a:latin typeface="+mn-ea"/>
                          <a:ea typeface="+mn-ea"/>
                        </a:rPr>
                        <a:t>0.5</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0.5</a:t>
                      </a:r>
                    </a:p>
                  </a:txBody>
                  <a:tcPr marL="0" marR="0" marT="0" marB="0" anchor="ctr">
                    <a:lnL>
                      <a:noFill/>
                    </a:lnL>
                    <a:lnR>
                      <a:noFill/>
                    </a:lnR>
                    <a:lnT>
                      <a:noFill/>
                    </a:lnT>
                    <a:lnB>
                      <a:noFill/>
                    </a:lnB>
                    <a:noFill/>
                  </a:tcPr>
                </a:tc>
                <a:extLst>
                  <a:ext uri="{0D108BD9-81ED-4DB2-BD59-A6C34878D82A}">
                    <a16:rowId xmlns:a16="http://schemas.microsoft.com/office/drawing/2014/main" xmlns="" val="832384098"/>
                  </a:ext>
                </a:extLst>
              </a:tr>
              <a:tr h="155348">
                <a:tc>
                  <a:txBody>
                    <a:bodyPr/>
                    <a:lstStyle/>
                    <a:p>
                      <a:pPr algn="l" rtl="0" fontAlgn="ctr">
                        <a:buNone/>
                      </a:pPr>
                      <a:r>
                        <a:rPr lang="en-US" altLang="zh-CN" sz="1000" b="1" i="0" u="none" strike="noStrike">
                          <a:solidFill>
                            <a:srgbClr val="000000"/>
                          </a:solidFill>
                          <a:effectLst/>
                          <a:latin typeface="+mn-ea"/>
                          <a:ea typeface="+mn-ea"/>
                        </a:rPr>
                        <a:t>1</a:t>
                      </a:r>
                      <a:r>
                        <a:rPr lang="zh-CN" altLang="en-US" sz="1000" b="1" i="0" u="none" strike="noStrike">
                          <a:solidFill>
                            <a:srgbClr val="000000"/>
                          </a:solidFill>
                          <a:effectLst/>
                          <a:latin typeface="+mn-ea"/>
                          <a:ea typeface="+mn-ea"/>
                        </a:rPr>
                        <a:t>）电子大宗气体年市场规模（亿元）</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36</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dirty="0">
                          <a:solidFill>
                            <a:srgbClr val="000000"/>
                          </a:solidFill>
                          <a:effectLst/>
                          <a:latin typeface="+mn-ea"/>
                          <a:ea typeface="+mn-ea"/>
                        </a:rPr>
                        <a:t>18</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54</a:t>
                      </a:r>
                    </a:p>
                  </a:txBody>
                  <a:tcPr marL="0" marR="0" marT="0" marB="0" anchor="ctr">
                    <a:lnL>
                      <a:noFill/>
                    </a:lnL>
                    <a:lnR>
                      <a:noFill/>
                    </a:lnR>
                    <a:lnT>
                      <a:noFill/>
                    </a:lnT>
                    <a:lnB>
                      <a:noFill/>
                    </a:lnB>
                    <a:noFill/>
                  </a:tcPr>
                </a:tc>
                <a:extLst>
                  <a:ext uri="{0D108BD9-81ED-4DB2-BD59-A6C34878D82A}">
                    <a16:rowId xmlns:a16="http://schemas.microsoft.com/office/drawing/2014/main" xmlns="" val="3678033604"/>
                  </a:ext>
                </a:extLst>
              </a:tr>
              <a:tr h="155348">
                <a:tc>
                  <a:txBody>
                    <a:bodyPr/>
                    <a:lstStyle/>
                    <a:p>
                      <a:pPr algn="l" rtl="0" fontAlgn="ctr">
                        <a:buNone/>
                      </a:pPr>
                      <a:r>
                        <a:rPr lang="en-US" altLang="zh-CN" sz="1000" b="1" i="0" u="none" strike="noStrike">
                          <a:solidFill>
                            <a:srgbClr val="000000"/>
                          </a:solidFill>
                          <a:effectLst/>
                          <a:latin typeface="+mn-ea"/>
                          <a:ea typeface="+mn-ea"/>
                        </a:rPr>
                        <a:t>2</a:t>
                      </a:r>
                      <a:r>
                        <a:rPr lang="zh-CN" altLang="en-US" sz="1000" b="1" i="0" u="none" strike="noStrike">
                          <a:solidFill>
                            <a:srgbClr val="000000"/>
                          </a:solidFill>
                          <a:effectLst/>
                          <a:latin typeface="+mn-ea"/>
                          <a:ea typeface="+mn-ea"/>
                        </a:rPr>
                        <a:t>）电子特气年市场规模（亿元）</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20</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a:solidFill>
                            <a:srgbClr val="000000"/>
                          </a:solidFill>
                          <a:effectLst/>
                          <a:latin typeface="+mn-ea"/>
                          <a:ea typeface="+mn-ea"/>
                        </a:rPr>
                        <a:t>10</a:t>
                      </a:r>
                    </a:p>
                  </a:txBody>
                  <a:tcPr marL="0" marR="0" marT="0" marB="0" anchor="ctr">
                    <a:lnL>
                      <a:noFill/>
                    </a:lnL>
                    <a:lnR>
                      <a:noFill/>
                    </a:lnR>
                    <a:lnT>
                      <a:noFill/>
                    </a:lnT>
                    <a:lnB>
                      <a:noFill/>
                    </a:lnB>
                    <a:noFill/>
                  </a:tcPr>
                </a:tc>
                <a:tc>
                  <a:txBody>
                    <a:bodyPr/>
                    <a:lstStyle/>
                    <a:p>
                      <a:pPr algn="ctr" rtl="0" fontAlgn="ctr">
                        <a:buNone/>
                      </a:pPr>
                      <a:r>
                        <a:rPr lang="en-US" altLang="zh-CN" sz="1000" b="0" i="0" u="none" strike="noStrike" dirty="0">
                          <a:solidFill>
                            <a:srgbClr val="000000"/>
                          </a:solidFill>
                          <a:effectLst/>
                          <a:latin typeface="+mn-ea"/>
                          <a:ea typeface="+mn-ea"/>
                        </a:rPr>
                        <a:t>29</a:t>
                      </a:r>
                    </a:p>
                  </a:txBody>
                  <a:tcPr marL="0" marR="0" marT="0" marB="0" anchor="ctr">
                    <a:lnL>
                      <a:noFill/>
                    </a:lnL>
                    <a:lnR>
                      <a:noFill/>
                    </a:lnR>
                    <a:lnT>
                      <a:noFill/>
                    </a:lnT>
                    <a:lnB>
                      <a:noFill/>
                    </a:lnB>
                    <a:noFill/>
                  </a:tcPr>
                </a:tc>
                <a:extLst>
                  <a:ext uri="{0D108BD9-81ED-4DB2-BD59-A6C34878D82A}">
                    <a16:rowId xmlns:a16="http://schemas.microsoft.com/office/drawing/2014/main" xmlns="" val="3336197756"/>
                  </a:ext>
                </a:extLst>
              </a:tr>
              <a:tr h="155348">
                <a:tc>
                  <a:txBody>
                    <a:bodyPr/>
                    <a:lstStyle/>
                    <a:p>
                      <a:pPr algn="l" rtl="0" fontAlgn="ctr">
                        <a:buNone/>
                      </a:pPr>
                      <a:r>
                        <a:rPr lang="en-US" altLang="zh-CN" sz="1000" b="1" i="0" u="none" strike="noStrike">
                          <a:solidFill>
                            <a:srgbClr val="000000"/>
                          </a:solidFill>
                          <a:effectLst/>
                          <a:latin typeface="+mn-ea"/>
                          <a:ea typeface="+mn-ea"/>
                        </a:rPr>
                        <a:t>3</a:t>
                      </a:r>
                      <a:r>
                        <a:rPr lang="zh-CN" altLang="en-US" sz="1000" b="1" i="0" u="none" strike="noStrike">
                          <a:solidFill>
                            <a:srgbClr val="000000"/>
                          </a:solidFill>
                          <a:effectLst/>
                          <a:latin typeface="+mn-ea"/>
                          <a:ea typeface="+mn-ea"/>
                        </a:rPr>
                        <a:t>）电子气市场规模（亿元）</a:t>
                      </a:r>
                      <a:r>
                        <a:rPr lang="en-US" altLang="zh-CN" sz="1000" b="1" i="0" u="none" strike="noStrike">
                          <a:solidFill>
                            <a:srgbClr val="000000"/>
                          </a:solidFill>
                          <a:effectLst/>
                          <a:latin typeface="+mn-ea"/>
                          <a:ea typeface="+mn-ea"/>
                        </a:rPr>
                        <a:t>=1</a:t>
                      </a:r>
                      <a:r>
                        <a:rPr lang="zh-CN" altLang="en-US" sz="1000" b="1" i="0" u="none" strike="noStrike">
                          <a:solidFill>
                            <a:srgbClr val="000000"/>
                          </a:solidFill>
                          <a:effectLst/>
                          <a:latin typeface="+mn-ea"/>
                          <a:ea typeface="+mn-ea"/>
                        </a:rPr>
                        <a:t>）</a:t>
                      </a:r>
                      <a:r>
                        <a:rPr lang="en-US" altLang="zh-CN" sz="1000" b="1" i="0" u="none" strike="noStrike">
                          <a:solidFill>
                            <a:srgbClr val="000000"/>
                          </a:solidFill>
                          <a:effectLst/>
                          <a:latin typeface="+mn-ea"/>
                          <a:ea typeface="+mn-ea"/>
                        </a:rPr>
                        <a:t>+2</a:t>
                      </a:r>
                      <a:r>
                        <a:rPr lang="zh-CN" altLang="en-US" sz="1000" b="1" i="0" u="none" strike="noStrike">
                          <a:solidFill>
                            <a:srgbClr val="0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altLang="zh-CN" sz="1000" b="1" i="0" u="none" strike="noStrike">
                          <a:solidFill>
                            <a:srgbClr val="000000"/>
                          </a:solidFill>
                          <a:effectLst/>
                          <a:latin typeface="+mn-ea"/>
                          <a:ea typeface="+mn-ea"/>
                        </a:rPr>
                        <a:t>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altLang="zh-CN" sz="1000" b="1" i="0" u="none" strike="noStrike">
                          <a:solidFill>
                            <a:srgbClr val="000000"/>
                          </a:solidFill>
                          <a:effectLst/>
                          <a:latin typeface="+mn-ea"/>
                          <a:ea typeface="+mn-ea"/>
                        </a:rPr>
                        <a:t>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altLang="zh-CN" sz="1000" b="1" i="0" u="none" strike="noStrike" dirty="0">
                          <a:solidFill>
                            <a:srgbClr val="000000"/>
                          </a:solidFill>
                          <a:effectLst/>
                          <a:latin typeface="+mn-ea"/>
                          <a:ea typeface="+mn-ea"/>
                        </a:rPr>
                        <a:t>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796177711"/>
                  </a:ext>
                </a:extLst>
              </a:tr>
              <a:tr h="155348">
                <a:tc>
                  <a:txBody>
                    <a:bodyPr/>
                    <a:lstStyle/>
                    <a:p>
                      <a:pPr algn="l" rtl="0" fontAlgn="ctr">
                        <a:buNone/>
                      </a:pPr>
                      <a:r>
                        <a:rPr lang="zh-CN" altLang="en-US" sz="1000" b="1" i="0" u="none" strike="noStrike">
                          <a:solidFill>
                            <a:srgbClr val="000000"/>
                          </a:solidFill>
                          <a:effectLst/>
                          <a:latin typeface="+mn-ea"/>
                          <a:ea typeface="+mn-ea"/>
                        </a:rPr>
                        <a:t>电子大宗气体市场合计（亿元）</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116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198</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CE4D6"/>
                    </a:solidFill>
                  </a:tcPr>
                </a:tc>
                <a:tc>
                  <a:txBody>
                    <a:bodyPr/>
                    <a:lstStyle/>
                    <a:p>
                      <a:pPr algn="ctr" rtl="0" fontAlgn="ctr">
                        <a:buNone/>
                      </a:pPr>
                      <a:r>
                        <a:rPr lang="en-US" altLang="zh-CN" sz="1000" b="1" i="0" u="none" strike="noStrike" dirty="0">
                          <a:solidFill>
                            <a:srgbClr val="000000"/>
                          </a:solidFill>
                          <a:effectLst/>
                          <a:latin typeface="+mn-ea"/>
                          <a:ea typeface="+mn-ea"/>
                        </a:rPr>
                        <a:t>313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CE4D6"/>
                    </a:solidFill>
                  </a:tcPr>
                </a:tc>
                <a:extLst>
                  <a:ext uri="{0D108BD9-81ED-4DB2-BD59-A6C34878D82A}">
                    <a16:rowId xmlns:a16="http://schemas.microsoft.com/office/drawing/2014/main" xmlns="" val="2805787935"/>
                  </a:ext>
                </a:extLst>
              </a:tr>
              <a:tr h="155348">
                <a:tc>
                  <a:txBody>
                    <a:bodyPr/>
                    <a:lstStyle/>
                    <a:p>
                      <a:pPr algn="l" rtl="0" fontAlgn="ctr">
                        <a:buNone/>
                      </a:pPr>
                      <a:r>
                        <a:rPr lang="zh-CN" altLang="en-US" sz="1000" b="1" i="0" u="none" strike="noStrike">
                          <a:solidFill>
                            <a:srgbClr val="000000"/>
                          </a:solidFill>
                          <a:effectLst/>
                          <a:latin typeface="+mn-ea"/>
                          <a:ea typeface="+mn-ea"/>
                        </a:rPr>
                        <a:t>电子特气市场合计（亿元）</a:t>
                      </a:r>
                    </a:p>
                  </a:txBody>
                  <a:tcPr marL="0" marR="0" marT="0" marB="0" anchor="ctr">
                    <a:lnL>
                      <a:noFill/>
                    </a:lnL>
                    <a:lnR>
                      <a:noFill/>
                    </a:lnR>
                    <a:lnT>
                      <a:noFill/>
                    </a:lnT>
                    <a:lnB>
                      <a:noFill/>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73</a:t>
                      </a:r>
                    </a:p>
                  </a:txBody>
                  <a:tcPr marL="0" marR="0" marT="0" marB="0" anchor="ctr">
                    <a:lnL>
                      <a:noFill/>
                    </a:lnL>
                    <a:lnR>
                      <a:noFill/>
                    </a:lnR>
                    <a:lnT>
                      <a:noFill/>
                    </a:lnT>
                    <a:lnB>
                      <a:noFill/>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130</a:t>
                      </a:r>
                    </a:p>
                  </a:txBody>
                  <a:tcPr marL="0" marR="0" marT="0" marB="0" anchor="ctr">
                    <a:lnL>
                      <a:noFill/>
                    </a:lnL>
                    <a:lnR>
                      <a:noFill/>
                    </a:lnR>
                    <a:lnT>
                      <a:noFill/>
                    </a:lnT>
                    <a:lnB>
                      <a:noFill/>
                    </a:lnB>
                    <a:solidFill>
                      <a:srgbClr val="FCE4D6"/>
                    </a:solidFill>
                  </a:tcPr>
                </a:tc>
                <a:tc>
                  <a:txBody>
                    <a:bodyPr/>
                    <a:lstStyle/>
                    <a:p>
                      <a:pPr algn="ctr" rtl="0" fontAlgn="ctr">
                        <a:buNone/>
                      </a:pPr>
                      <a:r>
                        <a:rPr lang="en-US" altLang="zh-CN" sz="1000" b="1" i="0" u="none" strike="noStrike" dirty="0">
                          <a:solidFill>
                            <a:srgbClr val="000000"/>
                          </a:solidFill>
                          <a:effectLst/>
                          <a:latin typeface="+mn-ea"/>
                          <a:ea typeface="+mn-ea"/>
                        </a:rPr>
                        <a:t>202</a:t>
                      </a:r>
                    </a:p>
                  </a:txBody>
                  <a:tcPr marL="0" marR="0" marT="0" marB="0" anchor="ctr">
                    <a:lnL>
                      <a:noFill/>
                    </a:lnL>
                    <a:lnR>
                      <a:noFill/>
                    </a:lnR>
                    <a:lnT>
                      <a:noFill/>
                    </a:lnT>
                    <a:lnB>
                      <a:noFill/>
                    </a:lnB>
                    <a:solidFill>
                      <a:srgbClr val="FCE4D6"/>
                    </a:solidFill>
                  </a:tcPr>
                </a:tc>
                <a:extLst>
                  <a:ext uri="{0D108BD9-81ED-4DB2-BD59-A6C34878D82A}">
                    <a16:rowId xmlns:a16="http://schemas.microsoft.com/office/drawing/2014/main" xmlns="" val="2166351066"/>
                  </a:ext>
                </a:extLst>
              </a:tr>
              <a:tr h="155348">
                <a:tc>
                  <a:txBody>
                    <a:bodyPr/>
                    <a:lstStyle/>
                    <a:p>
                      <a:pPr algn="l" rtl="0" fontAlgn="ctr">
                        <a:buNone/>
                      </a:pPr>
                      <a:r>
                        <a:rPr lang="zh-CN" altLang="en-US" sz="1000" b="1" i="0" u="none" strike="noStrike">
                          <a:solidFill>
                            <a:srgbClr val="000000"/>
                          </a:solidFill>
                          <a:effectLst/>
                          <a:latin typeface="+mn-ea"/>
                          <a:ea typeface="+mn-ea"/>
                        </a:rPr>
                        <a:t>电子气市场规模合计（亿元）</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189</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buNone/>
                      </a:pPr>
                      <a:r>
                        <a:rPr lang="en-US" altLang="zh-CN" sz="1000" b="1" i="0" u="none" strike="noStrike">
                          <a:solidFill>
                            <a:srgbClr val="000000"/>
                          </a:solidFill>
                          <a:effectLst/>
                          <a:latin typeface="+mn-ea"/>
                          <a:ea typeface="+mn-ea"/>
                        </a:rPr>
                        <a:t>328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CE4D6"/>
                    </a:solidFill>
                  </a:tcPr>
                </a:tc>
                <a:tc>
                  <a:txBody>
                    <a:bodyPr/>
                    <a:lstStyle/>
                    <a:p>
                      <a:pPr algn="ctr" rtl="0" fontAlgn="ctr">
                        <a:buNone/>
                      </a:pPr>
                      <a:r>
                        <a:rPr lang="en-US" altLang="zh-CN" sz="1000" b="1" i="0" u="none" strike="noStrike" dirty="0">
                          <a:solidFill>
                            <a:srgbClr val="000000"/>
                          </a:solidFill>
                          <a:effectLst/>
                          <a:latin typeface="+mn-ea"/>
                          <a:ea typeface="+mn-ea"/>
                        </a:rPr>
                        <a:t>516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CE4D6"/>
                    </a:solidFill>
                  </a:tcPr>
                </a:tc>
                <a:extLst>
                  <a:ext uri="{0D108BD9-81ED-4DB2-BD59-A6C34878D82A}">
                    <a16:rowId xmlns:a16="http://schemas.microsoft.com/office/drawing/2014/main" xmlns="" val="3610884849"/>
                  </a:ext>
                </a:extLst>
              </a:tr>
            </a:tbl>
          </a:graphicData>
        </a:graphic>
      </p:graphicFrame>
      <p:sp>
        <p:nvSpPr>
          <p:cNvPr id="16" name="矩形 15">
            <a:extLst>
              <a:ext uri="{FF2B5EF4-FFF2-40B4-BE49-F238E27FC236}">
                <a16:creationId xmlns:a16="http://schemas.microsoft.com/office/drawing/2014/main" xmlns="" id="{B3682074-716A-3CE3-4B97-9DEF7A9A2851}"/>
              </a:ext>
            </a:extLst>
          </p:cNvPr>
          <p:cNvSpPr/>
          <p:nvPr/>
        </p:nvSpPr>
        <p:spPr>
          <a:xfrm>
            <a:off x="6867488" y="2176039"/>
            <a:ext cx="763326" cy="153345"/>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35231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342000" y="871901"/>
            <a:ext cx="8445349" cy="1507183"/>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晶圆厂在建</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新建厂区产能中约</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40%~55%</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大概率是国产厂商提供电子大宗气体，比例大幅增加；待在建</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计划新建产能投产后，预计未来电子大宗气体市场的综合国产率从当前的</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提升至</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新增厂区国产化率测算：</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根据产能情况以及气体厂商拟进入状况，统计晶圆厂计划新建项目中预计</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55%</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产能的电子大宗气体由国产气体厂供应，相比建成</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在建项目</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12%/40%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的比例增加。特种气体也遵循新建厂区进入机会更大的原则。</a:t>
            </a: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新厂进入典型案例：</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）电子大宗气：长存国产化诉求虽强，但由于基建地块已分配，长存二期三阶段仍由液空提供，而广钢气体进入获取长存三期项目；</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）特气</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材料：比如正帆的前驱体是长存、长鑫新建厂时导入，此前雅克导入用了</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长期国产化率测算：</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待在建</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计划新建产能投产后，预计电子大宗气体市场的综合国产率从当前的</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提升至</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5" name="TextBox 23"/>
          <p:cNvSpPr txBox="1">
            <a:spLocks noChangeArrowheads="1"/>
          </p:cNvSpPr>
          <p:nvPr/>
        </p:nvSpPr>
        <p:spPr bwMode="auto">
          <a:xfrm>
            <a:off x="-260054" y="2349287"/>
            <a:ext cx="535577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表：大宗电子气体项目供应体系变化</a:t>
            </a:r>
          </a:p>
        </p:txBody>
      </p:sp>
      <p:graphicFrame>
        <p:nvGraphicFramePr>
          <p:cNvPr id="6" name="表格 5"/>
          <p:cNvGraphicFramePr>
            <a:graphicFrameLocks noGrp="1"/>
          </p:cNvGraphicFramePr>
          <p:nvPr/>
        </p:nvGraphicFramePr>
        <p:xfrm>
          <a:off x="418275" y="2592632"/>
          <a:ext cx="4153725" cy="1927107"/>
        </p:xfrm>
        <a:graphic>
          <a:graphicData uri="http://schemas.openxmlformats.org/drawingml/2006/table">
            <a:tbl>
              <a:tblPr/>
              <a:tblGrid>
                <a:gridCol w="396982">
                  <a:extLst>
                    <a:ext uri="{9D8B030D-6E8A-4147-A177-3AD203B41FA5}">
                      <a16:colId xmlns:a16="http://schemas.microsoft.com/office/drawing/2014/main" xmlns="" val="20000"/>
                    </a:ext>
                  </a:extLst>
                </a:gridCol>
                <a:gridCol w="555408">
                  <a:extLst>
                    <a:ext uri="{9D8B030D-6E8A-4147-A177-3AD203B41FA5}">
                      <a16:colId xmlns:a16="http://schemas.microsoft.com/office/drawing/2014/main" xmlns="" val="20001"/>
                    </a:ext>
                  </a:extLst>
                </a:gridCol>
                <a:gridCol w="1836636">
                  <a:extLst>
                    <a:ext uri="{9D8B030D-6E8A-4147-A177-3AD203B41FA5}">
                      <a16:colId xmlns:a16="http://schemas.microsoft.com/office/drawing/2014/main" xmlns="" val="20002"/>
                    </a:ext>
                  </a:extLst>
                </a:gridCol>
                <a:gridCol w="1364699">
                  <a:extLst>
                    <a:ext uri="{9D8B030D-6E8A-4147-A177-3AD203B41FA5}">
                      <a16:colId xmlns:a16="http://schemas.microsoft.com/office/drawing/2014/main" xmlns="" val="20003"/>
                    </a:ext>
                  </a:extLst>
                </a:gridCol>
              </a:tblGrid>
              <a:tr h="148239">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类型</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厂商</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gridSpan="2">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ctr" fontAlgn="ctr"/>
                      <a:r>
                        <a:rPr lang="zh-CN" altLang="en-US" sz="800" b="1" i="0" u="none" strike="noStrike" dirty="0">
                          <a:solidFill>
                            <a:schemeClr val="bg1"/>
                          </a:solidFill>
                          <a:effectLst/>
                          <a:latin typeface="Arial" panose="020B0604020202020204" pitchFamily="34" charset="0"/>
                          <a:ea typeface="+mn-ea"/>
                          <a:cs typeface="Arial" panose="020B0604020202020204" pitchFamily="34" charset="0"/>
                        </a:rPr>
                        <a:t>供应商</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accent1"/>
                    </a:solidFill>
                  </a:tcPr>
                </a:tc>
                <a:tc hMerge="1">
                  <a:txBody>
                    <a:bodyPr/>
                    <a:lstStyle/>
                    <a:p>
                      <a:endParaRPr lang="zh-CN"/>
                    </a:p>
                  </a:txBody>
                  <a:tcPr/>
                </a:tc>
                <a:extLst>
                  <a:ext uri="{0D108BD9-81ED-4DB2-BD59-A6C34878D82A}">
                    <a16:rowId xmlns:a16="http://schemas.microsoft.com/office/drawing/2014/main" xmlns="" val="10000"/>
                  </a:ext>
                </a:extLst>
              </a:tr>
              <a:tr h="148239">
                <a:tc vMerge="1">
                  <a:txBody>
                    <a:bodyPr/>
                    <a:lstStyle/>
                    <a:p>
                      <a:endParaRPr lang="zh-CN"/>
                    </a:p>
                  </a:txBody>
                  <a:tcPr/>
                </a:tc>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老项目</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新项目（拟）</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1"/>
                  </a:ext>
                </a:extLst>
              </a:tr>
              <a:tr h="148239">
                <a:tc rowSpan="4">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面板</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京东方</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液化空气、梅塞尔</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kern="1200"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梅塞尔</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xmlns="" val="10002"/>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华星光电</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林德、林德广钢</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广钢气体</a:t>
                      </a:r>
                    </a:p>
                  </a:txBody>
                  <a:tcPr marL="9525" marR="9525" marT="9525" marB="0" anchor="ctr">
                    <a:lnL>
                      <a:noFill/>
                    </a:lnL>
                    <a:lnR>
                      <a:noFill/>
                    </a:lnR>
                    <a:lnT>
                      <a:noFill/>
                    </a:lnT>
                    <a:lnB>
                      <a:noFill/>
                    </a:lnB>
                    <a:noFill/>
                  </a:tcPr>
                </a:tc>
                <a:extLst>
                  <a:ext uri="{0D108BD9-81ED-4DB2-BD59-A6C34878D82A}">
                    <a16:rowId xmlns:a16="http://schemas.microsoft.com/office/drawing/2014/main" xmlns="" val="10003"/>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天马</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空气产品</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金宏气体</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4"/>
                  </a:ext>
                </a:extLst>
              </a:tr>
              <a:tr h="148239">
                <a:tc vMerge="1">
                  <a:txBody>
                    <a:bodyPr/>
                    <a:lstStyle/>
                    <a:p>
                      <a:endParaRPr lang="zh-CN"/>
                    </a:p>
                  </a:txBody>
                  <a:tcPr marL="9525" marR="9525" marT="9525" marB="0" anchor="ctr">
                    <a:lnL>
                      <a:noFill/>
                    </a:lnL>
                    <a:lnR>
                      <a:noFill/>
                    </a:lnR>
                    <a:lnT w="6350" cap="flat" cmpd="sng" algn="ctr">
                      <a:noFill/>
                      <a:prstDash val="solid"/>
                      <a:round/>
                      <a:headEnd type="none" w="med" len="med"/>
                      <a:tailEnd type="none" w="med" len="med"/>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维信诺</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AP</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0" i="0" u="none" strike="noStrike" dirty="0">
                          <a:solidFill>
                            <a:schemeClr val="tx1"/>
                          </a:solidFill>
                          <a:effectLst/>
                          <a:latin typeface="Arial" panose="020B0604020202020204" pitchFamily="34" charset="0"/>
                          <a:ea typeface="思源黑体 Heavy" panose="020B0A00000000000000" pitchFamily="34" charset="-122"/>
                          <a:cs typeface="Arial" panose="020B0604020202020204" pitchFamily="34" charset="0"/>
                        </a:rPr>
                        <a:t>AP</a:t>
                      </a:r>
                      <a:r>
                        <a:rPr lang="zh-CN" altLang="en-US" sz="800" b="0" i="0" u="none" strike="noStrike" dirty="0">
                          <a:solidFill>
                            <a:schemeClr val="tx1"/>
                          </a:solidFill>
                          <a:effectLst/>
                          <a:latin typeface="Arial" panose="020B0604020202020204" pitchFamily="34" charset="0"/>
                          <a:ea typeface="思源黑体 Heavy" panose="020B0A00000000000000" pitchFamily="34" charset="-122"/>
                          <a:cs typeface="Arial" panose="020B0604020202020204" pitchFamily="34" charset="0"/>
                        </a:rPr>
                        <a:t>、梅塞尔</a:t>
                      </a:r>
                    </a:p>
                  </a:txBody>
                  <a:tcPr marL="9525" marR="9525" marT="9525" marB="0" anchor="ctr">
                    <a:lnL>
                      <a:noFill/>
                    </a:lnL>
                    <a:lnR>
                      <a:noFill/>
                    </a:lnR>
                    <a:lnT>
                      <a:noFill/>
                    </a:lnT>
                    <a:lnB>
                      <a:noFill/>
                    </a:lnB>
                    <a:noFill/>
                  </a:tcPr>
                </a:tc>
                <a:extLst>
                  <a:ext uri="{0D108BD9-81ED-4DB2-BD59-A6C34878D82A}">
                    <a16:rowId xmlns:a16="http://schemas.microsoft.com/office/drawing/2014/main" xmlns="" val="10005"/>
                  </a:ext>
                </a:extLst>
              </a:tr>
              <a:tr h="148239">
                <a:tc rowSpan="7">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晶圆</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中芯国际</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林德、液化空气、空气产品</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金宏气体、</a:t>
                      </a:r>
                      <a:r>
                        <a:rPr lang="zh-CN" altLang="en-US" sz="800" b="0" i="0" u="none" strike="noStrike" dirty="0">
                          <a:solidFill>
                            <a:schemeClr val="tx1"/>
                          </a:solidFill>
                          <a:effectLst/>
                          <a:latin typeface="Arial" panose="020B0604020202020204" pitchFamily="34" charset="0"/>
                          <a:ea typeface="思源黑体 Heavy" panose="020B0A00000000000000" pitchFamily="34" charset="-122"/>
                          <a:cs typeface="Arial" panose="020B0604020202020204" pitchFamily="34" charset="0"/>
                        </a:rPr>
                        <a:t>林德</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6"/>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华虹</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普莱克斯（林德）、液化空气</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a:t>
                      </a:r>
                    </a:p>
                  </a:txBody>
                  <a:tcPr marL="9525" marR="9525" marT="9525" marB="0" anchor="ctr">
                    <a:lnL>
                      <a:noFill/>
                    </a:lnL>
                    <a:lnR>
                      <a:noFill/>
                    </a:lnR>
                    <a:lnT>
                      <a:noFill/>
                    </a:lnT>
                    <a:lnB>
                      <a:noFill/>
                    </a:lnB>
                    <a:noFill/>
                  </a:tcPr>
                </a:tc>
                <a:extLst>
                  <a:ext uri="{0D108BD9-81ED-4DB2-BD59-A6C34878D82A}">
                    <a16:rowId xmlns:a16="http://schemas.microsoft.com/office/drawing/2014/main" xmlns="" val="10007"/>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长鑫</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广钢气体</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广钢气体</a:t>
                      </a: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08"/>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合肥晶合</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广钢气体</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广钢气体</a:t>
                      </a:r>
                    </a:p>
                  </a:txBody>
                  <a:tcPr marL="9525" marR="9525" marT="9525" marB="0" anchor="ctr">
                    <a:lnL>
                      <a:noFill/>
                    </a:lnL>
                    <a:lnR>
                      <a:noFill/>
                    </a:lnR>
                    <a:lnT>
                      <a:noFill/>
                    </a:lnT>
                    <a:lnB>
                      <a:noFill/>
                    </a:lnB>
                    <a:noFill/>
                  </a:tcPr>
                </a:tc>
                <a:extLst>
                  <a:ext uri="{0D108BD9-81ED-4DB2-BD59-A6C34878D82A}">
                    <a16:rowId xmlns:a16="http://schemas.microsoft.com/office/drawing/2014/main" xmlns="" val="10009"/>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长江存储</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液化空气、林德</a:t>
                      </a:r>
                    </a:p>
                  </a:txBody>
                  <a:tcPr marL="9525" marR="9525" marT="9525" marB="0" anchor="ctr">
                    <a:lnL>
                      <a:noFill/>
                    </a:lnL>
                    <a:lnR>
                      <a:noFill/>
                    </a:lnR>
                    <a:lnT>
                      <a:noFill/>
                    </a:lnT>
                    <a:lnB>
                      <a:noFill/>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广钢气体</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、液空、林德</a:t>
                      </a:r>
                      <a:endPar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9525" marR="9525" marT="9525" marB="0" anchor="ctr">
                    <a:lnL>
                      <a:noFill/>
                    </a:lnL>
                    <a:lnR>
                      <a:noFill/>
                    </a:lnR>
                    <a:lnT>
                      <a:noFill/>
                    </a:lnT>
                    <a:lnB>
                      <a:noFill/>
                    </a:lnB>
                    <a:solidFill>
                      <a:schemeClr val="bg1">
                        <a:lumMod val="95000"/>
                      </a:schemeClr>
                    </a:solidFill>
                  </a:tcPr>
                </a:tc>
                <a:extLst>
                  <a:ext uri="{0D108BD9-81ED-4DB2-BD59-A6C34878D82A}">
                    <a16:rowId xmlns:a16="http://schemas.microsoft.com/office/drawing/2014/main" xmlns="" val="10010"/>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青岛芯恩</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杭氧股份</a:t>
                      </a:r>
                    </a:p>
                  </a:txBody>
                  <a:tcPr marL="9525" marR="9525" marT="9525" marB="0" anchor="ctr">
                    <a:lnL>
                      <a:noFill/>
                    </a:lnL>
                    <a:lnR>
                      <a:noFill/>
                    </a:lnR>
                    <a:lnT>
                      <a:noFill/>
                    </a:lnT>
                    <a:lnB>
                      <a:noFill/>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杭氧股份、广钢气体</a:t>
                      </a:r>
                    </a:p>
                  </a:txBody>
                  <a:tcPr marL="9525" marR="9525" marT="9525" marB="0" anchor="ctr">
                    <a:lnL>
                      <a:noFill/>
                    </a:lnL>
                    <a:lnR>
                      <a:noFill/>
                    </a:lnR>
                    <a:lnT>
                      <a:noFill/>
                    </a:lnT>
                    <a:lnB>
                      <a:noFill/>
                    </a:lnB>
                    <a:noFill/>
                  </a:tcPr>
                </a:tc>
                <a:extLst>
                  <a:ext uri="{0D108BD9-81ED-4DB2-BD59-A6C34878D82A}">
                    <a16:rowId xmlns:a16="http://schemas.microsoft.com/office/drawing/2014/main" xmlns="" val="10011"/>
                  </a:ext>
                </a:extLst>
              </a:tr>
              <a:tr h="148239">
                <a:tc v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华为相关</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广钢气体、液化空气</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等线" panose="02010600030101010101" charset="-122"/>
                        </a:defRPr>
                      </a:lvl9pPr>
                    </a:lstStyle>
                    <a:p>
                      <a:pPr algn="l" fontAlgn="ctr"/>
                      <a:r>
                        <a:rPr lang="zh-CN" altLang="en-US" sz="800" b="0" i="0" u="none" strike="noStrike" dirty="0">
                          <a:solidFill>
                            <a:srgbClr val="C00000"/>
                          </a:solidFill>
                          <a:effectLst/>
                          <a:latin typeface="Arial" panose="020B0604020202020204" pitchFamily="34" charset="0"/>
                          <a:ea typeface="思源黑体 Heavy" panose="020B0A00000000000000" pitchFamily="34" charset="-122"/>
                          <a:cs typeface="Arial" panose="020B0604020202020204" pitchFamily="34" charset="0"/>
                        </a:rPr>
                        <a:t>广钢气体</a:t>
                      </a:r>
                      <a:r>
                        <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rPr>
                        <a:t>、液化空气</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012"/>
                  </a:ext>
                </a:extLst>
              </a:tr>
            </a:tbl>
          </a:graphicData>
        </a:graphic>
      </p:graphicFrame>
      <p:sp>
        <p:nvSpPr>
          <p:cNvPr id="7" name="文本占位符 15"/>
          <p:cNvSpPr txBox="1"/>
          <p:nvPr/>
        </p:nvSpPr>
        <p:spPr>
          <a:xfrm>
            <a:off x="436026" y="4459688"/>
            <a:ext cx="5010965" cy="1463040"/>
          </a:xfr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i="1">
                <a:solidFill>
                  <a:schemeClr val="tx1">
                    <a:lumMod val="65000"/>
                    <a:lumOff val="35000"/>
                  </a:schemeClr>
                </a:solidFill>
                <a:latin typeface="微软雅黑" panose="020B0503020204020204" charset="-122"/>
                <a:ea typeface="微软雅黑" panose="020B0503020204020204"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r>
              <a:rPr lang="zh-CN" altLang="en-US" sz="1000" dirty="0">
                <a:latin typeface="思源黑体 Heavy" panose="020B0A00000000000000" pitchFamily="34" charset="-122"/>
                <a:ea typeface="思源黑体 Heavy" panose="020B0A00000000000000" pitchFamily="34" charset="-122"/>
              </a:rPr>
              <a:t>资料来源：结合各家公司公告、调研信息等</a:t>
            </a:r>
          </a:p>
        </p:txBody>
      </p:sp>
      <p:sp>
        <p:nvSpPr>
          <p:cNvPr id="8" name="文本框 5"/>
          <p:cNvSpPr txBox="1"/>
          <p:nvPr/>
        </p:nvSpPr>
        <p:spPr>
          <a:xfrm>
            <a:off x="4131334" y="2361297"/>
            <a:ext cx="493731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图：在建</a:t>
            </a:r>
            <a:r>
              <a:rPr lang="en-US" altLang="zh-CN" dirty="0"/>
              <a:t>/</a:t>
            </a:r>
            <a:r>
              <a:rPr lang="zh-CN" altLang="en-US" dirty="0"/>
              <a:t>新建晶圆厂项目国产气体厂商预计获取比例</a:t>
            </a:r>
          </a:p>
        </p:txBody>
      </p:sp>
      <p:grpSp>
        <p:nvGrpSpPr>
          <p:cNvPr id="10" name="组合 9"/>
          <p:cNvGrpSpPr/>
          <p:nvPr/>
        </p:nvGrpSpPr>
        <p:grpSpPr>
          <a:xfrm>
            <a:off x="4659098" y="2628285"/>
            <a:ext cx="4409548" cy="2099232"/>
            <a:chOff x="6352236" y="3562350"/>
            <a:chExt cx="5447878" cy="3103188"/>
          </a:xfrm>
        </p:grpSpPr>
        <p:graphicFrame>
          <p:nvGraphicFramePr>
            <p:cNvPr id="11" name="图表 10"/>
            <p:cNvGraphicFramePr/>
            <p:nvPr/>
          </p:nvGraphicFramePr>
          <p:xfrm>
            <a:off x="6352236" y="3562350"/>
            <a:ext cx="5447878" cy="3103188"/>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直接箭头连接符 11"/>
            <p:cNvCxnSpPr/>
            <p:nvPr/>
          </p:nvCxnSpPr>
          <p:spPr>
            <a:xfrm flipV="1">
              <a:off x="7663543" y="4028330"/>
              <a:ext cx="2725782" cy="1776549"/>
            </a:xfrm>
            <a:prstGeom prst="straightConnector1">
              <a:avLst/>
            </a:prstGeom>
            <a:noFill/>
            <a:ln w="12700" cap="flat">
              <a:solidFill>
                <a:srgbClr val="C00000"/>
              </a:solidFill>
              <a:prstDash val="solid"/>
              <a:miter lim="800000"/>
              <a:tailEnd type="triangle"/>
            </a:ln>
          </p:spPr>
          <p:style>
            <a:lnRef idx="0">
              <a:srgbClr val="FFFFFF"/>
            </a:lnRef>
            <a:fillRef idx="0">
              <a:srgbClr val="FFFFFF"/>
            </a:fillRef>
            <a:effectRef idx="0">
              <a:srgbClr val="FFFFFF"/>
            </a:effectRef>
            <a:fontRef idx="none"/>
          </p:style>
        </p:cxnSp>
      </p:grpSp>
      <p:sp>
        <p:nvSpPr>
          <p:cNvPr id="3" name="矩形 2">
            <a:extLst>
              <a:ext uri="{FF2B5EF4-FFF2-40B4-BE49-F238E27FC236}">
                <a16:creationId xmlns:a16="http://schemas.microsoft.com/office/drawing/2014/main" xmlns="" id="{2D113EA8-53F1-E3FE-CCC3-090E82165D6D}"/>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9" name="矩形 8">
            <a:extLst>
              <a:ext uri="{FF2B5EF4-FFF2-40B4-BE49-F238E27FC236}">
                <a16:creationId xmlns:a16="http://schemas.microsoft.com/office/drawing/2014/main" xmlns="" id="{02A6BA12-A92A-B00C-CECF-8AA259FBD3E1}"/>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xmlns="" id="{704323A0-76BF-C065-E124-32B8C95B5DD5}"/>
              </a:ext>
            </a:extLst>
          </p:cNvPr>
          <p:cNvSpPr txBox="1"/>
          <p:nvPr/>
        </p:nvSpPr>
        <p:spPr>
          <a:xfrm>
            <a:off x="783952" y="433422"/>
            <a:ext cx="6898343"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indent="0" defTabSz="914400">
              <a:lnSpc>
                <a:spcPct val="90000"/>
              </a:lnSpc>
              <a:spcBef>
                <a:spcPts val="0"/>
              </a:spcBef>
              <a:spcAft>
                <a:spcPts val="0"/>
              </a:spcAft>
              <a:buClrTx/>
              <a:buSzTx/>
              <a:buFontTx/>
              <a:buNone/>
              <a:defRPr sz="2000" b="1" i="0" u="none" strike="noStrike" cap="none" spc="0" baseline="0">
                <a:ln>
                  <a:noFill/>
                </a:ln>
                <a:solidFill>
                  <a:srgbClr val="0677D5"/>
                </a:solidFill>
                <a:uFillTx/>
                <a:latin typeface="+mj-ea"/>
                <a:ea typeface="思源黑体 CN Regular" panose="020B0500000000000000" charset="-122"/>
                <a:cs typeface="Arial" panose="020B0604020202020204" pitchFamily="34" charset="0"/>
              </a:defRPr>
            </a:lvl1pPr>
            <a:lvl2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2pPr>
            <a:lvl3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3pPr>
            <a:lvl4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4pPr>
            <a:lvl5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5pPr>
            <a:lvl6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6pPr>
            <a:lvl7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7pPr>
            <a:lvl8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8pPr>
            <a:lvl9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9pPr>
          </a:lstStyle>
          <a:p>
            <a:r>
              <a:rPr lang="zh-CN" altLang="en-US" dirty="0"/>
              <a:t>国产化率：</a:t>
            </a:r>
            <a:r>
              <a:rPr lang="en-US" altLang="zh-CN" dirty="0"/>
              <a:t>21-25</a:t>
            </a:r>
            <a:r>
              <a:rPr lang="zh-CN" altLang="en-US" dirty="0"/>
              <a:t>年可观察项目国产化率提升至</a:t>
            </a:r>
            <a:r>
              <a:rPr lang="en-US" altLang="zh-CN" dirty="0"/>
              <a:t>40%~55%</a:t>
            </a:r>
            <a:endParaRPr lang="zh-CN" altLang="en-US" dirty="0"/>
          </a:p>
        </p:txBody>
      </p:sp>
    </p:spTree>
    <p:extLst>
      <p:ext uri="{BB962C8B-B14F-4D97-AF65-F5344CB8AC3E}">
        <p14:creationId xmlns:p14="http://schemas.microsoft.com/office/powerpoint/2010/main" val="420699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1412235" y="4571952"/>
            <a:ext cx="9947314" cy="773199"/>
          </a:xfrm>
          <a:prstGeom prst="rect">
            <a:avLst/>
          </a:prstGeom>
        </p:spPr>
        <p:txBody>
          <a:bodyPr wrap="none" lIns="0" rIns="0" anchor="ctr" anchorCtr="0">
            <a:no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pPr hangingPunct="0">
              <a:lnSpc>
                <a:spcPct val="100000"/>
              </a:lnSpc>
              <a:buClr>
                <a:srgbClr val="F69F27"/>
              </a:buClr>
            </a:pPr>
            <a:r>
              <a:rPr lang="en-US" altLang="zh-CN" sz="1600" b="1" dirty="0">
                <a:solidFill>
                  <a:srgbClr val="0F4798"/>
                </a:solidFill>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rPr>
              <a:t>4.2</a:t>
            </a:r>
            <a:endParaRPr lang="zh-CN" altLang="en-US" sz="1600" b="1" dirty="0">
              <a:solidFill>
                <a:srgbClr val="0F4798"/>
              </a:solidFill>
              <a:latin typeface="Arial" panose="020B0604020202020204" pitchFamily="34" charset="0"/>
              <a:ea typeface="思源黑体 Heavy" panose="020B0A00000000000000" pitchFamily="34" charset="-122"/>
              <a:cs typeface="Arial" panose="020B0604020202020204" pitchFamily="34" charset="0"/>
              <a:sym typeface="等线" panose="02010600030101010101" charset="-122"/>
            </a:endParaRPr>
          </a:p>
        </p:txBody>
      </p:sp>
      <p:sp>
        <p:nvSpPr>
          <p:cNvPr id="9" name="文本占位符 5"/>
          <p:cNvSpPr txBox="1"/>
          <p:nvPr/>
        </p:nvSpPr>
        <p:spPr>
          <a:xfrm>
            <a:off x="277033" y="939352"/>
            <a:ext cx="8720175" cy="1543783"/>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电子大宗气绝对龙头：公司是</a:t>
            </a:r>
            <a:r>
              <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5-10</a:t>
            </a:r>
            <a:r>
              <a:rPr lang="zh-CN" altLang="en-US"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万方规模等级项目上与外资竞争的唯一选手。</a:t>
            </a:r>
            <a:endParaRPr lang="en-US" altLang="zh-CN" sz="1100" b="1"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领先</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高纯氮装备优势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国内唯一直出</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高纯氮设备技术拥有者</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，已落地</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纯度</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5</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的制氮机（长鑫集电项目），在研</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7-10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设备</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；公司在杭州建德建设装备基地，预计</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年完工投产。</a:t>
            </a: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国内最大</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完整氦链优势：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进口氦占比</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年拥有</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70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个氦罐，</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年年底预计达</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102</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个，后续根据交付节奏，每年预计增加</a:t>
            </a:r>
            <a:r>
              <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个左右，保障卡塔尔优质氦气的输送；</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项目运营经验最多优势：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超大存储、面板项目国内唯一运营厂商，</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首个进入长存、长鑫、晶合等核心晶圆厂的电子大宗气体服务厂商</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晶圆</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面板聚集地具区域规模</a:t>
            </a:r>
            <a:r>
              <a:rPr lang="en-US" altLang="zh-CN"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solidFill>
                  <a:srgbClr val="141414"/>
                </a:solidFill>
                <a:latin typeface="Arial" panose="020B0604020202020204" pitchFamily="34" charset="0"/>
                <a:ea typeface="思源黑体 Heavy" panose="020B0A00000000000000" pitchFamily="34" charset="-122"/>
                <a:cs typeface="Arial" panose="020B0604020202020204" pitchFamily="34" charset="0"/>
              </a:rPr>
              <a:t>资源优势：</a:t>
            </a:r>
            <a:r>
              <a:rPr lang="zh-CN" altLang="en-US" sz="1100" dirty="0">
                <a:solidFill>
                  <a:srgbClr val="141414"/>
                </a:solidFill>
                <a:latin typeface="Arial" panose="020B0604020202020204" pitchFamily="34" charset="0"/>
                <a:ea typeface="思源黑体 Heavy" panose="020B0A00000000000000" pitchFamily="34" charset="-122"/>
                <a:cs typeface="Arial" panose="020B0604020202020204" pitchFamily="34" charset="0"/>
              </a:rPr>
              <a:t>上海、合肥、川渝、广深。</a:t>
            </a:r>
            <a:endParaRPr lang="en-US" altLang="zh-CN" sz="1100" dirty="0">
              <a:solidFill>
                <a:srgbClr val="141414"/>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11" name="TextBox 23"/>
          <p:cNvSpPr txBox="1">
            <a:spLocks noChangeArrowheads="1"/>
          </p:cNvSpPr>
          <p:nvPr/>
        </p:nvSpPr>
        <p:spPr bwMode="auto">
          <a:xfrm>
            <a:off x="-285929" y="2510617"/>
            <a:ext cx="48674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图：公司是唯一拥有</a:t>
            </a:r>
            <a:r>
              <a:rPr lang="en-US" altLang="zh-CN" dirty="0"/>
              <a:t>9N</a:t>
            </a:r>
            <a:r>
              <a:rPr lang="zh-CN" altLang="en-US" dirty="0"/>
              <a:t>制氮机技术的国内厂商</a:t>
            </a:r>
          </a:p>
        </p:txBody>
      </p:sp>
      <p:grpSp>
        <p:nvGrpSpPr>
          <p:cNvPr id="12" name="组合 11"/>
          <p:cNvGrpSpPr/>
          <p:nvPr/>
        </p:nvGrpSpPr>
        <p:grpSpPr>
          <a:xfrm>
            <a:off x="244183" y="2712149"/>
            <a:ext cx="4392937" cy="2158441"/>
            <a:chOff x="623392" y="3713227"/>
            <a:chExt cx="5790898" cy="2920893"/>
          </a:xfrm>
        </p:grpSpPr>
        <p:grpSp>
          <p:nvGrpSpPr>
            <p:cNvPr id="13" name="组合 12"/>
            <p:cNvGrpSpPr/>
            <p:nvPr/>
          </p:nvGrpSpPr>
          <p:grpSpPr>
            <a:xfrm>
              <a:off x="623392" y="3820720"/>
              <a:ext cx="5790898" cy="2813400"/>
              <a:chOff x="0" y="1371600"/>
              <a:chExt cx="10064690" cy="5165574"/>
            </a:xfrm>
          </p:grpSpPr>
          <p:grpSp>
            <p:nvGrpSpPr>
              <p:cNvPr id="15" name="组合 14"/>
              <p:cNvGrpSpPr/>
              <p:nvPr/>
            </p:nvGrpSpPr>
            <p:grpSpPr bwMode="auto">
              <a:xfrm>
                <a:off x="0" y="1468438"/>
                <a:ext cx="7900994" cy="4824412"/>
                <a:chOff x="610915" y="1332037"/>
                <a:chExt cx="8727420" cy="4824536"/>
              </a:xfrm>
            </p:grpSpPr>
            <p:sp>
              <p:nvSpPr>
                <p:cNvPr id="29" name="下箭头 4"/>
                <p:cNvSpPr/>
                <p:nvPr/>
              </p:nvSpPr>
              <p:spPr bwMode="auto">
                <a:xfrm>
                  <a:off x="610915" y="1332037"/>
                  <a:ext cx="1080186" cy="4824536"/>
                </a:xfrm>
                <a:prstGeom prst="downArrow">
                  <a:avLst/>
                </a:prstGeom>
                <a:solidFill>
                  <a:srgbClr val="FFFFFF">
                    <a:lumMod val="8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defTabSz="914400">
                    <a:defRPr/>
                  </a:pPr>
                  <a:endParaRPr lang="zh-CN" altLang="en-US" sz="1400" b="1">
                    <a:solidFill>
                      <a:srgbClr val="333399"/>
                    </a:solidFill>
                    <a:latin typeface="Arial" panose="020B0604020202020204" pitchFamily="34" charset="0"/>
                    <a:ea typeface="+mn-ea"/>
                    <a:cs typeface="Arial" panose="020B0604020202020204" pitchFamily="34" charset="0"/>
                  </a:endParaRPr>
                </a:p>
              </p:txBody>
            </p:sp>
            <p:sp>
              <p:nvSpPr>
                <p:cNvPr id="30" name="圆角矩形 6"/>
                <p:cNvSpPr>
                  <a:spLocks noChangeArrowheads="1"/>
                </p:cNvSpPr>
                <p:nvPr/>
              </p:nvSpPr>
              <p:spPr bwMode="auto">
                <a:xfrm>
                  <a:off x="2135747" y="1532580"/>
                  <a:ext cx="6727510" cy="873299"/>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400">
                    <a:solidFill>
                      <a:srgbClr val="333399"/>
                    </a:solidFill>
                    <a:latin typeface="Arial" panose="020B0604020202020204" pitchFamily="34" charset="0"/>
                    <a:ea typeface="+mn-ea"/>
                    <a:cs typeface="Arial" panose="020B0604020202020204" pitchFamily="34" charset="0"/>
                  </a:endParaRPr>
                </a:p>
              </p:txBody>
            </p:sp>
            <p:sp>
              <p:nvSpPr>
                <p:cNvPr id="31" name="圆角矩形 5"/>
                <p:cNvSpPr>
                  <a:spLocks noChangeArrowheads="1"/>
                </p:cNvSpPr>
                <p:nvPr/>
              </p:nvSpPr>
              <p:spPr bwMode="auto">
                <a:xfrm>
                  <a:off x="1152921" y="1347065"/>
                  <a:ext cx="1965652" cy="572063"/>
                </a:xfrm>
                <a:prstGeom prst="roundRect">
                  <a:avLst>
                    <a:gd name="adj" fmla="val 16667"/>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r>
                    <a:rPr lang="zh-CN" altLang="en-US" sz="900" dirty="0">
                      <a:solidFill>
                        <a:schemeClr val="tx1"/>
                      </a:solidFill>
                      <a:latin typeface="Arial" panose="020B0604020202020204" pitchFamily="34" charset="0"/>
                      <a:ea typeface="思源黑体 Heavy" panose="020B0A00000000000000" pitchFamily="34" charset="-122"/>
                      <a:cs typeface="Arial" panose="020B0604020202020204" pitchFamily="34" charset="0"/>
                    </a:rPr>
                    <a:t>第一梯队</a:t>
                  </a:r>
                </a:p>
              </p:txBody>
            </p:sp>
            <p:sp>
              <p:nvSpPr>
                <p:cNvPr id="32" name="TextBox 7"/>
                <p:cNvSpPr txBox="1">
                  <a:spLocks noChangeArrowheads="1"/>
                </p:cNvSpPr>
                <p:nvPr/>
              </p:nvSpPr>
              <p:spPr bwMode="auto">
                <a:xfrm>
                  <a:off x="3025559" y="1667009"/>
                  <a:ext cx="6312776" cy="76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defTabSz="914400" eaLnBrk="1" hangingPunct="1">
                    <a:defRPr/>
                  </a:pP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最大单机供气</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超高纯氮</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7-10</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Nm³/h</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defTabSz="914400" eaLnBrk="1" hangingPunct="1">
                    <a:defRPr/>
                  </a:pPr>
                  <a:r>
                    <a:rPr lang="zh-CN" altLang="en-US" sz="7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林德气体、液化空气、空气化工等外资气体公司</a:t>
                  </a:r>
                </a:p>
              </p:txBody>
            </p:sp>
            <p:sp>
              <p:nvSpPr>
                <p:cNvPr id="33" name="圆角矩形 12"/>
                <p:cNvSpPr>
                  <a:spLocks noChangeArrowheads="1"/>
                </p:cNvSpPr>
                <p:nvPr/>
              </p:nvSpPr>
              <p:spPr bwMode="auto">
                <a:xfrm>
                  <a:off x="2133701" y="2747263"/>
                  <a:ext cx="6729557" cy="873299"/>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400">
                    <a:solidFill>
                      <a:srgbClr val="333399"/>
                    </a:solidFill>
                    <a:latin typeface="Arial" panose="020B0604020202020204" pitchFamily="34" charset="0"/>
                    <a:ea typeface="+mn-ea"/>
                    <a:cs typeface="Arial" panose="020B0604020202020204" pitchFamily="34" charset="0"/>
                  </a:endParaRPr>
                </a:p>
              </p:txBody>
            </p:sp>
            <p:sp>
              <p:nvSpPr>
                <p:cNvPr id="34" name="圆角矩形 13"/>
                <p:cNvSpPr>
                  <a:spLocks noChangeArrowheads="1"/>
                </p:cNvSpPr>
                <p:nvPr/>
              </p:nvSpPr>
              <p:spPr bwMode="auto">
                <a:xfrm>
                  <a:off x="1150874" y="2561748"/>
                  <a:ext cx="1965652" cy="572063"/>
                </a:xfrm>
                <a:prstGeom prst="roundRect">
                  <a:avLst>
                    <a:gd name="adj" fmla="val 16667"/>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fontAlgn="base">
                    <a:spcBef>
                      <a:spcPct val="0"/>
                    </a:spcBef>
                    <a:spcAft>
                      <a:spcPct val="0"/>
                    </a:spcAft>
                  </a:pPr>
                  <a:r>
                    <a:rPr lang="zh-CN" altLang="en-US" sz="900" b="1" dirty="0">
                      <a:latin typeface="Arial" panose="020B0604020202020204" pitchFamily="34" charset="0"/>
                      <a:ea typeface="思源宋体 CN Heavy" panose="02020900000000000000" pitchFamily="18" charset="-122"/>
                      <a:cs typeface="Arial" panose="020B0604020202020204" pitchFamily="34" charset="0"/>
                    </a:rPr>
                    <a:t>第二梯队</a:t>
                  </a:r>
                </a:p>
              </p:txBody>
            </p:sp>
            <p:sp>
              <p:nvSpPr>
                <p:cNvPr id="35" name="TextBox 14"/>
                <p:cNvSpPr txBox="1">
                  <a:spLocks noChangeArrowheads="1"/>
                </p:cNvSpPr>
                <p:nvPr/>
              </p:nvSpPr>
              <p:spPr bwMode="auto">
                <a:xfrm>
                  <a:off x="3025561" y="2727523"/>
                  <a:ext cx="6244380" cy="76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defTabSz="914400" eaLnBrk="1" hangingPunct="1">
                    <a:defRPr/>
                  </a:pP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最大单机供气</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9N</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超高纯氮</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5</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万</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Nm³/h</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endPar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defTabSz="914400" eaLnBrk="1" hangingPunct="1">
                    <a:defRPr/>
                  </a:pP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广钢气体（自主设计</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外协，在研单机</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7-10</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a:t>
                  </a:r>
                  <a:r>
                    <a:rPr lang="en-US" altLang="zh-CN"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Nm³/h</a:t>
                  </a:r>
                  <a:r>
                    <a:rPr lang="zh-CN" altLang="en-US" sz="7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p>
              </p:txBody>
            </p:sp>
            <p:sp>
              <p:nvSpPr>
                <p:cNvPr id="36" name="圆角矩形 15"/>
                <p:cNvSpPr>
                  <a:spLocks noChangeArrowheads="1"/>
                </p:cNvSpPr>
                <p:nvPr/>
              </p:nvSpPr>
              <p:spPr bwMode="auto">
                <a:xfrm>
                  <a:off x="2135748" y="3970328"/>
                  <a:ext cx="6727511" cy="873299"/>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400">
                    <a:solidFill>
                      <a:srgbClr val="333399"/>
                    </a:solidFill>
                    <a:latin typeface="Arial" panose="020B0604020202020204" pitchFamily="34" charset="0"/>
                    <a:ea typeface="+mn-ea"/>
                    <a:cs typeface="Arial" panose="020B0604020202020204" pitchFamily="34" charset="0"/>
                  </a:endParaRPr>
                </a:p>
              </p:txBody>
            </p:sp>
            <p:sp>
              <p:nvSpPr>
                <p:cNvPr id="37" name="圆角矩形 16"/>
                <p:cNvSpPr>
                  <a:spLocks noChangeArrowheads="1"/>
                </p:cNvSpPr>
                <p:nvPr/>
              </p:nvSpPr>
              <p:spPr bwMode="auto">
                <a:xfrm>
                  <a:off x="1152921" y="3784813"/>
                  <a:ext cx="1965652" cy="572063"/>
                </a:xfrm>
                <a:prstGeom prst="roundRect">
                  <a:avLst>
                    <a:gd name="adj" fmla="val 16667"/>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fontAlgn="base">
                    <a:spcBef>
                      <a:spcPct val="0"/>
                    </a:spcBef>
                    <a:spcAft>
                      <a:spcPct val="0"/>
                    </a:spcAft>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第三梯队</a:t>
                  </a:r>
                </a:p>
              </p:txBody>
            </p:sp>
            <p:sp>
              <p:nvSpPr>
                <p:cNvPr id="38" name="TextBox 17"/>
                <p:cNvSpPr txBox="1">
                  <a:spLocks noChangeArrowheads="1"/>
                </p:cNvSpPr>
                <p:nvPr/>
              </p:nvSpPr>
              <p:spPr bwMode="auto">
                <a:xfrm>
                  <a:off x="3000860" y="3944365"/>
                  <a:ext cx="5846476" cy="103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defTabSz="914400" eaLnBrk="1" hangingPunct="1">
                    <a:defRPr/>
                  </a:pP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最大单机供气</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5N</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高纯氮</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2-3</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万</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Nm³/h+</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后置纯化：</a:t>
                  </a:r>
                  <a:endPar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defTabSz="914400" eaLnBrk="1" hangingPunct="1">
                    <a:defRPr/>
                  </a:pPr>
                  <a:r>
                    <a:rPr lang="zh-CN" altLang="en-US" sz="7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杭氧股份（设计</a:t>
                  </a:r>
                  <a:r>
                    <a:rPr lang="en-US" altLang="zh-CN" sz="7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r>
                    <a:rPr lang="zh-CN" altLang="en-US" sz="7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制造）、福斯达（设备）、苏氧（设备）</a:t>
                  </a:r>
                </a:p>
              </p:txBody>
            </p:sp>
            <p:sp>
              <p:nvSpPr>
                <p:cNvPr id="39" name="圆角矩形 18"/>
                <p:cNvSpPr>
                  <a:spLocks noChangeArrowheads="1"/>
                </p:cNvSpPr>
                <p:nvPr/>
              </p:nvSpPr>
              <p:spPr bwMode="auto">
                <a:xfrm>
                  <a:off x="2133701" y="5216264"/>
                  <a:ext cx="6729559" cy="873299"/>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400">
                    <a:solidFill>
                      <a:srgbClr val="333399"/>
                    </a:solidFill>
                    <a:latin typeface="Arial" panose="020B0604020202020204" pitchFamily="34" charset="0"/>
                    <a:ea typeface="+mn-ea"/>
                    <a:cs typeface="Arial" panose="020B0604020202020204" pitchFamily="34" charset="0"/>
                  </a:endParaRPr>
                </a:p>
              </p:txBody>
            </p:sp>
            <p:sp>
              <p:nvSpPr>
                <p:cNvPr id="40" name="圆角矩形 19"/>
                <p:cNvSpPr>
                  <a:spLocks noChangeArrowheads="1"/>
                </p:cNvSpPr>
                <p:nvPr/>
              </p:nvSpPr>
              <p:spPr bwMode="auto">
                <a:xfrm>
                  <a:off x="1150874" y="5030749"/>
                  <a:ext cx="1965652" cy="572063"/>
                </a:xfrm>
                <a:prstGeom prst="roundRect">
                  <a:avLst>
                    <a:gd name="adj" fmla="val 16667"/>
                  </a:avLst>
                </a:prstGeom>
                <a:solidFill>
                  <a:schemeClr val="accent1">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ctr" fontAlgn="base">
                    <a:spcBef>
                      <a:spcPct val="0"/>
                    </a:spcBef>
                    <a:spcAft>
                      <a:spcPct val="0"/>
                    </a:spcAft>
                  </a:pPr>
                  <a:r>
                    <a:rPr lang="zh-CN" altLang="en-US" sz="900" b="1" dirty="0">
                      <a:latin typeface="Arial" panose="020B0604020202020204" pitchFamily="34" charset="0"/>
                      <a:ea typeface="思源黑体 Heavy" panose="020B0A00000000000000" pitchFamily="34" charset="-122"/>
                      <a:cs typeface="Arial" panose="020B0604020202020204" pitchFamily="34" charset="0"/>
                    </a:rPr>
                    <a:t>第四梯队</a:t>
                  </a:r>
                </a:p>
              </p:txBody>
            </p:sp>
            <p:sp>
              <p:nvSpPr>
                <p:cNvPr id="41" name="TextBox 20"/>
                <p:cNvSpPr txBox="1">
                  <a:spLocks noChangeArrowheads="1"/>
                </p:cNvSpPr>
                <p:nvPr/>
              </p:nvSpPr>
              <p:spPr bwMode="auto">
                <a:xfrm>
                  <a:off x="3137570" y="5369900"/>
                  <a:ext cx="6018184" cy="764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defTabSz="914400" eaLnBrk="1" hangingPunct="1">
                    <a:defRPr/>
                  </a:pPr>
                  <a:r>
                    <a:rPr lang="en-US" altLang="zh-CN" sz="700" dirty="0">
                      <a:solidFill>
                        <a:schemeClr val="tx1"/>
                      </a:solidFill>
                      <a:latin typeface="Arial" panose="020B0604020202020204" pitchFamily="34" charset="0"/>
                      <a:ea typeface="思源宋体 CN Heavy" panose="02020900000000000000" pitchFamily="18" charset="-122"/>
                      <a:cs typeface="Arial" panose="020B0604020202020204" pitchFamily="34" charset="0"/>
                    </a:rPr>
                    <a:t>2-3</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Nm³/h</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以内</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5N</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高纯氮</a:t>
                  </a:r>
                  <a:r>
                    <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a:t>
                  </a:r>
                  <a:r>
                    <a:rPr lang="zh-CN" altLang="en-US" sz="700" dirty="0">
                      <a:solidFill>
                        <a:schemeClr val="tx1"/>
                      </a:solidFill>
                      <a:latin typeface="Arial" panose="020B0604020202020204" pitchFamily="34" charset="0"/>
                      <a:ea typeface="思源黑体 Heavy" panose="020B0A00000000000000" pitchFamily="34" charset="-122"/>
                      <a:cs typeface="Arial" panose="020B0604020202020204" pitchFamily="34" charset="0"/>
                    </a:rPr>
                    <a:t>后置纯化：</a:t>
                  </a:r>
                  <a:endParaRPr lang="en-US" altLang="zh-CN" sz="700" dirty="0">
                    <a:solidFill>
                      <a:schemeClr val="tx1"/>
                    </a:solidFill>
                    <a:latin typeface="Arial" panose="020B0604020202020204" pitchFamily="34" charset="0"/>
                    <a:ea typeface="思源黑体 Heavy" panose="020B0A00000000000000" pitchFamily="34" charset="-122"/>
                    <a:cs typeface="Arial" panose="020B0604020202020204" pitchFamily="34" charset="0"/>
                  </a:endParaRPr>
                </a:p>
                <a:p>
                  <a:pPr defTabSz="914400" eaLnBrk="1" hangingPunct="1">
                    <a:defRPr/>
                  </a:pPr>
                  <a:r>
                    <a:rPr lang="zh-CN" altLang="en-US" sz="700" b="0" dirty="0">
                      <a:solidFill>
                        <a:schemeClr val="tx1"/>
                      </a:solidFill>
                      <a:latin typeface="Arial" panose="020B0604020202020204" pitchFamily="34" charset="0"/>
                      <a:ea typeface="思源黑体 Heavy" panose="020B0A00000000000000" pitchFamily="34" charset="-122"/>
                      <a:cs typeface="Arial" panose="020B0604020202020204" pitchFamily="34" charset="0"/>
                    </a:rPr>
                    <a:t>金宏气体等（外购）</a:t>
                  </a:r>
                </a:p>
              </p:txBody>
            </p:sp>
          </p:grpSp>
          <p:sp>
            <p:nvSpPr>
              <p:cNvPr id="16" name="右大括号 15"/>
              <p:cNvSpPr/>
              <p:nvPr/>
            </p:nvSpPr>
            <p:spPr bwMode="auto">
              <a:xfrm>
                <a:off x="7470775" y="1852613"/>
                <a:ext cx="307975" cy="1770062"/>
              </a:xfrm>
              <a:prstGeom prst="rightBrace">
                <a:avLst>
                  <a:gd name="adj1" fmla="val 8222"/>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600">
                  <a:solidFill>
                    <a:srgbClr val="333399"/>
                  </a:solidFill>
                  <a:latin typeface="Arial" panose="020B0604020202020204" pitchFamily="34" charset="0"/>
                  <a:ea typeface="+mn-ea"/>
                  <a:cs typeface="Arial" panose="020B0604020202020204" pitchFamily="34" charset="0"/>
                </a:endParaRPr>
              </a:p>
            </p:txBody>
          </p:sp>
          <p:sp>
            <p:nvSpPr>
              <p:cNvPr id="17" name="圆角矩形 11"/>
              <p:cNvSpPr/>
              <p:nvPr/>
            </p:nvSpPr>
            <p:spPr bwMode="auto">
              <a:xfrm>
                <a:off x="7778750" y="1484313"/>
                <a:ext cx="2054225" cy="2306637"/>
              </a:xfrm>
              <a:prstGeom prst="roundRect">
                <a:avLst/>
              </a:prstGeom>
              <a:solidFill>
                <a:srgbClr val="FFFFFF">
                  <a:lumMod val="9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endParaRPr lang="zh-CN" altLang="en-US" sz="800" b="1" dirty="0">
                  <a:solidFill>
                    <a:srgbClr val="333399"/>
                  </a:solidFill>
                  <a:latin typeface="Arial" panose="020B0604020202020204" pitchFamily="34" charset="0"/>
                  <a:ea typeface="+mn-ea"/>
                  <a:cs typeface="Arial" panose="020B0604020202020204" pitchFamily="34" charset="0"/>
                </a:endParaRPr>
              </a:p>
            </p:txBody>
          </p:sp>
          <p:sp>
            <p:nvSpPr>
              <p:cNvPr id="18" name="矩形 17"/>
              <p:cNvSpPr/>
              <p:nvPr/>
            </p:nvSpPr>
            <p:spPr>
              <a:xfrm>
                <a:off x="7772405" y="1577974"/>
                <a:ext cx="2114545" cy="2102961"/>
              </a:xfrm>
              <a:prstGeom prst="rect">
                <a:avLst/>
              </a:prstGeom>
            </p:spPr>
            <p:txBody>
              <a:bodyP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）用气规模：</a:t>
                </a:r>
                <a:r>
                  <a:rPr lang="en-US" altLang="zh-CN" sz="700" dirty="0">
                    <a:latin typeface="Arial" panose="020B0604020202020204" pitchFamily="34" charset="0"/>
                    <a:ea typeface="思源黑体 Heavy" panose="020B0A00000000000000" pitchFamily="34" charset="-122"/>
                    <a:cs typeface="Arial" panose="020B0604020202020204" pitchFamily="34" charset="0"/>
                  </a:rPr>
                  <a:t>1</a:t>
                </a:r>
                <a:r>
                  <a:rPr lang="zh-CN" altLang="en-US" sz="700" dirty="0">
                    <a:latin typeface="Arial" panose="020B0604020202020204" pitchFamily="34" charset="0"/>
                    <a:ea typeface="思源黑体 Heavy" panose="020B0A00000000000000" pitchFamily="34" charset="-122"/>
                    <a:cs typeface="Arial" panose="020B0604020202020204" pitchFamily="34" charset="0"/>
                  </a:rPr>
                  <a:t>套或者</a:t>
                </a:r>
                <a:r>
                  <a:rPr lang="en-US" altLang="zh-CN" sz="700" dirty="0">
                    <a:latin typeface="Arial" panose="020B0604020202020204" pitchFamily="34" charset="0"/>
                    <a:ea typeface="思源黑体 Heavy" panose="020B0A00000000000000" pitchFamily="34" charset="-122"/>
                    <a:cs typeface="Arial" panose="020B0604020202020204" pitchFamily="34" charset="0"/>
                  </a:rPr>
                  <a:t>2</a:t>
                </a:r>
                <a:r>
                  <a:rPr lang="zh-CN" altLang="en-US" sz="700" dirty="0">
                    <a:latin typeface="Arial" panose="020B0604020202020204" pitchFamily="34" charset="0"/>
                    <a:ea typeface="思源黑体 Heavy" panose="020B0A00000000000000" pitchFamily="34" charset="-122"/>
                    <a:cs typeface="Arial" panose="020B0604020202020204" pitchFamily="34" charset="0"/>
                  </a:rPr>
                  <a:t>套可满足基本现有主要半导体需求</a:t>
                </a:r>
                <a:r>
                  <a:rPr lang="zh-CN" altLang="en-US"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en-US" altLang="zh-CN"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0-10</a:t>
                </a:r>
                <a:r>
                  <a:rPr lang="zh-CN" altLang="en-US"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endParaRPr lang="en-US" altLang="zh-CN"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2</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）稳定性：</a:t>
                </a:r>
                <a:r>
                  <a:rPr lang="zh-CN" altLang="en-US" sz="700" dirty="0">
                    <a:latin typeface="Arial" panose="020B0604020202020204" pitchFamily="34" charset="0"/>
                    <a:ea typeface="思源黑体 Heavy" panose="020B0A00000000000000" pitchFamily="34" charset="-122"/>
                    <a:cs typeface="Arial" panose="020B0604020202020204" pitchFamily="34" charset="0"/>
                  </a:rPr>
                  <a:t>直出</a:t>
                </a:r>
                <a:r>
                  <a:rPr lang="en-US" altLang="zh-CN" sz="700" dirty="0">
                    <a:latin typeface="Arial" panose="020B0604020202020204" pitchFamily="34" charset="0"/>
                    <a:ea typeface="思源黑体 Heavy" panose="020B0A00000000000000" pitchFamily="34" charset="-122"/>
                    <a:cs typeface="Arial" panose="020B0604020202020204" pitchFamily="34" charset="0"/>
                  </a:rPr>
                  <a:t>9N</a:t>
                </a:r>
                <a:r>
                  <a:rPr lang="zh-CN" altLang="en-US" sz="700" dirty="0">
                    <a:latin typeface="Arial" panose="020B0604020202020204" pitchFamily="34" charset="0"/>
                    <a:ea typeface="思源黑体 Heavy" panose="020B0A00000000000000" pitchFamily="34" charset="-122"/>
                    <a:cs typeface="Arial" panose="020B0604020202020204" pitchFamily="34" charset="0"/>
                  </a:rPr>
                  <a:t>，精提备用保障</a:t>
                </a:r>
                <a:endParaRPr lang="en-US" altLang="zh-CN" sz="700" dirty="0">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3</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）能耗最低</a:t>
                </a:r>
              </a:p>
            </p:txBody>
          </p:sp>
          <p:cxnSp>
            <p:nvCxnSpPr>
              <p:cNvPr id="19" name="直接箭头连接符 18"/>
              <p:cNvCxnSpPr>
                <a:cxnSpLocks noChangeShapeType="1"/>
              </p:cNvCxnSpPr>
              <p:nvPr/>
            </p:nvCxnSpPr>
            <p:spPr bwMode="auto">
              <a:xfrm>
                <a:off x="7470775" y="4527550"/>
                <a:ext cx="331788" cy="0"/>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cxnSp>
            <p:nvCxnSpPr>
              <p:cNvPr id="20" name="直接箭头连接符 19"/>
              <p:cNvCxnSpPr>
                <a:cxnSpLocks noChangeShapeType="1"/>
              </p:cNvCxnSpPr>
              <p:nvPr/>
            </p:nvCxnSpPr>
            <p:spPr bwMode="auto">
              <a:xfrm>
                <a:off x="7456488" y="5761038"/>
                <a:ext cx="385762" cy="4762"/>
              </a:xfrm>
              <a:prstGeom prst="straightConnector1">
                <a:avLst/>
              </a:prstGeom>
              <a:noFill/>
              <a:ln w="9525">
                <a:solidFill>
                  <a:schemeClr val="tx1"/>
                </a:solidFill>
                <a:round/>
                <a:tailEnd type="arrow" w="med" len="med"/>
              </a:ln>
              <a:extLst>
                <a:ext uri="{909E8E84-426E-40DD-AFC4-6F175D3DCCD1}">
                  <a14:hiddenFill xmlns:a14="http://schemas.microsoft.com/office/drawing/2010/main">
                    <a:noFill/>
                  </a14:hiddenFill>
                </a:ext>
              </a:extLst>
            </p:spPr>
          </p:cxnSp>
          <p:sp>
            <p:nvSpPr>
              <p:cNvPr id="21" name="圆角矩形 34"/>
              <p:cNvSpPr/>
              <p:nvPr/>
            </p:nvSpPr>
            <p:spPr bwMode="auto">
              <a:xfrm>
                <a:off x="7802563" y="3921125"/>
                <a:ext cx="2030412" cy="1149350"/>
              </a:xfrm>
              <a:prstGeom prst="roundRect">
                <a:avLst/>
              </a:prstGeom>
              <a:solidFill>
                <a:srgbClr val="FFFFFF">
                  <a:lumMod val="9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endParaRPr lang="zh-CN" altLang="en-US" sz="800" b="1" dirty="0">
                  <a:solidFill>
                    <a:srgbClr val="333399"/>
                  </a:solidFill>
                  <a:latin typeface="Arial" panose="020B0604020202020204" pitchFamily="34" charset="0"/>
                  <a:ea typeface="+mn-ea"/>
                  <a:cs typeface="Arial" panose="020B0604020202020204" pitchFamily="34" charset="0"/>
                </a:endParaRPr>
              </a:p>
            </p:txBody>
          </p:sp>
          <p:sp>
            <p:nvSpPr>
              <p:cNvPr id="22" name="矩形 21"/>
              <p:cNvSpPr/>
              <p:nvPr/>
            </p:nvSpPr>
            <p:spPr>
              <a:xfrm>
                <a:off x="7802563" y="3921124"/>
                <a:ext cx="2049462" cy="1300011"/>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）用气规模：</a:t>
                </a:r>
                <a:r>
                  <a:rPr lang="en-US" altLang="zh-CN"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0-2</a:t>
                </a:r>
                <a:r>
                  <a:rPr lang="zh-CN" altLang="en-US"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zh-CN" altLang="en-US" sz="700" dirty="0">
                    <a:latin typeface="Arial" panose="020B0604020202020204" pitchFamily="34" charset="0"/>
                    <a:ea typeface="思源黑体 Heavy" panose="020B0A00000000000000" pitchFamily="34" charset="-122"/>
                    <a:cs typeface="Arial" panose="020B0604020202020204" pitchFamily="34" charset="0"/>
                  </a:rPr>
                  <a:t>用气需求</a:t>
                </a:r>
                <a:endParaRPr lang="en-US" altLang="zh-CN" sz="700" dirty="0">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2</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）稳定性与能耗居中</a:t>
                </a:r>
              </a:p>
            </p:txBody>
          </p:sp>
          <p:sp>
            <p:nvSpPr>
              <p:cNvPr id="25" name="圆角矩形 42"/>
              <p:cNvSpPr/>
              <p:nvPr/>
            </p:nvSpPr>
            <p:spPr bwMode="auto">
              <a:xfrm>
                <a:off x="7820025" y="5237163"/>
                <a:ext cx="2032000" cy="1149350"/>
              </a:xfrm>
              <a:prstGeom prst="roundRect">
                <a:avLst/>
              </a:prstGeom>
              <a:solidFill>
                <a:srgbClr val="FFFFFF">
                  <a:lumMod val="95000"/>
                </a:srgbClr>
              </a:solidFill>
              <a:ln w="9525" cap="flat" cmpd="sng" algn="ctr">
                <a:noFill/>
                <a:prstDash val="solid"/>
                <a:round/>
                <a:headEnd type="none" w="med" len="med"/>
                <a:tailEnd type="none" w="med" len="med"/>
              </a:ln>
            </p:spPr>
            <p:txBody>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endParaRPr lang="zh-CN" altLang="en-US" sz="800" b="1" dirty="0">
                  <a:solidFill>
                    <a:srgbClr val="333399"/>
                  </a:solidFill>
                  <a:latin typeface="Arial" panose="020B0604020202020204" pitchFamily="34" charset="0"/>
                  <a:ea typeface="+mn-ea"/>
                  <a:cs typeface="Arial" panose="020B0604020202020204" pitchFamily="34" charset="0"/>
                </a:endParaRPr>
              </a:p>
            </p:txBody>
          </p:sp>
          <p:sp>
            <p:nvSpPr>
              <p:cNvPr id="26" name="矩形 25"/>
              <p:cNvSpPr/>
              <p:nvPr/>
            </p:nvSpPr>
            <p:spPr>
              <a:xfrm>
                <a:off x="7839076" y="5237163"/>
                <a:ext cx="2225614" cy="1300011"/>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）用气规模：</a:t>
                </a:r>
                <a:r>
                  <a:rPr lang="en-US" altLang="zh-CN"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0-2</a:t>
                </a:r>
                <a:r>
                  <a:rPr lang="zh-CN" altLang="en-US" sz="7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zh-CN" altLang="en-US" sz="700" dirty="0">
                    <a:latin typeface="Arial" panose="020B0604020202020204" pitchFamily="34" charset="0"/>
                    <a:ea typeface="思源黑体 Heavy" panose="020B0A00000000000000" pitchFamily="34" charset="-122"/>
                    <a:cs typeface="Arial" panose="020B0604020202020204" pitchFamily="34" charset="0"/>
                  </a:rPr>
                  <a:t>用气需求</a:t>
                </a:r>
                <a:endParaRPr lang="en-US" altLang="zh-CN" sz="700" dirty="0">
                  <a:latin typeface="Arial" panose="020B0604020202020204" pitchFamily="34" charset="0"/>
                  <a:ea typeface="思源黑体 Heavy" panose="020B0A00000000000000" pitchFamily="34" charset="-122"/>
                  <a:cs typeface="Arial" panose="020B0604020202020204" pitchFamily="34" charset="0"/>
                </a:endParaRPr>
              </a:p>
              <a:p>
                <a:pPr algn="just" defTabSz="914400">
                  <a:defRPr/>
                </a:pPr>
                <a:r>
                  <a:rPr lang="en-US" altLang="zh-CN" sz="700" b="1" dirty="0">
                    <a:latin typeface="Arial" panose="020B0604020202020204" pitchFamily="34" charset="0"/>
                    <a:ea typeface="思源黑体 Heavy" panose="020B0A00000000000000" pitchFamily="34" charset="-122"/>
                    <a:cs typeface="Arial" panose="020B0604020202020204" pitchFamily="34" charset="0"/>
                  </a:rPr>
                  <a:t>2</a:t>
                </a:r>
                <a:r>
                  <a:rPr lang="zh-CN" altLang="en-US" sz="700" b="1" dirty="0">
                    <a:latin typeface="Arial" panose="020B0604020202020204" pitchFamily="34" charset="0"/>
                    <a:ea typeface="思源黑体 Heavy" panose="020B0A00000000000000" pitchFamily="34" charset="-122"/>
                    <a:cs typeface="Arial" panose="020B0604020202020204" pitchFamily="34" charset="0"/>
                  </a:rPr>
                  <a:t>）稳定性与能耗居中</a:t>
                </a:r>
              </a:p>
            </p:txBody>
          </p:sp>
          <p:sp>
            <p:nvSpPr>
              <p:cNvPr id="27" name="椭圆 26"/>
              <p:cNvSpPr>
                <a:spLocks noChangeArrowheads="1"/>
              </p:cNvSpPr>
              <p:nvPr/>
            </p:nvSpPr>
            <p:spPr bwMode="auto">
              <a:xfrm>
                <a:off x="295275" y="1371600"/>
                <a:ext cx="7718425" cy="3857625"/>
              </a:xfrm>
              <a:prstGeom prst="ellipse">
                <a:avLst/>
              </a:prstGeom>
              <a:noFill/>
              <a:ln w="9525">
                <a:solidFill>
                  <a:srgbClr val="C00000"/>
                </a:solidFill>
                <a:round/>
              </a:ln>
              <a:extLst>
                <a:ext uri="{909E8E84-426E-40DD-AFC4-6F175D3DCCD1}">
                  <a14:hiddenFill xmlns:a14="http://schemas.microsoft.com/office/drawing/2010/main">
                    <a:solidFill>
                      <a:srgbClr val="FFFFFF"/>
                    </a:solidFill>
                  </a14:hiddenFill>
                </a:ext>
              </a:extLst>
            </p:spPr>
            <p:txBody>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algn="ctr" defTabSz="914400" eaLnBrk="1" hangingPunct="1">
                  <a:defRPr/>
                </a:pPr>
                <a:endParaRPr lang="zh-CN" altLang="en-US" sz="1600">
                  <a:solidFill>
                    <a:srgbClr val="333399"/>
                  </a:solidFill>
                  <a:latin typeface="Arial" panose="020B0604020202020204" pitchFamily="34" charset="0"/>
                  <a:ea typeface="+mn-ea"/>
                  <a:cs typeface="Arial" panose="020B0604020202020204" pitchFamily="34" charset="0"/>
                </a:endParaRPr>
              </a:p>
            </p:txBody>
          </p:sp>
          <p:cxnSp>
            <p:nvCxnSpPr>
              <p:cNvPr id="28" name="直接箭头连接符 27"/>
              <p:cNvCxnSpPr>
                <a:cxnSpLocks noChangeShapeType="1"/>
                <a:endCxn id="14" idx="1"/>
              </p:cNvCxnSpPr>
              <p:nvPr/>
            </p:nvCxnSpPr>
            <p:spPr bwMode="auto">
              <a:xfrm flipV="1">
                <a:off x="5641373" y="1461002"/>
                <a:ext cx="765812" cy="257393"/>
              </a:xfrm>
              <a:prstGeom prst="straightConnector1">
                <a:avLst/>
              </a:prstGeom>
              <a:noFill/>
              <a:ln w="9525">
                <a:solidFill>
                  <a:srgbClr val="C00000"/>
                </a:solidFill>
                <a:round/>
                <a:tailEnd type="arrow" w="med" len="med"/>
              </a:ln>
              <a:extLst>
                <a:ext uri="{909E8E84-426E-40DD-AFC4-6F175D3DCCD1}">
                  <a14:hiddenFill xmlns:a14="http://schemas.microsoft.com/office/drawing/2010/main">
                    <a:noFill/>
                  </a14:hiddenFill>
                </a:ext>
              </a:extLst>
            </p:spPr>
          </p:cxnSp>
        </p:grpSp>
        <p:sp>
          <p:nvSpPr>
            <p:cNvPr id="14" name="TextBox 2"/>
            <p:cNvSpPr txBox="1">
              <a:spLocks noChangeArrowheads="1"/>
            </p:cNvSpPr>
            <p:nvPr/>
          </p:nvSpPr>
          <p:spPr bwMode="auto">
            <a:xfrm>
              <a:off x="4309879" y="3713227"/>
              <a:ext cx="1004157" cy="3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chemeClr val="accent2"/>
                  </a:solidFill>
                  <a:latin typeface="Times New Roman" panose="02020603050405020304" pitchFamily="18" charset="0"/>
                  <a:ea typeface="宋体" panose="02010600030101010101" pitchFamily="2" charset="-122"/>
                </a:defRPr>
              </a:lvl1pPr>
              <a:lvl2pPr marL="742950" indent="-285750" eaLnBrk="0" hangingPunct="0">
                <a:defRPr sz="4400" b="1">
                  <a:solidFill>
                    <a:schemeClr val="accent2"/>
                  </a:solidFill>
                  <a:latin typeface="Times New Roman" panose="02020603050405020304" pitchFamily="18" charset="0"/>
                  <a:ea typeface="宋体" panose="02010600030101010101" pitchFamily="2" charset="-122"/>
                </a:defRPr>
              </a:lvl2pPr>
              <a:lvl3pPr marL="1143000" indent="-228600" eaLnBrk="0" hangingPunct="0">
                <a:defRPr sz="4400" b="1">
                  <a:solidFill>
                    <a:schemeClr val="accent2"/>
                  </a:solidFill>
                  <a:latin typeface="Times New Roman" panose="02020603050405020304" pitchFamily="18" charset="0"/>
                  <a:ea typeface="宋体" panose="02010600030101010101" pitchFamily="2" charset="-122"/>
                </a:defRPr>
              </a:lvl3pPr>
              <a:lvl4pPr marL="1600200" indent="-228600" eaLnBrk="0" hangingPunct="0">
                <a:defRPr sz="4400" b="1">
                  <a:solidFill>
                    <a:schemeClr val="accent2"/>
                  </a:solidFill>
                  <a:latin typeface="Times New Roman" panose="02020603050405020304" pitchFamily="18" charset="0"/>
                  <a:ea typeface="宋体" panose="02010600030101010101" pitchFamily="2" charset="-122"/>
                </a:defRPr>
              </a:lvl4pPr>
              <a:lvl5pPr marL="2057400" indent="-228600" eaLnBrk="0" hangingPunct="0">
                <a:defRPr sz="4400" b="1">
                  <a:solidFill>
                    <a:schemeClr val="accent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4400" b="1">
                  <a:solidFill>
                    <a:schemeClr val="accent2"/>
                  </a:solidFill>
                  <a:latin typeface="Times New Roman" panose="02020603050405020304" pitchFamily="18" charset="0"/>
                  <a:ea typeface="宋体" panose="02010600030101010101" pitchFamily="2" charset="-122"/>
                </a:defRPr>
              </a:lvl9pPr>
            </a:lstStyle>
            <a:p>
              <a:pPr eaLnBrk="1" hangingPunct="1"/>
              <a:r>
                <a:rPr lang="zh-CN" altLang="en-US" sz="9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具设备能力</a:t>
              </a:r>
            </a:p>
          </p:txBody>
        </p:sp>
      </p:grpSp>
      <p:sp>
        <p:nvSpPr>
          <p:cNvPr id="42" name="文本框 50"/>
          <p:cNvSpPr txBox="1"/>
          <p:nvPr/>
        </p:nvSpPr>
        <p:spPr>
          <a:xfrm>
            <a:off x="4151413" y="2516131"/>
            <a:ext cx="53907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图：公司集成电路覆盖区域具规模</a:t>
            </a:r>
            <a:r>
              <a:rPr lang="en-US" altLang="zh-CN" dirty="0"/>
              <a:t>/</a:t>
            </a:r>
            <a:r>
              <a:rPr lang="zh-CN" altLang="en-US" dirty="0"/>
              <a:t>资源优势</a:t>
            </a:r>
          </a:p>
        </p:txBody>
      </p:sp>
      <p:grpSp>
        <p:nvGrpSpPr>
          <p:cNvPr id="43" name="组合 42"/>
          <p:cNvGrpSpPr/>
          <p:nvPr/>
        </p:nvGrpSpPr>
        <p:grpSpPr>
          <a:xfrm>
            <a:off x="5099906" y="2749177"/>
            <a:ext cx="3671031" cy="1911313"/>
            <a:chOff x="1199456" y="1043580"/>
            <a:chExt cx="9217024" cy="4994522"/>
          </a:xfrm>
        </p:grpSpPr>
        <p:pic>
          <p:nvPicPr>
            <p:cNvPr id="44" name="图片 43"/>
            <p:cNvPicPr>
              <a:picLocks noChangeAspect="1"/>
            </p:cNvPicPr>
            <p:nvPr/>
          </p:nvPicPr>
          <p:blipFill>
            <a:blip r:embed="rId2"/>
            <a:srcRect r="1573"/>
            <a:stretch>
              <a:fillRect/>
            </a:stretch>
          </p:blipFill>
          <p:spPr>
            <a:xfrm>
              <a:off x="1199456" y="1069431"/>
              <a:ext cx="9217024" cy="4968671"/>
            </a:xfrm>
            <a:prstGeom prst="rect">
              <a:avLst/>
            </a:prstGeom>
          </p:spPr>
        </p:pic>
        <p:pic>
          <p:nvPicPr>
            <p:cNvPr id="45" name="图片 44"/>
            <p:cNvPicPr>
              <a:picLocks noChangeAspect="1"/>
            </p:cNvPicPr>
            <p:nvPr/>
          </p:nvPicPr>
          <p:blipFill>
            <a:blip r:embed="rId3"/>
            <a:stretch>
              <a:fillRect/>
            </a:stretch>
          </p:blipFill>
          <p:spPr>
            <a:xfrm>
              <a:off x="9873555" y="1043580"/>
              <a:ext cx="542925" cy="1285875"/>
            </a:xfrm>
            <a:prstGeom prst="rect">
              <a:avLst/>
            </a:prstGeom>
          </p:spPr>
        </p:pic>
      </p:grpSp>
      <p:sp>
        <p:nvSpPr>
          <p:cNvPr id="10" name="标题 1">
            <a:extLst>
              <a:ext uri="{FF2B5EF4-FFF2-40B4-BE49-F238E27FC236}">
                <a16:creationId xmlns:a16="http://schemas.microsoft.com/office/drawing/2014/main" xmlns="" id="{E60D00EB-8150-DDB2-8BF0-1D29DB62388D}"/>
              </a:ext>
            </a:extLst>
          </p:cNvPr>
          <p:cNvSpPr>
            <a:spLocks noGrp="1"/>
          </p:cNvSpPr>
          <p:nvPr/>
        </p:nvSpPr>
        <p:spPr>
          <a:xfrm>
            <a:off x="845895" y="319724"/>
            <a:ext cx="6696825"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公司具备绝对竞争力：</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5-10</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万方超大规模等级项目与外资竞争的唯一选手</a:t>
            </a:r>
          </a:p>
        </p:txBody>
      </p:sp>
      <p:sp>
        <p:nvSpPr>
          <p:cNvPr id="46" name="矩形 45">
            <a:extLst>
              <a:ext uri="{FF2B5EF4-FFF2-40B4-BE49-F238E27FC236}">
                <a16:creationId xmlns:a16="http://schemas.microsoft.com/office/drawing/2014/main" xmlns="" id="{3C48D445-7C70-6033-529D-C4B80965B633}"/>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47" name="矩形 46">
            <a:extLst>
              <a:ext uri="{FF2B5EF4-FFF2-40B4-BE49-F238E27FC236}">
                <a16:creationId xmlns:a16="http://schemas.microsoft.com/office/drawing/2014/main" xmlns="" id="{F98EB63D-BDC4-205C-6D46-0770CCDFD1B3}"/>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720336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占位符 5"/>
          <p:cNvSpPr txBox="1"/>
          <p:nvPr/>
        </p:nvSpPr>
        <p:spPr>
          <a:xfrm>
            <a:off x="271799" y="843510"/>
            <a:ext cx="8636227" cy="1954778"/>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凭借项目经验、技术等优势，公司历年大宗电子气新增市场中标市占率靠前，预计</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26-27</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年招标项目规模趋大，公司优势显著，市占率有望提升。</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en-US" altLang="zh-CN" sz="1100" b="1"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年：新增市场市占率</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43%</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公司首次中标长存三期（武汉）一阶段项目（</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套</a:t>
            </a:r>
            <a:r>
              <a:rPr lang="en-US" altLang="zh-CN" sz="1100" dirty="0">
                <a:latin typeface="Arial" panose="020B0604020202020204" pitchFamily="34" charset="0"/>
                <a:ea typeface="思源黑体 Heavy" panose="020B0A00000000000000" pitchFamily="34" charset="-122"/>
                <a:cs typeface="Arial" panose="020B0604020202020204" pitchFamily="34" charset="0"/>
              </a:rPr>
              <a:t>*3</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，预留</a:t>
            </a:r>
            <a:r>
              <a:rPr lang="en-US" altLang="zh-CN" sz="1100" dirty="0">
                <a:latin typeface="Arial" panose="020B0604020202020204" pitchFamily="34" charset="0"/>
                <a:ea typeface="思源黑体 Heavy" panose="020B0A00000000000000" pitchFamily="34" charset="-122"/>
                <a:cs typeface="Arial" panose="020B0604020202020204" pitchFamily="34" charset="0"/>
              </a:rPr>
              <a:t>5</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设备机位），扩建合肥长鑫</a:t>
            </a:r>
            <a:r>
              <a:rPr lang="en-US" altLang="zh-CN" sz="1100" dirty="0">
                <a:latin typeface="Arial" panose="020B0604020202020204" pitchFamily="34" charset="0"/>
                <a:ea typeface="思源黑体 Heavy" panose="020B0A00000000000000" pitchFamily="34" charset="-122"/>
                <a:cs typeface="Arial" panose="020B0604020202020204" pitchFamily="34" charset="0"/>
              </a:rPr>
              <a:t>&amp;</a:t>
            </a:r>
            <a:r>
              <a:rPr lang="zh-CN" altLang="en-US" sz="1100" dirty="0">
                <a:latin typeface="Arial" panose="020B0604020202020204" pitchFamily="34" charset="0"/>
                <a:ea typeface="思源黑体 Heavy" panose="020B0A00000000000000" pitchFamily="34" charset="-122"/>
                <a:cs typeface="Arial" panose="020B0604020202020204" pitchFamily="34" charset="0"/>
              </a:rPr>
              <a:t>北京集成项目，新增武汉楚兴二期、珠海华灿项目，合计获取</a:t>
            </a:r>
            <a:r>
              <a:rPr lang="en-US" altLang="zh-CN" sz="1100" dirty="0">
                <a:latin typeface="Arial" panose="020B0604020202020204" pitchFamily="34" charset="0"/>
                <a:ea typeface="思源黑体 Heavy" panose="020B0A00000000000000" pitchFamily="34" charset="-122"/>
                <a:cs typeface="Arial" panose="020B0604020202020204" pitchFamily="34" charset="0"/>
              </a:rPr>
              <a:t>14</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大宗电子气项目，市占率回升至</a:t>
            </a:r>
            <a:r>
              <a:rPr lang="en-US" altLang="zh-CN" sz="1100" dirty="0">
                <a:latin typeface="Arial" panose="020B0604020202020204" pitchFamily="34" charset="0"/>
                <a:ea typeface="思源黑体 Heavy" panose="020B0A00000000000000" pitchFamily="34" charset="-122"/>
                <a:cs typeface="Arial" panose="020B0604020202020204" pitchFamily="34" charset="0"/>
              </a:rPr>
              <a:t>43%</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p>
          <a:p>
            <a:pPr marL="285750" lvl="4" indent="-285750" algn="just">
              <a:lnSpc>
                <a:spcPct val="100000"/>
              </a:lnSpc>
              <a:spcBef>
                <a:spcPts val="0"/>
              </a:spcBef>
              <a:spcAft>
                <a:spcPts val="600"/>
              </a:spcAft>
              <a:buFont typeface="Wingdings" panose="05000000000000000000" pitchFamily="2" charset="2"/>
              <a:buChar char="ü"/>
            </a:pP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年：新增市场市占率</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20%</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下行主因维信诺</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长鑫上海两个大项目未获取。</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en-US" altLang="zh-CN" sz="1100" b="1" dirty="0">
                <a:latin typeface="Arial" panose="020B0604020202020204" pitchFamily="34" charset="0"/>
                <a:ea typeface="思源黑体 Heavy" panose="020B0A00000000000000" pitchFamily="34" charset="-122"/>
                <a:cs typeface="Arial" panose="020B0604020202020204" pitchFamily="34" charset="0"/>
              </a:rPr>
              <a:t>26E</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：大项目</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广钢客户群体新建多，公司市占率有望修复、提升，</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预计</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26</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年有望合计中标至少</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32</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万方（仅考虑大厂，实际小厂也有</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5-10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万方招标，长鑫市占率</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、长存谨慎计算</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市占率），如果均考虑则有望中标</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endPar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项目特点：</a:t>
            </a:r>
            <a:r>
              <a:rPr lang="zh-CN" altLang="en-US" sz="1100" dirty="0">
                <a:latin typeface="Arial" panose="020B0604020202020204" pitchFamily="34" charset="0"/>
                <a:ea typeface="思源黑体 Heavy" panose="020B0A00000000000000" pitchFamily="34" charset="-122"/>
                <a:cs typeface="Arial" panose="020B0604020202020204" pitchFamily="34" charset="0"/>
              </a:rPr>
              <a:t>根据统计，未来</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年项目呈现两大特点，一是广钢原有客户群体较多，比如晶合、惠科等；二是大项目占比多，</a:t>
            </a:r>
            <a:r>
              <a:rPr lang="en-US" altLang="zh-CN" sz="1100" dirty="0">
                <a:latin typeface="Arial" panose="020B0604020202020204" pitchFamily="34" charset="0"/>
                <a:ea typeface="思源黑体 Heavy" panose="020B0A00000000000000" pitchFamily="34" charset="-122"/>
                <a:cs typeface="Arial" panose="020B0604020202020204" pitchFamily="34" charset="0"/>
              </a:rPr>
              <a:t>5-10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用气规模居多，进入壁垒较大，仅广钢</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外资有成功运营经验。</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11" name="文本框 5"/>
          <p:cNvSpPr txBox="1"/>
          <p:nvPr/>
        </p:nvSpPr>
        <p:spPr>
          <a:xfrm>
            <a:off x="-420886" y="2857618"/>
            <a:ext cx="52629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图：公司历年中标大宗电子气项目量及预测</a:t>
            </a:r>
          </a:p>
        </p:txBody>
      </p:sp>
      <p:sp>
        <p:nvSpPr>
          <p:cNvPr id="14" name="文本框 6"/>
          <p:cNvSpPr txBox="1"/>
          <p:nvPr/>
        </p:nvSpPr>
        <p:spPr>
          <a:xfrm>
            <a:off x="4089236" y="2897213"/>
            <a:ext cx="52629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图：公司历年中标大宗电子气项目市占率及预测</a:t>
            </a:r>
          </a:p>
        </p:txBody>
      </p:sp>
      <p:sp>
        <p:nvSpPr>
          <p:cNvPr id="15" name="文本框 87"/>
          <p:cNvSpPr txBox="1"/>
          <p:nvPr/>
        </p:nvSpPr>
        <p:spPr>
          <a:xfrm>
            <a:off x="1382202" y="4645168"/>
            <a:ext cx="6156960" cy="23083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2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900" dirty="0">
                <a:latin typeface="思源黑体 Heavy" panose="020B0A00000000000000" pitchFamily="34" charset="-122"/>
                <a:ea typeface="思源黑体 Heavy" panose="020B0A00000000000000" pitchFamily="34" charset="-122"/>
              </a:rPr>
              <a:t>数据来源：公司公告，自行预测</a:t>
            </a:r>
          </a:p>
        </p:txBody>
      </p:sp>
      <p:sp>
        <p:nvSpPr>
          <p:cNvPr id="4" name="矩形 3">
            <a:extLst>
              <a:ext uri="{FF2B5EF4-FFF2-40B4-BE49-F238E27FC236}">
                <a16:creationId xmlns:a16="http://schemas.microsoft.com/office/drawing/2014/main" xmlns="" id="{1E151E56-1707-DF1B-6753-3E110DC8D8C4}"/>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5" name="矩形 4">
            <a:extLst>
              <a:ext uri="{FF2B5EF4-FFF2-40B4-BE49-F238E27FC236}">
                <a16:creationId xmlns:a16="http://schemas.microsoft.com/office/drawing/2014/main" xmlns="" id="{7305B706-18CE-02EE-C108-3DEAF2BDF3E8}"/>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标题 1">
            <a:extLst>
              <a:ext uri="{FF2B5EF4-FFF2-40B4-BE49-F238E27FC236}">
                <a16:creationId xmlns:a16="http://schemas.microsoft.com/office/drawing/2014/main" xmlns="" id="{ED3B1A5F-8DFB-D75C-C322-3EF5EC70B5CE}"/>
              </a:ext>
            </a:extLst>
          </p:cNvPr>
          <p:cNvSpPr>
            <a:spLocks noGrp="1"/>
          </p:cNvSpPr>
          <p:nvPr/>
        </p:nvSpPr>
        <p:spPr>
          <a:xfrm>
            <a:off x="783952" y="267500"/>
            <a:ext cx="6604667"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核心竞争力：预计</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26</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年合计中标</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32~40</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万方，核心大厂市占率有望达</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50%~100%</a:t>
            </a:r>
            <a:endPar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endParaRPr>
          </a:p>
        </p:txBody>
      </p:sp>
      <p:graphicFrame>
        <p:nvGraphicFramePr>
          <p:cNvPr id="2" name="图表 1">
            <a:extLst>
              <a:ext uri="{FF2B5EF4-FFF2-40B4-BE49-F238E27FC236}">
                <a16:creationId xmlns:a16="http://schemas.microsoft.com/office/drawing/2014/main" xmlns="" id="{2ECB2AFF-9EA6-42E9-B999-E71A43632E41}"/>
              </a:ext>
            </a:extLst>
          </p:cNvPr>
          <p:cNvGraphicFramePr>
            <a:graphicFrameLocks/>
          </p:cNvGraphicFramePr>
          <p:nvPr>
            <p:extLst>
              <p:ext uri="{D42A27DB-BD31-4B8C-83A1-F6EECF244321}">
                <p14:modId xmlns:p14="http://schemas.microsoft.com/office/powerpoint/2010/main" val="440114066"/>
              </p:ext>
            </p:extLst>
          </p:nvPr>
        </p:nvGraphicFramePr>
        <p:xfrm>
          <a:off x="4762561" y="3165395"/>
          <a:ext cx="3916301" cy="147977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图表 2">
            <a:extLst>
              <a:ext uri="{FF2B5EF4-FFF2-40B4-BE49-F238E27FC236}">
                <a16:creationId xmlns:a16="http://schemas.microsoft.com/office/drawing/2014/main" xmlns="" id="{F5EE6163-37D2-45D1-BB52-7AD6D8DE9174}"/>
              </a:ext>
            </a:extLst>
          </p:cNvPr>
          <p:cNvGraphicFramePr>
            <a:graphicFrameLocks/>
          </p:cNvGraphicFramePr>
          <p:nvPr>
            <p:extLst>
              <p:ext uri="{D42A27DB-BD31-4B8C-83A1-F6EECF244321}">
                <p14:modId xmlns:p14="http://schemas.microsoft.com/office/powerpoint/2010/main" val="3182175022"/>
              </p:ext>
            </p:extLst>
          </p:nvPr>
        </p:nvGraphicFramePr>
        <p:xfrm>
          <a:off x="342000" y="3083927"/>
          <a:ext cx="4098114" cy="156124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82318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4"/>
          <p:cNvSpPr txBox="1"/>
          <p:nvPr/>
        </p:nvSpPr>
        <p:spPr>
          <a:xfrm>
            <a:off x="1781235" y="783715"/>
            <a:ext cx="526295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表：晶圆厂新建项目</a:t>
            </a:r>
            <a:r>
              <a:rPr lang="en-US" altLang="zh-CN" dirty="0"/>
              <a:t>25-27</a:t>
            </a:r>
            <a:r>
              <a:rPr lang="zh-CN" altLang="en-US" dirty="0"/>
              <a:t>年预计招标与广钢气体预计中标测算</a:t>
            </a:r>
          </a:p>
        </p:txBody>
      </p:sp>
      <p:sp>
        <p:nvSpPr>
          <p:cNvPr id="7" name="文本框 87"/>
          <p:cNvSpPr txBox="1"/>
          <p:nvPr/>
        </p:nvSpPr>
        <p:spPr>
          <a:xfrm>
            <a:off x="1233815" y="4616574"/>
            <a:ext cx="6156960" cy="230832"/>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2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900" dirty="0">
                <a:latin typeface="思源黑体 Heavy" panose="020B0A00000000000000" pitchFamily="34" charset="-122"/>
                <a:ea typeface="思源黑体 Heavy" panose="020B0A00000000000000" pitchFamily="34" charset="-122"/>
              </a:rPr>
              <a:t>数据来源：公司公告，自行预测</a:t>
            </a:r>
          </a:p>
        </p:txBody>
      </p:sp>
      <p:sp>
        <p:nvSpPr>
          <p:cNvPr id="8" name="标题 1">
            <a:extLst>
              <a:ext uri="{FF2B5EF4-FFF2-40B4-BE49-F238E27FC236}">
                <a16:creationId xmlns:a16="http://schemas.microsoft.com/office/drawing/2014/main" xmlns="" id="{E1BD75E9-62ED-2124-B7CC-E85DA50741EB}"/>
              </a:ext>
            </a:extLst>
          </p:cNvPr>
          <p:cNvSpPr>
            <a:spLocks noGrp="1"/>
          </p:cNvSpPr>
          <p:nvPr/>
        </p:nvSpPr>
        <p:spPr>
          <a:xfrm>
            <a:off x="783952" y="411510"/>
            <a:ext cx="6863087"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附表：</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26-27</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年重点下游扩产与各气体厂参与表（仅大厂）</a:t>
            </a:r>
          </a:p>
        </p:txBody>
      </p:sp>
      <p:sp>
        <p:nvSpPr>
          <p:cNvPr id="9" name="矩形 8">
            <a:extLst>
              <a:ext uri="{FF2B5EF4-FFF2-40B4-BE49-F238E27FC236}">
                <a16:creationId xmlns:a16="http://schemas.microsoft.com/office/drawing/2014/main" xmlns="" id="{24869994-30CF-514F-2BF7-3C9192E6574E}"/>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10" name="矩形 9">
            <a:extLst>
              <a:ext uri="{FF2B5EF4-FFF2-40B4-BE49-F238E27FC236}">
                <a16:creationId xmlns:a16="http://schemas.microsoft.com/office/drawing/2014/main" xmlns="" id="{47003CAE-0F75-372A-1331-5F016EFFDD71}"/>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6" name="表格 5">
            <a:extLst>
              <a:ext uri="{FF2B5EF4-FFF2-40B4-BE49-F238E27FC236}">
                <a16:creationId xmlns:a16="http://schemas.microsoft.com/office/drawing/2014/main" xmlns="" id="{BABC6571-4A44-6B71-BD89-281B51564C3E}"/>
              </a:ext>
            </a:extLst>
          </p:cNvPr>
          <p:cNvGraphicFramePr>
            <a:graphicFrameLocks noGrp="1"/>
          </p:cNvGraphicFramePr>
          <p:nvPr>
            <p:extLst>
              <p:ext uri="{D42A27DB-BD31-4B8C-83A1-F6EECF244321}">
                <p14:modId xmlns:p14="http://schemas.microsoft.com/office/powerpoint/2010/main" val="1961447653"/>
              </p:ext>
            </p:extLst>
          </p:nvPr>
        </p:nvGraphicFramePr>
        <p:xfrm>
          <a:off x="433370" y="1159765"/>
          <a:ext cx="8282076" cy="3311839"/>
        </p:xfrm>
        <a:graphic>
          <a:graphicData uri="http://schemas.openxmlformats.org/drawingml/2006/table">
            <a:tbl>
              <a:tblPr/>
              <a:tblGrid>
                <a:gridCol w="1058173">
                  <a:extLst>
                    <a:ext uri="{9D8B030D-6E8A-4147-A177-3AD203B41FA5}">
                      <a16:colId xmlns:a16="http://schemas.microsoft.com/office/drawing/2014/main" xmlns="" val="2984134566"/>
                    </a:ext>
                  </a:extLst>
                </a:gridCol>
                <a:gridCol w="833208">
                  <a:extLst>
                    <a:ext uri="{9D8B030D-6E8A-4147-A177-3AD203B41FA5}">
                      <a16:colId xmlns:a16="http://schemas.microsoft.com/office/drawing/2014/main" xmlns="" val="665041497"/>
                    </a:ext>
                  </a:extLst>
                </a:gridCol>
                <a:gridCol w="566579">
                  <a:extLst>
                    <a:ext uri="{9D8B030D-6E8A-4147-A177-3AD203B41FA5}">
                      <a16:colId xmlns:a16="http://schemas.microsoft.com/office/drawing/2014/main" xmlns="" val="3901364758"/>
                    </a:ext>
                  </a:extLst>
                </a:gridCol>
                <a:gridCol w="541584">
                  <a:extLst>
                    <a:ext uri="{9D8B030D-6E8A-4147-A177-3AD203B41FA5}">
                      <a16:colId xmlns:a16="http://schemas.microsoft.com/office/drawing/2014/main" xmlns="" val="4105977630"/>
                    </a:ext>
                  </a:extLst>
                </a:gridCol>
                <a:gridCol w="641570">
                  <a:extLst>
                    <a:ext uri="{9D8B030D-6E8A-4147-A177-3AD203B41FA5}">
                      <a16:colId xmlns:a16="http://schemas.microsoft.com/office/drawing/2014/main" xmlns="" val="124825170"/>
                    </a:ext>
                  </a:extLst>
                </a:gridCol>
                <a:gridCol w="783213">
                  <a:extLst>
                    <a:ext uri="{9D8B030D-6E8A-4147-A177-3AD203B41FA5}">
                      <a16:colId xmlns:a16="http://schemas.microsoft.com/office/drawing/2014/main" xmlns="" val="3111851309"/>
                    </a:ext>
                  </a:extLst>
                </a:gridCol>
                <a:gridCol w="1058173">
                  <a:extLst>
                    <a:ext uri="{9D8B030D-6E8A-4147-A177-3AD203B41FA5}">
                      <a16:colId xmlns:a16="http://schemas.microsoft.com/office/drawing/2014/main" xmlns="" val="2528326755"/>
                    </a:ext>
                  </a:extLst>
                </a:gridCol>
                <a:gridCol w="666566">
                  <a:extLst>
                    <a:ext uri="{9D8B030D-6E8A-4147-A177-3AD203B41FA5}">
                      <a16:colId xmlns:a16="http://schemas.microsoft.com/office/drawing/2014/main" xmlns="" val="3223874017"/>
                    </a:ext>
                  </a:extLst>
                </a:gridCol>
                <a:gridCol w="666566">
                  <a:extLst>
                    <a:ext uri="{9D8B030D-6E8A-4147-A177-3AD203B41FA5}">
                      <a16:colId xmlns:a16="http://schemas.microsoft.com/office/drawing/2014/main" xmlns="" val="264285801"/>
                    </a:ext>
                  </a:extLst>
                </a:gridCol>
                <a:gridCol w="1466444">
                  <a:extLst>
                    <a:ext uri="{9D8B030D-6E8A-4147-A177-3AD203B41FA5}">
                      <a16:colId xmlns:a16="http://schemas.microsoft.com/office/drawing/2014/main" xmlns="" val="2925383367"/>
                    </a:ext>
                  </a:extLst>
                </a:gridCol>
              </a:tblGrid>
              <a:tr h="135192">
                <a:tc rowSpan="2">
                  <a:txBody>
                    <a:bodyPr/>
                    <a:lstStyle/>
                    <a:p>
                      <a:pPr algn="ctr" fontAlgn="ctr">
                        <a:buNone/>
                      </a:pPr>
                      <a:r>
                        <a:rPr lang="zh-CN" altLang="en-US" sz="900" b="1" i="0" u="none" strike="noStrike" dirty="0">
                          <a:solidFill>
                            <a:schemeClr val="bg1"/>
                          </a:solidFill>
                          <a:effectLst/>
                          <a:latin typeface="黑体" panose="02010609060101010101" pitchFamily="49" charset="-122"/>
                          <a:ea typeface="黑体" panose="02010609060101010101" pitchFamily="49" charset="-122"/>
                        </a:rPr>
                        <a:t>厂商</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p>
                      <a:pPr algn="ctr" fontAlgn="ctr">
                        <a:buNone/>
                      </a:pPr>
                      <a:r>
                        <a:rPr lang="zh-CN" altLang="en-US" sz="900" b="1" i="0" u="none" strike="noStrike" dirty="0">
                          <a:solidFill>
                            <a:schemeClr val="bg1"/>
                          </a:solidFill>
                          <a:effectLst/>
                          <a:latin typeface="黑体" panose="02010609060101010101" pitchFamily="49" charset="-122"/>
                          <a:ea typeface="黑体" panose="02010609060101010101" pitchFamily="49" charset="-122"/>
                        </a:rPr>
                        <a:t>名称</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p>
                      <a:pPr algn="ctr" fontAlgn="ctr">
                        <a:buNone/>
                      </a:pPr>
                      <a:r>
                        <a:rPr lang="zh-CN" altLang="en-US" sz="900" b="1" i="0" u="none" strike="noStrike">
                          <a:solidFill>
                            <a:schemeClr val="bg1"/>
                          </a:solidFill>
                          <a:effectLst/>
                          <a:latin typeface="黑体" panose="02010609060101010101" pitchFamily="49" charset="-122"/>
                          <a:ea typeface="黑体" panose="02010609060101010101" pitchFamily="49" charset="-122"/>
                        </a:rPr>
                        <a:t>地点</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p>
                      <a:pPr algn="ctr" fontAlgn="ctr">
                        <a:buNone/>
                      </a:pPr>
                      <a:r>
                        <a:rPr lang="zh-CN" altLang="en-US" sz="900" b="1" i="0" u="none" strike="noStrike">
                          <a:solidFill>
                            <a:schemeClr val="bg1"/>
                          </a:solidFill>
                          <a:effectLst/>
                          <a:latin typeface="黑体" panose="02010609060101010101" pitchFamily="49" charset="-122"/>
                          <a:ea typeface="黑体" panose="02010609060101010101" pitchFamily="49" charset="-122"/>
                        </a:rPr>
                        <a:t>晶圆尺寸</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p>
                      <a:pPr algn="ctr" fontAlgn="ctr">
                        <a:buNone/>
                      </a:pPr>
                      <a:r>
                        <a:rPr lang="zh-CN" altLang="en-US" sz="900" b="1" i="0" u="none" strike="noStrike" dirty="0">
                          <a:solidFill>
                            <a:schemeClr val="bg1"/>
                          </a:solidFill>
                          <a:effectLst/>
                          <a:latin typeface="黑体" panose="02010609060101010101" pitchFamily="49" charset="-122"/>
                          <a:ea typeface="黑体" panose="02010609060101010101" pitchFamily="49" charset="-122"/>
                        </a:rPr>
                        <a:t>规划产能</a:t>
                      </a:r>
                      <a:br>
                        <a:rPr lang="zh-CN" altLang="en-US" sz="900" b="1" i="0" u="none" strike="noStrike" dirty="0">
                          <a:solidFill>
                            <a:schemeClr val="bg1"/>
                          </a:solidFill>
                          <a:effectLst/>
                          <a:latin typeface="黑体" panose="02010609060101010101" pitchFamily="49" charset="-122"/>
                          <a:ea typeface="黑体" panose="02010609060101010101" pitchFamily="49" charset="-122"/>
                        </a:rPr>
                      </a:br>
                      <a:r>
                        <a:rPr lang="zh-CN" altLang="en-US" sz="900" b="1" i="0" u="none" strike="noStrike" dirty="0">
                          <a:solidFill>
                            <a:schemeClr val="bg1"/>
                          </a:solidFill>
                          <a:effectLst/>
                          <a:latin typeface="黑体" panose="02010609060101010101" pitchFamily="49" charset="-122"/>
                          <a:ea typeface="黑体" panose="02010609060101010101" pitchFamily="49" charset="-122"/>
                        </a:rPr>
                        <a:t>（万片</a:t>
                      </a:r>
                      <a:r>
                        <a:rPr lang="en-US" altLang="zh-CN" sz="900" b="1" i="0" u="none" strike="noStrike" dirty="0">
                          <a:solidFill>
                            <a:schemeClr val="bg1"/>
                          </a:solidFill>
                          <a:effectLst/>
                          <a:latin typeface="黑体" panose="02010609060101010101" pitchFamily="49" charset="-122"/>
                          <a:ea typeface="黑体" panose="02010609060101010101" pitchFamily="49" charset="-122"/>
                        </a:rPr>
                        <a:t>/</a:t>
                      </a:r>
                      <a:r>
                        <a:rPr lang="zh-CN" altLang="en-US" sz="900" b="1" i="0" u="none" strike="noStrike" dirty="0">
                          <a:solidFill>
                            <a:schemeClr val="bg1"/>
                          </a:solidFill>
                          <a:effectLst/>
                          <a:latin typeface="黑体" panose="02010609060101010101" pitchFamily="49" charset="-122"/>
                          <a:ea typeface="黑体" panose="02010609060101010101" pitchFamily="49" charset="-122"/>
                        </a:rPr>
                        <a:t>月）</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rowSpan="2">
                  <a:txBody>
                    <a:bodyPr/>
                    <a:lstStyle/>
                    <a:p>
                      <a:pPr algn="ctr" fontAlgn="ctr">
                        <a:buNone/>
                      </a:pPr>
                      <a:r>
                        <a:rPr lang="zh-CN" altLang="en-US" sz="900" b="1" i="0" u="none" strike="noStrike">
                          <a:solidFill>
                            <a:schemeClr val="bg1"/>
                          </a:solidFill>
                          <a:effectLst/>
                          <a:latin typeface="黑体" panose="02010609060101010101" pitchFamily="49" charset="-122"/>
                          <a:ea typeface="黑体" panose="02010609060101010101" pitchFamily="49" charset="-122"/>
                        </a:rPr>
                        <a:t>预计招标年份</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tc gridSpan="3">
                  <a:txBody>
                    <a:bodyPr/>
                    <a:lstStyle/>
                    <a:p>
                      <a:pPr algn="ctr" fontAlgn="ctr">
                        <a:buNone/>
                      </a:pPr>
                      <a:r>
                        <a:rPr lang="zh-CN" altLang="en-US" sz="900" b="1" i="0" u="none" strike="noStrike">
                          <a:solidFill>
                            <a:schemeClr val="bg1"/>
                          </a:solidFill>
                          <a:effectLst/>
                          <a:latin typeface="黑体" panose="02010609060101010101" pitchFamily="49" charset="-122"/>
                          <a:ea typeface="黑体" panose="02010609060101010101" pitchFamily="49" charset="-122"/>
                        </a:rPr>
                        <a:t>预估用氮规模（万方</a:t>
                      </a:r>
                      <a:r>
                        <a:rPr lang="en-US" altLang="zh-CN" sz="900" b="1" i="0" u="none" strike="noStrike">
                          <a:solidFill>
                            <a:schemeClr val="bg1"/>
                          </a:solidFill>
                          <a:effectLst/>
                          <a:latin typeface="黑体" panose="02010609060101010101" pitchFamily="49" charset="-122"/>
                          <a:ea typeface="黑体" panose="02010609060101010101" pitchFamily="49" charset="-122"/>
                        </a:rPr>
                        <a:t>/h</a:t>
                      </a:r>
                      <a:r>
                        <a:rPr lang="zh-CN" altLang="en-US" sz="900" b="1" i="0" u="none" strike="noStrike">
                          <a:solidFill>
                            <a:schemeClr val="bg1"/>
                          </a:solidFill>
                          <a:effectLst/>
                          <a:latin typeface="黑体" panose="02010609060101010101" pitchFamily="49" charset="-122"/>
                          <a:ea typeface="黑体" panose="02010609060101010101" pitchFamily="49" charset="-122"/>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chemeClr val="accent1"/>
                    </a:solidFill>
                  </a:tcPr>
                </a:tc>
                <a:tc hMerge="1">
                  <a:txBody>
                    <a:bodyPr/>
                    <a:lstStyle/>
                    <a:p>
                      <a:endParaRPr lang="zh-CN" altLang="en-US"/>
                    </a:p>
                  </a:txBody>
                  <a:tcPr/>
                </a:tc>
                <a:tc hMerge="1">
                  <a:txBody>
                    <a:bodyPr/>
                    <a:lstStyle/>
                    <a:p>
                      <a:endParaRPr lang="zh-CN" altLang="en-US"/>
                    </a:p>
                  </a:txBody>
                  <a:tcPr/>
                </a:tc>
                <a:tc rowSpan="2">
                  <a:txBody>
                    <a:bodyPr/>
                    <a:lstStyle/>
                    <a:p>
                      <a:pPr algn="ctr" fontAlgn="ctr">
                        <a:buNone/>
                      </a:pPr>
                      <a:r>
                        <a:rPr lang="zh-CN" altLang="en-US" sz="900" b="1" i="0" u="none" strike="noStrike">
                          <a:solidFill>
                            <a:schemeClr val="bg1"/>
                          </a:solidFill>
                          <a:effectLst/>
                          <a:latin typeface="黑体" panose="02010609060101010101" pitchFamily="49" charset="-122"/>
                          <a:ea typeface="黑体" panose="02010609060101010101" pitchFamily="49" charset="-122"/>
                        </a:rPr>
                        <a:t>供应商及概率</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xmlns="" val="655987863"/>
                  </a:ext>
                </a:extLst>
              </a:tr>
              <a:tr h="13519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b="1" i="0" u="none" strike="noStrike" dirty="0">
                          <a:solidFill>
                            <a:schemeClr val="bg1"/>
                          </a:solidFill>
                          <a:effectLst/>
                          <a:latin typeface="黑体" panose="02010609060101010101" pitchFamily="49" charset="-122"/>
                          <a:ea typeface="黑体" panose="02010609060101010101" pitchFamily="49" charset="-122"/>
                        </a:rPr>
                        <a:t>整体</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US" sz="900" b="1" i="0" u="none" strike="noStrike" dirty="0">
                          <a:solidFill>
                            <a:schemeClr val="bg1"/>
                          </a:solidFill>
                          <a:effectLst/>
                          <a:latin typeface="黑体" panose="02010609060101010101" pitchFamily="49" charset="-122"/>
                          <a:ea typeface="黑体" panose="02010609060101010101" pitchFamily="49" charset="-122"/>
                        </a:rPr>
                        <a:t>2025E</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solidFill>
                  </a:tcPr>
                </a:tc>
                <a:tc>
                  <a:txBody>
                    <a:bodyPr/>
                    <a:lstStyle/>
                    <a:p>
                      <a:pPr algn="ctr" fontAlgn="ctr">
                        <a:buNone/>
                      </a:pPr>
                      <a:r>
                        <a:rPr lang="en-US" sz="900" b="1" i="0" u="none" strike="noStrike" dirty="0">
                          <a:solidFill>
                            <a:schemeClr val="bg1"/>
                          </a:solidFill>
                          <a:effectLst/>
                          <a:latin typeface="黑体" panose="02010609060101010101" pitchFamily="49" charset="-122"/>
                          <a:ea typeface="黑体" panose="02010609060101010101" pitchFamily="49" charset="-122"/>
                        </a:rPr>
                        <a:t>2026E</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solidFill>
                  </a:tcPr>
                </a:tc>
                <a:tc vMerge="1">
                  <a:txBody>
                    <a:bodyPr/>
                    <a:lstStyle/>
                    <a:p>
                      <a:endParaRPr lang="zh-CN" altLang="en-US"/>
                    </a:p>
                  </a:txBody>
                  <a:tcPr/>
                </a:tc>
                <a:extLst>
                  <a:ext uri="{0D108BD9-81ED-4DB2-BD59-A6C34878D82A}">
                    <a16:rowId xmlns:a16="http://schemas.microsoft.com/office/drawing/2014/main" xmlns="" val="241157087"/>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长鑫存储</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上海</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dirty="0">
                          <a:solidFill>
                            <a:srgbClr val="000000"/>
                          </a:solidFill>
                          <a:effectLst/>
                          <a:latin typeface="黑体" panose="02010609060101010101" pitchFamily="49" charset="-122"/>
                          <a:ea typeface="黑体" panose="02010609060101010101" pitchFamily="49" charset="-122"/>
                        </a:rPr>
                        <a:t>12</a:t>
                      </a:r>
                      <a:r>
                        <a:rPr lang="zh-CN" altLang="en-US" sz="900" b="0" i="0" u="none" strike="noStrike" dirty="0">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2025</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AP</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xmlns="" val="4268689609"/>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长鑫存储</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合肥二期</a:t>
                      </a:r>
                      <a:r>
                        <a:rPr lang="en-US" sz="900" b="0" i="0" u="none" strike="noStrike">
                          <a:solidFill>
                            <a:srgbClr val="000000"/>
                          </a:solidFill>
                          <a:effectLst/>
                          <a:latin typeface="黑体" panose="02010609060101010101" pitchFamily="49" charset="-122"/>
                          <a:ea typeface="黑体" panose="02010609060101010101" pitchFamily="49" charset="-122"/>
                        </a:rPr>
                        <a:t>P3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endParaRPr lang="zh-CN" altLang="en-US" sz="900" b="0" i="0" u="none" strike="noStrike">
                        <a:solidFill>
                          <a:srgbClr val="000000"/>
                        </a:solidFill>
                        <a:effectLst/>
                        <a:latin typeface="黑体" panose="02010609060101010101" pitchFamily="49" charset="-122"/>
                        <a:ea typeface="黑体" panose="02010609060101010101" pitchFamily="49" charset="-122"/>
                      </a:endParaRP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3.75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3.75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2330917234"/>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长鑫存储</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合肥三期</a:t>
                      </a:r>
                      <a:r>
                        <a:rPr lang="en-US" sz="900" b="0" i="0" u="none" strike="noStrike">
                          <a:solidFill>
                            <a:srgbClr val="000000"/>
                          </a:solidFill>
                          <a:effectLst/>
                          <a:latin typeface="黑体" panose="02010609060101010101" pitchFamily="49" charset="-122"/>
                          <a:ea typeface="黑体" panose="02010609060101010101" pitchFamily="49" charset="-122"/>
                        </a:rPr>
                        <a:t>P4</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endParaRPr lang="zh-CN" altLang="en-US" sz="900" b="0" i="0" u="none" strike="noStrike">
                        <a:solidFill>
                          <a:srgbClr val="000000"/>
                        </a:solidFill>
                        <a:effectLst/>
                        <a:latin typeface="黑体" panose="02010609060101010101" pitchFamily="49" charset="-122"/>
                        <a:ea typeface="黑体" panose="02010609060101010101" pitchFamily="49" charset="-122"/>
                      </a:endParaRP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3.75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3.75</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960267324"/>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长存</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武汉</a:t>
                      </a:r>
                      <a:r>
                        <a:rPr lang="en-US" altLang="zh-CN" sz="900" b="0" i="0" u="none" strike="noStrike">
                          <a:solidFill>
                            <a:srgbClr val="000000"/>
                          </a:solidFill>
                          <a:effectLst/>
                          <a:latin typeface="黑体" panose="02010609060101010101" pitchFamily="49" charset="-122"/>
                          <a:ea typeface="黑体" panose="02010609060101010101" pitchFamily="49" charset="-122"/>
                        </a:rPr>
                        <a:t>4</a:t>
                      </a:r>
                      <a:r>
                        <a:rPr lang="zh-CN" altLang="en-US" sz="900" b="0" i="0" u="none" strike="noStrike">
                          <a:solidFill>
                            <a:srgbClr val="000000"/>
                          </a:solidFill>
                          <a:effectLst/>
                          <a:latin typeface="黑体" panose="02010609060101010101" pitchFamily="49" charset="-122"/>
                          <a:ea typeface="黑体" panose="02010609060101010101" pitchFamily="49" charset="-122"/>
                        </a:rPr>
                        <a:t>期</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武汉</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endParaRPr lang="zh-CN" altLang="en-US" sz="900" b="0" i="0" u="none" strike="noStrike">
                        <a:solidFill>
                          <a:srgbClr val="000000"/>
                        </a:solidFill>
                        <a:effectLst/>
                        <a:latin typeface="黑体" panose="02010609060101010101" pitchFamily="49" charset="-122"/>
                        <a:ea typeface="黑体" panose="02010609060101010101" pitchFamily="49" charset="-122"/>
                      </a:endParaRP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13</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、液空</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65443590"/>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中芯西青</a:t>
                      </a:r>
                    </a:p>
                  </a:txBody>
                  <a:tcPr marL="0" marR="0" marT="0" marB="0" anchor="ctr">
                    <a:lnL>
                      <a:noFill/>
                    </a:lnL>
                    <a:lnR>
                      <a:noFill/>
                    </a:lnR>
                    <a:lnT>
                      <a:noFill/>
                    </a:lnT>
                    <a:lnB>
                      <a:noFill/>
                    </a:lnB>
                    <a:noFill/>
                  </a:tcPr>
                </a:tc>
                <a:tc>
                  <a:txBody>
                    <a:bodyPr/>
                    <a:lstStyle/>
                    <a:p>
                      <a:pPr algn="ctr" fontAlgn="ctr">
                        <a:buNone/>
                      </a:pPr>
                      <a:r>
                        <a:rPr lang="en-US" altLang="zh-CN" sz="900" b="1" i="0" u="none" strike="noStrike">
                          <a:solidFill>
                            <a:srgbClr val="000000"/>
                          </a:solidFill>
                          <a:effectLst/>
                          <a:latin typeface="黑体" panose="02010609060101010101" pitchFamily="49" charset="-122"/>
                          <a:ea typeface="黑体" panose="02010609060101010101" pitchFamily="49" charset="-122"/>
                        </a:rPr>
                        <a:t>-</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天津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5</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金宏</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、林德</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4219791688"/>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中芯国际</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B3P2</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北京</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5.8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2.9</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金宏</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、林德</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16996492"/>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中芯国际</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B3P3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北京</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2027-2028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5.8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金宏</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、林德</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2437710507"/>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华虹集团（上海华力）</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Fab8</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上海</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法液空</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573974701"/>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华虹集团（华虹成都）</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Fab10（</a:t>
                      </a:r>
                      <a:r>
                        <a:rPr lang="zh-CN" altLang="en-US" sz="900" b="0" i="0" u="none" strike="noStrike">
                          <a:solidFill>
                            <a:srgbClr val="000000"/>
                          </a:solidFill>
                          <a:effectLst/>
                          <a:latin typeface="黑体" panose="02010609060101010101" pitchFamily="49" charset="-122"/>
                          <a:ea typeface="黑体" panose="02010609060101010101" pitchFamily="49" charset="-122"/>
                        </a:rPr>
                        <a:t>二期）</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成都</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3.5</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液空</a:t>
                      </a:r>
                    </a:p>
                  </a:txBody>
                  <a:tcPr marL="0" marR="0" marT="0" marB="0" anchor="ctr">
                    <a:lnL>
                      <a:noFill/>
                    </a:lnL>
                    <a:lnR>
                      <a:noFill/>
                    </a:lnR>
                    <a:lnT>
                      <a:noFill/>
                    </a:lnT>
                    <a:lnB>
                      <a:noFill/>
                    </a:lnB>
                    <a:noFill/>
                  </a:tcPr>
                </a:tc>
                <a:extLst>
                  <a:ext uri="{0D108BD9-81ED-4DB2-BD59-A6C34878D82A}">
                    <a16:rowId xmlns:a16="http://schemas.microsoft.com/office/drawing/2014/main" xmlns="" val="3623089217"/>
                  </a:ext>
                </a:extLst>
              </a:tr>
              <a:tr h="157159">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晶合集成</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N3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2025-2026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2.3</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568999310"/>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晶合集成</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N4</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2997055890"/>
                  </a:ext>
                </a:extLst>
              </a:tr>
              <a:tr h="270384">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方晶联合半导体（晶合持股）</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二期</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2025-2026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3741581536"/>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武汉新芯</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Fab3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武汉</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等线" panose="02010600030101010101" pitchFamily="2" charset="-122"/>
                          <a:ea typeface="等线" panose="02010600030101010101" pitchFamily="2" charset="-122"/>
                        </a:rPr>
                        <a:t>2</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r>
                        <a:rPr lang="zh-CN" altLang="en-US" sz="900" b="0" i="0" u="none" strike="noStrike">
                          <a:solidFill>
                            <a:srgbClr val="000000"/>
                          </a:solidFill>
                          <a:effectLst/>
                          <a:latin typeface="黑体" panose="02010609060101010101" pitchFamily="49" charset="-122"/>
                          <a:ea typeface="黑体" panose="02010609060101010101" pitchFamily="49" charset="-122"/>
                        </a:rPr>
                        <a:t>、金宏及其他</a:t>
                      </a:r>
                      <a:r>
                        <a:rPr lang="en-US" altLang="zh-CN" sz="900" b="0" i="0" u="none" strike="noStrike">
                          <a:solidFill>
                            <a:srgbClr val="000000"/>
                          </a:solidFill>
                          <a:effectLst/>
                          <a:latin typeface="黑体" panose="02010609060101010101" pitchFamily="49" charset="-122"/>
                          <a:ea typeface="黑体" panose="02010609060101010101" pitchFamily="49" charset="-122"/>
                        </a:rPr>
                        <a:t>50%</a:t>
                      </a:r>
                    </a:p>
                  </a:txBody>
                  <a:tcPr marL="0" marR="0" marT="0" marB="0" anchor="ctr">
                    <a:lnL>
                      <a:noFill/>
                    </a:lnL>
                    <a:lnR>
                      <a:noFill/>
                    </a:lnR>
                    <a:lnT>
                      <a:noFill/>
                    </a:lnT>
                    <a:lnB>
                      <a:noFill/>
                    </a:lnB>
                    <a:noFill/>
                  </a:tcPr>
                </a:tc>
                <a:extLst>
                  <a:ext uri="{0D108BD9-81ED-4DB2-BD59-A6C34878D82A}">
                    <a16:rowId xmlns:a16="http://schemas.microsoft.com/office/drawing/2014/main" xmlns="" val="3234460554"/>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粤芯半导体</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粤芯四期</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广州</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2027-2028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等线" panose="02010600030101010101" pitchFamily="2" charset="-122"/>
                          <a:ea typeface="等线" panose="02010600030101010101" pitchFamily="2" charset="-122"/>
                        </a:rPr>
                        <a:t>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2415963222"/>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增芯科技</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南沙项目</a:t>
                      </a:r>
                      <a:r>
                        <a:rPr lang="en-US" sz="900" b="0" i="0" u="none" strike="noStrike">
                          <a:solidFill>
                            <a:srgbClr val="000000"/>
                          </a:solidFill>
                          <a:effectLst/>
                          <a:latin typeface="黑体" panose="02010609060101010101" pitchFamily="49" charset="-122"/>
                          <a:ea typeface="黑体" panose="02010609060101010101" pitchFamily="49" charset="-122"/>
                        </a:rPr>
                        <a:t>FAB2</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广州</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2027-2028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等线" panose="02010600030101010101" pitchFamily="2" charset="-122"/>
                          <a:ea typeface="等线" panose="02010600030101010101" pitchFamily="2" charset="-122"/>
                        </a:rPr>
                        <a:t>6</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3199061664"/>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闻泰</a:t>
                      </a:r>
                      <a:r>
                        <a:rPr lang="en-US" altLang="zh-CN" sz="900" b="0" i="0" u="none" strike="noStrike">
                          <a:solidFill>
                            <a:srgbClr val="000000"/>
                          </a:solidFill>
                          <a:effectLst/>
                          <a:latin typeface="黑体" panose="02010609060101010101" pitchFamily="49" charset="-122"/>
                          <a:ea typeface="黑体" panose="02010609060101010101" pitchFamily="49" charset="-122"/>
                        </a:rPr>
                        <a:t>-</a:t>
                      </a:r>
                      <a:r>
                        <a:rPr lang="zh-CN" altLang="en-US" sz="900" b="0" i="0" u="none" strike="noStrike">
                          <a:solidFill>
                            <a:srgbClr val="000000"/>
                          </a:solidFill>
                          <a:effectLst/>
                          <a:latin typeface="黑体" panose="02010609060101010101" pitchFamily="49" charset="-122"/>
                          <a:ea typeface="黑体" panose="02010609060101010101" pitchFamily="49" charset="-122"/>
                        </a:rPr>
                        <a:t>安世半导体</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二期</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上海</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r" fontAlgn="ctr">
                        <a:buNone/>
                      </a:pPr>
                      <a:r>
                        <a:rPr lang="en-US" altLang="zh-CN" sz="900" b="0" i="0" u="none" strike="noStrike">
                          <a:solidFill>
                            <a:srgbClr val="000000"/>
                          </a:solidFill>
                          <a:effectLst/>
                          <a:latin typeface="等线" panose="02010600030101010101" pitchFamily="2" charset="-122"/>
                          <a:ea typeface="等线" panose="02010600030101010101" pitchFamily="2" charset="-122"/>
                        </a:rPr>
                        <a:t>3.5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2027-2028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3228582834"/>
                  </a:ext>
                </a:extLst>
              </a:tr>
              <a:tr h="135192">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合肥长鑫</a:t>
                      </a:r>
                      <a:r>
                        <a:rPr lang="en-US" altLang="zh-CN" sz="900" b="0" i="0" u="none" strike="noStrike">
                          <a:solidFill>
                            <a:srgbClr val="000000"/>
                          </a:solidFill>
                          <a:effectLst/>
                          <a:latin typeface="黑体" panose="02010609060101010101" pitchFamily="49" charset="-122"/>
                          <a:ea typeface="黑体" panose="02010609060101010101" pitchFamily="49" charset="-122"/>
                        </a:rPr>
                        <a:t>/</a:t>
                      </a:r>
                      <a:r>
                        <a:rPr lang="zh-CN" altLang="en-US" sz="900" b="0" i="0" u="none" strike="noStrike">
                          <a:solidFill>
                            <a:srgbClr val="000000"/>
                          </a:solidFill>
                          <a:effectLst/>
                          <a:latin typeface="黑体" panose="02010609060101010101" pitchFamily="49" charset="-122"/>
                          <a:ea typeface="黑体" panose="02010609060101010101" pitchFamily="49" charset="-122"/>
                        </a:rPr>
                        <a:t>兆易创新</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Fab2/Fab3</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合肥</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12.5</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14.4</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7.2</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广钢气体</a:t>
                      </a:r>
                      <a:r>
                        <a:rPr lang="en-US" altLang="zh-CN" sz="900" b="0" i="0" u="none" strike="noStrike">
                          <a:solidFill>
                            <a:srgbClr val="000000"/>
                          </a:solidFill>
                          <a:effectLst/>
                          <a:latin typeface="黑体" panose="02010609060101010101" pitchFamily="49" charset="-122"/>
                          <a:ea typeface="黑体" panose="02010609060101010101" pitchFamily="49" charset="-122"/>
                        </a:rPr>
                        <a:t>100%</a:t>
                      </a:r>
                    </a:p>
                  </a:txBody>
                  <a:tcPr marL="0" marR="0" marT="0" marB="0" anchor="ctr">
                    <a:lnL>
                      <a:noFill/>
                    </a:lnL>
                    <a:lnR>
                      <a:noFill/>
                    </a:lnR>
                    <a:lnT>
                      <a:noFill/>
                    </a:lnT>
                    <a:lnB>
                      <a:noFill/>
                    </a:lnB>
                    <a:noFill/>
                  </a:tcPr>
                </a:tc>
                <a:extLst>
                  <a:ext uri="{0D108BD9-81ED-4DB2-BD59-A6C34878D82A}">
                    <a16:rowId xmlns:a16="http://schemas.microsoft.com/office/drawing/2014/main" xmlns="" val="3615850603"/>
                  </a:ext>
                </a:extLst>
              </a:tr>
              <a:tr h="135192">
                <a:tc>
                  <a:txBody>
                    <a:bodyPr/>
                    <a:lstStyle/>
                    <a:p>
                      <a:pPr algn="ctr" fontAlgn="ctr">
                        <a:buNone/>
                      </a:pPr>
                      <a:r>
                        <a:rPr lang="zh-CN" altLang="en-US" sz="900" b="0" i="0" u="none" strike="noStrike" dirty="0">
                          <a:solidFill>
                            <a:srgbClr val="000000"/>
                          </a:solidFill>
                          <a:effectLst/>
                          <a:latin typeface="黑体" panose="02010609060101010101" pitchFamily="49" charset="-122"/>
                          <a:ea typeface="黑体" panose="02010609060101010101" pitchFamily="49" charset="-122"/>
                        </a:rPr>
                        <a:t>士兰微（士兰集科）</a:t>
                      </a:r>
                    </a:p>
                  </a:txBody>
                  <a:tcPr marL="0" marR="0" marT="0" marB="0"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黑体" panose="02010609060101010101" pitchFamily="49" charset="-122"/>
                          <a:ea typeface="黑体" panose="02010609060101010101" pitchFamily="49" charset="-122"/>
                        </a:rPr>
                        <a:t>Fab2</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厦门</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12</a:t>
                      </a:r>
                      <a:r>
                        <a:rPr lang="zh-CN" altLang="en-US" sz="900" b="0" i="0" u="none" strike="noStrike">
                          <a:solidFill>
                            <a:srgbClr val="000000"/>
                          </a:solidFill>
                          <a:effectLst/>
                          <a:latin typeface="黑体" panose="02010609060101010101" pitchFamily="49" charset="-122"/>
                          <a:ea typeface="黑体" panose="02010609060101010101" pitchFamily="49" charset="-122"/>
                        </a:rPr>
                        <a:t>英寸</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8</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2026-2027</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9.2</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0.0</a:t>
                      </a:r>
                    </a:p>
                  </a:txBody>
                  <a:tcPr marL="0" marR="0" marT="0" marB="0" anchor="ctr">
                    <a:lnL>
                      <a:noFill/>
                    </a:lnL>
                    <a:lnR>
                      <a:noFill/>
                    </a:lnR>
                    <a:lnT>
                      <a:noFill/>
                    </a:lnT>
                    <a:lnB>
                      <a:noFill/>
                    </a:lnB>
                    <a:noFill/>
                  </a:tcPr>
                </a:tc>
                <a:tc>
                  <a:txBody>
                    <a:bodyPr/>
                    <a:lstStyle/>
                    <a:p>
                      <a:pPr algn="ctr" fontAlgn="ctr">
                        <a:buNone/>
                      </a:pPr>
                      <a:r>
                        <a:rPr lang="en-US" altLang="zh-CN" sz="900" b="0" i="0" u="none" strike="noStrike">
                          <a:solidFill>
                            <a:srgbClr val="000000"/>
                          </a:solidFill>
                          <a:effectLst/>
                          <a:latin typeface="黑体" panose="02010609060101010101" pitchFamily="49" charset="-122"/>
                          <a:ea typeface="黑体" panose="02010609060101010101" pitchFamily="49" charset="-122"/>
                        </a:rPr>
                        <a:t>4.5</a:t>
                      </a:r>
                    </a:p>
                  </a:txBody>
                  <a:tcPr marL="0" marR="0" marT="0" marB="0" anchor="ctr">
                    <a:lnL>
                      <a:noFill/>
                    </a:lnL>
                    <a:lnR>
                      <a:noFill/>
                    </a:lnR>
                    <a:lnT>
                      <a:noFill/>
                    </a:lnT>
                    <a:lnB>
                      <a:noFill/>
                    </a:lnB>
                    <a:noFill/>
                  </a:tcPr>
                </a:tc>
                <a:tc>
                  <a:txBody>
                    <a:bodyPr/>
                    <a:lstStyle/>
                    <a:p>
                      <a:pPr algn="ctr" fontAlgn="ctr">
                        <a:buNone/>
                      </a:pPr>
                      <a:r>
                        <a:rPr lang="zh-CN" altLang="en-US" sz="900" b="0" i="0" u="none" strike="noStrike">
                          <a:solidFill>
                            <a:srgbClr val="000000"/>
                          </a:solidFill>
                          <a:effectLst/>
                          <a:latin typeface="黑体" panose="02010609060101010101" pitchFamily="49" charset="-122"/>
                          <a:ea typeface="黑体" panose="02010609060101010101" pitchFamily="49" charset="-122"/>
                        </a:rPr>
                        <a:t>外资为主</a:t>
                      </a:r>
                    </a:p>
                  </a:txBody>
                  <a:tcPr marL="0" marR="0" marT="0" marB="0" anchor="ctr">
                    <a:lnL>
                      <a:noFill/>
                    </a:lnL>
                    <a:lnR>
                      <a:noFill/>
                    </a:lnR>
                    <a:lnT>
                      <a:noFill/>
                    </a:lnT>
                    <a:lnB>
                      <a:noFill/>
                    </a:lnB>
                    <a:noFill/>
                  </a:tcPr>
                </a:tc>
                <a:extLst>
                  <a:ext uri="{0D108BD9-81ED-4DB2-BD59-A6C34878D82A}">
                    <a16:rowId xmlns:a16="http://schemas.microsoft.com/office/drawing/2014/main" xmlns="" val="4109094329"/>
                  </a:ext>
                </a:extLst>
              </a:tr>
              <a:tr h="135192">
                <a:tc gridSpan="4">
                  <a:txBody>
                    <a:bodyPr/>
                    <a:lstStyle/>
                    <a:p>
                      <a:pPr algn="ctr" fontAlgn="ctr">
                        <a:buNone/>
                      </a:pPr>
                      <a:r>
                        <a:rPr lang="zh-CN" altLang="en-US" sz="900" b="1" i="0" u="none" strike="noStrike">
                          <a:solidFill>
                            <a:srgbClr val="000000"/>
                          </a:solidFill>
                          <a:effectLst/>
                          <a:latin typeface="黑体" panose="02010609060101010101" pitchFamily="49" charset="-122"/>
                          <a:ea typeface="黑体" panose="02010609060101010101" pitchFamily="49" charset="-122"/>
                        </a:rPr>
                        <a:t>整体合计</a:t>
                      </a:r>
                    </a:p>
                  </a:txBody>
                  <a:tcPr marL="0" marR="0" marT="0" marB="0" anchor="ctr">
                    <a:lnL>
                      <a:noFill/>
                    </a:lnL>
                    <a:lnR>
                      <a:noFill/>
                    </a:lnR>
                    <a:lnT>
                      <a:noFill/>
                    </a:lnT>
                    <a:lnB>
                      <a:noFill/>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buNone/>
                      </a:pPr>
                      <a:r>
                        <a:rPr lang="en-US" altLang="zh-CN" sz="900" b="1" i="0" u="none" strike="noStrike">
                          <a:solidFill>
                            <a:srgbClr val="000000"/>
                          </a:solidFill>
                          <a:effectLst/>
                          <a:latin typeface="黑体" panose="02010609060101010101" pitchFamily="49" charset="-122"/>
                          <a:ea typeface="黑体" panose="02010609060101010101" pitchFamily="49" charset="-122"/>
                        </a:rPr>
                        <a:t>62.5</a:t>
                      </a:r>
                    </a:p>
                  </a:txBody>
                  <a:tcPr marL="0" marR="0" marT="0" marB="0" anchor="ctr">
                    <a:lnL>
                      <a:noFill/>
                    </a:lnL>
                    <a:lnR>
                      <a:noFill/>
                    </a:lnR>
                    <a:lnT>
                      <a:noFill/>
                    </a:lnT>
                    <a:lnB>
                      <a:noFill/>
                    </a:lnB>
                    <a:noFill/>
                  </a:tcPr>
                </a:tc>
                <a:tc>
                  <a:txBody>
                    <a:bodyPr/>
                    <a:lstStyle/>
                    <a:p>
                      <a:pPr algn="l" fontAlgn="ctr">
                        <a:buNone/>
                      </a:pPr>
                      <a:endParaRPr lang="zh-CN" altLang="en-US" sz="900" b="1" i="0" u="none" strike="noStrike">
                        <a:solidFill>
                          <a:srgbClr val="000000"/>
                        </a:solidFill>
                        <a:effectLst/>
                        <a:latin typeface="黑体" panose="02010609060101010101" pitchFamily="49" charset="-122"/>
                        <a:ea typeface="黑体" panose="02010609060101010101" pitchFamily="49" charset="-122"/>
                      </a:endParaRPr>
                    </a:p>
                  </a:txBody>
                  <a:tcPr marL="0" marR="0" marT="0" marB="0" anchor="ctr">
                    <a:lnL>
                      <a:noFill/>
                    </a:lnL>
                    <a:lnR>
                      <a:noFill/>
                    </a:lnR>
                    <a:lnT>
                      <a:noFill/>
                    </a:lnT>
                    <a:lnB>
                      <a:noFill/>
                    </a:lnB>
                    <a:noFill/>
                  </a:tcPr>
                </a:tc>
                <a:tc>
                  <a:txBody>
                    <a:bodyPr/>
                    <a:lstStyle/>
                    <a:p>
                      <a:pPr algn="ctr" fontAlgn="ctr">
                        <a:buNone/>
                      </a:pPr>
                      <a:r>
                        <a:rPr lang="en-US" altLang="zh-CN" sz="900" b="1" i="0" u="none" strike="noStrike">
                          <a:solidFill>
                            <a:srgbClr val="000000"/>
                          </a:solidFill>
                          <a:effectLst/>
                          <a:latin typeface="黑体" panose="02010609060101010101" pitchFamily="49" charset="-122"/>
                          <a:ea typeface="黑体" panose="02010609060101010101" pitchFamily="49" charset="-122"/>
                        </a:rPr>
                        <a:t>113.8</a:t>
                      </a:r>
                    </a:p>
                  </a:txBody>
                  <a:tcPr marL="0" marR="0" marT="0" marB="0" anchor="ctr">
                    <a:lnL>
                      <a:noFill/>
                    </a:lnL>
                    <a:lnR>
                      <a:noFill/>
                    </a:lnR>
                    <a:lnT>
                      <a:noFill/>
                    </a:lnT>
                    <a:lnB>
                      <a:noFill/>
                    </a:lnB>
                    <a:noFill/>
                  </a:tcPr>
                </a:tc>
                <a:tc>
                  <a:txBody>
                    <a:bodyPr/>
                    <a:lstStyle/>
                    <a:p>
                      <a:pPr algn="ctr" fontAlgn="ctr">
                        <a:buNone/>
                      </a:pPr>
                      <a:r>
                        <a:rPr lang="en-US" altLang="zh-CN" sz="900" b="1" i="0" u="none" strike="noStrike">
                          <a:solidFill>
                            <a:srgbClr val="000000"/>
                          </a:solidFill>
                          <a:effectLst/>
                          <a:latin typeface="黑体" panose="02010609060101010101" pitchFamily="49" charset="-122"/>
                          <a:ea typeface="黑体" panose="02010609060101010101" pitchFamily="49" charset="-122"/>
                        </a:rPr>
                        <a:t>17.1</a:t>
                      </a:r>
                    </a:p>
                  </a:txBody>
                  <a:tcPr marL="0" marR="0" marT="0" marB="0" anchor="ctr">
                    <a:lnL>
                      <a:noFill/>
                    </a:lnL>
                    <a:lnR>
                      <a:noFill/>
                    </a:lnR>
                    <a:lnT>
                      <a:noFill/>
                    </a:lnT>
                    <a:lnB>
                      <a:noFill/>
                    </a:lnB>
                    <a:noFill/>
                  </a:tcPr>
                </a:tc>
                <a:tc>
                  <a:txBody>
                    <a:bodyPr/>
                    <a:lstStyle/>
                    <a:p>
                      <a:pPr algn="ctr" fontAlgn="ctr">
                        <a:buNone/>
                      </a:pPr>
                      <a:r>
                        <a:rPr lang="en-US" altLang="zh-CN" sz="900" b="1" i="0" u="none" strike="noStrike">
                          <a:solidFill>
                            <a:srgbClr val="000000"/>
                          </a:solidFill>
                          <a:effectLst/>
                          <a:latin typeface="黑体" panose="02010609060101010101" pitchFamily="49" charset="-122"/>
                          <a:ea typeface="黑体" panose="02010609060101010101" pitchFamily="49" charset="-122"/>
                        </a:rPr>
                        <a:t>49.7</a:t>
                      </a:r>
                    </a:p>
                  </a:txBody>
                  <a:tcPr marL="0" marR="0" marT="0" marB="0" anchor="ctr">
                    <a:lnL>
                      <a:noFill/>
                    </a:lnL>
                    <a:lnR>
                      <a:noFill/>
                    </a:lnR>
                    <a:lnT>
                      <a:noFill/>
                    </a:lnT>
                    <a:lnB>
                      <a:noFill/>
                    </a:lnB>
                    <a:noFill/>
                  </a:tcPr>
                </a:tc>
                <a:tc>
                  <a:txBody>
                    <a:bodyPr/>
                    <a:lstStyle/>
                    <a:p>
                      <a:pPr algn="ctr" fontAlgn="ctr">
                        <a:buNone/>
                      </a:pPr>
                      <a:endParaRPr lang="zh-CN" altLang="en-US" sz="900" b="0" i="0" u="none" strike="noStrike">
                        <a:solidFill>
                          <a:srgbClr val="000000"/>
                        </a:solidFill>
                        <a:effectLst/>
                        <a:latin typeface="黑体" panose="02010609060101010101" pitchFamily="49" charset="-122"/>
                        <a:ea typeface="黑体" panose="02010609060101010101" pitchFamily="49" charset="-122"/>
                      </a:endParaRPr>
                    </a:p>
                  </a:txBody>
                  <a:tcPr marL="0" marR="0" marT="0" marB="0" anchor="ctr">
                    <a:lnL>
                      <a:noFill/>
                    </a:lnL>
                    <a:lnR>
                      <a:noFill/>
                    </a:lnR>
                    <a:lnT>
                      <a:noFill/>
                    </a:lnT>
                    <a:lnB>
                      <a:noFill/>
                    </a:lnB>
                    <a:noFill/>
                  </a:tcPr>
                </a:tc>
                <a:extLst>
                  <a:ext uri="{0D108BD9-81ED-4DB2-BD59-A6C34878D82A}">
                    <a16:rowId xmlns:a16="http://schemas.microsoft.com/office/drawing/2014/main" xmlns="" val="1222538424"/>
                  </a:ext>
                </a:extLst>
              </a:tr>
              <a:tr h="135192">
                <a:tc gridSpan="6">
                  <a:txBody>
                    <a:bodyPr/>
                    <a:lstStyle/>
                    <a:p>
                      <a:pPr algn="ctr" fontAlgn="ctr">
                        <a:buNone/>
                      </a:pPr>
                      <a:r>
                        <a:rPr lang="zh-CN" altLang="en-US" sz="900" b="1" i="0" u="none" strike="noStrike" dirty="0">
                          <a:solidFill>
                            <a:srgbClr val="FF0000"/>
                          </a:solidFill>
                          <a:effectLst/>
                          <a:latin typeface="黑体" panose="02010609060101010101" pitchFamily="49" charset="-122"/>
                          <a:ea typeface="黑体" panose="02010609060101010101" pitchFamily="49" charset="-122"/>
                        </a:rPr>
                        <a:t>广钢可能获取的项目</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a:buNone/>
                      </a:pPr>
                      <a:r>
                        <a:rPr lang="en-US" altLang="zh-CN" sz="900" b="1" i="0" u="none" strike="noStrike" dirty="0">
                          <a:solidFill>
                            <a:srgbClr val="FF0000"/>
                          </a:solidFill>
                          <a:effectLst/>
                          <a:latin typeface="黑体" panose="02010609060101010101" pitchFamily="49" charset="-122"/>
                          <a:ea typeface="黑体" panose="02010609060101010101" pitchFamily="49" charset="-122"/>
                        </a:rPr>
                        <a:t>44.8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zh-CN" sz="900" b="1" i="0" u="none" strike="noStrike" dirty="0">
                          <a:solidFill>
                            <a:srgbClr val="FF0000"/>
                          </a:solidFill>
                          <a:effectLst/>
                          <a:latin typeface="黑体" panose="02010609060101010101" pitchFamily="49" charset="-122"/>
                          <a:ea typeface="黑体" panose="02010609060101010101" pitchFamily="49" charset="-122"/>
                        </a:rPr>
                        <a:t>7.1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altLang="zh-CN" sz="900" b="1" i="0" u="none" strike="noStrike" dirty="0">
                          <a:solidFill>
                            <a:srgbClr val="FF0000"/>
                          </a:solidFill>
                          <a:effectLst/>
                          <a:latin typeface="黑体" panose="02010609060101010101" pitchFamily="49" charset="-122"/>
                          <a:ea typeface="黑体" panose="02010609060101010101" pitchFamily="49" charset="-122"/>
                        </a:rPr>
                        <a:t>25.2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zh-CN" altLang="en-US" sz="900" b="1" i="0" u="none" strike="noStrike" dirty="0">
                          <a:solidFill>
                            <a:srgbClr val="000000"/>
                          </a:solidFill>
                          <a:effectLst/>
                          <a:latin typeface="黑体" panose="02010609060101010101" pitchFamily="49" charset="-122"/>
                          <a:ea typeface="黑体" panose="02010609060101010101" pitchFamily="49" charset="-122"/>
                        </a:rPr>
                        <a:t>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xmlns="" val="3121684337"/>
                  </a:ext>
                </a:extLst>
              </a:tr>
            </a:tbl>
          </a:graphicData>
        </a:graphic>
      </p:graphicFrame>
    </p:spTree>
    <p:extLst>
      <p:ext uri="{BB962C8B-B14F-4D97-AF65-F5344CB8AC3E}">
        <p14:creationId xmlns:p14="http://schemas.microsoft.com/office/powerpoint/2010/main" val="2428217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783952" y="411510"/>
            <a:ext cx="9418549"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已签约情况：在手电子大宗气体项目及投产节奏</a:t>
            </a:r>
          </a:p>
        </p:txBody>
      </p:sp>
      <p:sp>
        <p:nvSpPr>
          <p:cNvPr id="3" name="文本占位符 5"/>
          <p:cNvSpPr txBox="1"/>
          <p:nvPr/>
        </p:nvSpPr>
        <p:spPr>
          <a:xfrm>
            <a:off x="246474" y="818864"/>
            <a:ext cx="8460797" cy="53145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n"/>
            </a:pP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预计公司</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年底电子大宗气体装机量</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万方，在手项目投产后预计装机量增长至</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89</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（截至</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2025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年底）；</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26E</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预计新签</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32-40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h</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新项目，预计</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26</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年在手合同量有望近</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130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万方；在手项目可释放</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亿收入、</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9~11</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利润；如果在按照</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130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万方项目，对应未来收入</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65</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亿元、利润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13-16</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a:t>
            </a:r>
          </a:p>
        </p:txBody>
      </p:sp>
      <p:sp>
        <p:nvSpPr>
          <p:cNvPr id="4" name="TextBox 23"/>
          <p:cNvSpPr txBox="1">
            <a:spLocks noChangeArrowheads="1"/>
          </p:cNvSpPr>
          <p:nvPr/>
        </p:nvSpPr>
        <p:spPr bwMode="auto">
          <a:xfrm>
            <a:off x="1155804" y="1251853"/>
            <a:ext cx="683239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表：电子大宗气体装机量：在手项目梳理与投产节奏判断</a:t>
            </a:r>
          </a:p>
        </p:txBody>
      </p:sp>
      <p:sp>
        <p:nvSpPr>
          <p:cNvPr id="6" name="文本框 87"/>
          <p:cNvSpPr txBox="1"/>
          <p:nvPr/>
        </p:nvSpPr>
        <p:spPr>
          <a:xfrm>
            <a:off x="684000" y="4935266"/>
            <a:ext cx="6156960" cy="21544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2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800" dirty="0">
                <a:latin typeface="思源黑体 Heavy" panose="020B0A00000000000000" pitchFamily="34" charset="-122"/>
                <a:ea typeface="思源黑体 Heavy" panose="020B0A00000000000000" pitchFamily="34" charset="-122"/>
              </a:rPr>
              <a:t>数据来源：公司公告</a:t>
            </a:r>
            <a:r>
              <a:rPr lang="en-US" altLang="zh-CN" sz="800" dirty="0">
                <a:latin typeface="思源黑体 Heavy" panose="020B0A00000000000000" pitchFamily="34" charset="-122"/>
                <a:ea typeface="思源黑体 Heavy" panose="020B0A00000000000000" pitchFamily="34" charset="-122"/>
              </a:rPr>
              <a:t>&amp;</a:t>
            </a:r>
            <a:r>
              <a:rPr lang="zh-CN" altLang="en-US" sz="800" dirty="0">
                <a:latin typeface="思源黑体 Heavy" panose="020B0A00000000000000" pitchFamily="34" charset="-122"/>
                <a:ea typeface="思源黑体 Heavy" panose="020B0A00000000000000" pitchFamily="34" charset="-122"/>
              </a:rPr>
              <a:t>调研信息，自行预测</a:t>
            </a:r>
          </a:p>
        </p:txBody>
      </p:sp>
      <p:sp>
        <p:nvSpPr>
          <p:cNvPr id="8" name="矩形 7">
            <a:extLst>
              <a:ext uri="{FF2B5EF4-FFF2-40B4-BE49-F238E27FC236}">
                <a16:creationId xmlns:a16="http://schemas.microsoft.com/office/drawing/2014/main" xmlns="" id="{9E9EF2AC-3375-9E9C-8841-7EDCA2D3F6CB}"/>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9" name="矩形 8">
            <a:extLst>
              <a:ext uri="{FF2B5EF4-FFF2-40B4-BE49-F238E27FC236}">
                <a16:creationId xmlns:a16="http://schemas.microsoft.com/office/drawing/2014/main" xmlns="" id="{5A4AFBA3-5D1B-AEC3-1529-A73715D86B6D}"/>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 name="表格 4">
            <a:extLst>
              <a:ext uri="{FF2B5EF4-FFF2-40B4-BE49-F238E27FC236}">
                <a16:creationId xmlns:a16="http://schemas.microsoft.com/office/drawing/2014/main" xmlns="" id="{4198FC62-2505-2773-290C-C13664829545}"/>
              </a:ext>
            </a:extLst>
          </p:cNvPr>
          <p:cNvGraphicFramePr>
            <a:graphicFrameLocks noGrp="1"/>
          </p:cNvGraphicFramePr>
          <p:nvPr>
            <p:extLst>
              <p:ext uri="{D42A27DB-BD31-4B8C-83A1-F6EECF244321}">
                <p14:modId xmlns:p14="http://schemas.microsoft.com/office/powerpoint/2010/main" val="2172352416"/>
              </p:ext>
            </p:extLst>
          </p:nvPr>
        </p:nvGraphicFramePr>
        <p:xfrm>
          <a:off x="503625" y="1451008"/>
          <a:ext cx="8203646" cy="3299787"/>
        </p:xfrm>
        <a:graphic>
          <a:graphicData uri="http://schemas.openxmlformats.org/drawingml/2006/table">
            <a:tbl>
              <a:tblPr/>
              <a:tblGrid>
                <a:gridCol w="1131221">
                  <a:extLst>
                    <a:ext uri="{9D8B030D-6E8A-4147-A177-3AD203B41FA5}">
                      <a16:colId xmlns:a16="http://schemas.microsoft.com/office/drawing/2014/main" xmlns="" val="2755823314"/>
                    </a:ext>
                  </a:extLst>
                </a:gridCol>
                <a:gridCol w="1131221">
                  <a:extLst>
                    <a:ext uri="{9D8B030D-6E8A-4147-A177-3AD203B41FA5}">
                      <a16:colId xmlns:a16="http://schemas.microsoft.com/office/drawing/2014/main" xmlns="" val="1908471917"/>
                    </a:ext>
                  </a:extLst>
                </a:gridCol>
                <a:gridCol w="984069">
                  <a:extLst>
                    <a:ext uri="{9D8B030D-6E8A-4147-A177-3AD203B41FA5}">
                      <a16:colId xmlns:a16="http://schemas.microsoft.com/office/drawing/2014/main" xmlns="" val="1436283564"/>
                    </a:ext>
                  </a:extLst>
                </a:gridCol>
                <a:gridCol w="496632">
                  <a:extLst>
                    <a:ext uri="{9D8B030D-6E8A-4147-A177-3AD203B41FA5}">
                      <a16:colId xmlns:a16="http://schemas.microsoft.com/office/drawing/2014/main" xmlns="" val="2251360948"/>
                    </a:ext>
                  </a:extLst>
                </a:gridCol>
                <a:gridCol w="616193">
                  <a:extLst>
                    <a:ext uri="{9D8B030D-6E8A-4147-A177-3AD203B41FA5}">
                      <a16:colId xmlns:a16="http://schemas.microsoft.com/office/drawing/2014/main" xmlns="" val="2375400778"/>
                    </a:ext>
                  </a:extLst>
                </a:gridCol>
                <a:gridCol w="561012">
                  <a:extLst>
                    <a:ext uri="{9D8B030D-6E8A-4147-A177-3AD203B41FA5}">
                      <a16:colId xmlns:a16="http://schemas.microsoft.com/office/drawing/2014/main" xmlns="" val="565145148"/>
                    </a:ext>
                  </a:extLst>
                </a:gridCol>
                <a:gridCol w="616193">
                  <a:extLst>
                    <a:ext uri="{9D8B030D-6E8A-4147-A177-3AD203B41FA5}">
                      <a16:colId xmlns:a16="http://schemas.microsoft.com/office/drawing/2014/main" xmlns="" val="1981273874"/>
                    </a:ext>
                  </a:extLst>
                </a:gridCol>
                <a:gridCol w="533421">
                  <a:extLst>
                    <a:ext uri="{9D8B030D-6E8A-4147-A177-3AD203B41FA5}">
                      <a16:colId xmlns:a16="http://schemas.microsoft.com/office/drawing/2014/main" xmlns="" val="3483327946"/>
                    </a:ext>
                  </a:extLst>
                </a:gridCol>
                <a:gridCol w="533421">
                  <a:extLst>
                    <a:ext uri="{9D8B030D-6E8A-4147-A177-3AD203B41FA5}">
                      <a16:colId xmlns:a16="http://schemas.microsoft.com/office/drawing/2014/main" xmlns="" val="624712341"/>
                    </a:ext>
                  </a:extLst>
                </a:gridCol>
                <a:gridCol w="533421">
                  <a:extLst>
                    <a:ext uri="{9D8B030D-6E8A-4147-A177-3AD203B41FA5}">
                      <a16:colId xmlns:a16="http://schemas.microsoft.com/office/drawing/2014/main" xmlns="" val="3571547744"/>
                    </a:ext>
                  </a:extLst>
                </a:gridCol>
                <a:gridCol w="533421">
                  <a:extLst>
                    <a:ext uri="{9D8B030D-6E8A-4147-A177-3AD203B41FA5}">
                      <a16:colId xmlns:a16="http://schemas.microsoft.com/office/drawing/2014/main" xmlns="" val="3413130782"/>
                    </a:ext>
                  </a:extLst>
                </a:gridCol>
                <a:gridCol w="533421">
                  <a:extLst>
                    <a:ext uri="{9D8B030D-6E8A-4147-A177-3AD203B41FA5}">
                      <a16:colId xmlns:a16="http://schemas.microsoft.com/office/drawing/2014/main" xmlns="" val="805638142"/>
                    </a:ext>
                  </a:extLst>
                </a:gridCol>
              </a:tblGrid>
              <a:tr h="88144">
                <a:tc>
                  <a:txBody>
                    <a:bodyPr/>
                    <a:lstStyle/>
                    <a:p>
                      <a:pPr algn="l" fontAlgn="ctr">
                        <a:buNone/>
                      </a:pPr>
                      <a:r>
                        <a:rPr lang="zh-CN" altLang="en-US" sz="600" b="1" i="0" u="none" strike="noStrike">
                          <a:solidFill>
                            <a:srgbClr val="000000"/>
                          </a:solidFill>
                          <a:effectLst/>
                          <a:latin typeface="+mn-ea"/>
                          <a:ea typeface="+mn-ea"/>
                        </a:rPr>
                        <a:t>分类</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600" b="1" i="0" u="none" strike="noStrike">
                          <a:solidFill>
                            <a:srgbClr val="000000"/>
                          </a:solidFill>
                          <a:effectLst/>
                          <a:latin typeface="+mn-ea"/>
                          <a:ea typeface="+mn-ea"/>
                        </a:rPr>
                        <a:t>客户</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600" b="1" i="0" u="none" strike="noStrike">
                          <a:solidFill>
                            <a:srgbClr val="000000"/>
                          </a:solidFill>
                          <a:effectLst/>
                          <a:latin typeface="+mn-ea"/>
                          <a:ea typeface="+mn-ea"/>
                        </a:rPr>
                        <a:t>项目</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2020</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2021</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2022</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2023</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00" b="1" i="0" u="none" strike="noStrike">
                          <a:solidFill>
                            <a:srgbClr val="000000"/>
                          </a:solidFill>
                          <a:effectLst/>
                          <a:latin typeface="+mn-ea"/>
                          <a:ea typeface="+mn-ea"/>
                        </a:rPr>
                        <a:t>2024E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00" b="1" i="0" u="none" strike="noStrike">
                          <a:solidFill>
                            <a:srgbClr val="000000"/>
                          </a:solidFill>
                          <a:effectLst/>
                          <a:latin typeface="+mn-ea"/>
                          <a:ea typeface="+mn-ea"/>
                        </a:rPr>
                        <a:t>2025E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00" b="1" i="0" u="none" strike="noStrike">
                          <a:solidFill>
                            <a:srgbClr val="000000"/>
                          </a:solidFill>
                          <a:effectLst/>
                          <a:latin typeface="+mn-ea"/>
                          <a:ea typeface="+mn-ea"/>
                        </a:rPr>
                        <a:t>2026E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00" b="1" i="0" u="none" strike="noStrike">
                          <a:solidFill>
                            <a:srgbClr val="000000"/>
                          </a:solidFill>
                          <a:effectLst/>
                          <a:latin typeface="+mn-ea"/>
                          <a:ea typeface="+mn-ea"/>
                        </a:rPr>
                        <a:t>2027E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00" b="1" i="0" u="none" strike="noStrike">
                          <a:solidFill>
                            <a:srgbClr val="000000"/>
                          </a:solidFill>
                          <a:effectLst/>
                          <a:latin typeface="+mn-ea"/>
                          <a:ea typeface="+mn-ea"/>
                        </a:rPr>
                        <a:t>2028E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461482511"/>
                  </a:ext>
                </a:extLst>
              </a:tr>
              <a:tr h="88144">
                <a:tc rowSpan="33">
                  <a:txBody>
                    <a:bodyPr/>
                    <a:lstStyle/>
                    <a:p>
                      <a:pPr algn="l" fontAlgn="ctr">
                        <a:buNone/>
                      </a:pPr>
                      <a:r>
                        <a:rPr lang="zh-CN" altLang="en-US" sz="600" b="0" i="0" u="none" strike="noStrike" dirty="0">
                          <a:solidFill>
                            <a:srgbClr val="000000"/>
                          </a:solidFill>
                          <a:effectLst/>
                          <a:latin typeface="+mn-ea"/>
                          <a:ea typeface="+mn-ea"/>
                        </a:rPr>
                        <a:t>电子大宗气体</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rowSpan="4">
                  <a:txBody>
                    <a:bodyPr/>
                    <a:lstStyle/>
                    <a:p>
                      <a:pPr algn="l" fontAlgn="ctr">
                        <a:buNone/>
                      </a:pPr>
                      <a:r>
                        <a:rPr lang="zh-CN" altLang="en-US" sz="600" b="0" i="0" u="none" strike="noStrike">
                          <a:solidFill>
                            <a:srgbClr val="000000"/>
                          </a:solidFill>
                          <a:effectLst/>
                          <a:latin typeface="+mn-ea"/>
                          <a:ea typeface="+mn-ea"/>
                        </a:rPr>
                        <a:t>华星光电</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l" fontAlgn="ctr">
                        <a:buNone/>
                      </a:pPr>
                      <a:r>
                        <a:rPr lang="en-US" sz="600" b="0" i="0" u="none" strike="noStrike">
                          <a:solidFill>
                            <a:srgbClr val="000000"/>
                          </a:solidFill>
                          <a:effectLst/>
                          <a:latin typeface="+mn-ea"/>
                          <a:ea typeface="+mn-ea"/>
                        </a:rPr>
                        <a:t>T6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2.00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xmlns="" val="874889171"/>
                  </a:ext>
                </a:extLst>
              </a:tr>
              <a:tr h="88144">
                <a:tc vMerge="1">
                  <a:txBody>
                    <a:bodyPr/>
                    <a:lstStyle/>
                    <a:p>
                      <a:endParaRPr lang="zh-CN" altLang="en-US"/>
                    </a:p>
                  </a:txBody>
                  <a:tcPr/>
                </a:tc>
                <a:tc vMerge="1">
                  <a:txBody>
                    <a:bodyPr/>
                    <a:lstStyle/>
                    <a:p>
                      <a:endParaRPr lang="zh-CN" altLang="en-US"/>
                    </a:p>
                  </a:txBody>
                  <a:tcPr/>
                </a:tc>
                <a:tc>
                  <a:txBody>
                    <a:bodyPr/>
                    <a:lstStyle/>
                    <a:p>
                      <a:pPr algn="l" fontAlgn="ctr">
                        <a:buNone/>
                      </a:pPr>
                      <a:r>
                        <a:rPr lang="en-US" sz="600" b="0" i="0" u="none" strike="noStrike">
                          <a:solidFill>
                            <a:srgbClr val="000000"/>
                          </a:solidFill>
                          <a:effectLst/>
                          <a:latin typeface="+mn-ea"/>
                          <a:ea typeface="+mn-ea"/>
                        </a:rPr>
                        <a:t>T7</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1.60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3850761271"/>
                  </a:ext>
                </a:extLst>
              </a:tr>
              <a:tr h="88144">
                <a:tc vMerge="1">
                  <a:txBody>
                    <a:bodyPr/>
                    <a:lstStyle/>
                    <a:p>
                      <a:endParaRPr lang="zh-CN" altLang="en-US"/>
                    </a:p>
                  </a:txBody>
                  <a:tcPr/>
                </a:tc>
                <a:tc vMerge="1">
                  <a:txBody>
                    <a:bodyPr/>
                    <a:lstStyle/>
                    <a:p>
                      <a:endParaRPr lang="zh-CN" altLang="en-US"/>
                    </a:p>
                  </a:txBody>
                  <a:tcPr/>
                </a:tc>
                <a:tc>
                  <a:txBody>
                    <a:bodyPr/>
                    <a:lstStyle/>
                    <a:p>
                      <a:pPr algn="l" fontAlgn="ctr">
                        <a:buNone/>
                      </a:pPr>
                      <a:r>
                        <a:rPr lang="en-US" sz="600" b="0" i="0" u="none" strike="noStrike">
                          <a:solidFill>
                            <a:srgbClr val="000000"/>
                          </a:solidFill>
                          <a:effectLst/>
                          <a:latin typeface="+mn-ea"/>
                          <a:ea typeface="+mn-ea"/>
                        </a:rPr>
                        <a:t>T7</a:t>
                      </a:r>
                      <a:r>
                        <a:rPr lang="zh-CN" altLang="en-US" sz="600" b="0" i="0" u="none" strike="noStrike">
                          <a:solidFill>
                            <a:srgbClr val="000000"/>
                          </a:solidFill>
                          <a:effectLst/>
                          <a:latin typeface="+mn-ea"/>
                          <a:ea typeface="+mn-ea"/>
                        </a:rPr>
                        <a:t>扩容</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942773660"/>
                  </a:ext>
                </a:extLst>
              </a:tr>
              <a:tr h="88144">
                <a:tc vMerge="1">
                  <a:txBody>
                    <a:bodyPr/>
                    <a:lstStyle/>
                    <a:p>
                      <a:endParaRPr lang="zh-CN" altLang="en-US"/>
                    </a:p>
                  </a:txBody>
                  <a:tcPr/>
                </a:tc>
                <a:tc vMerge="1">
                  <a:txBody>
                    <a:bodyPr/>
                    <a:lstStyle/>
                    <a:p>
                      <a:endParaRPr lang="zh-CN" altLang="en-US"/>
                    </a:p>
                  </a:txBody>
                  <a:tcPr/>
                </a:tc>
                <a:tc>
                  <a:txBody>
                    <a:bodyPr/>
                    <a:lstStyle/>
                    <a:p>
                      <a:pPr algn="l" fontAlgn="ctr">
                        <a:buNone/>
                      </a:pPr>
                      <a:r>
                        <a:rPr lang="en-US" sz="600" b="0" i="0" u="none" strike="noStrike">
                          <a:solidFill>
                            <a:srgbClr val="000000"/>
                          </a:solidFill>
                          <a:effectLst/>
                          <a:latin typeface="+mn-ea"/>
                          <a:ea typeface="+mn-ea"/>
                        </a:rPr>
                        <a:t>T9</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2.40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2916816882"/>
                  </a:ext>
                </a:extLst>
              </a:tr>
              <a:tr h="88144">
                <a:tc vMerge="1">
                  <a:txBody>
                    <a:bodyPr/>
                    <a:lstStyle/>
                    <a:p>
                      <a:endParaRPr lang="zh-CN" altLang="en-US"/>
                    </a:p>
                  </a:txBody>
                  <a:tcPr/>
                </a:tc>
                <a:tc rowSpan="3">
                  <a:txBody>
                    <a:bodyPr/>
                    <a:lstStyle/>
                    <a:p>
                      <a:pPr algn="l" fontAlgn="ctr">
                        <a:buNone/>
                      </a:pPr>
                      <a:r>
                        <a:rPr lang="zh-CN" altLang="en-US" sz="600" b="0" i="0" u="none" strike="noStrike">
                          <a:solidFill>
                            <a:srgbClr val="000000"/>
                          </a:solidFill>
                          <a:effectLst/>
                          <a:latin typeface="+mn-ea"/>
                          <a:ea typeface="+mn-ea"/>
                        </a:rPr>
                        <a:t>晶合集成</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晶合（原有）</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0.20 </a:t>
                      </a:r>
                    </a:p>
                  </a:txBody>
                  <a:tcPr marL="0" marR="0" marT="0" marB="0" anchor="ctr">
                    <a:lnL>
                      <a:noFill/>
                    </a:lnL>
                    <a:lnR>
                      <a:noFill/>
                    </a:lnR>
                    <a:lnT>
                      <a:noFill/>
                    </a:lnT>
                    <a:lnB>
                      <a:noFill/>
                    </a:lnB>
                    <a:noFill/>
                  </a:tcPr>
                </a:tc>
                <a:extLst>
                  <a:ext uri="{0D108BD9-81ED-4DB2-BD59-A6C34878D82A}">
                    <a16:rowId xmlns:a16="http://schemas.microsoft.com/office/drawing/2014/main" xmlns="" val="4186823940"/>
                  </a:ext>
                </a:extLst>
              </a:tr>
              <a:tr h="88144">
                <a:tc vMerge="1">
                  <a:txBody>
                    <a:bodyPr/>
                    <a:lstStyle/>
                    <a:p>
                      <a:endParaRPr lang="zh-CN" altLang="en-US"/>
                    </a:p>
                  </a:txBody>
                  <a:tcPr/>
                </a:tc>
                <a:tc vMerge="1">
                  <a:txBody>
                    <a:bodyPr/>
                    <a:lstStyle/>
                    <a:p>
                      <a:endParaRPr lang="zh-CN" altLang="en-US"/>
                    </a:p>
                  </a:txBody>
                  <a:tcPr/>
                </a:tc>
                <a:tc>
                  <a:txBody>
                    <a:bodyPr/>
                    <a:lstStyle/>
                    <a:p>
                      <a:pPr algn="l" fontAlgn="ctr">
                        <a:buNone/>
                      </a:pPr>
                      <a:r>
                        <a:rPr lang="zh-CN" altLang="en-US" sz="600" b="0" i="0" u="none" strike="noStrike">
                          <a:effectLst/>
                          <a:latin typeface="+mn-ea"/>
                          <a:ea typeface="+mn-ea"/>
                        </a:rPr>
                        <a:t>晶合扩建</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0.85 </a:t>
                      </a:r>
                    </a:p>
                  </a:txBody>
                  <a:tcPr marL="0" marR="0" marT="0" marB="0" anchor="ctr">
                    <a:lnL>
                      <a:noFill/>
                    </a:lnL>
                    <a:lnR>
                      <a:noFill/>
                    </a:lnR>
                    <a:lnT>
                      <a:noFill/>
                    </a:lnT>
                    <a:lnB>
                      <a:noFill/>
                    </a:lnB>
                    <a:noFill/>
                  </a:tcPr>
                </a:tc>
                <a:extLst>
                  <a:ext uri="{0D108BD9-81ED-4DB2-BD59-A6C34878D82A}">
                    <a16:rowId xmlns:a16="http://schemas.microsoft.com/office/drawing/2014/main" xmlns="" val="3331030418"/>
                  </a:ext>
                </a:extLst>
              </a:tr>
              <a:tr h="88144">
                <a:tc vMerge="1">
                  <a:txBody>
                    <a:bodyPr/>
                    <a:lstStyle/>
                    <a:p>
                      <a:endParaRPr lang="zh-CN" altLang="en-US"/>
                    </a:p>
                  </a:txBody>
                  <a:tcPr/>
                </a:tc>
                <a:tc vMerge="1">
                  <a:txBody>
                    <a:bodyPr/>
                    <a:lstStyle/>
                    <a:p>
                      <a:endParaRPr lang="zh-CN" altLang="en-US"/>
                    </a:p>
                  </a:txBody>
                  <a:tcPr/>
                </a:tc>
                <a:tc>
                  <a:txBody>
                    <a:bodyPr/>
                    <a:lstStyle/>
                    <a:p>
                      <a:pPr algn="l" fontAlgn="ctr">
                        <a:buNone/>
                      </a:pPr>
                      <a:r>
                        <a:rPr lang="en-US" sz="600" b="0" i="0" u="none" strike="noStrike">
                          <a:solidFill>
                            <a:srgbClr val="000000"/>
                          </a:solidFill>
                          <a:effectLst/>
                          <a:latin typeface="+mn-ea"/>
                          <a:ea typeface="+mn-ea"/>
                        </a:rPr>
                        <a:t>N1A3</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4.95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4.95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4.95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4.95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4.95 </a:t>
                      </a:r>
                    </a:p>
                  </a:txBody>
                  <a:tcPr marL="0" marR="0" marT="0" marB="0" anchor="ctr">
                    <a:lnL>
                      <a:noFill/>
                    </a:lnL>
                    <a:lnR>
                      <a:noFill/>
                    </a:lnR>
                    <a:lnT>
                      <a:noFill/>
                    </a:lnT>
                    <a:lnB>
                      <a:noFill/>
                    </a:lnB>
                    <a:noFill/>
                  </a:tcPr>
                </a:tc>
                <a:extLst>
                  <a:ext uri="{0D108BD9-81ED-4DB2-BD59-A6C34878D82A}">
                    <a16:rowId xmlns:a16="http://schemas.microsoft.com/office/drawing/2014/main" xmlns="" val="1269280499"/>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惠科股份</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惠科股份项目</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1.80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3.30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2748711237"/>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信利半导体</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信利半导体项目</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1.15 </a:t>
                      </a:r>
                    </a:p>
                  </a:txBody>
                  <a:tcPr marL="0" marR="0" marT="0" marB="0" anchor="ctr">
                    <a:lnL>
                      <a:noFill/>
                    </a:lnL>
                    <a:lnR>
                      <a:noFill/>
                    </a:lnR>
                    <a:lnT>
                      <a:noFill/>
                    </a:lnT>
                    <a:lnB>
                      <a:noFill/>
                    </a:lnB>
                    <a:noFill/>
                  </a:tcPr>
                </a:tc>
                <a:extLst>
                  <a:ext uri="{0D108BD9-81ED-4DB2-BD59-A6C34878D82A}">
                    <a16:rowId xmlns:a16="http://schemas.microsoft.com/office/drawing/2014/main" xmlns="" val="2402124326"/>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风华高科</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风华高科项目</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2225234687"/>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华科电子</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华科电子项目</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0.15 </a:t>
                      </a:r>
                    </a:p>
                  </a:txBody>
                  <a:tcPr marL="0" marR="0" marT="0" marB="0" anchor="ctr">
                    <a:lnL>
                      <a:noFill/>
                    </a:lnL>
                    <a:lnR>
                      <a:noFill/>
                    </a:lnR>
                    <a:lnT>
                      <a:noFill/>
                    </a:lnT>
                    <a:lnB>
                      <a:noFill/>
                    </a:lnB>
                    <a:noFill/>
                  </a:tcPr>
                </a:tc>
                <a:extLst>
                  <a:ext uri="{0D108BD9-81ED-4DB2-BD59-A6C34878D82A}">
                    <a16:rowId xmlns:a16="http://schemas.microsoft.com/office/drawing/2014/main" xmlns="" val="658584053"/>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赛意法微电子</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赛意法微电子项目</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4254997259"/>
                  </a:ext>
                </a:extLst>
              </a:tr>
              <a:tr h="88144">
                <a:tc vMerge="1">
                  <a:txBody>
                    <a:bodyPr/>
                    <a:lstStyle/>
                    <a:p>
                      <a:endParaRPr lang="zh-CN" altLang="en-US"/>
                    </a:p>
                  </a:txBody>
                  <a:tcPr/>
                </a:tc>
                <a:tc>
                  <a:txBody>
                    <a:bodyPr/>
                    <a:lstStyle/>
                    <a:p>
                      <a:pPr algn="l" fontAlgn="ctr">
                        <a:buNone/>
                      </a:pPr>
                      <a:r>
                        <a:rPr lang="zh-CN" altLang="en-US" sz="600" b="0" i="0" u="none" strike="noStrike" dirty="0">
                          <a:solidFill>
                            <a:srgbClr val="000000"/>
                          </a:solidFill>
                          <a:effectLst/>
                          <a:latin typeface="+mn-ea"/>
                          <a:ea typeface="+mn-ea"/>
                        </a:rPr>
                        <a:t>长鑫存储</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合肥长鑫二期</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3.75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3.75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7.50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7.50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7.50 </a:t>
                      </a:r>
                    </a:p>
                  </a:txBody>
                  <a:tcPr marL="0" marR="0" marT="0" marB="0" anchor="ctr">
                    <a:lnL>
                      <a:noFill/>
                    </a:lnL>
                    <a:lnR>
                      <a:noFill/>
                    </a:lnR>
                    <a:lnT>
                      <a:noFill/>
                    </a:lnT>
                    <a:lnB>
                      <a:noFill/>
                    </a:lnB>
                    <a:noFill/>
                  </a:tcPr>
                </a:tc>
                <a:extLst>
                  <a:ext uri="{0D108BD9-81ED-4DB2-BD59-A6C34878D82A}">
                    <a16:rowId xmlns:a16="http://schemas.microsoft.com/office/drawing/2014/main" xmlns="" val="3171394777"/>
                  </a:ext>
                </a:extLst>
              </a:tr>
              <a:tr h="88144">
                <a:tc vMerge="1">
                  <a:txBody>
                    <a:bodyPr/>
                    <a:lstStyle/>
                    <a:p>
                      <a:endParaRPr lang="zh-CN" altLang="en-US"/>
                    </a:p>
                  </a:txBody>
                  <a:tcPr/>
                </a:tc>
                <a:tc>
                  <a:txBody>
                    <a:bodyPr/>
                    <a:lstStyle/>
                    <a:p>
                      <a:pPr algn="l" fontAlgn="ctr">
                        <a:buNone/>
                      </a:pPr>
                      <a:r>
                        <a:rPr lang="zh-CN" altLang="en-US" sz="600" b="0" i="0" u="none" strike="noStrike" dirty="0">
                          <a:solidFill>
                            <a:srgbClr val="000000"/>
                          </a:solidFill>
                          <a:effectLst/>
                          <a:latin typeface="+mn-ea"/>
                          <a:ea typeface="+mn-ea"/>
                        </a:rPr>
                        <a:t>长鑫集电</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长鑫集电二期</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3.00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8.00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8.00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8.00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8.00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3061838021"/>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青岛芯恩</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青岛芯恩二期</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4.50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6.00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6.00 </a:t>
                      </a:r>
                    </a:p>
                  </a:txBody>
                  <a:tcPr marL="0" marR="0" marT="0" marB="0" anchor="ctr">
                    <a:lnL>
                      <a:noFill/>
                    </a:lnL>
                    <a:lnR>
                      <a:noFill/>
                    </a:lnR>
                    <a:lnT>
                      <a:noFill/>
                    </a:lnT>
                    <a:lnB>
                      <a:noFill/>
                    </a:lnB>
                    <a:noFill/>
                  </a:tcPr>
                </a:tc>
                <a:extLst>
                  <a:ext uri="{0D108BD9-81ED-4DB2-BD59-A6C34878D82A}">
                    <a16:rowId xmlns:a16="http://schemas.microsoft.com/office/drawing/2014/main" xmlns="" val="3617778312"/>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鼎泰匠芯</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鼎泰匠芯项目</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2828516710"/>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粤芯半导体</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粤芯半导体三期</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1.20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1.20 </a:t>
                      </a:r>
                    </a:p>
                  </a:txBody>
                  <a:tcPr marL="0" marR="0" marT="0" marB="0" anchor="ctr">
                    <a:lnL>
                      <a:noFill/>
                    </a:lnL>
                    <a:lnR>
                      <a:noFill/>
                    </a:lnR>
                    <a:lnT>
                      <a:noFill/>
                    </a:lnT>
                    <a:lnB>
                      <a:noFill/>
                    </a:lnB>
                    <a:noFill/>
                  </a:tcPr>
                </a:tc>
                <a:extLst>
                  <a:ext uri="{0D108BD9-81ED-4DB2-BD59-A6C34878D82A}">
                    <a16:rowId xmlns:a16="http://schemas.microsoft.com/office/drawing/2014/main" xmlns="" val="2015762746"/>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方正微</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深圳方正微二期</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0.60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3887418722"/>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西安奕斯伟</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西安奕斯伟项目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extLst>
                  <a:ext uri="{0D108BD9-81ED-4DB2-BD59-A6C34878D82A}">
                    <a16:rowId xmlns:a16="http://schemas.microsoft.com/office/drawing/2014/main" xmlns="" val="1927575334"/>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深圳鹏进高科</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鹏进高科项目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0.24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0.24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0.24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0.24 </a:t>
                      </a:r>
                    </a:p>
                  </a:txBody>
                  <a:tcPr marL="0" marR="0" marT="0" marB="0" anchor="ctr">
                    <a:lnL>
                      <a:noFill/>
                    </a:lnL>
                    <a:lnR>
                      <a:noFill/>
                    </a:lnR>
                    <a:lnT>
                      <a:noFill/>
                    </a:lnT>
                    <a:lnB>
                      <a:noFill/>
                    </a:lnB>
                    <a:noFill/>
                  </a:tcPr>
                </a:tc>
                <a:extLst>
                  <a:ext uri="{0D108BD9-81ED-4DB2-BD59-A6C34878D82A}">
                    <a16:rowId xmlns:a16="http://schemas.microsoft.com/office/drawing/2014/main" xmlns="" val="3108212524"/>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增芯科技</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增芯科技项目</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1.00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1.00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85578963"/>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广州广芯</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广州广芯项目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noFill/>
                  </a:tcPr>
                </a:tc>
                <a:extLst>
                  <a:ext uri="{0D108BD9-81ED-4DB2-BD59-A6C34878D82A}">
                    <a16:rowId xmlns:a16="http://schemas.microsoft.com/office/drawing/2014/main" xmlns="" val="2413798131"/>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西安欣芯</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西安欣芯项目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0.50 </a:t>
                      </a:r>
                    </a:p>
                  </a:txBody>
                  <a:tcPr marL="0" marR="0" marT="0" marB="0" anchor="ctr">
                    <a:lnL>
                      <a:noFill/>
                    </a:lnL>
                    <a:lnR>
                      <a:noFill/>
                    </a:lnR>
                    <a:lnT>
                      <a:noFill/>
                    </a:lnT>
                    <a:lnB>
                      <a:noFill/>
                    </a:lnB>
                    <a:noFill/>
                  </a:tcPr>
                </a:tc>
                <a:extLst>
                  <a:ext uri="{0D108BD9-81ED-4DB2-BD59-A6C34878D82A}">
                    <a16:rowId xmlns:a16="http://schemas.microsoft.com/office/drawing/2014/main" xmlns="" val="2412659235"/>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北京赛莱克斯</a:t>
                      </a:r>
                    </a:p>
                  </a:txBody>
                  <a:tcPr marL="0" marR="0" marT="0" marB="0" anchor="ctr">
                    <a:lnL>
                      <a:noFill/>
                    </a:lnL>
                    <a:lnR>
                      <a:noFill/>
                    </a:lnR>
                    <a:lnT>
                      <a:noFill/>
                    </a:lnT>
                    <a:lnB>
                      <a:noFill/>
                    </a:lnB>
                    <a:noFill/>
                  </a:tcPr>
                </a:tc>
                <a:tc>
                  <a:txBody>
                    <a:bodyPr/>
                    <a:lstStyle/>
                    <a:p>
                      <a:pPr algn="l" fontAlgn="ctr">
                        <a:buNone/>
                      </a:pPr>
                      <a:r>
                        <a:rPr lang="zh-CN" altLang="en-US" sz="600" b="0" i="0" u="none" strike="noStrike">
                          <a:solidFill>
                            <a:srgbClr val="000000"/>
                          </a:solidFill>
                          <a:effectLst/>
                          <a:latin typeface="+mn-ea"/>
                          <a:ea typeface="+mn-ea"/>
                        </a:rPr>
                        <a:t>北京赛莱克斯项目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0.40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0.40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0.40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0.40 </a:t>
                      </a:r>
                    </a:p>
                  </a:txBody>
                  <a:tcPr marL="0" marR="0" marT="0" marB="0" anchor="ctr">
                    <a:lnL>
                      <a:noFill/>
                    </a:lnL>
                    <a:lnR>
                      <a:noFill/>
                    </a:lnR>
                    <a:lnT>
                      <a:noFill/>
                    </a:lnT>
                    <a:lnB>
                      <a:noFill/>
                    </a:lnB>
                    <a:noFill/>
                  </a:tcPr>
                </a:tc>
                <a:extLst>
                  <a:ext uri="{0D108BD9-81ED-4DB2-BD59-A6C34878D82A}">
                    <a16:rowId xmlns:a16="http://schemas.microsoft.com/office/drawing/2014/main" xmlns="" val="1937480348"/>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武汉楚兴（一期）</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1.50 </a:t>
                      </a:r>
                    </a:p>
                  </a:txBody>
                  <a:tcPr marL="0" marR="0" marT="0" marB="0" anchor="ctr">
                    <a:lnL>
                      <a:noFill/>
                    </a:lnL>
                    <a:lnR>
                      <a:noFill/>
                    </a:lnR>
                    <a:lnT>
                      <a:noFill/>
                    </a:lnT>
                    <a:lnB>
                      <a:noFill/>
                    </a:lnB>
                    <a:noFill/>
                  </a:tcPr>
                </a:tc>
                <a:extLst>
                  <a:ext uri="{0D108BD9-81ED-4DB2-BD59-A6C34878D82A}">
                    <a16:rowId xmlns:a16="http://schemas.microsoft.com/office/drawing/2014/main" xmlns="" val="2273293816"/>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深圳赛意法</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1.90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1.90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1.90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1.90 </a:t>
                      </a:r>
                    </a:p>
                  </a:txBody>
                  <a:tcPr marL="0" marR="0" marT="0" marB="0" anchor="ctr">
                    <a:lnL>
                      <a:noFill/>
                    </a:lnL>
                    <a:lnR>
                      <a:noFill/>
                    </a:lnR>
                    <a:lnT>
                      <a:noFill/>
                    </a:lnT>
                    <a:lnB>
                      <a:noFill/>
                    </a:lnB>
                    <a:noFill/>
                  </a:tcPr>
                </a:tc>
                <a:extLst>
                  <a:ext uri="{0D108BD9-81ED-4DB2-BD59-A6C34878D82A}">
                    <a16:rowId xmlns:a16="http://schemas.microsoft.com/office/drawing/2014/main" xmlns="" val="2225545810"/>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安徽</a:t>
                      </a:r>
                      <a:r>
                        <a:rPr lang="en-US" altLang="zh-CN" sz="600" b="0" i="0" u="none" strike="noStrike">
                          <a:solidFill>
                            <a:srgbClr val="000000"/>
                          </a:solidFill>
                          <a:effectLst/>
                          <a:latin typeface="+mn-ea"/>
                          <a:ea typeface="+mn-ea"/>
                        </a:rPr>
                        <a:t>2</a:t>
                      </a:r>
                      <a:r>
                        <a:rPr lang="zh-CN" altLang="en-US" sz="600" b="0" i="0" u="none" strike="noStrike">
                          <a:solidFill>
                            <a:srgbClr val="000000"/>
                          </a:solidFill>
                          <a:effectLst/>
                          <a:latin typeface="+mn-ea"/>
                          <a:ea typeface="+mn-ea"/>
                        </a:rPr>
                        <a:t>个项目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0.66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0.66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0.66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0.66 </a:t>
                      </a:r>
                    </a:p>
                  </a:txBody>
                  <a:tcPr marL="0" marR="0" marT="0" marB="0" anchor="ctr">
                    <a:lnL>
                      <a:noFill/>
                    </a:lnL>
                    <a:lnR>
                      <a:noFill/>
                    </a:lnR>
                    <a:lnT>
                      <a:noFill/>
                    </a:lnT>
                    <a:lnB>
                      <a:noFill/>
                    </a:lnB>
                    <a:noFill/>
                  </a:tcPr>
                </a:tc>
                <a:extLst>
                  <a:ext uri="{0D108BD9-81ED-4DB2-BD59-A6C34878D82A}">
                    <a16:rowId xmlns:a16="http://schemas.microsoft.com/office/drawing/2014/main" xmlns="" val="1073989598"/>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合肥、北京扩产项目</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2.50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2.50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2.50 </a:t>
                      </a:r>
                    </a:p>
                  </a:txBody>
                  <a:tcPr marL="0" marR="0" marT="0" marB="0" anchor="ctr">
                    <a:lnL>
                      <a:noFill/>
                    </a:lnL>
                    <a:lnR>
                      <a:noFill/>
                    </a:lnR>
                    <a:lnT>
                      <a:noFill/>
                    </a:lnT>
                    <a:lnB>
                      <a:noFill/>
                    </a:lnB>
                    <a:noFill/>
                  </a:tcPr>
                </a:tc>
                <a:extLst>
                  <a:ext uri="{0D108BD9-81ED-4DB2-BD59-A6C34878D82A}">
                    <a16:rowId xmlns:a16="http://schemas.microsoft.com/office/drawing/2014/main" xmlns="" val="81845905"/>
                  </a:ext>
                </a:extLst>
              </a:tr>
              <a:tr h="190827">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新增项目（武汉楚兴二期、珠海华灿等</a:t>
                      </a:r>
                      <a:r>
                        <a:rPr lang="en-US" altLang="zh-CN" sz="600" b="0" i="0" u="none" strike="noStrike">
                          <a:solidFill>
                            <a:srgbClr val="000000"/>
                          </a:solidFill>
                          <a:effectLst/>
                          <a:latin typeface="+mn-ea"/>
                          <a:ea typeface="+mn-ea"/>
                        </a:rPr>
                        <a:t>)</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5.00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5.00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5.00 </a:t>
                      </a:r>
                    </a:p>
                  </a:txBody>
                  <a:tcPr marL="0" marR="0" marT="0" marB="0" anchor="ctr">
                    <a:lnL>
                      <a:noFill/>
                    </a:lnL>
                    <a:lnR>
                      <a:noFill/>
                    </a:lnR>
                    <a:lnT>
                      <a:noFill/>
                    </a:lnT>
                    <a:lnB>
                      <a:noFill/>
                    </a:lnB>
                    <a:noFill/>
                  </a:tcPr>
                </a:tc>
                <a:extLst>
                  <a:ext uri="{0D108BD9-81ED-4DB2-BD59-A6C34878D82A}">
                    <a16:rowId xmlns:a16="http://schemas.microsoft.com/office/drawing/2014/main" xmlns="" val="445947515"/>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长江存储</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8.00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13.00 </a:t>
                      </a:r>
                    </a:p>
                  </a:txBody>
                  <a:tcPr marL="0" marR="0" marT="0" marB="0" anchor="ctr">
                    <a:lnL>
                      <a:noFill/>
                    </a:lnL>
                    <a:lnR>
                      <a:noFill/>
                    </a:lnR>
                    <a:lnT>
                      <a:noFill/>
                    </a:lnT>
                    <a:lnB>
                      <a:noFill/>
                    </a:lnB>
                    <a:noFill/>
                  </a:tcPr>
                </a:tc>
                <a:extLst>
                  <a:ext uri="{0D108BD9-81ED-4DB2-BD59-A6C34878D82A}">
                    <a16:rowId xmlns:a16="http://schemas.microsoft.com/office/drawing/2014/main" xmlns="" val="3271551356"/>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其他项目</a:t>
                      </a:r>
                      <a:r>
                        <a:rPr lang="en-US" altLang="zh-CN" sz="600" b="0" i="0" u="none" strike="noStrike">
                          <a:solidFill>
                            <a:srgbClr val="000000"/>
                          </a:solidFill>
                          <a:effectLst/>
                          <a:latin typeface="+mn-ea"/>
                          <a:ea typeface="+mn-ea"/>
                        </a:rPr>
                        <a:t>25</a:t>
                      </a:r>
                      <a:r>
                        <a:rPr lang="en-US" sz="600" b="0" i="0" u="none" strike="noStrike">
                          <a:solidFill>
                            <a:srgbClr val="000000"/>
                          </a:solidFill>
                          <a:effectLst/>
                          <a:latin typeface="+mn-ea"/>
                          <a:ea typeface="+mn-ea"/>
                        </a:rPr>
                        <a:t>Q1-3</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7.00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13.00 </a:t>
                      </a:r>
                    </a:p>
                  </a:txBody>
                  <a:tcPr marL="0" marR="0" marT="0" marB="0" anchor="ctr">
                    <a:lnL>
                      <a:noFill/>
                    </a:lnL>
                    <a:lnR>
                      <a:noFill/>
                    </a:lnR>
                    <a:lnT>
                      <a:noFill/>
                    </a:lnT>
                    <a:lnB>
                      <a:noFill/>
                    </a:lnB>
                    <a:noFill/>
                  </a:tcPr>
                </a:tc>
                <a:extLst>
                  <a:ext uri="{0D108BD9-81ED-4DB2-BD59-A6C34878D82A}">
                    <a16:rowId xmlns:a16="http://schemas.microsoft.com/office/drawing/2014/main" xmlns="" val="3112929987"/>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长鑫</a:t>
                      </a:r>
                      <a:r>
                        <a:rPr lang="en-US" sz="600" b="0" i="0" u="none" strike="noStrike">
                          <a:solidFill>
                            <a:srgbClr val="000000"/>
                          </a:solidFill>
                          <a:effectLst/>
                          <a:latin typeface="+mn-ea"/>
                          <a:ea typeface="+mn-ea"/>
                        </a:rPr>
                        <a:t>P3</a:t>
                      </a: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l" fontAlgn="ctr">
                        <a:buNone/>
                      </a:pPr>
                      <a:endParaRPr lang="zh-CN" altLang="en-US" sz="60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3.75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3.75 </a:t>
                      </a:r>
                    </a:p>
                  </a:txBody>
                  <a:tcPr marL="0" marR="0" marT="0" marB="0" anchor="ctr">
                    <a:lnL>
                      <a:noFill/>
                    </a:lnL>
                    <a:lnR>
                      <a:noFill/>
                    </a:lnR>
                    <a:lnT>
                      <a:noFill/>
                    </a:lnT>
                    <a:lnB>
                      <a:noFill/>
                    </a:lnB>
                    <a:noFill/>
                  </a:tcPr>
                </a:tc>
                <a:tc>
                  <a:txBody>
                    <a:bodyPr/>
                    <a:lstStyle/>
                    <a:p>
                      <a:pPr algn="r" fontAlgn="ctr">
                        <a:buNone/>
                      </a:pPr>
                      <a:r>
                        <a:rPr lang="en-US" altLang="zh-CN" sz="600" b="0" i="0" u="none" strike="noStrike">
                          <a:solidFill>
                            <a:srgbClr val="000000"/>
                          </a:solidFill>
                          <a:effectLst/>
                          <a:latin typeface="+mn-ea"/>
                          <a:ea typeface="+mn-ea"/>
                        </a:rPr>
                        <a:t>3.75 </a:t>
                      </a:r>
                    </a:p>
                  </a:txBody>
                  <a:tcPr marL="0" marR="0" marT="0" marB="0" anchor="ctr">
                    <a:lnL>
                      <a:noFill/>
                    </a:lnL>
                    <a:lnR>
                      <a:noFill/>
                    </a:lnR>
                    <a:lnT>
                      <a:noFill/>
                    </a:lnT>
                    <a:lnB>
                      <a:noFill/>
                    </a:lnB>
                    <a:noFill/>
                  </a:tcPr>
                </a:tc>
                <a:extLst>
                  <a:ext uri="{0D108BD9-81ED-4DB2-BD59-A6C34878D82A}">
                    <a16:rowId xmlns:a16="http://schemas.microsoft.com/office/drawing/2014/main" xmlns="" val="3858573182"/>
                  </a:ext>
                </a:extLst>
              </a:tr>
              <a:tr h="88144">
                <a:tc vMerge="1">
                  <a:txBody>
                    <a:bodyPr/>
                    <a:lstStyle/>
                    <a:p>
                      <a:endParaRPr lang="zh-CN" altLang="en-US"/>
                    </a:p>
                  </a:txBody>
                  <a:tcPr/>
                </a:tc>
                <a:tc>
                  <a:txBody>
                    <a:bodyPr/>
                    <a:lstStyle/>
                    <a:p>
                      <a:pPr algn="l" fontAlgn="ctr">
                        <a:buNone/>
                      </a:pPr>
                      <a:r>
                        <a:rPr lang="zh-CN" altLang="en-US" sz="600" b="0" i="0" u="none" strike="noStrike">
                          <a:solidFill>
                            <a:srgbClr val="000000"/>
                          </a:solidFill>
                          <a:effectLst/>
                          <a:latin typeface="+mn-ea"/>
                          <a:ea typeface="+mn-ea"/>
                        </a:rPr>
                        <a:t>其他小项目</a:t>
                      </a:r>
                    </a:p>
                  </a:txBody>
                  <a:tcPr marL="0" marR="0" marT="0" marB="0" anchor="ctr">
                    <a:lnL>
                      <a:noFill/>
                    </a:lnL>
                    <a:lnR>
                      <a:noFill/>
                    </a:lnR>
                    <a:lnT>
                      <a:noFill/>
                    </a:lnT>
                    <a:lnB>
                      <a:noFill/>
                    </a:lnB>
                    <a:solidFill>
                      <a:srgbClr val="F2F2F2"/>
                    </a:solidFill>
                  </a:tcPr>
                </a:tc>
                <a:tc>
                  <a:txBody>
                    <a:bodyPr/>
                    <a:lstStyle/>
                    <a:p>
                      <a:pPr algn="l" fontAlgn="ctr">
                        <a:buNone/>
                      </a:pPr>
                      <a:r>
                        <a:rPr lang="zh-CN" altLang="en-US" sz="600" b="0" i="0" u="none" strike="noStrike">
                          <a:solidFill>
                            <a:srgbClr val="000000"/>
                          </a:solidFill>
                          <a:effectLst/>
                          <a:latin typeface="+mn-ea"/>
                          <a:ea typeface="+mn-ea"/>
                        </a:rPr>
                        <a:t>其他</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0.25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0.35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0.82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00" b="0" i="0" u="none" strike="noStrike">
                          <a:solidFill>
                            <a:srgbClr val="000000"/>
                          </a:solidFill>
                          <a:effectLst/>
                          <a:latin typeface="+mn-ea"/>
                          <a:ea typeface="+mn-ea"/>
                        </a:rPr>
                        <a:t>1.12 </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1398539212"/>
                  </a:ext>
                </a:extLst>
              </a:tr>
              <a:tr h="88144">
                <a:tc gridSpan="3">
                  <a:txBody>
                    <a:bodyPr/>
                    <a:lstStyle/>
                    <a:p>
                      <a:pPr algn="ctr" fontAlgn="ctr">
                        <a:buNone/>
                      </a:pPr>
                      <a:r>
                        <a:rPr lang="zh-CN" altLang="en-US" sz="600" b="1" i="0" u="none" strike="noStrike">
                          <a:solidFill>
                            <a:srgbClr val="000000"/>
                          </a:solidFill>
                          <a:effectLst/>
                          <a:latin typeface="+mn-ea"/>
                          <a:ea typeface="+mn-ea"/>
                        </a:rPr>
                        <a:t>合计</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a:txBody>
                    <a:bodyPr/>
                    <a:lstStyle/>
                    <a:p>
                      <a:pPr algn="r" fontAlgn="ctr">
                        <a:buNone/>
                      </a:pPr>
                      <a:r>
                        <a:rPr lang="en-US" altLang="zh-CN" sz="600" b="1" i="0" u="none" strike="noStrike">
                          <a:solidFill>
                            <a:srgbClr val="000000"/>
                          </a:solidFill>
                          <a:effectLst/>
                          <a:latin typeface="+mn-ea"/>
                          <a:ea typeface="+mn-ea"/>
                        </a:rPr>
                        <a:t>7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9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11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20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30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00" b="1" i="0" u="none" strike="noStrike">
                          <a:solidFill>
                            <a:srgbClr val="000000"/>
                          </a:solidFill>
                          <a:effectLst/>
                          <a:latin typeface="+mn-ea"/>
                          <a:ea typeface="+mn-ea"/>
                        </a:rPr>
                        <a:t>45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rgbClr val="FFFF00"/>
                    </a:solidFill>
                  </a:tcPr>
                </a:tc>
                <a:tc>
                  <a:txBody>
                    <a:bodyPr/>
                    <a:lstStyle/>
                    <a:p>
                      <a:pPr algn="r" fontAlgn="ctr">
                        <a:buNone/>
                      </a:pPr>
                      <a:r>
                        <a:rPr lang="en-US" altLang="zh-CN" sz="600" b="1" i="0" u="none" strike="noStrike">
                          <a:solidFill>
                            <a:srgbClr val="000000"/>
                          </a:solidFill>
                          <a:effectLst/>
                          <a:latin typeface="+mn-ea"/>
                          <a:ea typeface="+mn-ea"/>
                        </a:rPr>
                        <a:t>64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rgbClr val="FFFF00"/>
                    </a:solidFill>
                  </a:tcPr>
                </a:tc>
                <a:tc>
                  <a:txBody>
                    <a:bodyPr/>
                    <a:lstStyle/>
                    <a:p>
                      <a:pPr algn="r" fontAlgn="ctr">
                        <a:buNone/>
                      </a:pPr>
                      <a:r>
                        <a:rPr lang="en-US" altLang="zh-CN" sz="600" b="1" i="0" u="none" strike="noStrike">
                          <a:solidFill>
                            <a:srgbClr val="000000"/>
                          </a:solidFill>
                          <a:effectLst/>
                          <a:latin typeface="+mn-ea"/>
                          <a:ea typeface="+mn-ea"/>
                        </a:rPr>
                        <a:t>78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rgbClr val="FFFF00"/>
                    </a:solidFill>
                  </a:tcPr>
                </a:tc>
                <a:tc>
                  <a:txBody>
                    <a:bodyPr/>
                    <a:lstStyle/>
                    <a:p>
                      <a:pPr algn="r" fontAlgn="ctr">
                        <a:buNone/>
                      </a:pPr>
                      <a:r>
                        <a:rPr lang="en-US" altLang="zh-CN" sz="600" b="1" i="0" u="none" strike="noStrike" dirty="0">
                          <a:solidFill>
                            <a:srgbClr val="000000"/>
                          </a:solidFill>
                          <a:effectLst/>
                          <a:latin typeface="+mn-ea"/>
                          <a:ea typeface="+mn-ea"/>
                        </a:rPr>
                        <a:t>89 </a:t>
                      </a:r>
                    </a:p>
                  </a:txBody>
                  <a:tcPr marL="0" marR="0" marT="0" marB="0" anchor="ctr">
                    <a:lnL>
                      <a:noFill/>
                    </a:lnL>
                    <a:lnR>
                      <a:noFill/>
                    </a:lnR>
                    <a:lnT>
                      <a:noFill/>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xmlns="" val="3328931887"/>
                  </a:ext>
                </a:extLst>
              </a:tr>
            </a:tbl>
          </a:graphicData>
        </a:graphic>
      </p:graphicFrame>
    </p:spTree>
    <p:extLst>
      <p:ext uri="{BB962C8B-B14F-4D97-AF65-F5344CB8AC3E}">
        <p14:creationId xmlns:p14="http://schemas.microsoft.com/office/powerpoint/2010/main" val="3525254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783952" y="417218"/>
            <a:ext cx="9418549"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长期空间：中国电子大宗气体市占率有望达</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35%~40%</a:t>
            </a:r>
            <a:endPar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endParaRPr>
          </a:p>
        </p:txBody>
      </p:sp>
      <p:sp>
        <p:nvSpPr>
          <p:cNvPr id="3" name="文本占位符 5"/>
          <p:cNvSpPr txBox="1"/>
          <p:nvPr/>
        </p:nvSpPr>
        <p:spPr>
          <a:xfrm>
            <a:off x="361666" y="813403"/>
            <a:ext cx="8466179" cy="235271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从竞争力看，公司正在设备技术与运营经验上加速追赶海外气体厂商，叠加国际贸易环境动荡下，市占率提升逻辑明确。</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设备技术：唯一</a:t>
            </a:r>
            <a:r>
              <a:rPr lang="en-US" altLang="zh-CN" sz="1100" dirty="0">
                <a:latin typeface="Arial" panose="020B0604020202020204" pitchFamily="34" charset="0"/>
                <a:ea typeface="思源黑体 Heavy" panose="020B0A00000000000000" pitchFamily="34" charset="-122"/>
                <a:cs typeface="Arial" panose="020B0604020202020204" pitchFamily="34" charset="0"/>
              </a:rPr>
              <a:t>9N</a:t>
            </a:r>
            <a:r>
              <a:rPr lang="zh-CN" altLang="en-US" sz="1100" dirty="0">
                <a:latin typeface="Arial" panose="020B0604020202020204" pitchFamily="34" charset="0"/>
                <a:ea typeface="思源黑体 Heavy" panose="020B0A00000000000000" pitchFamily="34" charset="-122"/>
                <a:cs typeface="Arial" panose="020B0604020202020204" pitchFamily="34" charset="0"/>
              </a:rPr>
              <a:t>制氮机技术国产厂商拥有者。成熟单机规模达到</a:t>
            </a:r>
            <a:r>
              <a:rPr lang="en-US" altLang="zh-CN" sz="1100" dirty="0">
                <a:latin typeface="Arial" panose="020B0604020202020204" pitchFamily="34" charset="0"/>
                <a:ea typeface="思源黑体 Heavy" panose="020B0A00000000000000" pitchFamily="34" charset="-122"/>
                <a:cs typeface="Arial" panose="020B0604020202020204" pitchFamily="34" charset="0"/>
              </a:rPr>
              <a:t>5</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，在研</a:t>
            </a:r>
            <a:r>
              <a:rPr lang="en-US" altLang="zh-CN" sz="1100" dirty="0">
                <a:latin typeface="Arial" panose="020B0604020202020204" pitchFamily="34" charset="0"/>
                <a:ea typeface="思源黑体 Heavy" panose="020B0A00000000000000" pitchFamily="34" charset="-122"/>
                <a:cs typeface="Arial" panose="020B0604020202020204" pitchFamily="34" charset="0"/>
              </a:rPr>
              <a:t>7-10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/h</a:t>
            </a:r>
            <a:r>
              <a:rPr lang="zh-CN" altLang="en-US" sz="1100" dirty="0">
                <a:latin typeface="Arial" panose="020B0604020202020204" pitchFamily="34" charset="0"/>
                <a:ea typeface="思源黑体 Heavy" panose="020B0A00000000000000" pitchFamily="34" charset="-122"/>
                <a:cs typeface="Arial" panose="020B0604020202020204" pitchFamily="34" charset="0"/>
              </a:rPr>
              <a:t>的</a:t>
            </a:r>
            <a:r>
              <a:rPr lang="en-US" altLang="zh-CN" sz="1100" dirty="0">
                <a:latin typeface="Arial" panose="020B0604020202020204" pitchFamily="34" charset="0"/>
                <a:ea typeface="思源黑体 Heavy" panose="020B0A00000000000000" pitchFamily="34" charset="-122"/>
                <a:cs typeface="Arial" panose="020B0604020202020204" pitchFamily="34" charset="0"/>
              </a:rPr>
              <a:t>9N</a:t>
            </a:r>
            <a:r>
              <a:rPr lang="zh-CN" altLang="en-US" sz="1100" dirty="0">
                <a:latin typeface="Arial" panose="020B0604020202020204" pitchFamily="34" charset="0"/>
                <a:ea typeface="思源黑体 Heavy" panose="020B0A00000000000000" pitchFamily="34" charset="-122"/>
                <a:cs typeface="Arial" panose="020B0604020202020204" pitchFamily="34" charset="0"/>
              </a:rPr>
              <a:t>制氮机，加速追赶外资选手，碾压国内其他竞争对手。此外，公司建德设备制造基地的投产将进一步降低公司成本、加快项目交付速度。</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运营经验：</a:t>
            </a:r>
            <a:r>
              <a:rPr lang="en-US" altLang="zh-CN" sz="1100" dirty="0">
                <a:latin typeface="Arial" panose="020B0604020202020204" pitchFamily="34" charset="0"/>
                <a:ea typeface="思源黑体 Heavy" panose="020B0A00000000000000" pitchFamily="34" charset="-122"/>
                <a:cs typeface="Arial" panose="020B0604020202020204" pitchFamily="34" charset="0"/>
              </a:rPr>
              <a:t>5-10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万方项目经验国产厂商拥有者。电子行业十分在乎成熟运营经验与落地业绩，公司具备面板、晶圆大型项目气体运营成功经验。</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国产化：多个大厂被制裁，电子气作为保障晶圆制造的核心材料，国产化率提升是绝对趋势。</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长期市占率：公司电子大宗气体长期国内市占率有望达</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35%~40%</a:t>
            </a: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电子大宗气体的商业模式决定行业本身集中度高的特点，当前中国存量市场的</a:t>
            </a:r>
            <a:r>
              <a:rPr lang="en-US" altLang="zh-CN" sz="1100" dirty="0">
                <a:latin typeface="Arial" panose="020B0604020202020204" pitchFamily="34" charset="0"/>
                <a:ea typeface="思源黑体 Heavy" panose="020B0A00000000000000" pitchFamily="34" charset="-122"/>
                <a:cs typeface="Arial" panose="020B0604020202020204" pitchFamily="34" charset="0"/>
              </a:rPr>
              <a:t>85%</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以上均为</a:t>
            </a:r>
            <a:r>
              <a:rPr lang="en-US" altLang="zh-CN" sz="1100" dirty="0">
                <a:latin typeface="Arial" panose="020B0604020202020204" pitchFamily="34" charset="0"/>
                <a:ea typeface="思源黑体 Heavy" panose="020B0A00000000000000" pitchFamily="34" charset="-122"/>
                <a:cs typeface="Arial" panose="020B0604020202020204" pitchFamily="34" charset="0"/>
              </a:rPr>
              <a:t>3-4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家外资厂商（法液空、</a:t>
            </a:r>
            <a:r>
              <a:rPr lang="en-US" altLang="zh-CN" sz="1100" dirty="0">
                <a:latin typeface="Arial" panose="020B0604020202020204" pitchFamily="34" charset="0"/>
                <a:ea typeface="思源黑体 Heavy" panose="020B0A00000000000000" pitchFamily="34" charset="-122"/>
                <a:cs typeface="Arial" panose="020B0604020202020204" pitchFamily="34" charset="0"/>
              </a:rPr>
              <a:t>AP</a:t>
            </a:r>
            <a:r>
              <a:rPr lang="zh-CN" altLang="en-US" sz="1100" dirty="0">
                <a:latin typeface="Arial" panose="020B0604020202020204" pitchFamily="34" charset="0"/>
                <a:ea typeface="思源黑体 Heavy" panose="020B0A00000000000000" pitchFamily="34" charset="-122"/>
                <a:cs typeface="Arial" panose="020B0604020202020204" pitchFamily="34" charset="0"/>
              </a:rPr>
              <a:t>、林德、梅塞尔）占有，且由于签单时间长达</a:t>
            </a:r>
            <a:r>
              <a:rPr lang="en-US" altLang="zh-CN" sz="1100" dirty="0">
                <a:latin typeface="Arial" panose="020B0604020202020204" pitchFamily="34" charset="0"/>
                <a:ea typeface="思源黑体 Heavy" panose="020B0A00000000000000" pitchFamily="34" charset="-122"/>
                <a:cs typeface="Arial" panose="020B0604020202020204" pitchFamily="34" charset="0"/>
              </a:rPr>
              <a:t>15+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年，存量市场抢份额逻辑走不通，铸就高壁垒、高集中度。</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截至</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年，公司存量市场占有约为</a:t>
            </a:r>
            <a:r>
              <a:rPr lang="en-US" altLang="zh-CN" sz="1100" dirty="0">
                <a:latin typeface="Arial" panose="020B0604020202020204" pitchFamily="34" charset="0"/>
                <a:ea typeface="思源黑体 Heavy" panose="020B0A00000000000000" pitchFamily="34" charset="-122"/>
                <a:cs typeface="Arial" panose="020B0604020202020204" pitchFamily="34" charset="0"/>
              </a:rPr>
              <a:t>9.8%</a:t>
            </a:r>
            <a:r>
              <a:rPr lang="zh-CN" altLang="en-US" sz="1100" dirty="0">
                <a:latin typeface="Arial" panose="020B0604020202020204" pitchFamily="34" charset="0"/>
                <a:ea typeface="思源黑体 Heavy" panose="020B0A00000000000000" pitchFamily="34" charset="-122"/>
                <a:cs typeface="Arial" panose="020B0604020202020204" pitchFamily="34" charset="0"/>
              </a:rPr>
              <a:t>，新增市场市占率约为</a:t>
            </a:r>
            <a:r>
              <a:rPr lang="en-US" altLang="zh-CN" sz="1100" dirty="0">
                <a:latin typeface="Arial" panose="020B0604020202020204" pitchFamily="34" charset="0"/>
                <a:ea typeface="思源黑体 Heavy" panose="020B0A00000000000000" pitchFamily="34" charset="-122"/>
                <a:cs typeface="Arial" panose="020B0604020202020204" pitchFamily="34" charset="0"/>
              </a:rPr>
              <a:t>50%</a:t>
            </a:r>
            <a:r>
              <a:rPr lang="zh-CN" altLang="en-US" sz="1100" dirty="0">
                <a:latin typeface="Arial" panose="020B0604020202020204" pitchFamily="34" charset="0"/>
                <a:ea typeface="思源黑体 Heavy" panose="020B0A00000000000000" pitchFamily="34" charset="-122"/>
                <a:cs typeface="Arial" panose="020B0604020202020204" pitchFamily="34" charset="0"/>
              </a:rPr>
              <a:t>，现有晶圆厂扩产规划与此前已建成产能规模类似，因此计算公司长期市占率为</a:t>
            </a:r>
            <a:r>
              <a:rPr lang="en-US" altLang="zh-CN" sz="1100" dirty="0">
                <a:latin typeface="Arial" panose="020B0604020202020204" pitchFamily="34" charset="0"/>
                <a:ea typeface="思源黑体 Heavy" panose="020B0A00000000000000" pitchFamily="34" charset="-122"/>
                <a:cs typeface="Arial" panose="020B0604020202020204" pitchFamily="34" charset="0"/>
              </a:rPr>
              <a:t>35%</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对应大宗电气收入可达</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110-130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亿元左右。</a:t>
            </a:r>
            <a:endParaRPr lang="en-US" altLang="zh-CN" sz="1600" b="1" dirty="0">
              <a:solidFill>
                <a:srgbClr val="C00000"/>
              </a:solidFill>
              <a:latin typeface="Arial" panose="020B0604020202020204" pitchFamily="34" charset="0"/>
              <a:ea typeface="+mj-ea"/>
              <a:cs typeface="Arial" panose="020B0604020202020204" pitchFamily="34" charset="0"/>
            </a:endParaRPr>
          </a:p>
        </p:txBody>
      </p:sp>
      <p:sp>
        <p:nvSpPr>
          <p:cNvPr id="4" name="TextBox 23"/>
          <p:cNvSpPr txBox="1">
            <a:spLocks noChangeArrowheads="1"/>
          </p:cNvSpPr>
          <p:nvPr/>
        </p:nvSpPr>
        <p:spPr bwMode="auto">
          <a:xfrm>
            <a:off x="552092" y="3219824"/>
            <a:ext cx="44620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图：公司在超大规模电子大宗项目的能力绝对领先</a:t>
            </a:r>
          </a:p>
        </p:txBody>
      </p:sp>
      <p:graphicFrame>
        <p:nvGraphicFramePr>
          <p:cNvPr id="5" name="图表 4"/>
          <p:cNvGraphicFramePr/>
          <p:nvPr/>
        </p:nvGraphicFramePr>
        <p:xfrm>
          <a:off x="552092" y="3418059"/>
          <a:ext cx="4395288" cy="126312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23"/>
          <p:cNvSpPr txBox="1">
            <a:spLocks noChangeArrowheads="1"/>
          </p:cNvSpPr>
          <p:nvPr/>
        </p:nvSpPr>
        <p:spPr bwMode="auto">
          <a:xfrm>
            <a:off x="4572000" y="3297418"/>
            <a:ext cx="446204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图：中国存量大宗电子气市场格局</a:t>
            </a:r>
          </a:p>
        </p:txBody>
      </p:sp>
      <p:graphicFrame>
        <p:nvGraphicFramePr>
          <p:cNvPr id="7" name="图表 6"/>
          <p:cNvGraphicFramePr/>
          <p:nvPr/>
        </p:nvGraphicFramePr>
        <p:xfrm>
          <a:off x="5014139" y="3597346"/>
          <a:ext cx="3448371" cy="1083836"/>
        </p:xfrm>
        <a:graphic>
          <a:graphicData uri="http://schemas.openxmlformats.org/drawingml/2006/chart">
            <c:chart xmlns:c="http://schemas.openxmlformats.org/drawingml/2006/chart" xmlns:r="http://schemas.openxmlformats.org/officeDocument/2006/relationships" r:id="rId3"/>
          </a:graphicData>
        </a:graphic>
      </p:graphicFrame>
      <p:sp>
        <p:nvSpPr>
          <p:cNvPr id="8" name="矩形 7">
            <a:extLst>
              <a:ext uri="{FF2B5EF4-FFF2-40B4-BE49-F238E27FC236}">
                <a16:creationId xmlns:a16="http://schemas.microsoft.com/office/drawing/2014/main" xmlns="" id="{A26DA97C-16F5-1A14-6B88-3808387B56B1}"/>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9" name="矩形 8">
            <a:extLst>
              <a:ext uri="{FF2B5EF4-FFF2-40B4-BE49-F238E27FC236}">
                <a16:creationId xmlns:a16="http://schemas.microsoft.com/office/drawing/2014/main" xmlns="" id="{668C793B-B679-090B-DE4B-12D6785D15A5}"/>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4088796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A168CEB-C292-3DD8-4969-9BE265283E0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xmlns="" id="{99EEF520-ACB7-B720-39BD-487B93B26701}"/>
              </a:ext>
            </a:extLst>
          </p:cNvPr>
          <p:cNvGrpSpPr/>
          <p:nvPr/>
        </p:nvGrpSpPr>
        <p:grpSpPr>
          <a:xfrm>
            <a:off x="779630" y="1222042"/>
            <a:ext cx="7992888" cy="2152585"/>
            <a:chOff x="1763688" y="1403470"/>
            <a:chExt cx="7992888" cy="2152585"/>
          </a:xfrm>
        </p:grpSpPr>
        <p:sp>
          <p:nvSpPr>
            <p:cNvPr id="4" name="文本框 1">
              <a:extLst>
                <a:ext uri="{FF2B5EF4-FFF2-40B4-BE49-F238E27FC236}">
                  <a16:creationId xmlns:a16="http://schemas.microsoft.com/office/drawing/2014/main" xmlns="" id="{4933426E-AF03-CDEC-4138-6F0284AB66E3}"/>
                </a:ext>
              </a:extLst>
            </p:cNvPr>
            <p:cNvSpPr txBox="1"/>
            <p:nvPr/>
          </p:nvSpPr>
          <p:spPr>
            <a:xfrm>
              <a:off x="1763688" y="1403470"/>
              <a:ext cx="1326004" cy="1323439"/>
            </a:xfrm>
            <a:prstGeom prst="rect">
              <a:avLst/>
            </a:prstGeom>
            <a:noFill/>
            <a:ln w="9525">
              <a:noFill/>
              <a:miter/>
            </a:ln>
          </p:spPr>
          <p:txBody>
            <a:bodyPr wrap="none" anchor="t">
              <a:spAutoFit/>
            </a:bodyPr>
            <a:lstStyle/>
            <a:p>
              <a:pPr lvl="0"/>
              <a:r>
                <a:rPr lang="en-US" altLang="zh-CN" sz="8000" b="1" dirty="0">
                  <a:solidFill>
                    <a:schemeClr val="bg1"/>
                  </a:solidFill>
                  <a:latin typeface="Arial" panose="020B0604020202020204" pitchFamily="34" charset="0"/>
                  <a:ea typeface="思源黑体 CN Regular" panose="020B0500000000000000" charset="-122"/>
                  <a:cs typeface="Arial" panose="020B0604020202020204" pitchFamily="34" charset="0"/>
                </a:rPr>
                <a:t>03</a:t>
              </a:r>
              <a:endParaRPr lang="en-US" altLang="zh-CN" sz="96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5" name="文本框 2">
              <a:extLst>
                <a:ext uri="{FF2B5EF4-FFF2-40B4-BE49-F238E27FC236}">
                  <a16:creationId xmlns:a16="http://schemas.microsoft.com/office/drawing/2014/main" xmlns="" id="{B744B695-E419-FDFC-011D-DF848D0790CC}"/>
                </a:ext>
              </a:extLst>
            </p:cNvPr>
            <p:cNvSpPr txBox="1"/>
            <p:nvPr/>
          </p:nvSpPr>
          <p:spPr>
            <a:xfrm>
              <a:off x="2987824" y="2355726"/>
              <a:ext cx="6768752" cy="1200329"/>
            </a:xfrm>
            <a:prstGeom prst="rect">
              <a:avLst/>
            </a:prstGeom>
            <a:noFill/>
            <a:ln w="9525">
              <a:noFill/>
              <a:miter/>
            </a:ln>
          </p:spPr>
          <p:txBody>
            <a:bodyPr wrap="square" anchor="t">
              <a:spAutoFit/>
            </a:bodyPr>
            <a:lstStyle/>
            <a:p>
              <a:pPr lvl="0"/>
              <a:r>
                <a:rPr lang="zh-CN" altLang="en-US" sz="3600" b="1" dirty="0">
                  <a:solidFill>
                    <a:schemeClr val="bg1"/>
                  </a:solidFill>
                  <a:latin typeface="思源黑体 CN Regular" panose="020B0500000000000000" charset="-122"/>
                  <a:ea typeface="思源黑体 CN Regular" panose="020B0500000000000000" charset="-122"/>
                </a:rPr>
                <a:t>电子特气：跟随核心大客户，新拓超临界</a:t>
              </a:r>
              <a:r>
                <a:rPr lang="en-US" altLang="zh-CN" sz="3600" b="1" dirty="0">
                  <a:solidFill>
                    <a:schemeClr val="bg1"/>
                  </a:solidFill>
                  <a:latin typeface="思源黑体 CN Regular" panose="020B0500000000000000" charset="-122"/>
                  <a:ea typeface="思源黑体 CN Regular" panose="020B0500000000000000" charset="-122"/>
                </a:rPr>
                <a:t>CO2</a:t>
              </a:r>
              <a:r>
                <a:rPr lang="zh-CN" altLang="en-US" sz="3600" b="1" dirty="0">
                  <a:solidFill>
                    <a:schemeClr val="bg1"/>
                  </a:solidFill>
                  <a:latin typeface="思源黑体 CN Regular" panose="020B0500000000000000" charset="-122"/>
                  <a:ea typeface="思源黑体 CN Regular" panose="020B0500000000000000" charset="-122"/>
                </a:rPr>
                <a:t>带来更大利润弹性</a:t>
              </a:r>
            </a:p>
          </p:txBody>
        </p:sp>
        <p:cxnSp>
          <p:nvCxnSpPr>
            <p:cNvPr id="7" name="直线连接符 3">
              <a:extLst>
                <a:ext uri="{FF2B5EF4-FFF2-40B4-BE49-F238E27FC236}">
                  <a16:creationId xmlns:a16="http://schemas.microsoft.com/office/drawing/2014/main" xmlns="" id="{FDD3E6BB-B479-C55D-14D6-245903FCA42E}"/>
                </a:ext>
              </a:extLst>
            </p:cNvPr>
            <p:cNvCxnSpPr/>
            <p:nvPr/>
          </p:nvCxnSpPr>
          <p:spPr>
            <a:xfrm flipV="1">
              <a:off x="2280539" y="1774653"/>
              <a:ext cx="1283349" cy="1390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4515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6CA62F2-612C-B8E7-40B7-F9A8B78184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xmlns="" id="{ECE74791-DBE6-8D59-E707-AA50D7FEE1DC}"/>
              </a:ext>
            </a:extLst>
          </p:cNvPr>
          <p:cNvSpPr>
            <a:spLocks noGrp="1"/>
          </p:cNvSpPr>
          <p:nvPr/>
        </p:nvSpPr>
        <p:spPr>
          <a:xfrm>
            <a:off x="783952" y="304997"/>
            <a:ext cx="6449617"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业务拓展：超临界</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CO2</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进入两存，净利率高达</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40%+</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，带来向上利润弹性</a:t>
            </a:r>
          </a:p>
        </p:txBody>
      </p:sp>
      <p:sp>
        <p:nvSpPr>
          <p:cNvPr id="3" name="文本占位符 5">
            <a:extLst>
              <a:ext uri="{FF2B5EF4-FFF2-40B4-BE49-F238E27FC236}">
                <a16:creationId xmlns:a16="http://schemas.microsoft.com/office/drawing/2014/main" xmlns="" id="{C53B7E22-D1FF-6066-8915-631A1FE119D4}"/>
              </a:ext>
            </a:extLst>
          </p:cNvPr>
          <p:cNvSpPr txBox="1"/>
          <p:nvPr/>
        </p:nvSpPr>
        <p:spPr>
          <a:xfrm>
            <a:off x="218364" y="1026338"/>
            <a:ext cx="8707271" cy="2049965"/>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超临界二氧化碳：替代 </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PFCs </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与溶剂，低表面张力渗透微小结构（如 </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5nm </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以下器件），无残留、低温兼容。</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应用情况：现阶段存储类、先进制程均需要上超临界</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CO2</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用于光刻机清洗，无残留。</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广钢气体：国内给长存合肥、北京项目已上超临界</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CO2</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项目，单个项目约年用量</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700-800</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万方，单个项目长鑫二期（大约</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年底</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7-8</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万片</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月）。</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即</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万片</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月存储芯片对应约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万方用量，对应</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2000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吨，每吨价格约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5000-10000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元，按照</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7000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元计算，</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万片大约对应</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1400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万元收入、净利率</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，对应净利润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560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万元。</a:t>
            </a:r>
            <a:endPar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进度：长鑫北京、合肥已供应；长存三期已谈判；仅考虑现有市场，三个厂区</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30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万片对应未来</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4.2</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亿元收入、</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1.7</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亿元利润。</a:t>
            </a:r>
            <a:endPar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长期空间：两存</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120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万片，对应市场</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17</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亿元，对应利润</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6.7</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亿元。公司预计长鑫未来项目</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，长存谨慎计算</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50%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，则对应</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亿营收、</a:t>
            </a:r>
            <a:r>
              <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4</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亿元利润增量。</a:t>
            </a:r>
            <a:endParaRPr lang="en-US" altLang="zh-CN"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p:txBody>
      </p:sp>
      <p:sp>
        <p:nvSpPr>
          <p:cNvPr id="8" name="文本框 87">
            <a:extLst>
              <a:ext uri="{FF2B5EF4-FFF2-40B4-BE49-F238E27FC236}">
                <a16:creationId xmlns:a16="http://schemas.microsoft.com/office/drawing/2014/main" xmlns="" id="{CA2653C3-1F71-CE97-F473-4EC07EE9A00D}"/>
              </a:ext>
            </a:extLst>
          </p:cNvPr>
          <p:cNvSpPr txBox="1"/>
          <p:nvPr/>
        </p:nvSpPr>
        <p:spPr>
          <a:xfrm>
            <a:off x="1119808" y="4485560"/>
            <a:ext cx="6156960" cy="21544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2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800" dirty="0">
                <a:latin typeface="思源黑体 Heavy" panose="020B0A00000000000000" pitchFamily="34" charset="-122"/>
                <a:ea typeface="思源黑体 Heavy" panose="020B0A00000000000000" pitchFamily="34" charset="-122"/>
              </a:rPr>
              <a:t>数据来源：公司公告，公司官网，新闻汇总整理</a:t>
            </a:r>
          </a:p>
        </p:txBody>
      </p:sp>
      <p:sp>
        <p:nvSpPr>
          <p:cNvPr id="5" name="矩形 4">
            <a:extLst>
              <a:ext uri="{FF2B5EF4-FFF2-40B4-BE49-F238E27FC236}">
                <a16:creationId xmlns:a16="http://schemas.microsoft.com/office/drawing/2014/main" xmlns="" id="{39674AB3-1AE9-EFE6-77B8-C6893EDF9696}"/>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03</a:t>
            </a:r>
            <a:endParaRPr lang="zh-CN" altLang="en-US" sz="3200" dirty="0"/>
          </a:p>
        </p:txBody>
      </p:sp>
      <p:sp>
        <p:nvSpPr>
          <p:cNvPr id="6" name="矩形 5">
            <a:extLst>
              <a:ext uri="{FF2B5EF4-FFF2-40B4-BE49-F238E27FC236}">
                <a16:creationId xmlns:a16="http://schemas.microsoft.com/office/drawing/2014/main" xmlns="" id="{4AA18626-8F6F-D6C4-C5E0-3AA6978E6D3E}"/>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a:extLst>
              <a:ext uri="{FF2B5EF4-FFF2-40B4-BE49-F238E27FC236}">
                <a16:creationId xmlns:a16="http://schemas.microsoft.com/office/drawing/2014/main" xmlns="" id="{59FC8495-340F-2FD8-55CB-76EC16BC248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903" t="30513" r="22379" b="21745"/>
          <a:stretch>
            <a:fillRect/>
          </a:stretch>
        </p:blipFill>
        <p:spPr bwMode="auto">
          <a:xfrm>
            <a:off x="1743890" y="2597977"/>
            <a:ext cx="3781699" cy="188758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6063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783952" y="304997"/>
            <a:ext cx="667229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业务拓展：拓展电子特气</a:t>
            </a:r>
            <a:r>
              <a:rPr lang="en-US" altLang="zh-CN" sz="2000" b="1" dirty="0">
                <a:solidFill>
                  <a:srgbClr val="0677D5"/>
                </a:solidFill>
                <a:ea typeface="思源黑体 CN Regular" panose="020B0500000000000000" charset="-122"/>
                <a:cs typeface="Arial" panose="020B0604020202020204" pitchFamily="34" charset="0"/>
                <a:sym typeface="等线" panose="02010600030101010101" charset="-122"/>
              </a:rPr>
              <a:t>/</a:t>
            </a:r>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材料业务，向整体解决方案厂商进发</a:t>
            </a:r>
          </a:p>
        </p:txBody>
      </p:sp>
      <p:sp>
        <p:nvSpPr>
          <p:cNvPr id="3" name="文本占位符 5"/>
          <p:cNvSpPr txBox="1"/>
          <p:nvPr/>
        </p:nvSpPr>
        <p:spPr>
          <a:xfrm>
            <a:off x="218364" y="1026338"/>
            <a:ext cx="8707271" cy="1619611"/>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公司把电子气体整体解决方案作为发展目标，除了大宗电子气，公司布局四大电子特气</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材料基地，投产</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客户导入后有望提供</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10-12</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亿收入增量。</a:t>
            </a:r>
            <a:endParaRPr lang="en-US" altLang="zh-CN" sz="1100" u="sng"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四大特种气体</a:t>
            </a:r>
            <a:r>
              <a:rPr lang="en-US" altLang="zh-CN" sz="1100" u="sng" dirty="0">
                <a:latin typeface="Arial" panose="020B0604020202020204" pitchFamily="34" charset="0"/>
                <a:ea typeface="思源黑体 Heavy" panose="020B0A00000000000000" pitchFamily="34" charset="-122"/>
                <a:cs typeface="Arial" panose="020B0604020202020204" pitchFamily="34" charset="0"/>
              </a:rPr>
              <a:t>/</a:t>
            </a:r>
            <a:r>
              <a:rPr lang="zh-CN" altLang="en-US" sz="1100" u="sng" dirty="0">
                <a:latin typeface="Arial" panose="020B0604020202020204" pitchFamily="34" charset="0"/>
                <a:ea typeface="思源黑体 Heavy" panose="020B0A00000000000000" pitchFamily="34" charset="-122"/>
                <a:cs typeface="Arial" panose="020B0604020202020204" pitchFamily="34" charset="0"/>
              </a:rPr>
              <a:t>材料布局：</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公司在合肥、湖北、潜江与上海进行电子特气</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材料布局，以便于更好服务客户，提升综合电子气体解决方案能力。气体品种方面，公司主要布局大品类气体，比如烷类混配气、氢类、氟化物等。</a:t>
            </a: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收入与利润增量：</a:t>
            </a:r>
            <a:r>
              <a:rPr lang="zh-CN" altLang="en-US" sz="1100" dirty="0">
                <a:latin typeface="Arial" panose="020B0604020202020204" pitchFamily="34" charset="0"/>
                <a:ea typeface="思源黑体 Heavy" panose="020B0A00000000000000" pitchFamily="34" charset="-122"/>
                <a:cs typeface="Arial" panose="020B0604020202020204" pitchFamily="34" charset="0"/>
              </a:rPr>
              <a:t>随着四大特气基地的投产与客户导入，</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有望在未来提供</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10-12</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亿元收入，考虑特种气体净利率大约</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15%-20%</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，则对应增量利润为</a:t>
            </a:r>
            <a:r>
              <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1.5-2.4</a:t>
            </a:r>
            <a:r>
              <a:rPr lang="zh-CN" altLang="en-US" sz="1100" dirty="0">
                <a:solidFill>
                  <a:srgbClr val="C00000"/>
                </a:solidFill>
                <a:latin typeface="Arial" panose="020B0604020202020204" pitchFamily="34" charset="0"/>
                <a:ea typeface="思源黑体 Heavy" panose="020B0A00000000000000" pitchFamily="34" charset="-122"/>
                <a:cs typeface="Arial" panose="020B0604020202020204" pitchFamily="34" charset="0"/>
              </a:rPr>
              <a:t>亿元。</a:t>
            </a:r>
            <a:endParaRPr lang="en-US" altLang="zh-CN" sz="1100" dirty="0">
              <a:solidFill>
                <a:srgbClr val="C00000"/>
              </a:solidFill>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节奏：</a:t>
            </a:r>
            <a:r>
              <a:rPr lang="zh-CN" altLang="en-US" sz="1100" dirty="0">
                <a:latin typeface="Arial" panose="020B0604020202020204" pitchFamily="34" charset="0"/>
                <a:ea typeface="思源黑体 Heavy" panose="020B0A00000000000000" pitchFamily="34" charset="-122"/>
                <a:cs typeface="Arial" panose="020B0604020202020204" pitchFamily="34" charset="0"/>
              </a:rPr>
              <a:t>潜江与赤峰投产进度相对较快，当前有部分产品在小批量验证过程，</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年底有望进入部分客户体系。</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4" name="TextBox 23"/>
          <p:cNvSpPr txBox="1">
            <a:spLocks noChangeArrowheads="1"/>
          </p:cNvSpPr>
          <p:nvPr/>
        </p:nvSpPr>
        <p:spPr bwMode="auto">
          <a:xfrm>
            <a:off x="-721002" y="2622669"/>
            <a:ext cx="10762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表：广钢气体四大特种气体</a:t>
            </a:r>
            <a:r>
              <a:rPr lang="en-US" altLang="zh-CN" dirty="0"/>
              <a:t>/</a:t>
            </a:r>
            <a:r>
              <a:rPr lang="zh-CN" altLang="en-US" dirty="0"/>
              <a:t>材料布局：合肥、湖北、潜江、上海</a:t>
            </a:r>
          </a:p>
        </p:txBody>
      </p:sp>
      <p:graphicFrame>
        <p:nvGraphicFramePr>
          <p:cNvPr id="7" name="表格 6"/>
          <p:cNvGraphicFramePr>
            <a:graphicFrameLocks noGrp="1"/>
          </p:cNvGraphicFramePr>
          <p:nvPr>
            <p:extLst>
              <p:ext uri="{D42A27DB-BD31-4B8C-83A1-F6EECF244321}">
                <p14:modId xmlns:p14="http://schemas.microsoft.com/office/powerpoint/2010/main" val="532972296"/>
              </p:ext>
            </p:extLst>
          </p:nvPr>
        </p:nvGraphicFramePr>
        <p:xfrm>
          <a:off x="342000" y="2920620"/>
          <a:ext cx="8378917" cy="1564940"/>
        </p:xfrm>
        <a:graphic>
          <a:graphicData uri="http://schemas.openxmlformats.org/drawingml/2006/table">
            <a:tbl>
              <a:tblPr>
                <a:tableStyleId>{5C22544A-7EE6-4342-B048-85BDC9FD1C3A}</a:tableStyleId>
              </a:tblPr>
              <a:tblGrid>
                <a:gridCol w="1556950">
                  <a:extLst>
                    <a:ext uri="{9D8B030D-6E8A-4147-A177-3AD203B41FA5}">
                      <a16:colId xmlns:a16="http://schemas.microsoft.com/office/drawing/2014/main" xmlns="" val="20000"/>
                    </a:ext>
                  </a:extLst>
                </a:gridCol>
                <a:gridCol w="1112106">
                  <a:extLst>
                    <a:ext uri="{9D8B030D-6E8A-4147-A177-3AD203B41FA5}">
                      <a16:colId xmlns:a16="http://schemas.microsoft.com/office/drawing/2014/main" xmlns="" val="20001"/>
                    </a:ext>
                  </a:extLst>
                </a:gridCol>
                <a:gridCol w="1946186">
                  <a:extLst>
                    <a:ext uri="{9D8B030D-6E8A-4147-A177-3AD203B41FA5}">
                      <a16:colId xmlns:a16="http://schemas.microsoft.com/office/drawing/2014/main" xmlns="" val="20002"/>
                    </a:ext>
                  </a:extLst>
                </a:gridCol>
                <a:gridCol w="1108952">
                  <a:extLst>
                    <a:ext uri="{9D8B030D-6E8A-4147-A177-3AD203B41FA5}">
                      <a16:colId xmlns:a16="http://schemas.microsoft.com/office/drawing/2014/main" xmlns="" val="20003"/>
                    </a:ext>
                  </a:extLst>
                </a:gridCol>
                <a:gridCol w="1235111">
                  <a:extLst>
                    <a:ext uri="{9D8B030D-6E8A-4147-A177-3AD203B41FA5}">
                      <a16:colId xmlns:a16="http://schemas.microsoft.com/office/drawing/2014/main" xmlns="" val="20004"/>
                    </a:ext>
                  </a:extLst>
                </a:gridCol>
                <a:gridCol w="1419612">
                  <a:extLst>
                    <a:ext uri="{9D8B030D-6E8A-4147-A177-3AD203B41FA5}">
                      <a16:colId xmlns:a16="http://schemas.microsoft.com/office/drawing/2014/main" xmlns="" val="20005"/>
                    </a:ext>
                  </a:extLst>
                </a:gridCol>
              </a:tblGrid>
              <a:tr h="10875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基地</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投资额（亿元）</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产品覆盖</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年产值（亿元）</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进展</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solidFill>
                            <a:schemeClr val="bg1"/>
                          </a:solidFill>
                          <a:effectLst/>
                          <a:latin typeface="Arial" panose="020B0604020202020204" pitchFamily="34" charset="0"/>
                          <a:ea typeface="+mn-ea"/>
                          <a:cs typeface="Arial" panose="020B0604020202020204" pitchFamily="34" charset="0"/>
                        </a:rPr>
                        <a:t>服务区域</a:t>
                      </a:r>
                      <a:endParaRPr lang="zh-CN" altLang="en-US" sz="700" b="1" i="0" u="none" strike="noStrike" dirty="0">
                        <a:solidFill>
                          <a:schemeClr val="bg1"/>
                        </a:solidFill>
                        <a:effectLst/>
                        <a:latin typeface="Arial" panose="020B0604020202020204" pitchFamily="34" charset="0"/>
                        <a:ea typeface="+mn-ea"/>
                        <a:cs typeface="Arial" panose="020B0604020202020204" pitchFamily="34" charset="0"/>
                      </a:endParaRPr>
                    </a:p>
                  </a:txBody>
                  <a:tcPr marL="0" marR="0" marT="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51059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700" u="none" strike="noStrike" dirty="0">
                          <a:effectLst/>
                          <a:latin typeface="Arial" panose="020B0604020202020204" pitchFamily="34" charset="0"/>
                          <a:ea typeface="+mn-ea"/>
                          <a:cs typeface="Arial" panose="020B0604020202020204" pitchFamily="34" charset="0"/>
                        </a:rPr>
                        <a:t>合肥经济技术开发区广钢电子特气项目</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3.9</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700" u="none" strike="noStrike" dirty="0">
                          <a:effectLst/>
                          <a:latin typeface="Arial" panose="020B0604020202020204" pitchFamily="34" charset="0"/>
                          <a:ea typeface="+mn-ea"/>
                          <a:cs typeface="Arial" panose="020B0604020202020204" pitchFamily="34" charset="0"/>
                        </a:rPr>
                        <a:t>年产</a:t>
                      </a:r>
                      <a:r>
                        <a:rPr lang="en-US" altLang="zh-CN" sz="700" u="none" strike="noStrike" dirty="0">
                          <a:effectLst/>
                          <a:latin typeface="Arial" panose="020B0604020202020204" pitchFamily="34" charset="0"/>
                          <a:ea typeface="+mn-ea"/>
                          <a:cs typeface="Arial" panose="020B0604020202020204" pitchFamily="34" charset="0"/>
                        </a:rPr>
                        <a:t>20000</a:t>
                      </a:r>
                      <a:r>
                        <a:rPr lang="zh-CN" altLang="en-US" sz="700" u="none" strike="noStrike" dirty="0">
                          <a:effectLst/>
                          <a:latin typeface="Arial" panose="020B0604020202020204" pitchFamily="34" charset="0"/>
                          <a:ea typeface="+mn-ea"/>
                          <a:cs typeface="Arial" panose="020B0604020202020204" pitchFamily="34" charset="0"/>
                        </a:rPr>
                        <a:t>瓶烷类混配气、</a:t>
                      </a:r>
                      <a:r>
                        <a:rPr lang="en-US" altLang="zh-CN" sz="700" u="none" strike="noStrike" dirty="0">
                          <a:effectLst/>
                          <a:latin typeface="Arial" panose="020B0604020202020204" pitchFamily="34" charset="0"/>
                          <a:ea typeface="+mn-ea"/>
                          <a:cs typeface="Arial" panose="020B0604020202020204" pitchFamily="34" charset="0"/>
                        </a:rPr>
                        <a:t>1600</a:t>
                      </a:r>
                      <a:r>
                        <a:rPr lang="zh-CN" altLang="en-US" sz="700" u="none" strike="noStrike" dirty="0">
                          <a:effectLst/>
                          <a:latin typeface="Arial" panose="020B0604020202020204" pitchFamily="34" charset="0"/>
                          <a:ea typeface="+mn-ea"/>
                          <a:cs typeface="Arial" panose="020B0604020202020204" pitchFamily="34" charset="0"/>
                        </a:rPr>
                        <a:t>万</a:t>
                      </a:r>
                      <a:r>
                        <a:rPr lang="en-US" altLang="zh-CN" sz="700" u="none" strike="noStrike" dirty="0">
                          <a:effectLst/>
                          <a:latin typeface="Arial" panose="020B0604020202020204" pitchFamily="34" charset="0"/>
                          <a:ea typeface="+mn-ea"/>
                          <a:cs typeface="Arial" panose="020B0604020202020204" pitchFamily="34" charset="0"/>
                        </a:rPr>
                        <a:t>Nm3</a:t>
                      </a:r>
                      <a:r>
                        <a:rPr lang="zh-CN" altLang="en-US" sz="700" u="none" strike="noStrike" dirty="0">
                          <a:effectLst/>
                          <a:latin typeface="Arial" panose="020B0604020202020204" pitchFamily="34" charset="0"/>
                          <a:ea typeface="+mn-ea"/>
                          <a:cs typeface="Arial" panose="020B0604020202020204" pitchFamily="34" charset="0"/>
                        </a:rPr>
                        <a:t>高纯氢气、</a:t>
                      </a:r>
                      <a:r>
                        <a:rPr lang="en-US" altLang="zh-CN" sz="700" u="none" strike="noStrike" dirty="0">
                          <a:effectLst/>
                          <a:latin typeface="Arial" panose="020B0604020202020204" pitchFamily="34" charset="0"/>
                          <a:ea typeface="+mn-ea"/>
                          <a:cs typeface="Arial" panose="020B0604020202020204" pitchFamily="34" charset="0"/>
                        </a:rPr>
                        <a:t>300</a:t>
                      </a:r>
                      <a:r>
                        <a:rPr lang="zh-CN" altLang="en-US" sz="700" u="none" strike="noStrike" dirty="0">
                          <a:effectLst/>
                          <a:latin typeface="Arial" panose="020B0604020202020204" pitchFamily="34" charset="0"/>
                          <a:ea typeface="+mn-ea"/>
                          <a:cs typeface="Arial" panose="020B0604020202020204" pitchFamily="34" charset="0"/>
                        </a:rPr>
                        <a:t>吨电子级溴化氢、分装</a:t>
                      </a:r>
                      <a:r>
                        <a:rPr lang="en-US" altLang="zh-CN" sz="700" u="none" strike="noStrike" dirty="0">
                          <a:effectLst/>
                          <a:latin typeface="Arial" panose="020B0604020202020204" pitchFamily="34" charset="0"/>
                          <a:ea typeface="+mn-ea"/>
                          <a:cs typeface="Arial" panose="020B0604020202020204" pitchFamily="34" charset="0"/>
                        </a:rPr>
                        <a:t>20</a:t>
                      </a:r>
                      <a:r>
                        <a:rPr lang="zh-CN" altLang="en-US" sz="700" u="none" strike="noStrike" dirty="0">
                          <a:effectLst/>
                          <a:latin typeface="Arial" panose="020B0604020202020204" pitchFamily="34" charset="0"/>
                          <a:ea typeface="+mn-ea"/>
                          <a:cs typeface="Arial" panose="020B0604020202020204" pitchFamily="34" charset="0"/>
                        </a:rPr>
                        <a:t>万</a:t>
                      </a:r>
                      <a:r>
                        <a:rPr lang="en-US" altLang="zh-CN" sz="700" u="none" strike="noStrike" dirty="0">
                          <a:effectLst/>
                          <a:latin typeface="Arial" panose="020B0604020202020204" pitchFamily="34" charset="0"/>
                          <a:ea typeface="+mn-ea"/>
                          <a:cs typeface="Arial" panose="020B0604020202020204" pitchFamily="34" charset="0"/>
                        </a:rPr>
                        <a:t>Nm3</a:t>
                      </a:r>
                      <a:r>
                        <a:rPr lang="zh-CN" altLang="en-US" sz="700" u="none" strike="noStrike" dirty="0">
                          <a:effectLst/>
                          <a:latin typeface="Arial" panose="020B0604020202020204" pitchFamily="34" charset="0"/>
                          <a:ea typeface="+mn-ea"/>
                          <a:cs typeface="Arial" panose="020B0604020202020204" pitchFamily="34" charset="0"/>
                        </a:rPr>
                        <a:t>高纯氦气</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4-5</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700" u="none" strike="noStrike" dirty="0">
                          <a:effectLst/>
                          <a:latin typeface="Arial" panose="020B0604020202020204" pitchFamily="34" charset="0"/>
                          <a:ea typeface="+mn-ea"/>
                          <a:cs typeface="Arial" panose="020B0604020202020204" pitchFamily="34" charset="0"/>
                        </a:rPr>
                        <a:t>在</a:t>
                      </a:r>
                      <a:r>
                        <a:rPr lang="en-US" altLang="zh-CN" sz="700" u="none" strike="noStrike" dirty="0">
                          <a:effectLst/>
                          <a:latin typeface="Arial" panose="020B0604020202020204" pitchFamily="34" charset="0"/>
                          <a:ea typeface="+mn-ea"/>
                          <a:cs typeface="Arial" panose="020B0604020202020204" pitchFamily="34" charset="0"/>
                        </a:rPr>
                        <a:t>2024</a:t>
                      </a:r>
                      <a:r>
                        <a:rPr lang="zh-CN" altLang="en-US" sz="700" u="none" strike="noStrike" dirty="0">
                          <a:effectLst/>
                          <a:latin typeface="Arial" panose="020B0604020202020204" pitchFamily="34" charset="0"/>
                          <a:ea typeface="+mn-ea"/>
                          <a:cs typeface="Arial" panose="020B0604020202020204" pitchFamily="34" charset="0"/>
                        </a:rPr>
                        <a:t>年</a:t>
                      </a:r>
                      <a:r>
                        <a:rPr lang="en-US" altLang="zh-CN" sz="700" u="none" strike="noStrike" dirty="0">
                          <a:effectLst/>
                          <a:latin typeface="Arial" panose="020B0604020202020204" pitchFamily="34" charset="0"/>
                          <a:ea typeface="+mn-ea"/>
                          <a:cs typeface="Arial" panose="020B0604020202020204" pitchFamily="34" charset="0"/>
                        </a:rPr>
                        <a:t>3</a:t>
                      </a:r>
                      <a:r>
                        <a:rPr lang="zh-CN" altLang="en-US" sz="700" u="none" strike="noStrike" dirty="0">
                          <a:effectLst/>
                          <a:latin typeface="Arial" panose="020B0604020202020204" pitchFamily="34" charset="0"/>
                          <a:ea typeface="+mn-ea"/>
                          <a:cs typeface="Arial" panose="020B0604020202020204" pitchFamily="34" charset="0"/>
                        </a:rPr>
                        <a:t>月开工建设，预计将于</a:t>
                      </a:r>
                      <a:r>
                        <a:rPr lang="en-US" altLang="zh-CN" sz="700" u="none" strike="noStrike" dirty="0">
                          <a:effectLst/>
                          <a:latin typeface="Arial" panose="020B0604020202020204" pitchFamily="34" charset="0"/>
                          <a:ea typeface="+mn-ea"/>
                          <a:cs typeface="Arial" panose="020B0604020202020204" pitchFamily="34" charset="0"/>
                        </a:rPr>
                        <a:t>2025</a:t>
                      </a:r>
                      <a:r>
                        <a:rPr lang="zh-CN" altLang="en-US" sz="700" u="none" strike="noStrike" dirty="0">
                          <a:effectLst/>
                          <a:latin typeface="Arial" panose="020B0604020202020204" pitchFamily="34" charset="0"/>
                          <a:ea typeface="+mn-ea"/>
                          <a:cs typeface="Arial" panose="020B0604020202020204" pitchFamily="34" charset="0"/>
                        </a:rPr>
                        <a:t>年</a:t>
                      </a:r>
                      <a:r>
                        <a:rPr lang="en-US" altLang="zh-CN" sz="700" u="none" strike="noStrike" dirty="0">
                          <a:effectLst/>
                          <a:latin typeface="Arial" panose="020B0604020202020204" pitchFamily="34" charset="0"/>
                          <a:ea typeface="+mn-ea"/>
                          <a:cs typeface="Arial" panose="020B0604020202020204" pitchFamily="34" charset="0"/>
                        </a:rPr>
                        <a:t>12</a:t>
                      </a:r>
                      <a:r>
                        <a:rPr lang="zh-CN" altLang="en-US" sz="700" u="none" strike="noStrike" dirty="0">
                          <a:effectLst/>
                          <a:latin typeface="Arial" panose="020B0604020202020204" pitchFamily="34" charset="0"/>
                          <a:ea typeface="+mn-ea"/>
                          <a:cs typeface="Arial" panose="020B0604020202020204" pitchFamily="34" charset="0"/>
                        </a:rPr>
                        <a:t>月竣工投产</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700" u="none" strike="noStrike" dirty="0">
                          <a:effectLst/>
                          <a:latin typeface="Arial" panose="020B0604020202020204" pitchFamily="34" charset="0"/>
                          <a:ea typeface="+mn-ea"/>
                          <a:cs typeface="Arial" panose="020B0604020202020204" pitchFamily="34" charset="0"/>
                        </a:rPr>
                        <a:t>合肥区域：长鑫、晶合等</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xmlns="" val="10001"/>
                  </a:ext>
                </a:extLst>
              </a:tr>
              <a:tr h="510595">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zh-CN" altLang="en-US" sz="700" u="none" strike="noStrike">
                          <a:effectLst/>
                          <a:latin typeface="Arial" panose="020B0604020202020204" pitchFamily="34" charset="0"/>
                          <a:ea typeface="+mn-ea"/>
                          <a:cs typeface="Arial" panose="020B0604020202020204" pitchFamily="34" charset="0"/>
                        </a:rPr>
                        <a:t>湖北潜江电子特气项目</a:t>
                      </a:r>
                      <a:endParaRPr lang="zh-CN" altLang="en-US" sz="700" b="0" i="0" u="none" strike="noStrike">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0.85</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en-US" altLang="zh-CN" sz="700" u="none" strike="noStrike" dirty="0">
                          <a:effectLst/>
                          <a:latin typeface="Arial" panose="020B0604020202020204" pitchFamily="34" charset="0"/>
                          <a:ea typeface="+mn-ea"/>
                          <a:cs typeface="Arial" panose="020B0604020202020204" pitchFamily="34" charset="0"/>
                        </a:rPr>
                        <a:t>120</a:t>
                      </a:r>
                      <a:r>
                        <a:rPr lang="zh-CN" altLang="en-US" sz="700" u="none" strike="noStrike" dirty="0">
                          <a:effectLst/>
                          <a:latin typeface="Arial" panose="020B0604020202020204" pitchFamily="34" charset="0"/>
                          <a:ea typeface="+mn-ea"/>
                          <a:cs typeface="Arial" panose="020B0604020202020204" pitchFamily="34" charset="0"/>
                        </a:rPr>
                        <a:t>吨</a:t>
                      </a:r>
                      <a:r>
                        <a:rPr lang="en-US" altLang="zh-CN" sz="700" u="none" strike="noStrike" dirty="0">
                          <a:effectLst/>
                          <a:latin typeface="Arial" panose="020B0604020202020204" pitchFamily="34" charset="0"/>
                          <a:ea typeface="+mn-ea"/>
                          <a:cs typeface="Arial" panose="020B0604020202020204" pitchFamily="34" charset="0"/>
                        </a:rPr>
                        <a:t>/</a:t>
                      </a:r>
                      <a:r>
                        <a:rPr lang="zh-CN" altLang="en-US" sz="700" u="none" strike="noStrike" dirty="0">
                          <a:effectLst/>
                          <a:latin typeface="Arial" panose="020B0604020202020204" pitchFamily="34" charset="0"/>
                          <a:ea typeface="+mn-ea"/>
                          <a:cs typeface="Arial" panose="020B0604020202020204" pitchFamily="34" charset="0"/>
                        </a:rPr>
                        <a:t>年六氟丁二烯生产产能，其中高纯六氟丁二烯</a:t>
                      </a:r>
                      <a:r>
                        <a:rPr lang="en-US" altLang="zh-CN" sz="700" u="none" strike="noStrike" dirty="0">
                          <a:effectLst/>
                          <a:latin typeface="Arial" panose="020B0604020202020204" pitchFamily="34" charset="0"/>
                          <a:ea typeface="+mn-ea"/>
                          <a:cs typeface="Arial" panose="020B0604020202020204" pitchFamily="34" charset="0"/>
                        </a:rPr>
                        <a:t>100</a:t>
                      </a:r>
                      <a:r>
                        <a:rPr lang="zh-CN" altLang="en-US" sz="700" u="none" strike="noStrike" dirty="0">
                          <a:effectLst/>
                          <a:latin typeface="Arial" panose="020B0604020202020204" pitchFamily="34" charset="0"/>
                          <a:ea typeface="+mn-ea"/>
                          <a:cs typeface="Arial" panose="020B0604020202020204" pitchFamily="34" charset="0"/>
                        </a:rPr>
                        <a:t>吨</a:t>
                      </a:r>
                      <a:r>
                        <a:rPr lang="en-US" altLang="zh-CN" sz="700" u="none" strike="noStrike" dirty="0">
                          <a:effectLst/>
                          <a:latin typeface="Arial" panose="020B0604020202020204" pitchFamily="34" charset="0"/>
                          <a:ea typeface="+mn-ea"/>
                          <a:cs typeface="Arial" panose="020B0604020202020204" pitchFamily="34" charset="0"/>
                        </a:rPr>
                        <a:t>/</a:t>
                      </a:r>
                      <a:r>
                        <a:rPr lang="zh-CN" altLang="en-US" sz="700" u="none" strike="noStrike" dirty="0">
                          <a:effectLst/>
                          <a:latin typeface="Arial" panose="020B0604020202020204" pitchFamily="34" charset="0"/>
                          <a:ea typeface="+mn-ea"/>
                          <a:cs typeface="Arial" panose="020B0604020202020204" pitchFamily="34" charset="0"/>
                        </a:rPr>
                        <a:t>年，超高纯六氟丁二烯</a:t>
                      </a:r>
                      <a:r>
                        <a:rPr lang="en-US" altLang="zh-CN" sz="700" u="none" strike="noStrike" dirty="0">
                          <a:effectLst/>
                          <a:latin typeface="Arial" panose="020B0604020202020204" pitchFamily="34" charset="0"/>
                          <a:ea typeface="+mn-ea"/>
                          <a:cs typeface="Arial" panose="020B0604020202020204" pitchFamily="34" charset="0"/>
                        </a:rPr>
                        <a:t>20</a:t>
                      </a:r>
                      <a:r>
                        <a:rPr lang="zh-CN" altLang="en-US" sz="700" u="none" strike="noStrike" dirty="0">
                          <a:effectLst/>
                          <a:latin typeface="Arial" panose="020B0604020202020204" pitchFamily="34" charset="0"/>
                          <a:ea typeface="+mn-ea"/>
                          <a:cs typeface="Arial" panose="020B0604020202020204" pitchFamily="34" charset="0"/>
                        </a:rPr>
                        <a:t>吨</a:t>
                      </a:r>
                      <a:r>
                        <a:rPr lang="en-US" altLang="zh-CN" sz="700" u="none" strike="noStrike" dirty="0">
                          <a:effectLst/>
                          <a:latin typeface="Arial" panose="020B0604020202020204" pitchFamily="34" charset="0"/>
                          <a:ea typeface="+mn-ea"/>
                          <a:cs typeface="Arial" panose="020B0604020202020204" pitchFamily="34" charset="0"/>
                        </a:rPr>
                        <a:t>/</a:t>
                      </a:r>
                      <a:r>
                        <a:rPr lang="zh-CN" altLang="en-US" sz="700" u="none" strike="noStrike" dirty="0">
                          <a:effectLst/>
                          <a:latin typeface="Arial" panose="020B0604020202020204" pitchFamily="34" charset="0"/>
                          <a:ea typeface="+mn-ea"/>
                          <a:cs typeface="Arial" panose="020B0604020202020204" pitchFamily="34" charset="0"/>
                        </a:rPr>
                        <a:t>年</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1</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en-US" altLang="zh-CN" sz="700" u="none" strike="noStrike">
                          <a:effectLst/>
                          <a:latin typeface="Arial" panose="020B0604020202020204" pitchFamily="34" charset="0"/>
                          <a:ea typeface="+mn-ea"/>
                          <a:cs typeface="Arial" panose="020B0604020202020204" pitchFamily="34" charset="0"/>
                        </a:rPr>
                        <a:t>2023</a:t>
                      </a:r>
                      <a:r>
                        <a:rPr lang="zh-CN" altLang="en-US" sz="700" u="none" strike="noStrike">
                          <a:effectLst/>
                          <a:latin typeface="Arial" panose="020B0604020202020204" pitchFamily="34" charset="0"/>
                          <a:ea typeface="+mn-ea"/>
                          <a:cs typeface="Arial" panose="020B0604020202020204" pitchFamily="34" charset="0"/>
                        </a:rPr>
                        <a:t>年</a:t>
                      </a:r>
                      <a:r>
                        <a:rPr lang="en-US" altLang="zh-CN" sz="700" u="none" strike="noStrike">
                          <a:effectLst/>
                          <a:latin typeface="Arial" panose="020B0604020202020204" pitchFamily="34" charset="0"/>
                          <a:ea typeface="+mn-ea"/>
                          <a:cs typeface="Arial" panose="020B0604020202020204" pitchFamily="34" charset="0"/>
                        </a:rPr>
                        <a:t>11</a:t>
                      </a:r>
                      <a:r>
                        <a:rPr lang="zh-CN" altLang="en-US" sz="700" u="none" strike="noStrike">
                          <a:effectLst/>
                          <a:latin typeface="Arial" panose="020B0604020202020204" pitchFamily="34" charset="0"/>
                          <a:ea typeface="+mn-ea"/>
                          <a:cs typeface="Arial" panose="020B0604020202020204" pitchFamily="34" charset="0"/>
                        </a:rPr>
                        <a:t>月正式开工，处于建设和研制阶段</a:t>
                      </a:r>
                      <a:endParaRPr lang="zh-CN" altLang="en-US" sz="700" b="0" i="0" u="none" strike="noStrike">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dirty="0">
                          <a:effectLst/>
                          <a:latin typeface="Arial" panose="020B0604020202020204" pitchFamily="34" charset="0"/>
                          <a:ea typeface="+mn-ea"/>
                          <a:cs typeface="Arial" panose="020B0604020202020204" pitchFamily="34" charset="0"/>
                        </a:rPr>
                        <a:t>川渝区域：长存、楚兴等</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extLst>
                  <a:ext uri="{0D108BD9-81ED-4DB2-BD59-A6C34878D82A}">
                    <a16:rowId xmlns:a16="http://schemas.microsoft.com/office/drawing/2014/main" xmlns="" val="10002"/>
                  </a:ext>
                </a:extLst>
              </a:tr>
              <a:tr h="21750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dirty="0">
                          <a:effectLst/>
                          <a:latin typeface="Arial" panose="020B0604020202020204" pitchFamily="34" charset="0"/>
                          <a:ea typeface="+mn-ea"/>
                          <a:cs typeface="Arial" panose="020B0604020202020204" pitchFamily="34" charset="0"/>
                        </a:rPr>
                        <a:t>内蒙古赤峰氟基电子特气生产区块</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5.35</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en-US" sz="700" u="none" strike="noStrike" dirty="0">
                          <a:effectLst/>
                          <a:latin typeface="Arial" panose="020B0604020202020204" pitchFamily="34" charset="0"/>
                          <a:ea typeface="+mn-ea"/>
                          <a:cs typeface="Arial" panose="020B0604020202020204" pitchFamily="34" charset="0"/>
                        </a:rPr>
                        <a:t>3000t/a</a:t>
                      </a:r>
                      <a:r>
                        <a:rPr lang="zh-CN" altLang="en-US" sz="700" u="none" strike="noStrike" dirty="0">
                          <a:effectLst/>
                          <a:latin typeface="Arial" panose="020B0604020202020204" pitchFamily="34" charset="0"/>
                          <a:ea typeface="+mn-ea"/>
                          <a:cs typeface="Arial" panose="020B0604020202020204" pitchFamily="34" charset="0"/>
                        </a:rPr>
                        <a:t>三氟化氮</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4-5</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ctr"/>
                      <a:r>
                        <a:rPr lang="en-US" altLang="zh-CN" sz="700" u="none" strike="noStrike" dirty="0">
                          <a:effectLst/>
                          <a:latin typeface="Arial" panose="020B0604020202020204" pitchFamily="34" charset="0"/>
                          <a:ea typeface="+mn-ea"/>
                          <a:cs typeface="Arial" panose="020B0604020202020204" pitchFamily="34" charset="0"/>
                        </a:rPr>
                        <a:t>2022</a:t>
                      </a:r>
                      <a:r>
                        <a:rPr lang="zh-CN" altLang="en-US" sz="700" u="none" strike="noStrike" dirty="0">
                          <a:effectLst/>
                          <a:latin typeface="Arial" panose="020B0604020202020204" pitchFamily="34" charset="0"/>
                          <a:ea typeface="+mn-ea"/>
                          <a:cs typeface="Arial" panose="020B0604020202020204" pitchFamily="34" charset="0"/>
                        </a:rPr>
                        <a:t>年</a:t>
                      </a:r>
                      <a:r>
                        <a:rPr lang="en-US" altLang="zh-CN" sz="700" u="none" strike="noStrike" dirty="0">
                          <a:effectLst/>
                          <a:latin typeface="Arial" panose="020B0604020202020204" pitchFamily="34" charset="0"/>
                          <a:ea typeface="+mn-ea"/>
                          <a:cs typeface="Arial" panose="020B0604020202020204" pitchFamily="34" charset="0"/>
                        </a:rPr>
                        <a:t>10</a:t>
                      </a:r>
                      <a:r>
                        <a:rPr lang="zh-CN" altLang="en-US" sz="700" u="none" strike="noStrike" dirty="0">
                          <a:effectLst/>
                          <a:latin typeface="Arial" panose="020B0604020202020204" pitchFamily="34" charset="0"/>
                          <a:ea typeface="+mn-ea"/>
                          <a:cs typeface="Arial" panose="020B0604020202020204" pitchFamily="34" charset="0"/>
                        </a:rPr>
                        <a:t>月开工</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dirty="0">
                          <a:effectLst/>
                          <a:latin typeface="Arial" panose="020B0604020202020204" pitchFamily="34" charset="0"/>
                          <a:ea typeface="+mn-ea"/>
                          <a:cs typeface="Arial" panose="020B0604020202020204" pitchFamily="34" charset="0"/>
                        </a:rPr>
                        <a:t>公司电子级客户（生产禀赋区域）</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xmlns="" val="10003"/>
                  </a:ext>
                </a:extLst>
              </a:tr>
              <a:tr h="10875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dirty="0">
                          <a:effectLst/>
                          <a:latin typeface="Arial" panose="020B0604020202020204" pitchFamily="34" charset="0"/>
                          <a:ea typeface="+mn-ea"/>
                          <a:cs typeface="Arial" panose="020B0604020202020204" pitchFamily="34" charset="0"/>
                        </a:rPr>
                        <a:t>上海电子特气项目</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a:effectLst/>
                          <a:latin typeface="Arial" panose="020B0604020202020204" pitchFamily="34" charset="0"/>
                          <a:ea typeface="+mn-ea"/>
                          <a:cs typeface="Arial" panose="020B0604020202020204" pitchFamily="34" charset="0"/>
                        </a:rPr>
                        <a:t>电子级</a:t>
                      </a:r>
                      <a:r>
                        <a:rPr lang="en-US" sz="700" u="none" strike="noStrike">
                          <a:effectLst/>
                          <a:latin typeface="Arial" panose="020B0604020202020204" pitchFamily="34" charset="0"/>
                          <a:ea typeface="+mn-ea"/>
                          <a:cs typeface="Arial" panose="020B0604020202020204" pitchFamily="34" charset="0"/>
                        </a:rPr>
                        <a:t>HCl</a:t>
                      </a:r>
                      <a:endParaRPr lang="en-US" sz="700" b="0" i="0" u="none" strike="noStrike">
                        <a:solidFill>
                          <a:srgbClr val="000000"/>
                        </a:solidFill>
                        <a:effectLst/>
                        <a:latin typeface="Arial" panose="020B0604020202020204" pitchFamily="34" charset="0"/>
                        <a:ea typeface="+mn-ea"/>
                        <a:cs typeface="Arial" panose="020B0604020202020204" pitchFamily="34" charset="0"/>
                      </a:endParaRPr>
                    </a:p>
                  </a:txBody>
                  <a:tcPr marL="0" marR="0" marT="0" marB="0" anchor="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ctr"/>
                      <a:r>
                        <a:rPr lang="en-US" altLang="zh-CN" sz="700" u="none" strike="noStrike" dirty="0">
                          <a:effectLst/>
                          <a:latin typeface="Arial" panose="020B0604020202020204" pitchFamily="34" charset="0"/>
                          <a:ea typeface="+mn-ea"/>
                          <a:cs typeface="Arial" panose="020B0604020202020204" pitchFamily="34" charset="0"/>
                        </a:rPr>
                        <a:t>1</a:t>
                      </a:r>
                      <a:endParaRPr lang="en-US" altLang="zh-CN"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u="none" strike="noStrike" dirty="0">
                          <a:effectLst/>
                          <a:latin typeface="Arial" panose="020B0604020202020204" pitchFamily="34" charset="0"/>
                          <a:ea typeface="+mn-ea"/>
                          <a:cs typeface="Arial" panose="020B0604020202020204" pitchFamily="34" charset="0"/>
                        </a:rPr>
                        <a:t>长三角及周边</a:t>
                      </a:r>
                      <a:endParaRPr lang="zh-CN" altLang="en-US" sz="7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noFill/>
                  </a:tcPr>
                </a:tc>
                <a:extLst>
                  <a:ext uri="{0D108BD9-81ED-4DB2-BD59-A6C34878D82A}">
                    <a16:rowId xmlns:a16="http://schemas.microsoft.com/office/drawing/2014/main" xmlns="" val="10004"/>
                  </a:ext>
                </a:extLst>
              </a:tr>
              <a:tr h="108750">
                <a:tc gridSpan="3">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b"/>
                      <a:r>
                        <a:rPr lang="zh-CN" altLang="en-US" sz="700" b="1" u="none" strike="noStrike" dirty="0">
                          <a:effectLst/>
                          <a:latin typeface="Arial" panose="020B0604020202020204" pitchFamily="34" charset="0"/>
                          <a:ea typeface="+mn-ea"/>
                          <a:cs typeface="Arial" panose="020B0604020202020204" pitchFamily="34" charset="0"/>
                        </a:rPr>
                        <a:t>合计</a:t>
                      </a:r>
                      <a:endParaRPr lang="zh-CN" altLang="en-US" sz="700" b="1"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zh-CN"/>
                    </a:p>
                  </a:txBody>
                  <a:tcPr/>
                </a:tc>
                <a:tc hMerge="1">
                  <a:txBody>
                    <a:bodyPr/>
                    <a:lstStyle/>
                    <a:p>
                      <a:endParaRPr lang="zh-CN"/>
                    </a:p>
                  </a:txBody>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fontAlgn="b"/>
                      <a:r>
                        <a:rPr lang="en-US" altLang="zh-CN" sz="700" b="1" u="none" strike="noStrike" dirty="0">
                          <a:effectLst/>
                          <a:latin typeface="Arial" panose="020B0604020202020204" pitchFamily="34" charset="0"/>
                          <a:ea typeface="+mn-ea"/>
                          <a:cs typeface="Arial" panose="020B0604020202020204" pitchFamily="34" charset="0"/>
                        </a:rPr>
                        <a:t>10-12</a:t>
                      </a:r>
                      <a:endParaRPr lang="en-US" altLang="zh-CN" sz="700" b="1"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effectLst/>
                          <a:latin typeface="Arial" panose="020B0604020202020204" pitchFamily="34" charset="0"/>
                          <a:ea typeface="+mn-ea"/>
                          <a:cs typeface="Arial" panose="020B0604020202020204" pitchFamily="34" charset="0"/>
                        </a:rPr>
                        <a:t>　</a:t>
                      </a:r>
                      <a:endParaRPr lang="zh-CN" altLang="en-US" sz="700" b="1"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l" fontAlgn="b"/>
                      <a:r>
                        <a:rPr lang="zh-CN" altLang="en-US" sz="700" b="1" u="none" strike="noStrike" dirty="0">
                          <a:effectLst/>
                          <a:latin typeface="Arial" panose="020B0604020202020204" pitchFamily="34" charset="0"/>
                          <a:ea typeface="+mn-ea"/>
                          <a:cs typeface="Arial" panose="020B0604020202020204" pitchFamily="34" charset="0"/>
                        </a:rPr>
                        <a:t>　</a:t>
                      </a:r>
                      <a:endParaRPr lang="zh-CN" altLang="en-US" sz="700" b="1"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0" marB="0" anchor="b">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005"/>
                  </a:ext>
                </a:extLst>
              </a:tr>
            </a:tbl>
          </a:graphicData>
        </a:graphic>
      </p:graphicFrame>
      <p:sp>
        <p:nvSpPr>
          <p:cNvPr id="8" name="文本框 87"/>
          <p:cNvSpPr txBox="1"/>
          <p:nvPr/>
        </p:nvSpPr>
        <p:spPr>
          <a:xfrm>
            <a:off x="1119808" y="4485560"/>
            <a:ext cx="6156960" cy="215444"/>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2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r>
              <a:rPr lang="zh-CN" altLang="en-US" sz="800" dirty="0">
                <a:latin typeface="思源黑体 Heavy" panose="020B0A00000000000000" pitchFamily="34" charset="-122"/>
                <a:ea typeface="思源黑体 Heavy" panose="020B0A00000000000000" pitchFamily="34" charset="-122"/>
              </a:rPr>
              <a:t>数据来源：公司公告，公司官网，新闻汇总整理</a:t>
            </a:r>
          </a:p>
        </p:txBody>
      </p:sp>
      <p:sp>
        <p:nvSpPr>
          <p:cNvPr id="5" name="矩形 4">
            <a:extLst>
              <a:ext uri="{FF2B5EF4-FFF2-40B4-BE49-F238E27FC236}">
                <a16:creationId xmlns:a16="http://schemas.microsoft.com/office/drawing/2014/main" xmlns="" id="{7314CD67-78EF-5269-F66D-10D5AC40EE83}"/>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03</a:t>
            </a:r>
            <a:endParaRPr lang="zh-CN" altLang="en-US" sz="3200" dirty="0"/>
          </a:p>
        </p:txBody>
      </p:sp>
      <p:sp>
        <p:nvSpPr>
          <p:cNvPr id="6" name="矩形 5">
            <a:extLst>
              <a:ext uri="{FF2B5EF4-FFF2-40B4-BE49-F238E27FC236}">
                <a16:creationId xmlns:a16="http://schemas.microsoft.com/office/drawing/2014/main" xmlns="" id="{94504CF2-C3E7-BA88-0C62-ED6729B69D45}"/>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EE29B35-AF5C-8D86-BA2B-4CC69C617EE9}"/>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xmlns="" id="{7058C306-EE91-255B-398D-A6A09512BC65}"/>
              </a:ext>
            </a:extLst>
          </p:cNvPr>
          <p:cNvGrpSpPr/>
          <p:nvPr/>
        </p:nvGrpSpPr>
        <p:grpSpPr>
          <a:xfrm>
            <a:off x="779630" y="1222042"/>
            <a:ext cx="7992888" cy="2152585"/>
            <a:chOff x="1763688" y="1403470"/>
            <a:chExt cx="7992888" cy="2152585"/>
          </a:xfrm>
        </p:grpSpPr>
        <p:sp>
          <p:nvSpPr>
            <p:cNvPr id="4" name="文本框 1">
              <a:extLst>
                <a:ext uri="{FF2B5EF4-FFF2-40B4-BE49-F238E27FC236}">
                  <a16:creationId xmlns:a16="http://schemas.microsoft.com/office/drawing/2014/main" xmlns="" id="{9914F603-48B4-3426-2D16-A6013C01BF47}"/>
                </a:ext>
              </a:extLst>
            </p:cNvPr>
            <p:cNvSpPr txBox="1"/>
            <p:nvPr/>
          </p:nvSpPr>
          <p:spPr>
            <a:xfrm>
              <a:off x="1763688" y="1403470"/>
              <a:ext cx="1326004" cy="1323439"/>
            </a:xfrm>
            <a:prstGeom prst="rect">
              <a:avLst/>
            </a:prstGeom>
            <a:noFill/>
            <a:ln w="9525">
              <a:noFill/>
              <a:miter/>
            </a:ln>
          </p:spPr>
          <p:txBody>
            <a:bodyPr wrap="none" anchor="t">
              <a:spAutoFit/>
            </a:bodyPr>
            <a:lstStyle/>
            <a:p>
              <a:pPr lvl="0"/>
              <a:r>
                <a:rPr lang="en-US" altLang="zh-CN" sz="8000" b="1" dirty="0">
                  <a:solidFill>
                    <a:schemeClr val="bg1"/>
                  </a:solidFill>
                  <a:latin typeface="Arial" panose="020B0604020202020204" pitchFamily="34" charset="0"/>
                  <a:ea typeface="思源黑体 CN Regular" panose="020B0500000000000000" charset="-122"/>
                  <a:cs typeface="Arial" panose="020B0604020202020204" pitchFamily="34" charset="0"/>
                </a:rPr>
                <a:t>04</a:t>
              </a:r>
              <a:endParaRPr lang="en-US" altLang="zh-CN" sz="96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
          <p:nvSpPr>
            <p:cNvPr id="5" name="文本框 2">
              <a:extLst>
                <a:ext uri="{FF2B5EF4-FFF2-40B4-BE49-F238E27FC236}">
                  <a16:creationId xmlns:a16="http://schemas.microsoft.com/office/drawing/2014/main" xmlns="" id="{06A90F97-DD9B-5635-386E-736A75E5B0EE}"/>
                </a:ext>
              </a:extLst>
            </p:cNvPr>
            <p:cNvSpPr txBox="1"/>
            <p:nvPr/>
          </p:nvSpPr>
          <p:spPr>
            <a:xfrm>
              <a:off x="2987824" y="2355726"/>
              <a:ext cx="6768752" cy="1200329"/>
            </a:xfrm>
            <a:prstGeom prst="rect">
              <a:avLst/>
            </a:prstGeom>
            <a:noFill/>
            <a:ln w="9525">
              <a:noFill/>
              <a:miter/>
            </a:ln>
          </p:spPr>
          <p:txBody>
            <a:bodyPr wrap="square" anchor="t">
              <a:spAutoFit/>
            </a:bodyPr>
            <a:lstStyle/>
            <a:p>
              <a:pPr lvl="0"/>
              <a:r>
                <a:rPr lang="zh-CN" altLang="en-US" sz="3600" b="1" dirty="0">
                  <a:solidFill>
                    <a:schemeClr val="bg1"/>
                  </a:solidFill>
                  <a:latin typeface="思源黑体 CN Regular" panose="020B0500000000000000" charset="-122"/>
                  <a:ea typeface="思源黑体 CN Regular" panose="020B0500000000000000" charset="-122"/>
                </a:rPr>
                <a:t>氦气：高端氦涨价开启，卡特尔氦源长协单稀缺</a:t>
              </a:r>
            </a:p>
          </p:txBody>
        </p:sp>
        <p:cxnSp>
          <p:nvCxnSpPr>
            <p:cNvPr id="7" name="直线连接符 3">
              <a:extLst>
                <a:ext uri="{FF2B5EF4-FFF2-40B4-BE49-F238E27FC236}">
                  <a16:creationId xmlns:a16="http://schemas.microsoft.com/office/drawing/2014/main" xmlns="" id="{4B82C8C8-70BB-0309-5318-B82AF19D0C55}"/>
                </a:ext>
              </a:extLst>
            </p:cNvPr>
            <p:cNvCxnSpPr/>
            <p:nvPr/>
          </p:nvCxnSpPr>
          <p:spPr>
            <a:xfrm flipV="1">
              <a:off x="2280539" y="1774653"/>
              <a:ext cx="1283349" cy="1390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1890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307675" y="991934"/>
            <a:ext cx="8528650" cy="98109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lvl="4" indent="-38100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产量：</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2024</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年氦气全球产量</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1.82</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亿立方米，核心增量来自俄罗斯，未来俄罗斯、卡塔尔、坦桑尼亚、阿尔及利亚产量将增加。</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600"/>
              </a:spcAft>
              <a:buFont typeface="Wingdings" panose="05000000000000000000" pitchFamily="2" charset="2"/>
              <a:buChar char="ü"/>
            </a:pPr>
            <a:r>
              <a:rPr lang="en-US" altLang="zh-CN" sz="1100" dirty="0">
                <a:latin typeface="Arial" panose="020B0604020202020204" pitchFamily="34" charset="0"/>
                <a:ea typeface="思源黑体 Heavy" panose="020B0A00000000000000" pitchFamily="34" charset="-122"/>
                <a:cs typeface="Arial" panose="020B0604020202020204" pitchFamily="34" charset="0"/>
              </a:rPr>
              <a:t>2024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年：全球氦气产量达</a:t>
            </a:r>
            <a:r>
              <a:rPr lang="en-US" altLang="zh-CN" sz="1100" dirty="0">
                <a:latin typeface="Arial" panose="020B0604020202020204" pitchFamily="34" charset="0"/>
                <a:ea typeface="思源黑体 Heavy" panose="020B0A00000000000000" pitchFamily="34" charset="-122"/>
                <a:cs typeface="Arial" panose="020B0604020202020204" pitchFamily="34" charset="0"/>
              </a:rPr>
              <a:t>1.82</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亿万立方米，相比</a:t>
            </a:r>
            <a:r>
              <a:rPr lang="en-US" altLang="zh-CN" sz="1100" dirty="0">
                <a:latin typeface="Arial" panose="020B0604020202020204" pitchFamily="34" charset="0"/>
                <a:ea typeface="思源黑体 Heavy" panose="020B0A00000000000000" pitchFamily="34" charset="-122"/>
                <a:cs typeface="Arial" panose="020B0604020202020204" pitchFamily="34" charset="0"/>
              </a:rPr>
              <a:t>23</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年增加约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1000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万方，主要是俄罗斯</a:t>
            </a:r>
            <a:r>
              <a:rPr lang="en-US" altLang="zh-CN" sz="1100" dirty="0">
                <a:latin typeface="Arial" panose="020B0604020202020204" pitchFamily="34" charset="0"/>
                <a:ea typeface="思源黑体 Heavy" panose="020B0A00000000000000" pitchFamily="34" charset="-122"/>
                <a:cs typeface="Arial" panose="020B0604020202020204" pitchFamily="34" charset="0"/>
              </a:rPr>
              <a:t>900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加拿大、美国与阿尔及利亚增产。</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未来：目前包括俄罗斯、卡塔尔、坦桑尼亚、阿尔及利亚等有约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8</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个新建气田，其中俄罗斯预计新增产能最多，预计未来</a:t>
            </a:r>
            <a:r>
              <a:rPr lang="en-US" altLang="zh-CN" sz="1100" dirty="0">
                <a:latin typeface="Arial" panose="020B0604020202020204" pitchFamily="34" charset="0"/>
                <a:ea typeface="思源黑体 Heavy" panose="020B0A00000000000000" pitchFamily="34" charset="-122"/>
                <a:cs typeface="Arial" panose="020B0604020202020204" pitchFamily="34" charset="0"/>
              </a:rPr>
              <a:t>5-6</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年前过程中年均</a:t>
            </a:r>
            <a:r>
              <a:rPr lang="en-US" altLang="zh-CN" sz="1100" dirty="0">
                <a:latin typeface="Arial" panose="020B0604020202020204" pitchFamily="34" charset="0"/>
                <a:ea typeface="思源黑体 Heavy" panose="020B0A00000000000000" pitchFamily="34" charset="-122"/>
                <a:cs typeface="Arial" panose="020B0604020202020204" pitchFamily="34" charset="0"/>
              </a:rPr>
              <a:t>800-1000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万方产量有望释放，成为全球氦气主要增量供应来源。</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5" name="文本框 34"/>
          <p:cNvSpPr txBox="1"/>
          <p:nvPr/>
        </p:nvSpPr>
        <p:spPr>
          <a:xfrm>
            <a:off x="-345860" y="2121453"/>
            <a:ext cx="50490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a:t>
            </a:r>
            <a:r>
              <a:rPr lang="en-US" altLang="zh-CN" dirty="0"/>
              <a:t>2024</a:t>
            </a:r>
            <a:r>
              <a:rPr lang="zh-CN" altLang="en-US" dirty="0"/>
              <a:t>年全球产量增量主要来自俄罗斯</a:t>
            </a:r>
          </a:p>
        </p:txBody>
      </p:sp>
      <p:graphicFrame>
        <p:nvGraphicFramePr>
          <p:cNvPr id="6" name="图表 5"/>
          <p:cNvGraphicFramePr/>
          <p:nvPr>
            <p:extLst>
              <p:ext uri="{D42A27DB-BD31-4B8C-83A1-F6EECF244321}">
                <p14:modId xmlns:p14="http://schemas.microsoft.com/office/powerpoint/2010/main" val="4182482216"/>
              </p:ext>
            </p:extLst>
          </p:nvPr>
        </p:nvGraphicFramePr>
        <p:xfrm>
          <a:off x="264475" y="2244564"/>
          <a:ext cx="4031217" cy="2281362"/>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15"/>
          <p:cNvSpPr txBox="1"/>
          <p:nvPr/>
        </p:nvSpPr>
        <p:spPr>
          <a:xfrm>
            <a:off x="264475" y="4457700"/>
            <a:ext cx="5426075" cy="1371600"/>
          </a:xfr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i="1">
                <a:solidFill>
                  <a:schemeClr val="tx1">
                    <a:lumMod val="65000"/>
                    <a:lumOff val="35000"/>
                  </a:schemeClr>
                </a:solidFill>
                <a:latin typeface="微软雅黑" panose="020B0503020204020204" charset="-122"/>
                <a:ea typeface="微软雅黑" panose="020B0503020204020204"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r>
              <a:rPr lang="zh-CN" altLang="en-US" sz="900" dirty="0">
                <a:latin typeface="思源黑体 Heavy" panose="020B0A00000000000000" pitchFamily="34" charset="-122"/>
                <a:ea typeface="思源黑体 Heavy" panose="020B0A00000000000000" pitchFamily="34" charset="-122"/>
              </a:rPr>
              <a:t>资料来源：</a:t>
            </a:r>
            <a:r>
              <a:rPr lang="en-US" altLang="zh-CN" sz="900" dirty="0">
                <a:latin typeface="思源黑体 Heavy" panose="020B0A00000000000000" pitchFamily="34" charset="-122"/>
                <a:ea typeface="思源黑体 Heavy" panose="020B0A00000000000000" pitchFamily="34" charset="-122"/>
              </a:rPr>
              <a:t>《</a:t>
            </a:r>
            <a:r>
              <a:rPr lang="zh-CN" altLang="en-US" sz="900" dirty="0">
                <a:latin typeface="思源黑体 Heavy" panose="020B0A00000000000000" pitchFamily="34" charset="-122"/>
                <a:ea typeface="思源黑体 Heavy" panose="020B0A00000000000000" pitchFamily="34" charset="-122"/>
              </a:rPr>
              <a:t>全球氦气产业链分析与中国应对策略</a:t>
            </a:r>
            <a:r>
              <a:rPr lang="en-US" altLang="zh-CN" sz="900" dirty="0">
                <a:latin typeface="思源黑体 Heavy" panose="020B0A00000000000000" pitchFamily="34" charset="-122"/>
                <a:ea typeface="思源黑体 Heavy" panose="020B0A00000000000000" pitchFamily="34" charset="-122"/>
              </a:rPr>
              <a:t>》</a:t>
            </a:r>
            <a:r>
              <a:rPr lang="zh-CN" altLang="en-US" sz="900" dirty="0">
                <a:latin typeface="思源黑体 Heavy" panose="020B0A00000000000000" pitchFamily="34" charset="-122"/>
                <a:ea typeface="思源黑体 Heavy" panose="020B0A00000000000000" pitchFamily="34" charset="-122"/>
              </a:rPr>
              <a:t>、中国气体协会等</a:t>
            </a:r>
          </a:p>
        </p:txBody>
      </p:sp>
      <p:sp>
        <p:nvSpPr>
          <p:cNvPr id="8" name="文本框 12"/>
          <p:cNvSpPr txBox="1"/>
          <p:nvPr/>
        </p:nvSpPr>
        <p:spPr>
          <a:xfrm>
            <a:off x="3758290" y="2121453"/>
            <a:ext cx="565863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表：全球氦气主要增量气田：未来预计每年全球增加</a:t>
            </a:r>
            <a:r>
              <a:rPr lang="en-US" altLang="zh-CN" dirty="0"/>
              <a:t>800-1000</a:t>
            </a:r>
            <a:r>
              <a:rPr lang="zh-CN" altLang="en-US" dirty="0"/>
              <a:t>万立方米</a:t>
            </a:r>
          </a:p>
        </p:txBody>
      </p:sp>
      <p:graphicFrame>
        <p:nvGraphicFramePr>
          <p:cNvPr id="10" name="表格 9"/>
          <p:cNvGraphicFramePr>
            <a:graphicFrameLocks noGrp="1"/>
          </p:cNvGraphicFramePr>
          <p:nvPr>
            <p:extLst>
              <p:ext uri="{D42A27DB-BD31-4B8C-83A1-F6EECF244321}">
                <p14:modId xmlns:p14="http://schemas.microsoft.com/office/powerpoint/2010/main" val="1375051532"/>
              </p:ext>
            </p:extLst>
          </p:nvPr>
        </p:nvGraphicFramePr>
        <p:xfrm>
          <a:off x="4269850" y="2428839"/>
          <a:ext cx="4609675" cy="1997450"/>
        </p:xfrm>
        <a:graphic>
          <a:graphicData uri="http://schemas.openxmlformats.org/drawingml/2006/table">
            <a:tbl>
              <a:tblPr>
                <a:tableStyleId>{5C22544A-7EE6-4342-B048-85BDC9FD1C3A}</a:tableStyleId>
              </a:tblPr>
              <a:tblGrid>
                <a:gridCol w="885056">
                  <a:extLst>
                    <a:ext uri="{9D8B030D-6E8A-4147-A177-3AD203B41FA5}">
                      <a16:colId xmlns:a16="http://schemas.microsoft.com/office/drawing/2014/main" xmlns="" val="20000"/>
                    </a:ext>
                  </a:extLst>
                </a:gridCol>
                <a:gridCol w="1364023">
                  <a:extLst>
                    <a:ext uri="{9D8B030D-6E8A-4147-A177-3AD203B41FA5}">
                      <a16:colId xmlns:a16="http://schemas.microsoft.com/office/drawing/2014/main" xmlns="" val="20001"/>
                    </a:ext>
                  </a:extLst>
                </a:gridCol>
                <a:gridCol w="903158">
                  <a:extLst>
                    <a:ext uri="{9D8B030D-6E8A-4147-A177-3AD203B41FA5}">
                      <a16:colId xmlns:a16="http://schemas.microsoft.com/office/drawing/2014/main" xmlns="" val="20002"/>
                    </a:ext>
                  </a:extLst>
                </a:gridCol>
                <a:gridCol w="743404">
                  <a:extLst>
                    <a:ext uri="{9D8B030D-6E8A-4147-A177-3AD203B41FA5}">
                      <a16:colId xmlns:a16="http://schemas.microsoft.com/office/drawing/2014/main" xmlns="" val="20003"/>
                    </a:ext>
                  </a:extLst>
                </a:gridCol>
                <a:gridCol w="714034">
                  <a:extLst>
                    <a:ext uri="{9D8B030D-6E8A-4147-A177-3AD203B41FA5}">
                      <a16:colId xmlns:a16="http://schemas.microsoft.com/office/drawing/2014/main" xmlns="" val="20004"/>
                    </a:ext>
                  </a:extLst>
                </a:gridCol>
              </a:tblGrid>
              <a:tr h="24523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b="1" u="none" strike="noStrike" dirty="0">
                          <a:solidFill>
                            <a:schemeClr val="bg1"/>
                          </a:solidFill>
                          <a:effectLst/>
                          <a:latin typeface="Arial" panose="020B0604020202020204" pitchFamily="34" charset="0"/>
                          <a:ea typeface="思源黑体 Heavy" panose="020B0A00000000000000" pitchFamily="34" charset="-122"/>
                        </a:rPr>
                        <a:t>国家</a:t>
                      </a:r>
                      <a:endParaRPr lang="zh-CN" altLang="en-US" sz="800" b="1" i="0" u="none" strike="noStrike" dirty="0">
                        <a:solidFill>
                          <a:schemeClr val="bg1"/>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b="1" u="none" strike="noStrike" dirty="0">
                          <a:solidFill>
                            <a:schemeClr val="bg1"/>
                          </a:solidFill>
                          <a:effectLst/>
                          <a:latin typeface="Arial" panose="020B0604020202020204" pitchFamily="34" charset="0"/>
                          <a:ea typeface="思源黑体 Heavy" panose="020B0A00000000000000" pitchFamily="34" charset="-122"/>
                        </a:rPr>
                        <a:t>所有者或运营者</a:t>
                      </a:r>
                      <a:endParaRPr lang="zh-CN" altLang="en-US" sz="800" b="1" i="0" u="none" strike="noStrike" dirty="0">
                        <a:solidFill>
                          <a:schemeClr val="bg1"/>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b="1" u="none" strike="noStrike" dirty="0">
                          <a:solidFill>
                            <a:schemeClr val="bg1"/>
                          </a:solidFill>
                          <a:effectLst/>
                          <a:latin typeface="Arial" panose="020B0604020202020204" pitchFamily="34" charset="0"/>
                          <a:ea typeface="思源黑体 Heavy" panose="020B0A00000000000000" pitchFamily="34" charset="-122"/>
                        </a:rPr>
                        <a:t>工厂或气田</a:t>
                      </a:r>
                      <a:endParaRPr lang="zh-CN" altLang="en-US" sz="800" b="1" i="0" u="none" strike="noStrike" dirty="0">
                        <a:solidFill>
                          <a:schemeClr val="bg1"/>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氦年产能</a:t>
                      </a:r>
                      <a:r>
                        <a:rPr lang="en-US" altLang="zh-CN" sz="80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/10</a:t>
                      </a:r>
                      <a:r>
                        <a:rPr lang="en-US" altLang="zh-CN" sz="800" b="1" u="none" strike="noStrike" baseline="3000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4</a:t>
                      </a:r>
                      <a:r>
                        <a:rPr lang="en-US" sz="800" b="1"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m</a:t>
                      </a:r>
                      <a:r>
                        <a:rPr lang="en-US" sz="800" b="1" u="none" strike="noStrike" baseline="30000"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rPr>
                        <a:t>3</a:t>
                      </a:r>
                      <a:endParaRPr lang="en-US" sz="800" b="1" i="0" u="none" strike="noStrike" dirty="0">
                        <a:solidFill>
                          <a:schemeClr val="bg1"/>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b="1" u="none" strike="noStrike" dirty="0">
                          <a:solidFill>
                            <a:schemeClr val="bg1"/>
                          </a:solidFill>
                          <a:effectLst/>
                          <a:latin typeface="Arial" panose="020B0604020202020204" pitchFamily="34" charset="0"/>
                          <a:ea typeface="思源黑体 Heavy" panose="020B0A00000000000000" pitchFamily="34" charset="-122"/>
                        </a:rPr>
                        <a:t>计划投产年份</a:t>
                      </a:r>
                      <a:endParaRPr lang="zh-CN" altLang="en-US" sz="800" b="1" i="0" u="none" strike="noStrike" dirty="0">
                        <a:solidFill>
                          <a:schemeClr val="bg1"/>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xmlns="" val="10000"/>
                  </a:ext>
                </a:extLst>
              </a:tr>
              <a:tr h="22613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俄罗斯天然气工业股份公司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a:effectLst/>
                          <a:latin typeface="Arial" panose="020B0604020202020204" pitchFamily="34" charset="0"/>
                          <a:ea typeface="思源黑体 Heavy" panose="020B0A00000000000000" pitchFamily="34" charset="-122"/>
                          <a:cs typeface="Arial" panose="020B0604020202020204" pitchFamily="34" charset="0"/>
                        </a:rPr>
                        <a:t>阿穆尔</a:t>
                      </a:r>
                      <a:r>
                        <a:rPr lang="en-US" altLang="zh-CN" sz="800" u="none" strike="noStrike">
                          <a:effectLst/>
                          <a:latin typeface="Arial" panose="020B0604020202020204" pitchFamily="34" charset="0"/>
                          <a:ea typeface="思源黑体 Heavy" panose="020B0A00000000000000" pitchFamily="34" charset="-122"/>
                          <a:cs typeface="Arial" panose="020B0604020202020204" pitchFamily="34" charset="0"/>
                        </a:rPr>
                        <a:t>1</a:t>
                      </a:r>
                      <a:r>
                        <a:rPr lang="zh-CN" altLang="en-US" sz="800" u="none" strike="noStrike">
                          <a:effectLst/>
                          <a:latin typeface="Arial" panose="020B0604020202020204" pitchFamily="34" charset="0"/>
                          <a:ea typeface="思源黑体 Heavy" panose="020B0A00000000000000" pitchFamily="34" charset="-122"/>
                          <a:cs typeface="Arial" panose="020B0604020202020204" pitchFamily="34" charset="0"/>
                        </a:rPr>
                        <a:t>期</a:t>
                      </a:r>
                      <a:endParaRPr lang="zh-CN" altLang="en-US" sz="800" b="0" i="0" u="none" strike="noStrike">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lnT w="12700" cap="flat" cmpd="sng" algn="ctr">
                      <a:solidFill>
                        <a:schemeClr val="tx1"/>
                      </a:solidFill>
                      <a:prstDash val="solid"/>
                      <a:round/>
                      <a:headEnd type="none" w="med" len="med"/>
                      <a:tailEnd type="none" w="med" len="med"/>
                    </a:lnT>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项目已启动</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T w="12700" cap="flat" cmpd="sng" algn="ctr">
                      <a:solidFill>
                        <a:schemeClr val="tx1"/>
                      </a:solidFill>
                      <a:prstDash val="solid"/>
                      <a:round/>
                      <a:headEnd type="none" w="med" len="med"/>
                      <a:tailEnd type="none" w="med" len="med"/>
                    </a:lnT>
                    <a:solidFill>
                      <a:schemeClr val="bg1">
                        <a:lumMod val="95000"/>
                      </a:schemeClr>
                    </a:solidFill>
                  </a:tcPr>
                </a:tc>
                <a:extLst>
                  <a:ext uri="{0D108BD9-81ED-4DB2-BD59-A6C34878D82A}">
                    <a16:rowId xmlns:a16="http://schemas.microsoft.com/office/drawing/2014/main" xmlns="" val="10001"/>
                  </a:ext>
                </a:extLst>
              </a:tr>
              <a:tr h="22613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俄罗斯天然气工业股份公司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阿穆尔</a:t>
                      </a: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a:t>
                      </a: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期</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项目已启动</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extLst>
                  <a:ext uri="{0D108BD9-81ED-4DB2-BD59-A6C34878D82A}">
                    <a16:rowId xmlns:a16="http://schemas.microsoft.com/office/drawing/2014/main" xmlns="" val="10002"/>
                  </a:ext>
                </a:extLst>
              </a:tr>
              <a:tr h="22613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俄罗斯天然气工业股份公司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阿穆尔</a:t>
                      </a: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3</a:t>
                      </a: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期</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2024</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extLst>
                  <a:ext uri="{0D108BD9-81ED-4DB2-BD59-A6C34878D82A}">
                    <a16:rowId xmlns:a16="http://schemas.microsoft.com/office/drawing/2014/main" xmlns="" val="10003"/>
                  </a:ext>
                </a:extLst>
              </a:tr>
              <a:tr h="226134">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伊尔库茨克石油公司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雅拉克塔气田</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750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项目已启动</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extLst>
                  <a:ext uri="{0D108BD9-81ED-4DB2-BD59-A6C34878D82A}">
                    <a16:rowId xmlns:a16="http://schemas.microsoft.com/office/drawing/2014/main" xmlns="" val="10004"/>
                  </a:ext>
                </a:extLst>
              </a:tr>
              <a:tr h="280822">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俄罗斯</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伊尔库茨克石油公司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马尔科夫斯科气田</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450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2025</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extLst>
                  <a:ext uri="{0D108BD9-81ED-4DB2-BD59-A6C34878D82A}">
                    <a16:rowId xmlns:a16="http://schemas.microsoft.com/office/drawing/2014/main" xmlns="" val="10005"/>
                  </a:ext>
                </a:extLst>
              </a:tr>
              <a:tr h="14302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卡塔尔</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卡塔尔能源公司等</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拉斯拉凡</a:t>
                      </a: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3</a:t>
                      </a:r>
                      <a:r>
                        <a:rPr lang="zh-CN" altLang="en-US" sz="800" u="none" strike="noStrike" dirty="0">
                          <a:effectLst/>
                          <a:latin typeface="Arial" panose="020B0604020202020204" pitchFamily="34" charset="0"/>
                          <a:ea typeface="思源黑体 Heavy" panose="020B0A00000000000000" pitchFamily="34" charset="-122"/>
                          <a:cs typeface="Arial" panose="020B0604020202020204" pitchFamily="34" charset="0"/>
                        </a:rPr>
                        <a:t>期</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1200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项目已启动</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noFill/>
                  </a:tcPr>
                </a:tc>
                <a:extLst>
                  <a:ext uri="{0D108BD9-81ED-4DB2-BD59-A6C34878D82A}">
                    <a16:rowId xmlns:a16="http://schemas.microsoft.com/office/drawing/2014/main" xmlns="" val="10006"/>
                  </a:ext>
                </a:extLst>
              </a:tr>
              <a:tr h="143020">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坦桑尼亚</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氦一号公司</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氦一号</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2800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2025</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solidFill>
                      <a:schemeClr val="bg1">
                        <a:lumMod val="95000"/>
                      </a:schemeClr>
                    </a:solidFill>
                  </a:tcPr>
                </a:tc>
                <a:extLst>
                  <a:ext uri="{0D108BD9-81ED-4DB2-BD59-A6C34878D82A}">
                    <a16:rowId xmlns:a16="http://schemas.microsoft.com/office/drawing/2014/main" xmlns="" val="10007"/>
                  </a:ext>
                </a:extLst>
              </a:tr>
              <a:tr h="280822">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阿尔及利亚</a:t>
                      </a:r>
                      <a:endParaRPr lang="zh-CN" altLang="en-US" sz="800" b="1"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阿尔及利亚国家石油公司等</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阿尔及利亚提氦厂</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en-US" altLang="zh-CN" sz="800" u="none" strike="noStrike" dirty="0">
                          <a:effectLst/>
                          <a:latin typeface="Arial" panose="020B0604020202020204" pitchFamily="34" charset="0"/>
                          <a:ea typeface="思源黑体 Heavy" panose="020B0A00000000000000" pitchFamily="34" charset="-122"/>
                          <a:cs typeface="Arial" panose="020B0604020202020204" pitchFamily="34" charset="0"/>
                        </a:rPr>
                        <a:t>1000</a:t>
                      </a:r>
                      <a:endParaRPr lang="en-US" altLang="zh-CN" sz="800" b="0" i="0" u="none" strike="noStrike" dirty="0">
                        <a:solidFill>
                          <a:srgbClr val="000000"/>
                        </a:solidFill>
                        <a:effectLst/>
                        <a:latin typeface="Arial" panose="020B0604020202020204" pitchFamily="34" charset="0"/>
                        <a:ea typeface="思源黑体 Heavy" panose="020B0A00000000000000" pitchFamily="34" charset="-122"/>
                        <a:cs typeface="Arial" panose="020B0604020202020204" pitchFamily="34" charset="0"/>
                      </a:endParaRPr>
                    </a:p>
                  </a:txBody>
                  <a:tcPr marL="6351" marR="6351" marT="6351" marB="0" anchor="ctr">
                    <a:lnB w="12700" cap="flat" cmpd="sng" algn="ctr">
                      <a:solidFill>
                        <a:schemeClr val="tx1"/>
                      </a:solidFill>
                      <a:prstDash val="solid"/>
                      <a:round/>
                      <a:headEnd type="none" w="med" len="med"/>
                      <a:tailEnd type="none" w="med" len="med"/>
                    </a:lnB>
                    <a:noFill/>
                  </a:tcPr>
                </a:tc>
                <a:tc>
                  <a:txBody>
                    <a:bodyPr/>
                    <a:lst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dk1"/>
                          </a:solidFill>
                          <a:uFillTx/>
                          <a:latin typeface="+mn-lt"/>
                          <a:ea typeface="+mn-ea"/>
                          <a:cs typeface="+mn-cs"/>
                          <a:sym typeface="等线" panose="02010600030101010101" charset="-122"/>
                        </a:defRPr>
                      </a:lvl9pPr>
                    </a:lstStyle>
                    <a:p>
                      <a:pPr algn="ctr" rtl="0" fontAlgn="ctr">
                        <a:buNone/>
                      </a:pPr>
                      <a:r>
                        <a:rPr lang="zh-CN" altLang="en-US" sz="800" u="none" strike="noStrike" dirty="0">
                          <a:effectLst/>
                          <a:latin typeface="Arial" panose="020B0604020202020204" pitchFamily="34" charset="0"/>
                          <a:ea typeface="思源黑体 Heavy" panose="020B0A00000000000000" pitchFamily="34" charset="-122"/>
                        </a:rPr>
                        <a:t>项目已启动</a:t>
                      </a:r>
                      <a:endParaRPr lang="zh-CN" altLang="en-US" sz="800" b="0" i="0" u="none" strike="noStrike" dirty="0">
                        <a:solidFill>
                          <a:srgbClr val="000000"/>
                        </a:solidFill>
                        <a:effectLst/>
                        <a:latin typeface="Arial" panose="020B0604020202020204" pitchFamily="34" charset="0"/>
                        <a:ea typeface="思源黑体 Heavy" panose="020B0A00000000000000" pitchFamily="34" charset="-122"/>
                      </a:endParaRPr>
                    </a:p>
                  </a:txBody>
                  <a:tcPr marL="6351" marR="6351" marT="6351"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8"/>
                  </a:ext>
                </a:extLst>
              </a:tr>
            </a:tbl>
          </a:graphicData>
        </a:graphic>
      </p:graphicFrame>
      <p:sp>
        <p:nvSpPr>
          <p:cNvPr id="3" name="矩形 2">
            <a:extLst>
              <a:ext uri="{FF2B5EF4-FFF2-40B4-BE49-F238E27FC236}">
                <a16:creationId xmlns:a16="http://schemas.microsoft.com/office/drawing/2014/main" xmlns="" id="{FD89CC2E-EC99-2D94-EE2D-6E96DA1ADBFC}"/>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04</a:t>
            </a:r>
            <a:endParaRPr lang="zh-CN" altLang="en-US" sz="3200" dirty="0"/>
          </a:p>
        </p:txBody>
      </p:sp>
      <p:sp>
        <p:nvSpPr>
          <p:cNvPr id="9" name="矩形 8">
            <a:extLst>
              <a:ext uri="{FF2B5EF4-FFF2-40B4-BE49-F238E27FC236}">
                <a16:creationId xmlns:a16="http://schemas.microsoft.com/office/drawing/2014/main" xmlns="" id="{D76DA721-BB91-4783-11C6-054FB1CC0A3B}"/>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xmlns="" id="{018A8DC8-C256-9BBD-4582-011A6F4E6F18}"/>
              </a:ext>
            </a:extLst>
          </p:cNvPr>
          <p:cNvSpPr txBox="1"/>
          <p:nvPr/>
        </p:nvSpPr>
        <p:spPr>
          <a:xfrm>
            <a:off x="783952" y="304344"/>
            <a:ext cx="639039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indent="0" defTabSz="914400">
              <a:lnSpc>
                <a:spcPct val="90000"/>
              </a:lnSpc>
              <a:spcBef>
                <a:spcPts val="0"/>
              </a:spcBef>
              <a:spcAft>
                <a:spcPts val="0"/>
              </a:spcAft>
              <a:buClrTx/>
              <a:buSzTx/>
              <a:buFontTx/>
              <a:buNone/>
              <a:defRPr sz="2000" b="1" i="0" u="none" strike="noStrike" cap="none" spc="0" baseline="0">
                <a:ln>
                  <a:noFill/>
                </a:ln>
                <a:solidFill>
                  <a:srgbClr val="0677D5"/>
                </a:solidFill>
                <a:uFillTx/>
                <a:latin typeface="+mj-ea"/>
                <a:ea typeface="思源黑体 CN Regular" panose="020B0500000000000000" charset="-122"/>
                <a:cs typeface="Arial" panose="020B0604020202020204" pitchFamily="34" charset="0"/>
              </a:defRPr>
            </a:lvl1pPr>
            <a:lvl2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2pPr>
            <a:lvl3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3pPr>
            <a:lvl4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4pPr>
            <a:lvl5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5pPr>
            <a:lvl6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6pPr>
            <a:lvl7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7pPr>
            <a:lvl8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8pPr>
            <a:lvl9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9pPr>
          </a:lstStyle>
          <a:p>
            <a:r>
              <a:rPr lang="zh-CN" altLang="en-US" dirty="0"/>
              <a:t>氦气供应：增量核心是俄罗斯，</a:t>
            </a:r>
            <a:r>
              <a:rPr lang="en-US" altLang="zh-CN" dirty="0"/>
              <a:t>23-24</a:t>
            </a:r>
            <a:r>
              <a:rPr lang="zh-CN" altLang="en-US" dirty="0"/>
              <a:t>年中国市场成价格洼地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5"/>
          <p:cNvSpPr txBox="1"/>
          <p:nvPr/>
        </p:nvSpPr>
        <p:spPr>
          <a:xfrm>
            <a:off x="137556" y="843510"/>
            <a:ext cx="8664537" cy="1465842"/>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lvl="4" indent="-381000" algn="just">
              <a:lnSpc>
                <a:spcPct val="100000"/>
              </a:lnSpc>
              <a:spcBef>
                <a:spcPts val="0"/>
              </a:spcBef>
              <a:spcAft>
                <a:spcPts val="8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从中国市场维度看，中国市场依赖海外供应，此前氦气价格大幅下降主要有两个原因</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供给极端性过程与综合进口成本下降，两大影响因素在</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年开始减弱</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供需分析：供给过剩仍存在，我们认为，后续随着晶圆</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面板厂新厂稼动率提升，有望呈现一定幅度的提升。</a:t>
            </a:r>
            <a:r>
              <a:rPr lang="zh-CN" altLang="en-US" sz="1100" dirty="0">
                <a:latin typeface="Arial" panose="020B0604020202020204" pitchFamily="34" charset="0"/>
                <a:ea typeface="思源黑体 Heavy" panose="020B0A00000000000000" pitchFamily="34" charset="-122"/>
                <a:cs typeface="Arial" panose="020B0604020202020204" pitchFamily="34" charset="0"/>
              </a:rPr>
              <a:t>由于中国厂商获取不少俄罗斯氦源，叠加本土化氦气产量上行，从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21</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年开始中国氦气市场呈现阶段性过剩问题，</a:t>
            </a:r>
            <a:r>
              <a:rPr lang="en-US" altLang="zh-CN" sz="1100" dirty="0">
                <a:latin typeface="Arial" panose="020B0604020202020204" pitchFamily="34" charset="0"/>
                <a:ea typeface="思源黑体 Heavy" panose="020B0A00000000000000" pitchFamily="34" charset="-122"/>
                <a:cs typeface="Arial" panose="020B0604020202020204" pitchFamily="34" charset="0"/>
              </a:rPr>
              <a:t>23</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年供给大于需求，分别有</a:t>
            </a:r>
            <a:r>
              <a:rPr lang="en-US" altLang="zh-CN" sz="1100" dirty="0">
                <a:latin typeface="Arial" panose="020B0604020202020204" pitchFamily="34" charset="0"/>
                <a:ea typeface="思源黑体 Heavy" panose="020B0A00000000000000" pitchFamily="34" charset="-122"/>
                <a:cs typeface="Arial" panose="020B0604020202020204" pitchFamily="34" charset="0"/>
              </a:rPr>
              <a:t>9</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r>
              <a:rPr lang="en-US" altLang="zh-CN" sz="1100" dirty="0">
                <a:latin typeface="Arial" panose="020B0604020202020204" pitchFamily="34" charset="0"/>
                <a:ea typeface="思源黑体 Heavy" panose="020B0A00000000000000" pitchFamily="34" charset="-122"/>
                <a:cs typeface="Arial" panose="020B0604020202020204" pitchFamily="34" charset="0"/>
              </a:rPr>
              <a:t>72</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万方的供应过剩。当前时点看，供给端压力有所减少，需求端有望企稳。</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进口结构：</a:t>
            </a:r>
            <a:r>
              <a:rPr lang="en-US" altLang="zh-CN" sz="1100" dirty="0">
                <a:latin typeface="Arial" panose="020B0604020202020204" pitchFamily="34" charset="0"/>
                <a:ea typeface="思源黑体 Heavy" panose="020B0A00000000000000" pitchFamily="34" charset="-122"/>
                <a:cs typeface="Arial" panose="020B0604020202020204" pitchFamily="34" charset="0"/>
              </a:rPr>
              <a:t>2024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年俄罗斯进口量占比加大，是中国市场的主要增量。</a:t>
            </a:r>
            <a:r>
              <a:rPr lang="en-US" altLang="zh-CN" sz="1100" dirty="0">
                <a:latin typeface="Arial" panose="020B0604020202020204" pitchFamily="34" charset="0"/>
                <a:ea typeface="思源黑体 Heavy" panose="020B0A00000000000000" pitchFamily="34" charset="-122"/>
                <a:cs typeface="Arial" panose="020B0604020202020204" pitchFamily="34" charset="0"/>
              </a:rPr>
              <a:t>2023</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年及以前，欧洲某国氦气对中国出口量小，</a:t>
            </a:r>
            <a:r>
              <a:rPr lang="en-US" altLang="zh-CN" sz="1100" dirty="0">
                <a:latin typeface="Arial" panose="020B0604020202020204" pitchFamily="34" charset="0"/>
                <a:ea typeface="思源黑体 Heavy" panose="020B0A00000000000000" pitchFamily="34" charset="-122"/>
                <a:cs typeface="Arial" panose="020B0604020202020204" pitchFamily="34" charset="0"/>
              </a:rPr>
              <a:t>2024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年开始俄罗斯供应加大，较大量进入中国市场，中国氦气进口量中欧洲某国占比达到</a:t>
            </a:r>
            <a:r>
              <a:rPr lang="en-US" altLang="zh-CN" sz="1100" dirty="0">
                <a:latin typeface="Arial" panose="020B0604020202020204" pitchFamily="34" charset="0"/>
                <a:ea typeface="思源黑体 Heavy" panose="020B0A00000000000000" pitchFamily="34" charset="-122"/>
                <a:cs typeface="Arial" panose="020B0604020202020204" pitchFamily="34" charset="0"/>
              </a:rPr>
              <a:t>33.5%</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p>
        </p:txBody>
      </p:sp>
      <p:sp>
        <p:nvSpPr>
          <p:cNvPr id="5" name="文本框 1"/>
          <p:cNvSpPr txBox="1"/>
          <p:nvPr/>
        </p:nvSpPr>
        <p:spPr>
          <a:xfrm>
            <a:off x="-152732" y="2363761"/>
            <a:ext cx="520633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图：中国氦气供需情况：有一定过剩</a:t>
            </a:r>
          </a:p>
        </p:txBody>
      </p:sp>
      <p:graphicFrame>
        <p:nvGraphicFramePr>
          <p:cNvPr id="6" name="图表 5"/>
          <p:cNvGraphicFramePr/>
          <p:nvPr>
            <p:extLst>
              <p:ext uri="{D42A27DB-BD31-4B8C-83A1-F6EECF244321}">
                <p14:modId xmlns:p14="http://schemas.microsoft.com/office/powerpoint/2010/main" val="453115699"/>
              </p:ext>
            </p:extLst>
          </p:nvPr>
        </p:nvGraphicFramePr>
        <p:xfrm>
          <a:off x="137556" y="2609982"/>
          <a:ext cx="5012809" cy="1897922"/>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占位符 15"/>
          <p:cNvSpPr txBox="1"/>
          <p:nvPr/>
        </p:nvSpPr>
        <p:spPr>
          <a:xfrm>
            <a:off x="608764" y="4457700"/>
            <a:ext cx="5426075" cy="1371600"/>
          </a:xfr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i="1">
                <a:solidFill>
                  <a:schemeClr val="tx1">
                    <a:lumMod val="65000"/>
                    <a:lumOff val="35000"/>
                  </a:schemeClr>
                </a:solidFill>
                <a:latin typeface="微软雅黑" panose="020B0503020204020204" charset="-122"/>
                <a:ea typeface="微软雅黑" panose="020B0503020204020204"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r>
              <a:rPr lang="zh-CN" altLang="en-US" sz="900" dirty="0">
                <a:latin typeface="思源黑体 Heavy" panose="020B0A00000000000000" pitchFamily="34" charset="-122"/>
                <a:ea typeface="思源黑体 Heavy" panose="020B0A00000000000000" pitchFamily="34" charset="-122"/>
              </a:rPr>
              <a:t>资料来源：观研报告、中国气体协会、卓创数据</a:t>
            </a:r>
          </a:p>
        </p:txBody>
      </p:sp>
      <p:sp>
        <p:nvSpPr>
          <p:cNvPr id="8" name="文本框 2"/>
          <p:cNvSpPr txBox="1"/>
          <p:nvPr/>
        </p:nvSpPr>
        <p:spPr>
          <a:xfrm>
            <a:off x="4997446" y="2363761"/>
            <a:ext cx="39614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图：中国氦气进口结构（进口量，</a:t>
            </a:r>
            <a:r>
              <a:rPr lang="en-US" altLang="zh-CN" dirty="0"/>
              <a:t>2024</a:t>
            </a:r>
            <a:r>
              <a:rPr lang="zh-CN" altLang="en-US" dirty="0"/>
              <a:t>年）</a:t>
            </a:r>
          </a:p>
        </p:txBody>
      </p:sp>
      <p:graphicFrame>
        <p:nvGraphicFramePr>
          <p:cNvPr id="10" name="图表 9"/>
          <p:cNvGraphicFramePr/>
          <p:nvPr>
            <p:extLst>
              <p:ext uri="{D42A27DB-BD31-4B8C-83A1-F6EECF244321}">
                <p14:modId xmlns:p14="http://schemas.microsoft.com/office/powerpoint/2010/main" val="857643059"/>
              </p:ext>
            </p:extLst>
          </p:nvPr>
        </p:nvGraphicFramePr>
        <p:xfrm>
          <a:off x="5210043" y="2571750"/>
          <a:ext cx="3748839" cy="2003243"/>
        </p:xfrm>
        <a:graphic>
          <a:graphicData uri="http://schemas.openxmlformats.org/drawingml/2006/chart">
            <c:chart xmlns:c="http://schemas.openxmlformats.org/drawingml/2006/chart" xmlns:r="http://schemas.openxmlformats.org/officeDocument/2006/relationships" r:id="rId3"/>
          </a:graphicData>
        </a:graphic>
      </p:graphicFrame>
      <p:sp>
        <p:nvSpPr>
          <p:cNvPr id="3" name="文本框 2">
            <a:extLst>
              <a:ext uri="{FF2B5EF4-FFF2-40B4-BE49-F238E27FC236}">
                <a16:creationId xmlns:a16="http://schemas.microsoft.com/office/drawing/2014/main" xmlns="" id="{E7911B27-F9E9-E236-946A-F99D17B866B5}"/>
              </a:ext>
            </a:extLst>
          </p:cNvPr>
          <p:cNvSpPr txBox="1"/>
          <p:nvPr/>
        </p:nvSpPr>
        <p:spPr>
          <a:xfrm>
            <a:off x="783952" y="304344"/>
            <a:ext cx="6390393" cy="646331"/>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indent="0" defTabSz="914400">
              <a:lnSpc>
                <a:spcPct val="90000"/>
              </a:lnSpc>
              <a:spcBef>
                <a:spcPts val="0"/>
              </a:spcBef>
              <a:spcAft>
                <a:spcPts val="0"/>
              </a:spcAft>
              <a:buClrTx/>
              <a:buSzTx/>
              <a:buFontTx/>
              <a:buNone/>
              <a:defRPr sz="2000" b="1" i="0" u="none" strike="noStrike" cap="none" spc="0" baseline="0">
                <a:ln>
                  <a:noFill/>
                </a:ln>
                <a:solidFill>
                  <a:srgbClr val="0677D5"/>
                </a:solidFill>
                <a:uFillTx/>
                <a:latin typeface="+mj-ea"/>
                <a:ea typeface="思源黑体 CN Regular" panose="020B0500000000000000" charset="-122"/>
                <a:cs typeface="Arial" panose="020B0604020202020204" pitchFamily="34" charset="0"/>
              </a:defRPr>
            </a:lvl1pPr>
            <a:lvl2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2pPr>
            <a:lvl3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3pPr>
            <a:lvl4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4pPr>
            <a:lvl5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5pPr>
            <a:lvl6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6pPr>
            <a:lvl7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7pPr>
            <a:lvl8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8pPr>
            <a:lvl9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9pPr>
          </a:lstStyle>
          <a:p>
            <a:r>
              <a:rPr lang="zh-CN" altLang="en-US" dirty="0"/>
              <a:t>氦气供应：增量核心是俄罗斯，</a:t>
            </a:r>
            <a:r>
              <a:rPr lang="en-US" altLang="zh-CN" dirty="0"/>
              <a:t>23-24</a:t>
            </a:r>
            <a:r>
              <a:rPr lang="zh-CN" altLang="en-US" dirty="0"/>
              <a:t>年中国市场成价格洼地</a:t>
            </a:r>
          </a:p>
        </p:txBody>
      </p:sp>
      <p:sp>
        <p:nvSpPr>
          <p:cNvPr id="9" name="矩形 8">
            <a:extLst>
              <a:ext uri="{FF2B5EF4-FFF2-40B4-BE49-F238E27FC236}">
                <a16:creationId xmlns:a16="http://schemas.microsoft.com/office/drawing/2014/main" xmlns="" id="{8329CD04-7244-0F27-1AD9-FF5831EC2BD3}"/>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04</a:t>
            </a:r>
            <a:endParaRPr lang="zh-CN" altLang="en-US" sz="3200" dirty="0"/>
          </a:p>
        </p:txBody>
      </p:sp>
      <p:sp>
        <p:nvSpPr>
          <p:cNvPr id="11" name="矩形 10">
            <a:extLst>
              <a:ext uri="{FF2B5EF4-FFF2-40B4-BE49-F238E27FC236}">
                <a16:creationId xmlns:a16="http://schemas.microsoft.com/office/drawing/2014/main" xmlns="" id="{D84AB07E-8717-B528-EE41-5E699CDE13E9}"/>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3A82DC8A-1C23-4326-A90F-D37FAB6BFAAF}"/>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04</a:t>
            </a:r>
            <a:endParaRPr lang="zh-CN" altLang="en-US" sz="3200" dirty="0"/>
          </a:p>
        </p:txBody>
      </p:sp>
      <p:sp>
        <p:nvSpPr>
          <p:cNvPr id="6" name="矩形 5">
            <a:extLst>
              <a:ext uri="{FF2B5EF4-FFF2-40B4-BE49-F238E27FC236}">
                <a16:creationId xmlns:a16="http://schemas.microsoft.com/office/drawing/2014/main" xmlns="" id="{0D02AA97-E7F1-EF02-8449-8C8E3D2238A4}"/>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xmlns="" id="{BE63A0DB-CE2A-CB95-E496-0335655A02FD}"/>
              </a:ext>
            </a:extLst>
          </p:cNvPr>
          <p:cNvSpPr txBox="1"/>
          <p:nvPr/>
        </p:nvSpPr>
        <p:spPr>
          <a:xfrm>
            <a:off x="847562" y="442844"/>
            <a:ext cx="6904960"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indent="0" defTabSz="914400">
              <a:lnSpc>
                <a:spcPct val="90000"/>
              </a:lnSpc>
              <a:spcBef>
                <a:spcPts val="0"/>
              </a:spcBef>
              <a:spcAft>
                <a:spcPts val="0"/>
              </a:spcAft>
              <a:buClrTx/>
              <a:buSzTx/>
              <a:buFontTx/>
              <a:buNone/>
              <a:defRPr sz="2000" b="1" i="0" u="none" strike="noStrike" cap="none" spc="0" baseline="0">
                <a:ln>
                  <a:noFill/>
                </a:ln>
                <a:solidFill>
                  <a:srgbClr val="0677D5"/>
                </a:solidFill>
                <a:uFillTx/>
                <a:latin typeface="+mj-ea"/>
                <a:ea typeface="思源黑体 CN Regular" panose="020B0500000000000000" charset="-122"/>
                <a:cs typeface="Arial" panose="020B0604020202020204" pitchFamily="34" charset="0"/>
              </a:defRPr>
            </a:lvl1pPr>
            <a:lvl2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2pPr>
            <a:lvl3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3pPr>
            <a:lvl4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4pPr>
            <a:lvl5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5pPr>
            <a:lvl6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6pPr>
            <a:lvl7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7pPr>
            <a:lvl8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8pPr>
            <a:lvl9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9pPr>
          </a:lstStyle>
          <a:p>
            <a:r>
              <a:rPr lang="zh-CN" altLang="en-US" dirty="0"/>
              <a:t>氦气价格：稳健氦源稀缺、供给集中，电子用氦开启涨价</a:t>
            </a:r>
          </a:p>
        </p:txBody>
      </p:sp>
      <p:graphicFrame>
        <p:nvGraphicFramePr>
          <p:cNvPr id="9" name="表格 8">
            <a:extLst>
              <a:ext uri="{FF2B5EF4-FFF2-40B4-BE49-F238E27FC236}">
                <a16:creationId xmlns:a16="http://schemas.microsoft.com/office/drawing/2014/main" xmlns="" id="{ED4FBBB8-0530-1E03-69FE-EF54C1606D68}"/>
              </a:ext>
            </a:extLst>
          </p:cNvPr>
          <p:cNvGraphicFramePr>
            <a:graphicFrameLocks noGrp="1"/>
          </p:cNvGraphicFramePr>
          <p:nvPr>
            <p:extLst>
              <p:ext uri="{D42A27DB-BD31-4B8C-83A1-F6EECF244321}">
                <p14:modId xmlns:p14="http://schemas.microsoft.com/office/powerpoint/2010/main" val="1242627886"/>
              </p:ext>
            </p:extLst>
          </p:nvPr>
        </p:nvGraphicFramePr>
        <p:xfrm>
          <a:off x="480616" y="2262256"/>
          <a:ext cx="4385584" cy="2438400"/>
        </p:xfrm>
        <a:graphic>
          <a:graphicData uri="http://schemas.openxmlformats.org/drawingml/2006/table">
            <a:tbl>
              <a:tblPr/>
              <a:tblGrid>
                <a:gridCol w="473541">
                  <a:extLst>
                    <a:ext uri="{9D8B030D-6E8A-4147-A177-3AD203B41FA5}">
                      <a16:colId xmlns:a16="http://schemas.microsoft.com/office/drawing/2014/main" xmlns="" val="265495475"/>
                    </a:ext>
                  </a:extLst>
                </a:gridCol>
                <a:gridCol w="858741">
                  <a:extLst>
                    <a:ext uri="{9D8B030D-6E8A-4147-A177-3AD203B41FA5}">
                      <a16:colId xmlns:a16="http://schemas.microsoft.com/office/drawing/2014/main" xmlns="" val="128325950"/>
                    </a:ext>
                  </a:extLst>
                </a:gridCol>
                <a:gridCol w="1391478">
                  <a:extLst>
                    <a:ext uri="{9D8B030D-6E8A-4147-A177-3AD203B41FA5}">
                      <a16:colId xmlns:a16="http://schemas.microsoft.com/office/drawing/2014/main" xmlns="" val="1852352469"/>
                    </a:ext>
                  </a:extLst>
                </a:gridCol>
                <a:gridCol w="1661824">
                  <a:extLst>
                    <a:ext uri="{9D8B030D-6E8A-4147-A177-3AD203B41FA5}">
                      <a16:colId xmlns:a16="http://schemas.microsoft.com/office/drawing/2014/main" xmlns="" val="2966959322"/>
                    </a:ext>
                  </a:extLst>
                </a:gridCol>
              </a:tblGrid>
              <a:tr h="223976">
                <a:tc>
                  <a:txBody>
                    <a:bodyPr/>
                    <a:lstStyle/>
                    <a:p>
                      <a:pPr algn="l" fontAlgn="ctr">
                        <a:buNone/>
                      </a:pPr>
                      <a:r>
                        <a:rPr lang="zh-CN" altLang="en-US" sz="800" b="1" i="0" u="none" strike="noStrike">
                          <a:solidFill>
                            <a:srgbClr val="000000"/>
                          </a:solidFill>
                          <a:effectLst/>
                          <a:latin typeface="+mn-ea"/>
                          <a:ea typeface="+mn-ea"/>
                        </a:rPr>
                        <a:t>公司名称</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800" b="1" i="0" u="none" strike="noStrike">
                          <a:solidFill>
                            <a:srgbClr val="000000"/>
                          </a:solidFill>
                          <a:effectLst/>
                          <a:latin typeface="+mn-ea"/>
                          <a:ea typeface="+mn-ea"/>
                        </a:rPr>
                        <a:t>当前氦气气源量（万方</a:t>
                      </a:r>
                      <a:r>
                        <a:rPr lang="en-US" altLang="zh-CN" sz="800" b="1" i="0" u="none" strike="noStrike">
                          <a:solidFill>
                            <a:srgbClr val="000000"/>
                          </a:solidFill>
                          <a:effectLst/>
                          <a:latin typeface="+mn-ea"/>
                          <a:ea typeface="+mn-ea"/>
                        </a:rPr>
                        <a:t>/</a:t>
                      </a:r>
                      <a:r>
                        <a:rPr lang="zh-CN" altLang="en-US" sz="800" b="1" i="0" u="none" strike="noStrike">
                          <a:solidFill>
                            <a:srgbClr val="000000"/>
                          </a:solidFill>
                          <a:effectLst/>
                          <a:latin typeface="+mn-ea"/>
                          <a:ea typeface="+mn-ea"/>
                        </a:rPr>
                        <a:t>年）</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800" b="1" i="0" u="none" strike="noStrike">
                          <a:solidFill>
                            <a:srgbClr val="000000"/>
                          </a:solidFill>
                          <a:effectLst/>
                          <a:latin typeface="+mn-ea"/>
                          <a:ea typeface="+mn-ea"/>
                        </a:rPr>
                        <a:t>气源结构</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800" b="1" i="0" u="none" strike="noStrike">
                          <a:solidFill>
                            <a:srgbClr val="000000"/>
                          </a:solidFill>
                          <a:effectLst/>
                          <a:latin typeface="+mn-ea"/>
                          <a:ea typeface="+mn-ea"/>
                        </a:rPr>
                        <a:t>未来增量</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09458100"/>
                  </a:ext>
                </a:extLst>
              </a:tr>
              <a:tr h="358241">
                <a:tc>
                  <a:txBody>
                    <a:bodyPr/>
                    <a:lstStyle/>
                    <a:p>
                      <a:pPr algn="l" fontAlgn="ctr">
                        <a:buNone/>
                      </a:pPr>
                      <a:r>
                        <a:rPr lang="zh-CN" altLang="en-US" sz="800" b="1" i="0" u="none" strike="noStrike">
                          <a:solidFill>
                            <a:srgbClr val="000000"/>
                          </a:solidFill>
                          <a:effectLst/>
                          <a:latin typeface="+mn-ea"/>
                          <a:ea typeface="+mn-ea"/>
                        </a:rPr>
                        <a:t>林德</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buNone/>
                      </a:pPr>
                      <a:r>
                        <a:rPr lang="en-US" altLang="zh-CN" sz="800" b="0" i="0" u="none" strike="noStrike">
                          <a:solidFill>
                            <a:srgbClr val="000000"/>
                          </a:solidFill>
                          <a:effectLst/>
                          <a:latin typeface="+mn-ea"/>
                          <a:ea typeface="+mn-ea"/>
                        </a:rPr>
                        <a:t>4000</a:t>
                      </a:r>
                      <a:r>
                        <a:rPr lang="zh-CN" altLang="en-US" sz="800" b="0" i="0" u="none" strike="noStrike">
                          <a:solidFill>
                            <a:srgbClr val="000000"/>
                          </a:solidFill>
                          <a:effectLst/>
                          <a:latin typeface="+mn-ea"/>
                          <a:ea typeface="+mn-ea"/>
                        </a:rPr>
                        <a:t>（全球份额约</a:t>
                      </a:r>
                      <a:r>
                        <a:rPr lang="en-US" altLang="zh-CN" sz="800" b="0" i="0" u="none" strike="noStrike">
                          <a:solidFill>
                            <a:srgbClr val="000000"/>
                          </a:solidFill>
                          <a:effectLst/>
                          <a:latin typeface="+mn-ea"/>
                          <a:ea typeface="+mn-ea"/>
                        </a:rPr>
                        <a:t>22%</a:t>
                      </a:r>
                      <a:r>
                        <a:rPr lang="zh-CN" altLang="en-US" sz="800" b="0" i="0" u="none" strike="noStrike">
                          <a:solidFill>
                            <a:srgbClr val="000000"/>
                          </a:solidFill>
                          <a:effectLst/>
                          <a:latin typeface="+mn-ea"/>
                          <a:ea typeface="+mn-ea"/>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buNone/>
                      </a:pPr>
                      <a:r>
                        <a:rPr lang="zh-CN" altLang="en-US" sz="800" b="0" i="0" u="none" strike="noStrike">
                          <a:solidFill>
                            <a:srgbClr val="000000"/>
                          </a:solidFill>
                          <a:effectLst/>
                          <a:latin typeface="+mn-ea"/>
                          <a:ea typeface="+mn-ea"/>
                        </a:rPr>
                        <a:t>卡塔尔</a:t>
                      </a:r>
                      <a:r>
                        <a:rPr lang="en-US" altLang="zh-CN" sz="800" b="0" i="0" u="none" strike="noStrike">
                          <a:solidFill>
                            <a:srgbClr val="000000"/>
                          </a:solidFill>
                          <a:effectLst/>
                          <a:latin typeface="+mn-ea"/>
                          <a:ea typeface="+mn-ea"/>
                        </a:rPr>
                        <a:t>44%</a:t>
                      </a:r>
                      <a:r>
                        <a:rPr lang="zh-CN" altLang="en-US" sz="800" b="0" i="0" u="none" strike="noStrike">
                          <a:solidFill>
                            <a:srgbClr val="000000"/>
                          </a:solidFill>
                          <a:effectLst/>
                          <a:latin typeface="+mn-ea"/>
                          <a:ea typeface="+mn-ea"/>
                        </a:rPr>
                        <a:t>、美国</a:t>
                      </a:r>
                      <a:r>
                        <a:rPr lang="en-US" altLang="zh-CN" sz="800" b="0" i="0" u="none" strike="noStrike">
                          <a:solidFill>
                            <a:srgbClr val="000000"/>
                          </a:solidFill>
                          <a:effectLst/>
                          <a:latin typeface="+mn-ea"/>
                          <a:ea typeface="+mn-ea"/>
                        </a:rPr>
                        <a:t>40%</a:t>
                      </a:r>
                      <a:r>
                        <a:rPr lang="zh-CN" altLang="en-US" sz="800" b="0" i="0" u="none" strike="noStrike">
                          <a:solidFill>
                            <a:srgbClr val="000000"/>
                          </a:solidFill>
                          <a:effectLst/>
                          <a:latin typeface="+mn-ea"/>
                          <a:ea typeface="+mn-ea"/>
                        </a:rPr>
                        <a:t>、澳大利亚</a:t>
                      </a:r>
                      <a:r>
                        <a:rPr lang="en-US" altLang="zh-CN" sz="800" b="0" i="0" u="none" strike="noStrike">
                          <a:solidFill>
                            <a:srgbClr val="000000"/>
                          </a:solidFill>
                          <a:effectLst/>
                          <a:latin typeface="+mn-ea"/>
                          <a:ea typeface="+mn-ea"/>
                        </a:rPr>
                        <a:t>6%</a:t>
                      </a:r>
                      <a:r>
                        <a:rPr lang="zh-CN" altLang="en-US" sz="800" b="0" i="0" u="none" strike="noStrike">
                          <a:solidFill>
                            <a:srgbClr val="000000"/>
                          </a:solidFill>
                          <a:effectLst/>
                          <a:latin typeface="+mn-ea"/>
                          <a:ea typeface="+mn-ea"/>
                        </a:rPr>
                        <a:t>、阿尔及利亚</a:t>
                      </a:r>
                      <a:r>
                        <a:rPr lang="en-US" altLang="zh-CN" sz="800" b="0" i="0" u="none" strike="noStrike">
                          <a:solidFill>
                            <a:srgbClr val="000000"/>
                          </a:solidFill>
                          <a:effectLst/>
                          <a:latin typeface="+mn-ea"/>
                          <a:ea typeface="+mn-ea"/>
                        </a:rPr>
                        <a:t>8%</a:t>
                      </a:r>
                      <a:r>
                        <a:rPr lang="zh-CN" altLang="en-US" sz="800" b="0" i="0" u="none" strike="noStrike">
                          <a:solidFill>
                            <a:srgbClr val="000000"/>
                          </a:solidFill>
                          <a:effectLst/>
                          <a:latin typeface="+mn-ea"/>
                          <a:ea typeface="+mn-ea"/>
                        </a:rPr>
                        <a:t>、其他（包含俄罗斯）</a:t>
                      </a:r>
                      <a:r>
                        <a:rPr lang="en-US" altLang="zh-CN" sz="800" b="0" i="0" u="none" strike="noStrike">
                          <a:solidFill>
                            <a:srgbClr val="000000"/>
                          </a:solidFill>
                          <a:effectLst/>
                          <a:latin typeface="+mn-ea"/>
                          <a:ea typeface="+mn-ea"/>
                        </a:rPr>
                        <a:t>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buNone/>
                      </a:pPr>
                      <a:r>
                        <a:rPr lang="en-US" altLang="zh-CN" sz="800" b="1" i="0" u="none" strike="noStrike" dirty="0">
                          <a:solidFill>
                            <a:srgbClr val="000000"/>
                          </a:solidFill>
                          <a:effectLst/>
                          <a:latin typeface="+mn-ea"/>
                          <a:ea typeface="+mn-ea"/>
                        </a:rPr>
                        <a:t>26-27</a:t>
                      </a:r>
                      <a:r>
                        <a:rPr lang="zh-CN" altLang="en-US" sz="800" b="1" i="0" u="none" strike="noStrike" dirty="0">
                          <a:solidFill>
                            <a:srgbClr val="000000"/>
                          </a:solidFill>
                          <a:effectLst/>
                          <a:latin typeface="+mn-ea"/>
                          <a:ea typeface="+mn-ea"/>
                        </a:rPr>
                        <a:t>年：</a:t>
                      </a:r>
                      <a:r>
                        <a:rPr lang="en-US" altLang="zh-CN" sz="800" b="1" i="0" u="none" strike="noStrike" dirty="0">
                          <a:solidFill>
                            <a:srgbClr val="000000"/>
                          </a:solidFill>
                          <a:effectLst/>
                          <a:latin typeface="+mn-ea"/>
                          <a:ea typeface="+mn-ea"/>
                        </a:rPr>
                        <a:t>1000</a:t>
                      </a:r>
                      <a:r>
                        <a:rPr lang="zh-CN" altLang="en-US" sz="800" b="1" i="0" u="none" strike="noStrike" dirty="0">
                          <a:solidFill>
                            <a:srgbClr val="000000"/>
                          </a:solidFill>
                          <a:effectLst/>
                          <a:latin typeface="+mn-ea"/>
                          <a:ea typeface="+mn-ea"/>
                        </a:rPr>
                        <a:t>万方</a:t>
                      </a:r>
                      <a:r>
                        <a:rPr lang="zh-CN" altLang="en-US" sz="800" b="0" i="0" u="none" strike="noStrike" dirty="0">
                          <a:solidFill>
                            <a:srgbClr val="000000"/>
                          </a:solidFill>
                          <a:effectLst/>
                          <a:latin typeface="+mn-ea"/>
                          <a:ea typeface="+mn-ea"/>
                        </a:rPr>
                        <a:t>，卡塔尔北方气田东扩项目：</a:t>
                      </a:r>
                      <a:r>
                        <a:rPr lang="en-US" altLang="zh-CN" sz="800" b="0" i="0" u="none" strike="noStrike" dirty="0">
                          <a:solidFill>
                            <a:srgbClr val="000000"/>
                          </a:solidFill>
                          <a:effectLst/>
                          <a:latin typeface="+mn-ea"/>
                          <a:ea typeface="+mn-ea"/>
                        </a:rPr>
                        <a:t>1000 </a:t>
                      </a:r>
                      <a:r>
                        <a:rPr lang="zh-CN" altLang="en-US" sz="800" b="0" i="0" u="none" strike="noStrike" dirty="0">
                          <a:solidFill>
                            <a:srgbClr val="000000"/>
                          </a:solidFill>
                          <a:effectLst/>
                          <a:latin typeface="+mn-ea"/>
                          <a:ea typeface="+mn-ea"/>
                        </a:rPr>
                        <a:t>万立方米（</a:t>
                      </a:r>
                      <a:r>
                        <a:rPr lang="en-US" altLang="zh-CN" sz="800" b="0" i="0" u="none" strike="noStrike" dirty="0">
                          <a:solidFill>
                            <a:srgbClr val="000000"/>
                          </a:solidFill>
                          <a:effectLst/>
                          <a:latin typeface="+mn-ea"/>
                          <a:ea typeface="+mn-ea"/>
                        </a:rPr>
                        <a:t>26</a:t>
                      </a:r>
                      <a:r>
                        <a:rPr lang="zh-CN" altLang="en-US" sz="800" b="0" i="0" u="none" strike="noStrike" dirty="0">
                          <a:solidFill>
                            <a:srgbClr val="000000"/>
                          </a:solidFill>
                          <a:effectLst/>
                          <a:latin typeface="+mn-ea"/>
                          <a:ea typeface="+mn-ea"/>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extLst>
                  <a:ext uri="{0D108BD9-81ED-4DB2-BD59-A6C34878D82A}">
                    <a16:rowId xmlns:a16="http://schemas.microsoft.com/office/drawing/2014/main" xmlns="" val="2749800735"/>
                  </a:ext>
                </a:extLst>
              </a:tr>
              <a:tr h="559940">
                <a:tc>
                  <a:txBody>
                    <a:bodyPr/>
                    <a:lstStyle/>
                    <a:p>
                      <a:pPr algn="l" fontAlgn="ctr">
                        <a:buNone/>
                      </a:pPr>
                      <a:r>
                        <a:rPr lang="zh-CN" altLang="en-US" sz="800" b="1" i="0" u="none" strike="noStrike">
                          <a:solidFill>
                            <a:srgbClr val="000000"/>
                          </a:solidFill>
                          <a:effectLst/>
                          <a:latin typeface="+mn-ea"/>
                          <a:ea typeface="+mn-ea"/>
                        </a:rPr>
                        <a:t>液空</a:t>
                      </a:r>
                    </a:p>
                  </a:txBody>
                  <a:tcPr marL="0" marR="0" marT="0" marB="0" anchor="ctr">
                    <a:lnL>
                      <a:noFill/>
                    </a:lnL>
                    <a:lnR>
                      <a:noFill/>
                    </a:lnR>
                    <a:lnT>
                      <a:noFill/>
                    </a:lnT>
                    <a:lnB>
                      <a:noFill/>
                    </a:lnB>
                    <a:noFill/>
                  </a:tcPr>
                </a:tc>
                <a:tc>
                  <a:txBody>
                    <a:bodyPr/>
                    <a:lstStyle/>
                    <a:p>
                      <a:pPr algn="l" fontAlgn="ctr">
                        <a:buNone/>
                      </a:pPr>
                      <a:r>
                        <a:rPr lang="en-US" altLang="zh-CN" sz="800" b="0" i="0" u="none" strike="noStrike">
                          <a:solidFill>
                            <a:srgbClr val="000000"/>
                          </a:solidFill>
                          <a:effectLst/>
                          <a:latin typeface="+mn-ea"/>
                          <a:ea typeface="+mn-ea"/>
                        </a:rPr>
                        <a:t>3500</a:t>
                      </a:r>
                      <a:r>
                        <a:rPr lang="zh-CN" altLang="en-US" sz="800" b="0" i="0" u="none" strike="noStrike">
                          <a:solidFill>
                            <a:srgbClr val="000000"/>
                          </a:solidFill>
                          <a:effectLst/>
                          <a:latin typeface="+mn-ea"/>
                          <a:ea typeface="+mn-ea"/>
                        </a:rPr>
                        <a:t>（全球份额约</a:t>
                      </a:r>
                      <a:r>
                        <a:rPr lang="en-US" altLang="zh-CN" sz="800" b="0" i="0" u="none" strike="noStrike">
                          <a:solidFill>
                            <a:srgbClr val="000000"/>
                          </a:solidFill>
                          <a:effectLst/>
                          <a:latin typeface="+mn-ea"/>
                          <a:ea typeface="+mn-ea"/>
                        </a:rPr>
                        <a:t>19%</a:t>
                      </a:r>
                      <a:r>
                        <a:rPr lang="zh-CN" altLang="en-US" sz="800" b="0" i="0" u="none" strike="noStrike">
                          <a:solidFill>
                            <a:srgbClr val="000000"/>
                          </a:solidFill>
                          <a:effectLst/>
                          <a:latin typeface="+mn-ea"/>
                          <a:ea typeface="+mn-ea"/>
                        </a:rPr>
                        <a:t>）</a:t>
                      </a:r>
                    </a:p>
                  </a:txBody>
                  <a:tcPr marL="0" marR="0" marT="0" marB="0" anchor="ctr">
                    <a:lnL>
                      <a:noFill/>
                    </a:lnL>
                    <a:lnR>
                      <a:noFill/>
                    </a:lnR>
                    <a:lnT>
                      <a:noFill/>
                    </a:lnT>
                    <a:lnB>
                      <a:noFill/>
                    </a:lnB>
                    <a:noFill/>
                  </a:tcPr>
                </a:tc>
                <a:tc>
                  <a:txBody>
                    <a:bodyPr/>
                    <a:lstStyle/>
                    <a:p>
                      <a:pPr algn="l" fontAlgn="ctr">
                        <a:buNone/>
                      </a:pPr>
                      <a:r>
                        <a:rPr lang="zh-CN" altLang="en-US" sz="800" b="0" i="0" u="none" strike="noStrike">
                          <a:solidFill>
                            <a:srgbClr val="000000"/>
                          </a:solidFill>
                          <a:effectLst/>
                          <a:latin typeface="+mn-ea"/>
                          <a:ea typeface="+mn-ea"/>
                        </a:rPr>
                        <a:t>卡特尔</a:t>
                      </a:r>
                      <a:r>
                        <a:rPr lang="en-US" altLang="zh-CN" sz="800" b="0" i="0" u="none" strike="noStrike">
                          <a:solidFill>
                            <a:srgbClr val="000000"/>
                          </a:solidFill>
                          <a:effectLst/>
                          <a:latin typeface="+mn-ea"/>
                          <a:ea typeface="+mn-ea"/>
                        </a:rPr>
                        <a:t>83%</a:t>
                      </a:r>
                      <a:r>
                        <a:rPr lang="zh-CN" altLang="en-US" sz="800" b="0" i="0" u="none" strike="noStrike">
                          <a:solidFill>
                            <a:srgbClr val="000000"/>
                          </a:solidFill>
                          <a:effectLst/>
                          <a:latin typeface="+mn-ea"/>
                          <a:ea typeface="+mn-ea"/>
                        </a:rPr>
                        <a:t>、阿尔及利亚</a:t>
                      </a:r>
                      <a:r>
                        <a:rPr lang="en-US" altLang="zh-CN" sz="800" b="0" i="0" u="none" strike="noStrike">
                          <a:solidFill>
                            <a:srgbClr val="000000"/>
                          </a:solidFill>
                          <a:effectLst/>
                          <a:latin typeface="+mn-ea"/>
                          <a:ea typeface="+mn-ea"/>
                        </a:rPr>
                        <a:t>11%</a:t>
                      </a:r>
                      <a:r>
                        <a:rPr lang="zh-CN" altLang="en-US" sz="800" b="0" i="0" u="none" strike="noStrike">
                          <a:solidFill>
                            <a:srgbClr val="000000"/>
                          </a:solidFill>
                          <a:effectLst/>
                          <a:latin typeface="+mn-ea"/>
                          <a:ea typeface="+mn-ea"/>
                        </a:rPr>
                        <a:t>、美国</a:t>
                      </a:r>
                      <a:r>
                        <a:rPr lang="en-US" altLang="zh-CN" sz="800" b="0" i="0" u="none" strike="noStrike">
                          <a:solidFill>
                            <a:srgbClr val="000000"/>
                          </a:solidFill>
                          <a:effectLst/>
                          <a:latin typeface="+mn-ea"/>
                          <a:ea typeface="+mn-ea"/>
                        </a:rPr>
                        <a:t>6%</a:t>
                      </a:r>
                    </a:p>
                  </a:txBody>
                  <a:tcPr marL="0" marR="0" marT="0" marB="0" anchor="ctr">
                    <a:lnL>
                      <a:noFill/>
                    </a:lnL>
                    <a:lnR>
                      <a:noFill/>
                    </a:lnR>
                    <a:lnT>
                      <a:noFill/>
                    </a:lnT>
                    <a:lnB>
                      <a:noFill/>
                    </a:lnB>
                    <a:noFill/>
                  </a:tcPr>
                </a:tc>
                <a:tc>
                  <a:txBody>
                    <a:bodyPr/>
                    <a:lstStyle/>
                    <a:p>
                      <a:pPr algn="l" fontAlgn="ctr">
                        <a:buNone/>
                      </a:pPr>
                      <a:r>
                        <a:rPr lang="en-US" altLang="zh-CN" sz="800" b="1" i="0" u="none" strike="noStrike">
                          <a:solidFill>
                            <a:srgbClr val="000000"/>
                          </a:solidFill>
                          <a:effectLst/>
                          <a:latin typeface="+mn-ea"/>
                          <a:ea typeface="+mn-ea"/>
                        </a:rPr>
                        <a:t>26-27</a:t>
                      </a:r>
                      <a:r>
                        <a:rPr lang="zh-CN" altLang="en-US" sz="800" b="1" i="0" u="none" strike="noStrike">
                          <a:solidFill>
                            <a:srgbClr val="000000"/>
                          </a:solidFill>
                          <a:effectLst/>
                          <a:latin typeface="+mn-ea"/>
                          <a:ea typeface="+mn-ea"/>
                        </a:rPr>
                        <a:t>年：</a:t>
                      </a:r>
                      <a:r>
                        <a:rPr lang="en-US" altLang="zh-CN" sz="800" b="1" i="0" u="none" strike="noStrike">
                          <a:solidFill>
                            <a:srgbClr val="000000"/>
                          </a:solidFill>
                          <a:effectLst/>
                          <a:latin typeface="+mn-ea"/>
                          <a:ea typeface="+mn-ea"/>
                        </a:rPr>
                        <a:t>2300</a:t>
                      </a:r>
                      <a:r>
                        <a:rPr lang="zh-CN" altLang="en-US" sz="800" b="1" i="0" u="none" strike="noStrike">
                          <a:solidFill>
                            <a:srgbClr val="000000"/>
                          </a:solidFill>
                          <a:effectLst/>
                          <a:latin typeface="+mn-ea"/>
                          <a:ea typeface="+mn-ea"/>
                        </a:rPr>
                        <a:t>万方</a:t>
                      </a:r>
                      <a:r>
                        <a:rPr lang="zh-CN" altLang="en-US" sz="800" b="0" i="0" u="none" strike="noStrike">
                          <a:solidFill>
                            <a:srgbClr val="000000"/>
                          </a:solidFill>
                          <a:effectLst/>
                          <a:latin typeface="+mn-ea"/>
                          <a:ea typeface="+mn-ea"/>
                        </a:rPr>
                        <a:t/>
                      </a:r>
                      <a:br>
                        <a:rPr lang="zh-CN" altLang="en-US" sz="800" b="0" i="0" u="none" strike="noStrike">
                          <a:solidFill>
                            <a:srgbClr val="000000"/>
                          </a:solidFill>
                          <a:effectLst/>
                          <a:latin typeface="+mn-ea"/>
                          <a:ea typeface="+mn-ea"/>
                        </a:rPr>
                      </a:br>
                      <a:r>
                        <a:rPr lang="en-US" altLang="zh-CN" sz="800" b="0" i="0" u="none" strike="noStrike">
                          <a:solidFill>
                            <a:srgbClr val="000000"/>
                          </a:solidFill>
                          <a:effectLst/>
                          <a:latin typeface="+mn-ea"/>
                          <a:ea typeface="+mn-ea"/>
                        </a:rPr>
                        <a:t>1</a:t>
                      </a:r>
                      <a:r>
                        <a:rPr lang="zh-CN" altLang="en-US" sz="800" b="0" i="0" u="none" strike="noStrike">
                          <a:solidFill>
                            <a:srgbClr val="000000"/>
                          </a:solidFill>
                          <a:effectLst/>
                          <a:latin typeface="+mn-ea"/>
                          <a:ea typeface="+mn-ea"/>
                        </a:rPr>
                        <a:t>）卡塔尔北方气田东扩项目： </a:t>
                      </a:r>
                      <a:r>
                        <a:rPr lang="en-US" altLang="zh-CN" sz="800" b="0" i="0" u="none" strike="noStrike">
                          <a:solidFill>
                            <a:srgbClr val="000000"/>
                          </a:solidFill>
                          <a:effectLst/>
                          <a:latin typeface="+mn-ea"/>
                          <a:ea typeface="+mn-ea"/>
                        </a:rPr>
                        <a:t>1500 </a:t>
                      </a:r>
                      <a:r>
                        <a:rPr lang="zh-CN" altLang="en-US" sz="800" b="0" i="0" u="none" strike="noStrike">
                          <a:solidFill>
                            <a:srgbClr val="000000"/>
                          </a:solidFill>
                          <a:effectLst/>
                          <a:latin typeface="+mn-ea"/>
                          <a:ea typeface="+mn-ea"/>
                        </a:rPr>
                        <a:t>万立方米（</a:t>
                      </a:r>
                      <a:r>
                        <a:rPr lang="en-US" altLang="zh-CN" sz="800" b="0" i="0" u="none" strike="noStrike">
                          <a:solidFill>
                            <a:srgbClr val="000000"/>
                          </a:solidFill>
                          <a:effectLst/>
                          <a:latin typeface="+mn-ea"/>
                          <a:ea typeface="+mn-ea"/>
                        </a:rPr>
                        <a:t>26</a:t>
                      </a:r>
                      <a:r>
                        <a:rPr lang="zh-CN" altLang="en-US" sz="800" b="0" i="0" u="none" strike="noStrike">
                          <a:solidFill>
                            <a:srgbClr val="000000"/>
                          </a:solidFill>
                          <a:effectLst/>
                          <a:latin typeface="+mn-ea"/>
                          <a:ea typeface="+mn-ea"/>
                        </a:rPr>
                        <a:t>）</a:t>
                      </a:r>
                      <a:br>
                        <a:rPr lang="zh-CN" altLang="en-US" sz="800" b="0" i="0" u="none" strike="noStrike">
                          <a:solidFill>
                            <a:srgbClr val="000000"/>
                          </a:solidFill>
                          <a:effectLst/>
                          <a:latin typeface="+mn-ea"/>
                          <a:ea typeface="+mn-ea"/>
                        </a:rPr>
                      </a:br>
                      <a:r>
                        <a:rPr lang="en-US" altLang="zh-CN" sz="800" b="0" i="0" u="none" strike="noStrike">
                          <a:solidFill>
                            <a:srgbClr val="000000"/>
                          </a:solidFill>
                          <a:effectLst/>
                          <a:latin typeface="+mn-ea"/>
                          <a:ea typeface="+mn-ea"/>
                        </a:rPr>
                        <a:t>2</a:t>
                      </a:r>
                      <a:r>
                        <a:rPr lang="zh-CN" altLang="en-US" sz="800" b="0" i="0" u="none" strike="noStrike">
                          <a:solidFill>
                            <a:srgbClr val="000000"/>
                          </a:solidFill>
                          <a:effectLst/>
                          <a:latin typeface="+mn-ea"/>
                          <a:ea typeface="+mn-ea"/>
                        </a:rPr>
                        <a:t>）阿尔及利亚 </a:t>
                      </a:r>
                      <a:r>
                        <a:rPr lang="en-US" altLang="zh-CN" sz="800" b="0" i="0" u="none" strike="noStrike">
                          <a:solidFill>
                            <a:srgbClr val="000000"/>
                          </a:solidFill>
                          <a:effectLst/>
                          <a:latin typeface="+mn-ea"/>
                          <a:ea typeface="+mn-ea"/>
                        </a:rPr>
                        <a:t>Tin Fouye </a:t>
                      </a:r>
                      <a:r>
                        <a:rPr lang="zh-CN" altLang="en-US" sz="800" b="0" i="0" u="none" strike="noStrike">
                          <a:solidFill>
                            <a:srgbClr val="000000"/>
                          </a:solidFill>
                          <a:effectLst/>
                          <a:latin typeface="+mn-ea"/>
                          <a:ea typeface="+mn-ea"/>
                        </a:rPr>
                        <a:t>气田：</a:t>
                      </a:r>
                      <a:r>
                        <a:rPr lang="en-US" altLang="zh-CN" sz="800" b="0" i="0" u="none" strike="noStrike">
                          <a:solidFill>
                            <a:srgbClr val="000000"/>
                          </a:solidFill>
                          <a:effectLst/>
                          <a:latin typeface="+mn-ea"/>
                          <a:ea typeface="+mn-ea"/>
                        </a:rPr>
                        <a:t>800 </a:t>
                      </a:r>
                      <a:r>
                        <a:rPr lang="zh-CN" altLang="en-US" sz="800" b="0" i="0" u="none" strike="noStrike">
                          <a:solidFill>
                            <a:srgbClr val="000000"/>
                          </a:solidFill>
                          <a:effectLst/>
                          <a:latin typeface="+mn-ea"/>
                          <a:ea typeface="+mn-ea"/>
                        </a:rPr>
                        <a:t>万立方米（</a:t>
                      </a:r>
                      <a:r>
                        <a:rPr lang="en-US" altLang="zh-CN" sz="800" b="0" i="0" u="none" strike="noStrike">
                          <a:solidFill>
                            <a:srgbClr val="000000"/>
                          </a:solidFill>
                          <a:effectLst/>
                          <a:latin typeface="+mn-ea"/>
                          <a:ea typeface="+mn-ea"/>
                        </a:rPr>
                        <a:t>27 </a:t>
                      </a:r>
                      <a:r>
                        <a:rPr lang="zh-CN" altLang="en-US" sz="800" b="0" i="0" u="none" strike="noStrike">
                          <a:solidFill>
                            <a:srgbClr val="000000"/>
                          </a:solidFill>
                          <a:effectLst/>
                          <a:latin typeface="+mn-ea"/>
                          <a:ea typeface="+mn-ea"/>
                        </a:rPr>
                        <a:t>年）</a:t>
                      </a:r>
                    </a:p>
                  </a:txBody>
                  <a:tcPr marL="0" marR="0" marT="0" marB="0" anchor="ctr">
                    <a:lnL>
                      <a:noFill/>
                    </a:lnL>
                    <a:lnR>
                      <a:noFill/>
                    </a:lnR>
                    <a:lnT>
                      <a:noFill/>
                    </a:lnT>
                    <a:lnB>
                      <a:noFill/>
                    </a:lnB>
                    <a:noFill/>
                  </a:tcPr>
                </a:tc>
                <a:extLst>
                  <a:ext uri="{0D108BD9-81ED-4DB2-BD59-A6C34878D82A}">
                    <a16:rowId xmlns:a16="http://schemas.microsoft.com/office/drawing/2014/main" xmlns="" val="2300699255"/>
                  </a:ext>
                </a:extLst>
              </a:tr>
              <a:tr h="559940">
                <a:tc>
                  <a:txBody>
                    <a:bodyPr/>
                    <a:lstStyle/>
                    <a:p>
                      <a:pPr algn="l" fontAlgn="ctr">
                        <a:buNone/>
                      </a:pPr>
                      <a:r>
                        <a:rPr lang="zh-CN" altLang="en-US" sz="800" b="1" i="0" u="none" strike="noStrike">
                          <a:solidFill>
                            <a:srgbClr val="000000"/>
                          </a:solidFill>
                          <a:effectLst/>
                          <a:latin typeface="+mn-ea"/>
                          <a:ea typeface="+mn-ea"/>
                        </a:rPr>
                        <a:t>美国空气产品</a:t>
                      </a:r>
                    </a:p>
                  </a:txBody>
                  <a:tcPr marL="0" marR="0" marT="0" marB="0" anchor="ctr">
                    <a:lnL>
                      <a:noFill/>
                    </a:lnL>
                    <a:lnR>
                      <a:noFill/>
                    </a:lnR>
                    <a:lnT>
                      <a:noFill/>
                    </a:lnT>
                    <a:lnB>
                      <a:noFill/>
                    </a:lnB>
                    <a:solidFill>
                      <a:srgbClr val="DDEBF7"/>
                    </a:solidFill>
                  </a:tcPr>
                </a:tc>
                <a:tc>
                  <a:txBody>
                    <a:bodyPr/>
                    <a:lstStyle/>
                    <a:p>
                      <a:pPr algn="l" fontAlgn="ctr">
                        <a:buNone/>
                      </a:pPr>
                      <a:r>
                        <a:rPr lang="en-US" altLang="zh-CN" sz="800" b="0" i="0" u="none" strike="noStrike">
                          <a:solidFill>
                            <a:srgbClr val="000000"/>
                          </a:solidFill>
                          <a:effectLst/>
                          <a:latin typeface="+mn-ea"/>
                          <a:ea typeface="+mn-ea"/>
                        </a:rPr>
                        <a:t>3000</a:t>
                      </a:r>
                      <a:r>
                        <a:rPr lang="zh-CN" altLang="en-US" sz="800" b="0" i="0" u="none" strike="noStrike">
                          <a:solidFill>
                            <a:srgbClr val="000000"/>
                          </a:solidFill>
                          <a:effectLst/>
                          <a:latin typeface="+mn-ea"/>
                          <a:ea typeface="+mn-ea"/>
                        </a:rPr>
                        <a:t>（全球份额约</a:t>
                      </a:r>
                      <a:r>
                        <a:rPr lang="en-US" altLang="zh-CN" sz="800" b="0" i="0" u="none" strike="noStrike">
                          <a:solidFill>
                            <a:srgbClr val="000000"/>
                          </a:solidFill>
                          <a:effectLst/>
                          <a:latin typeface="+mn-ea"/>
                          <a:ea typeface="+mn-ea"/>
                        </a:rPr>
                        <a:t>16%</a:t>
                      </a:r>
                      <a:r>
                        <a:rPr lang="zh-CN" altLang="en-US" sz="800" b="0" i="0" u="none" strike="noStrike">
                          <a:solidFill>
                            <a:srgbClr val="000000"/>
                          </a:solidFill>
                          <a:effectLst/>
                          <a:latin typeface="+mn-ea"/>
                          <a:ea typeface="+mn-ea"/>
                        </a:rPr>
                        <a:t>）</a:t>
                      </a:r>
                    </a:p>
                  </a:txBody>
                  <a:tcPr marL="0" marR="0" marT="0" marB="0" anchor="ctr">
                    <a:lnL>
                      <a:noFill/>
                    </a:lnL>
                    <a:lnR>
                      <a:noFill/>
                    </a:lnR>
                    <a:lnT>
                      <a:noFill/>
                    </a:lnT>
                    <a:lnB>
                      <a:noFill/>
                    </a:lnB>
                    <a:solidFill>
                      <a:srgbClr val="DDEBF7"/>
                    </a:solidFill>
                  </a:tcPr>
                </a:tc>
                <a:tc>
                  <a:txBody>
                    <a:bodyPr/>
                    <a:lstStyle/>
                    <a:p>
                      <a:pPr algn="l" fontAlgn="ctr">
                        <a:buNone/>
                      </a:pPr>
                      <a:r>
                        <a:rPr lang="zh-CN" altLang="en-US" sz="800" b="0" i="0" u="none" strike="noStrike">
                          <a:solidFill>
                            <a:srgbClr val="000000"/>
                          </a:solidFill>
                          <a:effectLst/>
                          <a:latin typeface="+mn-ea"/>
                          <a:ea typeface="+mn-ea"/>
                        </a:rPr>
                        <a:t>卡塔尔</a:t>
                      </a:r>
                      <a:r>
                        <a:rPr lang="en-US" altLang="zh-CN" sz="800" b="0" i="0" u="none" strike="noStrike">
                          <a:solidFill>
                            <a:srgbClr val="000000"/>
                          </a:solidFill>
                          <a:effectLst/>
                          <a:latin typeface="+mn-ea"/>
                          <a:ea typeface="+mn-ea"/>
                        </a:rPr>
                        <a:t>39%</a:t>
                      </a:r>
                      <a:r>
                        <a:rPr lang="zh-CN" altLang="en-US" sz="800" b="0" i="0" u="none" strike="noStrike">
                          <a:solidFill>
                            <a:srgbClr val="000000"/>
                          </a:solidFill>
                          <a:effectLst/>
                          <a:latin typeface="+mn-ea"/>
                          <a:ea typeface="+mn-ea"/>
                        </a:rPr>
                        <a:t>、美国</a:t>
                      </a:r>
                      <a:r>
                        <a:rPr lang="en-US" altLang="zh-CN" sz="800" b="0" i="0" u="none" strike="noStrike">
                          <a:solidFill>
                            <a:srgbClr val="000000"/>
                          </a:solidFill>
                          <a:effectLst/>
                          <a:latin typeface="+mn-ea"/>
                          <a:ea typeface="+mn-ea"/>
                        </a:rPr>
                        <a:t>50%</a:t>
                      </a:r>
                      <a:r>
                        <a:rPr lang="zh-CN" altLang="en-US" sz="800" b="0" i="0" u="none" strike="noStrike">
                          <a:solidFill>
                            <a:srgbClr val="000000"/>
                          </a:solidFill>
                          <a:effectLst/>
                          <a:latin typeface="+mn-ea"/>
                          <a:ea typeface="+mn-ea"/>
                        </a:rPr>
                        <a:t>、卡特尔</a:t>
                      </a:r>
                      <a:r>
                        <a:rPr lang="en-US" altLang="zh-CN" sz="800" b="0" i="0" u="none" strike="noStrike">
                          <a:solidFill>
                            <a:srgbClr val="000000"/>
                          </a:solidFill>
                          <a:effectLst/>
                          <a:latin typeface="+mn-ea"/>
                          <a:ea typeface="+mn-ea"/>
                        </a:rPr>
                        <a:t>&amp;</a:t>
                      </a:r>
                      <a:r>
                        <a:rPr lang="zh-CN" altLang="en-US" sz="800" b="0" i="0" u="none" strike="noStrike">
                          <a:solidFill>
                            <a:srgbClr val="000000"/>
                          </a:solidFill>
                          <a:effectLst/>
                          <a:latin typeface="+mn-ea"/>
                          <a:ea typeface="+mn-ea"/>
                        </a:rPr>
                        <a:t>阿联酋</a:t>
                      </a:r>
                      <a:r>
                        <a:rPr lang="en-US" altLang="zh-CN" sz="800" b="0" i="0" u="none" strike="noStrike">
                          <a:solidFill>
                            <a:srgbClr val="000000"/>
                          </a:solidFill>
                          <a:effectLst/>
                          <a:latin typeface="+mn-ea"/>
                          <a:ea typeface="+mn-ea"/>
                        </a:rPr>
                        <a:t>11%</a:t>
                      </a:r>
                    </a:p>
                  </a:txBody>
                  <a:tcPr marL="0" marR="0" marT="0" marB="0" anchor="ctr">
                    <a:lnL>
                      <a:noFill/>
                    </a:lnL>
                    <a:lnR>
                      <a:noFill/>
                    </a:lnR>
                    <a:lnT>
                      <a:noFill/>
                    </a:lnT>
                    <a:lnB>
                      <a:noFill/>
                    </a:lnB>
                    <a:solidFill>
                      <a:srgbClr val="DDEBF7"/>
                    </a:solidFill>
                  </a:tcPr>
                </a:tc>
                <a:tc>
                  <a:txBody>
                    <a:bodyPr/>
                    <a:lstStyle/>
                    <a:p>
                      <a:pPr algn="l" fontAlgn="ctr">
                        <a:buNone/>
                      </a:pPr>
                      <a:r>
                        <a:rPr lang="en-US" altLang="zh-CN" sz="800" b="1" i="0" u="none" strike="noStrike" dirty="0">
                          <a:solidFill>
                            <a:srgbClr val="000000"/>
                          </a:solidFill>
                          <a:effectLst/>
                          <a:latin typeface="+mn-ea"/>
                          <a:ea typeface="+mn-ea"/>
                        </a:rPr>
                        <a:t>26</a:t>
                      </a:r>
                      <a:r>
                        <a:rPr lang="zh-CN" altLang="en-US" sz="800" b="1" i="0" u="none" strike="noStrike" dirty="0">
                          <a:solidFill>
                            <a:srgbClr val="000000"/>
                          </a:solidFill>
                          <a:effectLst/>
                          <a:latin typeface="+mn-ea"/>
                          <a:ea typeface="+mn-ea"/>
                        </a:rPr>
                        <a:t>年：</a:t>
                      </a:r>
                      <a:r>
                        <a:rPr lang="en-US" altLang="zh-CN" sz="800" b="1" i="0" u="none" strike="noStrike" dirty="0">
                          <a:solidFill>
                            <a:srgbClr val="000000"/>
                          </a:solidFill>
                          <a:effectLst/>
                          <a:latin typeface="+mn-ea"/>
                          <a:ea typeface="+mn-ea"/>
                        </a:rPr>
                        <a:t>1100</a:t>
                      </a:r>
                      <a:r>
                        <a:rPr lang="zh-CN" altLang="en-US" sz="800" b="1" i="0" u="none" strike="noStrike" dirty="0">
                          <a:solidFill>
                            <a:srgbClr val="000000"/>
                          </a:solidFill>
                          <a:effectLst/>
                          <a:latin typeface="+mn-ea"/>
                          <a:ea typeface="+mn-ea"/>
                        </a:rPr>
                        <a:t>万方</a:t>
                      </a:r>
                      <a:r>
                        <a:rPr lang="zh-CN" altLang="en-US" sz="800" b="0" i="0" u="none" strike="noStrike" dirty="0">
                          <a:solidFill>
                            <a:srgbClr val="000000"/>
                          </a:solidFill>
                          <a:effectLst/>
                          <a:latin typeface="+mn-ea"/>
                          <a:ea typeface="+mn-ea"/>
                        </a:rPr>
                        <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1</a:t>
                      </a:r>
                      <a:r>
                        <a:rPr lang="zh-CN" altLang="en-US" sz="800" b="0" i="0" u="none" strike="noStrike" dirty="0">
                          <a:solidFill>
                            <a:srgbClr val="000000"/>
                          </a:solidFill>
                          <a:effectLst/>
                          <a:latin typeface="+mn-ea"/>
                          <a:ea typeface="+mn-ea"/>
                        </a:rPr>
                        <a:t>）卡塔尔北方气田东扩项目：</a:t>
                      </a:r>
                      <a:r>
                        <a:rPr lang="en-US" altLang="zh-CN" sz="800" b="0" i="0" u="none" strike="noStrike" dirty="0">
                          <a:solidFill>
                            <a:srgbClr val="000000"/>
                          </a:solidFill>
                          <a:effectLst/>
                          <a:latin typeface="+mn-ea"/>
                          <a:ea typeface="+mn-ea"/>
                        </a:rPr>
                        <a:t>800 </a:t>
                      </a:r>
                      <a:r>
                        <a:rPr lang="zh-CN" altLang="en-US" sz="800" b="0" i="0" u="none" strike="noStrike" dirty="0">
                          <a:solidFill>
                            <a:srgbClr val="000000"/>
                          </a:solidFill>
                          <a:effectLst/>
                          <a:latin typeface="+mn-ea"/>
                          <a:ea typeface="+mn-ea"/>
                        </a:rPr>
                        <a:t>万立方米（</a:t>
                      </a:r>
                      <a:r>
                        <a:rPr lang="en-US" altLang="zh-CN" sz="800" b="0" i="0" u="none" strike="noStrike" dirty="0">
                          <a:solidFill>
                            <a:srgbClr val="000000"/>
                          </a:solidFill>
                          <a:effectLst/>
                          <a:latin typeface="+mn-ea"/>
                          <a:ea typeface="+mn-ea"/>
                        </a:rPr>
                        <a:t>26</a:t>
                      </a:r>
                      <a:r>
                        <a:rPr lang="zh-CN" altLang="en-US" sz="800" b="0" i="0" u="none" strike="noStrike" dirty="0">
                          <a:solidFill>
                            <a:srgbClr val="000000"/>
                          </a:solidFill>
                          <a:effectLst/>
                          <a:latin typeface="+mn-ea"/>
                          <a:ea typeface="+mn-ea"/>
                        </a:rPr>
                        <a:t>）</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）美国 </a:t>
                      </a:r>
                      <a:r>
                        <a:rPr lang="en-US" altLang="zh-CN" sz="800" b="0" i="0" u="none" strike="noStrike" dirty="0">
                          <a:solidFill>
                            <a:srgbClr val="000000"/>
                          </a:solidFill>
                          <a:effectLst/>
                          <a:latin typeface="+mn-ea"/>
                          <a:ea typeface="+mn-ea"/>
                        </a:rPr>
                        <a:t>Topaz </a:t>
                      </a:r>
                      <a:r>
                        <a:rPr lang="zh-CN" altLang="en-US" sz="800" b="0" i="0" u="none" strike="noStrike" dirty="0">
                          <a:solidFill>
                            <a:srgbClr val="000000"/>
                          </a:solidFill>
                          <a:effectLst/>
                          <a:latin typeface="+mn-ea"/>
                          <a:ea typeface="+mn-ea"/>
                        </a:rPr>
                        <a:t>项目： </a:t>
                      </a:r>
                      <a:r>
                        <a:rPr lang="en-US" altLang="zh-CN" sz="800" b="0" i="0" u="none" strike="noStrike" dirty="0">
                          <a:solidFill>
                            <a:srgbClr val="000000"/>
                          </a:solidFill>
                          <a:effectLst/>
                          <a:latin typeface="+mn-ea"/>
                          <a:ea typeface="+mn-ea"/>
                        </a:rPr>
                        <a:t>300 </a:t>
                      </a:r>
                      <a:r>
                        <a:rPr lang="zh-CN" altLang="en-US" sz="800" b="0" i="0" u="none" strike="noStrike" dirty="0">
                          <a:solidFill>
                            <a:srgbClr val="000000"/>
                          </a:solidFill>
                          <a:effectLst/>
                          <a:latin typeface="+mn-ea"/>
                          <a:ea typeface="+mn-ea"/>
                        </a:rPr>
                        <a:t>万立方米（</a:t>
                      </a:r>
                      <a:r>
                        <a:rPr lang="en-US" altLang="zh-CN" sz="800" b="0" i="0" u="none" strike="noStrike" dirty="0">
                          <a:solidFill>
                            <a:srgbClr val="000000"/>
                          </a:solidFill>
                          <a:effectLst/>
                          <a:latin typeface="+mn-ea"/>
                          <a:ea typeface="+mn-ea"/>
                        </a:rPr>
                        <a:t>26</a:t>
                      </a:r>
                      <a:r>
                        <a:rPr lang="zh-CN" altLang="en-US" sz="800" b="0" i="0" u="none" strike="noStrike" dirty="0">
                          <a:solidFill>
                            <a:srgbClr val="000000"/>
                          </a:solidFill>
                          <a:effectLst/>
                          <a:latin typeface="+mn-ea"/>
                          <a:ea typeface="+mn-ea"/>
                        </a:rPr>
                        <a:t>）</a:t>
                      </a:r>
                    </a:p>
                  </a:txBody>
                  <a:tcPr marL="0" marR="0" marT="0" marB="0" anchor="ctr">
                    <a:lnL>
                      <a:noFill/>
                    </a:lnL>
                    <a:lnR>
                      <a:noFill/>
                    </a:lnR>
                    <a:lnT>
                      <a:noFill/>
                    </a:lnT>
                    <a:lnB>
                      <a:noFill/>
                    </a:lnB>
                    <a:solidFill>
                      <a:srgbClr val="DDEBF7"/>
                    </a:solidFill>
                  </a:tcPr>
                </a:tc>
                <a:extLst>
                  <a:ext uri="{0D108BD9-81ED-4DB2-BD59-A6C34878D82A}">
                    <a16:rowId xmlns:a16="http://schemas.microsoft.com/office/drawing/2014/main" xmlns="" val="2862144762"/>
                  </a:ext>
                </a:extLst>
              </a:tr>
              <a:tr h="559940">
                <a:tc>
                  <a:txBody>
                    <a:bodyPr/>
                    <a:lstStyle/>
                    <a:p>
                      <a:pPr algn="l" fontAlgn="ctr">
                        <a:buNone/>
                      </a:pPr>
                      <a:r>
                        <a:rPr lang="zh-CN" altLang="en-US" sz="800" b="1" i="0" u="none" strike="noStrike">
                          <a:solidFill>
                            <a:srgbClr val="000000"/>
                          </a:solidFill>
                          <a:effectLst/>
                          <a:latin typeface="+mn-ea"/>
                          <a:ea typeface="+mn-ea"/>
                        </a:rPr>
                        <a:t>梅赛尔</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800" b="0" i="0" u="none" strike="noStrike">
                          <a:solidFill>
                            <a:srgbClr val="000000"/>
                          </a:solidFill>
                          <a:effectLst/>
                          <a:latin typeface="+mn-ea"/>
                          <a:ea typeface="+mn-ea"/>
                        </a:rPr>
                        <a:t>1200</a:t>
                      </a:r>
                      <a:r>
                        <a:rPr lang="zh-CN" altLang="en-US" sz="800" b="0" i="0" u="none" strike="noStrike">
                          <a:solidFill>
                            <a:srgbClr val="000000"/>
                          </a:solidFill>
                          <a:effectLst/>
                          <a:latin typeface="+mn-ea"/>
                          <a:ea typeface="+mn-ea"/>
                        </a:rPr>
                        <a:t>（全球份额约</a:t>
                      </a:r>
                      <a:r>
                        <a:rPr lang="en-US" altLang="zh-CN" sz="800" b="0" i="0" u="none" strike="noStrike">
                          <a:solidFill>
                            <a:srgbClr val="000000"/>
                          </a:solidFill>
                          <a:effectLst/>
                          <a:latin typeface="+mn-ea"/>
                          <a:ea typeface="+mn-ea"/>
                        </a:rPr>
                        <a:t>6%</a:t>
                      </a:r>
                      <a:r>
                        <a:rPr lang="zh-CN" altLang="en-US" sz="800" b="0" i="0" u="none" strike="noStrike">
                          <a:solidFill>
                            <a:srgbClr val="0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800" b="0" i="0" u="none" strike="noStrike">
                          <a:solidFill>
                            <a:srgbClr val="000000"/>
                          </a:solidFill>
                          <a:effectLst/>
                          <a:latin typeface="+mn-ea"/>
                          <a:ea typeface="+mn-ea"/>
                        </a:rPr>
                        <a:t>美国</a:t>
                      </a:r>
                      <a:r>
                        <a:rPr lang="en-US" altLang="zh-CN" sz="800" b="0" i="0" u="none" strike="noStrike">
                          <a:solidFill>
                            <a:srgbClr val="000000"/>
                          </a:solidFill>
                          <a:effectLst/>
                          <a:latin typeface="+mn-ea"/>
                          <a:ea typeface="+mn-ea"/>
                        </a:rPr>
                        <a:t>38%</a:t>
                      </a:r>
                      <a:r>
                        <a:rPr lang="zh-CN" altLang="en-US" sz="800" b="0" i="0" u="none" strike="noStrike">
                          <a:solidFill>
                            <a:srgbClr val="000000"/>
                          </a:solidFill>
                          <a:effectLst/>
                          <a:latin typeface="+mn-ea"/>
                          <a:ea typeface="+mn-ea"/>
                        </a:rPr>
                        <a:t>、卡特尔</a:t>
                      </a:r>
                      <a:r>
                        <a:rPr lang="en-US" altLang="zh-CN" sz="800" b="0" i="0" u="none" strike="noStrike">
                          <a:solidFill>
                            <a:srgbClr val="000000"/>
                          </a:solidFill>
                          <a:effectLst/>
                          <a:latin typeface="+mn-ea"/>
                          <a:ea typeface="+mn-ea"/>
                        </a:rPr>
                        <a:t>25%</a:t>
                      </a:r>
                      <a:r>
                        <a:rPr lang="zh-CN" altLang="en-US" sz="800" b="0" i="0" u="none" strike="noStrike">
                          <a:solidFill>
                            <a:srgbClr val="000000"/>
                          </a:solidFill>
                          <a:effectLst/>
                          <a:latin typeface="+mn-ea"/>
                          <a:ea typeface="+mn-ea"/>
                        </a:rPr>
                        <a:t>、阿尔及利亚</a:t>
                      </a:r>
                      <a:r>
                        <a:rPr lang="en-US" altLang="zh-CN" sz="800" b="0" i="0" u="none" strike="noStrike">
                          <a:solidFill>
                            <a:srgbClr val="000000"/>
                          </a:solidFill>
                          <a:effectLst/>
                          <a:latin typeface="+mn-ea"/>
                          <a:ea typeface="+mn-ea"/>
                        </a:rPr>
                        <a:t>21%</a:t>
                      </a:r>
                      <a:r>
                        <a:rPr lang="zh-CN" altLang="en-US" sz="800" b="0" i="0" u="none" strike="noStrike">
                          <a:solidFill>
                            <a:srgbClr val="000000"/>
                          </a:solidFill>
                          <a:effectLst/>
                          <a:latin typeface="+mn-ea"/>
                          <a:ea typeface="+mn-ea"/>
                        </a:rPr>
                        <a:t>，其他（北美散单 </a:t>
                      </a:r>
                      <a:r>
                        <a:rPr lang="en-US" altLang="zh-CN" sz="800" b="0" i="0" u="none" strike="noStrike">
                          <a:solidFill>
                            <a:srgbClr val="000000"/>
                          </a:solidFill>
                          <a:effectLst/>
                          <a:latin typeface="+mn-ea"/>
                          <a:ea typeface="+mn-ea"/>
                        </a:rPr>
                        <a:t>+ </a:t>
                      </a:r>
                      <a:r>
                        <a:rPr lang="zh-CN" altLang="en-US" sz="800" b="0" i="0" u="none" strike="noStrike">
                          <a:solidFill>
                            <a:srgbClr val="000000"/>
                          </a:solidFill>
                          <a:effectLst/>
                          <a:latin typeface="+mn-ea"/>
                          <a:ea typeface="+mn-ea"/>
                        </a:rPr>
                        <a:t>欧洲充装）</a:t>
                      </a:r>
                      <a:r>
                        <a:rPr lang="en-US" altLang="zh-CN" sz="800" b="0" i="0" u="none" strike="noStrike">
                          <a:solidFill>
                            <a:srgbClr val="000000"/>
                          </a:solidFill>
                          <a:effectLst/>
                          <a:latin typeface="+mn-ea"/>
                          <a:ea typeface="+mn-ea"/>
                        </a:rPr>
                        <a:t>17%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800" b="1" i="0" u="none" strike="noStrike" dirty="0">
                          <a:solidFill>
                            <a:srgbClr val="000000"/>
                          </a:solidFill>
                          <a:effectLst/>
                          <a:latin typeface="+mn-ea"/>
                          <a:ea typeface="+mn-ea"/>
                        </a:rPr>
                        <a:t>26-28</a:t>
                      </a:r>
                      <a:r>
                        <a:rPr lang="zh-CN" altLang="en-US" sz="800" b="1" i="0" u="none" strike="noStrike" dirty="0">
                          <a:solidFill>
                            <a:srgbClr val="000000"/>
                          </a:solidFill>
                          <a:effectLst/>
                          <a:latin typeface="+mn-ea"/>
                          <a:ea typeface="+mn-ea"/>
                        </a:rPr>
                        <a:t>年：</a:t>
                      </a:r>
                      <a:r>
                        <a:rPr lang="en-US" altLang="zh-CN" sz="800" b="1" i="0" u="none" strike="noStrike" dirty="0">
                          <a:solidFill>
                            <a:srgbClr val="000000"/>
                          </a:solidFill>
                          <a:effectLst/>
                          <a:latin typeface="+mn-ea"/>
                          <a:ea typeface="+mn-ea"/>
                        </a:rPr>
                        <a:t>700</a:t>
                      </a:r>
                      <a:r>
                        <a:rPr lang="zh-CN" altLang="en-US" sz="800" b="1" i="0" u="none" strike="noStrike" dirty="0">
                          <a:solidFill>
                            <a:srgbClr val="000000"/>
                          </a:solidFill>
                          <a:effectLst/>
                          <a:latin typeface="+mn-ea"/>
                          <a:ea typeface="+mn-ea"/>
                        </a:rPr>
                        <a:t>万方</a:t>
                      </a:r>
                      <a:r>
                        <a:rPr lang="zh-CN" altLang="en-US" sz="800" b="0" i="0" u="none" strike="noStrike" dirty="0">
                          <a:solidFill>
                            <a:srgbClr val="000000"/>
                          </a:solidFill>
                          <a:effectLst/>
                          <a:latin typeface="+mn-ea"/>
                          <a:ea typeface="+mn-ea"/>
                        </a:rPr>
                        <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1</a:t>
                      </a:r>
                      <a:r>
                        <a:rPr lang="zh-CN" altLang="en-US" sz="800" b="0" i="0" u="none" strike="noStrike" dirty="0">
                          <a:solidFill>
                            <a:srgbClr val="000000"/>
                          </a:solidFill>
                          <a:effectLst/>
                          <a:latin typeface="+mn-ea"/>
                          <a:ea typeface="+mn-ea"/>
                        </a:rPr>
                        <a:t>） 阿尔及利亚 </a:t>
                      </a:r>
                      <a:r>
                        <a:rPr lang="en-US" altLang="zh-CN" sz="800" b="0" i="0" u="none" strike="noStrike" dirty="0">
                          <a:solidFill>
                            <a:srgbClr val="000000"/>
                          </a:solidFill>
                          <a:effectLst/>
                          <a:latin typeface="+mn-ea"/>
                          <a:ea typeface="+mn-ea"/>
                        </a:rPr>
                        <a:t>In Salah </a:t>
                      </a:r>
                      <a:r>
                        <a:rPr lang="zh-CN" altLang="en-US" sz="800" b="0" i="0" u="none" strike="noStrike" dirty="0">
                          <a:solidFill>
                            <a:srgbClr val="000000"/>
                          </a:solidFill>
                          <a:effectLst/>
                          <a:latin typeface="+mn-ea"/>
                          <a:ea typeface="+mn-ea"/>
                        </a:rPr>
                        <a:t>气田：</a:t>
                      </a:r>
                      <a:r>
                        <a:rPr lang="en-US" altLang="zh-CN" sz="800" b="0" i="0" u="none" strike="noStrike" dirty="0">
                          <a:solidFill>
                            <a:srgbClr val="000000"/>
                          </a:solidFill>
                          <a:effectLst/>
                          <a:latin typeface="+mn-ea"/>
                          <a:ea typeface="+mn-ea"/>
                        </a:rPr>
                        <a:t>500</a:t>
                      </a:r>
                      <a:r>
                        <a:rPr lang="zh-CN" altLang="en-US" sz="800" b="0" i="0" u="none" strike="noStrike" dirty="0">
                          <a:solidFill>
                            <a:srgbClr val="000000"/>
                          </a:solidFill>
                          <a:effectLst/>
                          <a:latin typeface="+mn-ea"/>
                          <a:ea typeface="+mn-ea"/>
                        </a:rPr>
                        <a:t>万立方米（</a:t>
                      </a:r>
                      <a:r>
                        <a:rPr lang="en-US" altLang="zh-CN" sz="800" b="0" i="0" u="none" strike="noStrike" dirty="0">
                          <a:solidFill>
                            <a:srgbClr val="000000"/>
                          </a:solidFill>
                          <a:effectLst/>
                          <a:latin typeface="+mn-ea"/>
                          <a:ea typeface="+mn-ea"/>
                        </a:rPr>
                        <a:t>26-27</a:t>
                      </a:r>
                      <a:r>
                        <a:rPr lang="zh-CN" altLang="en-US" sz="800" b="0" i="0" u="none" strike="noStrike" dirty="0">
                          <a:solidFill>
                            <a:srgbClr val="000000"/>
                          </a:solidFill>
                          <a:effectLst/>
                          <a:latin typeface="+mn-ea"/>
                          <a:ea typeface="+mn-ea"/>
                        </a:rPr>
                        <a:t>）</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）美国页岩气开发：</a:t>
                      </a:r>
                      <a:r>
                        <a:rPr lang="en-US" altLang="zh-CN" sz="800" b="0" i="0" u="none" strike="noStrike" dirty="0">
                          <a:solidFill>
                            <a:srgbClr val="000000"/>
                          </a:solidFill>
                          <a:effectLst/>
                          <a:latin typeface="+mn-ea"/>
                          <a:ea typeface="+mn-ea"/>
                        </a:rPr>
                        <a:t>200 </a:t>
                      </a:r>
                      <a:r>
                        <a:rPr lang="zh-CN" altLang="en-US" sz="800" b="0" i="0" u="none" strike="noStrike" dirty="0">
                          <a:solidFill>
                            <a:srgbClr val="000000"/>
                          </a:solidFill>
                          <a:effectLst/>
                          <a:latin typeface="+mn-ea"/>
                          <a:ea typeface="+mn-ea"/>
                        </a:rPr>
                        <a:t>万立方米（</a:t>
                      </a:r>
                      <a:r>
                        <a:rPr lang="en-US" altLang="zh-CN" sz="800" b="0" i="0" u="none" strike="noStrike" dirty="0">
                          <a:solidFill>
                            <a:srgbClr val="000000"/>
                          </a:solidFill>
                          <a:effectLst/>
                          <a:latin typeface="+mn-ea"/>
                          <a:ea typeface="+mn-ea"/>
                        </a:rPr>
                        <a:t>27-28</a:t>
                      </a:r>
                      <a:r>
                        <a:rPr lang="zh-CN" altLang="en-US" sz="800" b="0" i="0" u="none" strike="noStrike" dirty="0">
                          <a:solidFill>
                            <a:srgbClr val="000000"/>
                          </a:solidFill>
                          <a:effectLst/>
                          <a:latin typeface="+mn-ea"/>
                          <a:ea typeface="+mn-ea"/>
                        </a:rPr>
                        <a:t>）</a:t>
                      </a:r>
                    </a:p>
                  </a:txBody>
                  <a:tcPr marL="0" marR="0" marT="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08993556"/>
                  </a:ext>
                </a:extLst>
              </a:tr>
            </a:tbl>
          </a:graphicData>
        </a:graphic>
      </p:graphicFrame>
      <p:graphicFrame>
        <p:nvGraphicFramePr>
          <p:cNvPr id="11" name="表格 10">
            <a:extLst>
              <a:ext uri="{FF2B5EF4-FFF2-40B4-BE49-F238E27FC236}">
                <a16:creationId xmlns:a16="http://schemas.microsoft.com/office/drawing/2014/main" xmlns="" id="{40E27F50-DF51-3959-6C78-48CD48328DDD}"/>
              </a:ext>
            </a:extLst>
          </p:cNvPr>
          <p:cNvGraphicFramePr>
            <a:graphicFrameLocks noGrp="1"/>
          </p:cNvGraphicFramePr>
          <p:nvPr>
            <p:extLst>
              <p:ext uri="{D42A27DB-BD31-4B8C-83A1-F6EECF244321}">
                <p14:modId xmlns:p14="http://schemas.microsoft.com/office/powerpoint/2010/main" val="955841556"/>
              </p:ext>
            </p:extLst>
          </p:nvPr>
        </p:nvGraphicFramePr>
        <p:xfrm>
          <a:off x="5080882" y="2262255"/>
          <a:ext cx="3753014" cy="2436967"/>
        </p:xfrm>
        <a:graphic>
          <a:graphicData uri="http://schemas.openxmlformats.org/drawingml/2006/table">
            <a:tbl>
              <a:tblPr/>
              <a:tblGrid>
                <a:gridCol w="694689">
                  <a:extLst>
                    <a:ext uri="{9D8B030D-6E8A-4147-A177-3AD203B41FA5}">
                      <a16:colId xmlns:a16="http://schemas.microsoft.com/office/drawing/2014/main" xmlns="" val="2474270762"/>
                    </a:ext>
                  </a:extLst>
                </a:gridCol>
                <a:gridCol w="923428">
                  <a:extLst>
                    <a:ext uri="{9D8B030D-6E8A-4147-A177-3AD203B41FA5}">
                      <a16:colId xmlns:a16="http://schemas.microsoft.com/office/drawing/2014/main" xmlns="" val="2867065963"/>
                    </a:ext>
                  </a:extLst>
                </a:gridCol>
                <a:gridCol w="914956">
                  <a:extLst>
                    <a:ext uri="{9D8B030D-6E8A-4147-A177-3AD203B41FA5}">
                      <a16:colId xmlns:a16="http://schemas.microsoft.com/office/drawing/2014/main" xmlns="" val="1597500677"/>
                    </a:ext>
                  </a:extLst>
                </a:gridCol>
                <a:gridCol w="1219941">
                  <a:extLst>
                    <a:ext uri="{9D8B030D-6E8A-4147-A177-3AD203B41FA5}">
                      <a16:colId xmlns:a16="http://schemas.microsoft.com/office/drawing/2014/main" xmlns="" val="3456341474"/>
                    </a:ext>
                  </a:extLst>
                </a:gridCol>
              </a:tblGrid>
              <a:tr h="431976">
                <a:tc>
                  <a:txBody>
                    <a:bodyPr/>
                    <a:lstStyle/>
                    <a:p>
                      <a:pPr algn="l" fontAlgn="ctr">
                        <a:buNone/>
                      </a:pPr>
                      <a:r>
                        <a:rPr lang="zh-CN" altLang="en-US" sz="900" b="1" i="0" u="none" strike="noStrike">
                          <a:solidFill>
                            <a:srgbClr val="000000"/>
                          </a:solidFill>
                          <a:effectLst/>
                          <a:latin typeface="+mn-ea"/>
                          <a:ea typeface="+mn-ea"/>
                        </a:rPr>
                        <a:t>公司名称</a:t>
                      </a:r>
                    </a:p>
                  </a:txBody>
                  <a:tcPr marL="4763" marR="4763" marT="47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zh-CN" altLang="en-US" sz="900" b="1" i="0" u="none" strike="noStrike">
                          <a:solidFill>
                            <a:srgbClr val="000000"/>
                          </a:solidFill>
                          <a:effectLst/>
                          <a:latin typeface="+mn-ea"/>
                          <a:ea typeface="+mn-ea"/>
                        </a:rPr>
                        <a:t>当前氦气气源量（万方</a:t>
                      </a:r>
                      <a:r>
                        <a:rPr lang="en-US" altLang="zh-CN" sz="900" b="1" i="0" u="none" strike="noStrike">
                          <a:solidFill>
                            <a:srgbClr val="000000"/>
                          </a:solidFill>
                          <a:effectLst/>
                          <a:latin typeface="+mn-ea"/>
                          <a:ea typeface="+mn-ea"/>
                        </a:rPr>
                        <a:t>/</a:t>
                      </a:r>
                      <a:r>
                        <a:rPr lang="zh-CN" altLang="en-US" sz="900" b="1" i="0" u="none" strike="noStrike">
                          <a:solidFill>
                            <a:srgbClr val="000000"/>
                          </a:solidFill>
                          <a:effectLst/>
                          <a:latin typeface="+mn-ea"/>
                          <a:ea typeface="+mn-ea"/>
                        </a:rPr>
                        <a:t>年）</a:t>
                      </a:r>
                    </a:p>
                  </a:txBody>
                  <a:tcPr marL="4763" marR="4763" marT="47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1" i="0" u="none" strike="noStrike">
                          <a:solidFill>
                            <a:srgbClr val="000000"/>
                          </a:solidFill>
                          <a:effectLst/>
                          <a:latin typeface="+mn-ea"/>
                          <a:ea typeface="+mn-ea"/>
                        </a:rPr>
                        <a:t>气源结构</a:t>
                      </a:r>
                    </a:p>
                  </a:txBody>
                  <a:tcPr marL="4763" marR="4763" marT="47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zh-CN" altLang="en-US" sz="900" b="1" i="0" u="none" strike="noStrike">
                          <a:solidFill>
                            <a:srgbClr val="000000"/>
                          </a:solidFill>
                          <a:effectLst/>
                          <a:latin typeface="+mn-ea"/>
                          <a:ea typeface="+mn-ea"/>
                        </a:rPr>
                        <a:t>未来增量</a:t>
                      </a:r>
                    </a:p>
                  </a:txBody>
                  <a:tcPr marL="4763" marR="4763" marT="4763"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513343291"/>
                  </a:ext>
                </a:extLst>
              </a:tr>
              <a:tr h="678319">
                <a:tc>
                  <a:txBody>
                    <a:bodyPr/>
                    <a:lstStyle/>
                    <a:p>
                      <a:pPr algn="l" fontAlgn="ctr">
                        <a:buNone/>
                      </a:pPr>
                      <a:r>
                        <a:rPr lang="zh-CN" altLang="en-US" sz="900" b="0" i="0" u="none" strike="noStrike">
                          <a:solidFill>
                            <a:srgbClr val="000000"/>
                          </a:solidFill>
                          <a:effectLst/>
                          <a:latin typeface="+mn-ea"/>
                          <a:ea typeface="+mn-ea"/>
                        </a:rPr>
                        <a:t>广钢气体</a:t>
                      </a:r>
                    </a:p>
                  </a:txBody>
                  <a:tcPr marL="4763" marR="4763" marT="4763"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r" fontAlgn="ctr">
                        <a:buNone/>
                      </a:pPr>
                      <a:r>
                        <a:rPr lang="en-US" altLang="zh-CN" sz="900" b="0" i="0" u="none" strike="noStrike">
                          <a:solidFill>
                            <a:srgbClr val="000000"/>
                          </a:solidFill>
                          <a:effectLst/>
                          <a:latin typeface="+mn-ea"/>
                          <a:ea typeface="+mn-ea"/>
                        </a:rPr>
                        <a:t>300-400</a:t>
                      </a:r>
                    </a:p>
                  </a:txBody>
                  <a:tcPr marL="4763" marR="4763" marT="4763"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buNone/>
                      </a:pPr>
                      <a:r>
                        <a:rPr lang="en-US" altLang="zh-CN" sz="900" b="0" i="0" u="none" strike="noStrike" dirty="0">
                          <a:solidFill>
                            <a:srgbClr val="000000"/>
                          </a:solidFill>
                          <a:effectLst/>
                          <a:latin typeface="+mn-ea"/>
                          <a:ea typeface="+mn-ea"/>
                        </a:rPr>
                        <a:t>60% </a:t>
                      </a:r>
                      <a:r>
                        <a:rPr lang="zh-CN" altLang="en-US" sz="900" b="0" i="0" u="none" strike="noStrike" dirty="0">
                          <a:solidFill>
                            <a:srgbClr val="000000"/>
                          </a:solidFill>
                          <a:effectLst/>
                          <a:latin typeface="+mn-ea"/>
                          <a:ea typeface="+mn-ea"/>
                        </a:rPr>
                        <a:t>卡塔尔、</a:t>
                      </a:r>
                      <a:r>
                        <a:rPr lang="en-US" altLang="zh-CN" sz="900" b="0" i="0" u="none" strike="noStrike" dirty="0">
                          <a:solidFill>
                            <a:srgbClr val="000000"/>
                          </a:solidFill>
                          <a:effectLst/>
                          <a:latin typeface="+mn-ea"/>
                          <a:ea typeface="+mn-ea"/>
                        </a:rPr>
                        <a:t>20% </a:t>
                      </a:r>
                      <a:r>
                        <a:rPr lang="zh-CN" altLang="en-US" sz="900" b="0" i="0" u="none" strike="noStrike" dirty="0">
                          <a:solidFill>
                            <a:srgbClr val="000000"/>
                          </a:solidFill>
                          <a:effectLst/>
                          <a:latin typeface="+mn-ea"/>
                          <a:ea typeface="+mn-ea"/>
                        </a:rPr>
                        <a:t>俄罗斯、</a:t>
                      </a:r>
                      <a:r>
                        <a:rPr lang="en-US" altLang="zh-CN" sz="900" b="0" i="0" u="none" strike="noStrike" dirty="0">
                          <a:solidFill>
                            <a:srgbClr val="000000"/>
                          </a:solidFill>
                          <a:effectLst/>
                          <a:latin typeface="+mn-ea"/>
                          <a:ea typeface="+mn-ea"/>
                        </a:rPr>
                        <a:t>10% </a:t>
                      </a:r>
                      <a:r>
                        <a:rPr lang="zh-CN" altLang="en-US" sz="900" b="0" i="0" u="none" strike="noStrike" dirty="0">
                          <a:solidFill>
                            <a:srgbClr val="000000"/>
                          </a:solidFill>
                          <a:effectLst/>
                          <a:latin typeface="+mn-ea"/>
                          <a:ea typeface="+mn-ea"/>
                        </a:rPr>
                        <a:t>北美</a:t>
                      </a:r>
                    </a:p>
                  </a:txBody>
                  <a:tcPr marL="4763" marR="4763" marT="4763"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tc>
                  <a:txBody>
                    <a:bodyPr/>
                    <a:lstStyle/>
                    <a:p>
                      <a:pPr algn="l" fontAlgn="ctr">
                        <a:buNone/>
                      </a:pPr>
                      <a:r>
                        <a:rPr lang="en-US" altLang="zh-CN" sz="900" b="1" i="0" u="none" strike="noStrike">
                          <a:solidFill>
                            <a:srgbClr val="000000"/>
                          </a:solidFill>
                          <a:effectLst/>
                          <a:latin typeface="+mn-ea"/>
                          <a:ea typeface="+mn-ea"/>
                        </a:rPr>
                        <a:t>26-27</a:t>
                      </a:r>
                      <a:r>
                        <a:rPr lang="zh-CN" altLang="en-US" sz="900" b="1" i="0" u="none" strike="noStrike">
                          <a:solidFill>
                            <a:srgbClr val="000000"/>
                          </a:solidFill>
                          <a:effectLst/>
                          <a:latin typeface="+mn-ea"/>
                          <a:ea typeface="+mn-ea"/>
                        </a:rPr>
                        <a:t>年：</a:t>
                      </a:r>
                      <a:r>
                        <a:rPr lang="en-US" altLang="zh-CN" sz="900" b="1" i="0" u="none" strike="noStrike">
                          <a:solidFill>
                            <a:srgbClr val="000000"/>
                          </a:solidFill>
                          <a:effectLst/>
                          <a:latin typeface="+mn-ea"/>
                          <a:ea typeface="+mn-ea"/>
                        </a:rPr>
                        <a:t>300</a:t>
                      </a:r>
                      <a:r>
                        <a:rPr lang="zh-CN" altLang="en-US" sz="900" b="1" i="0" u="none" strike="noStrike">
                          <a:solidFill>
                            <a:srgbClr val="000000"/>
                          </a:solidFill>
                          <a:effectLst/>
                          <a:latin typeface="+mn-ea"/>
                          <a:ea typeface="+mn-ea"/>
                        </a:rPr>
                        <a:t>万方</a:t>
                      </a:r>
                      <a:r>
                        <a:rPr lang="zh-CN" altLang="en-US" sz="900" b="0" i="0" u="none" strike="noStrike">
                          <a:solidFill>
                            <a:srgbClr val="000000"/>
                          </a:solidFill>
                          <a:effectLst/>
                          <a:latin typeface="+mn-ea"/>
                          <a:ea typeface="+mn-ea"/>
                        </a:rPr>
                        <a:t>，来源卡塔尔北方气田东扩项目：</a:t>
                      </a:r>
                      <a:r>
                        <a:rPr lang="en-US" altLang="zh-CN" sz="900" b="0" i="0" u="none" strike="noStrike">
                          <a:solidFill>
                            <a:srgbClr val="000000"/>
                          </a:solidFill>
                          <a:effectLst/>
                          <a:latin typeface="+mn-ea"/>
                          <a:ea typeface="+mn-ea"/>
                        </a:rPr>
                        <a:t>300</a:t>
                      </a:r>
                      <a:r>
                        <a:rPr lang="zh-CN" altLang="en-US" sz="900" b="0" i="0" u="none" strike="noStrike">
                          <a:solidFill>
                            <a:srgbClr val="000000"/>
                          </a:solidFill>
                          <a:effectLst/>
                          <a:latin typeface="+mn-ea"/>
                          <a:ea typeface="+mn-ea"/>
                        </a:rPr>
                        <a:t>万立方米（</a:t>
                      </a:r>
                      <a:r>
                        <a:rPr lang="en-US" altLang="zh-CN" sz="900" b="0" i="0" u="none" strike="noStrike">
                          <a:solidFill>
                            <a:srgbClr val="000000"/>
                          </a:solidFill>
                          <a:effectLst/>
                          <a:latin typeface="+mn-ea"/>
                          <a:ea typeface="+mn-ea"/>
                        </a:rPr>
                        <a:t>26</a:t>
                      </a:r>
                      <a:r>
                        <a:rPr lang="zh-CN" altLang="en-US" sz="900" b="0" i="0" u="none" strike="noStrike">
                          <a:solidFill>
                            <a:srgbClr val="000000"/>
                          </a:solidFill>
                          <a:effectLst/>
                          <a:latin typeface="+mn-ea"/>
                          <a:ea typeface="+mn-ea"/>
                        </a:rPr>
                        <a:t>）</a:t>
                      </a:r>
                    </a:p>
                  </a:txBody>
                  <a:tcPr marL="4763" marR="4763" marT="4763" marB="0" anchor="ctr">
                    <a:lnL>
                      <a:noFill/>
                    </a:lnL>
                    <a:lnR>
                      <a:noFill/>
                    </a:lnR>
                    <a:lnT w="6350" cap="flat" cmpd="sng" algn="ctr">
                      <a:solidFill>
                        <a:srgbClr val="000000"/>
                      </a:solidFill>
                      <a:prstDash val="solid"/>
                      <a:round/>
                      <a:headEnd type="none" w="med" len="med"/>
                      <a:tailEnd type="none" w="med" len="med"/>
                    </a:lnT>
                    <a:lnB>
                      <a:noFill/>
                    </a:lnB>
                    <a:solidFill>
                      <a:srgbClr val="DDEBF7"/>
                    </a:solidFill>
                  </a:tcPr>
                </a:tc>
                <a:extLst>
                  <a:ext uri="{0D108BD9-81ED-4DB2-BD59-A6C34878D82A}">
                    <a16:rowId xmlns:a16="http://schemas.microsoft.com/office/drawing/2014/main" xmlns="" val="1089661810"/>
                  </a:ext>
                </a:extLst>
              </a:tr>
              <a:tr h="678319">
                <a:tc>
                  <a:txBody>
                    <a:bodyPr/>
                    <a:lstStyle/>
                    <a:p>
                      <a:pPr algn="l" fontAlgn="ctr">
                        <a:buNone/>
                      </a:pPr>
                      <a:r>
                        <a:rPr lang="zh-CN" altLang="en-US" sz="900" b="0" i="0" u="none" strike="noStrike">
                          <a:solidFill>
                            <a:srgbClr val="000000"/>
                          </a:solidFill>
                          <a:effectLst/>
                          <a:latin typeface="+mn-ea"/>
                          <a:ea typeface="+mn-ea"/>
                        </a:rPr>
                        <a:t>金宏气体</a:t>
                      </a:r>
                    </a:p>
                  </a:txBody>
                  <a:tcPr marL="4763" marR="4763" marT="4763" marB="0" anchor="ctr">
                    <a:lnL>
                      <a:noFill/>
                    </a:lnL>
                    <a:lnR>
                      <a:noFill/>
                    </a:lnR>
                    <a:lnT>
                      <a:noFill/>
                    </a:lnT>
                    <a:lnB>
                      <a:noFill/>
                    </a:lnB>
                    <a:noFill/>
                  </a:tcPr>
                </a:tc>
                <a:tc>
                  <a:txBody>
                    <a:bodyPr/>
                    <a:lstStyle/>
                    <a:p>
                      <a:pPr algn="r" fontAlgn="ctr">
                        <a:buNone/>
                      </a:pPr>
                      <a:r>
                        <a:rPr lang="en-US" altLang="zh-CN" sz="900" b="0" i="0" u="none" strike="noStrike">
                          <a:solidFill>
                            <a:srgbClr val="000000"/>
                          </a:solidFill>
                          <a:effectLst/>
                          <a:latin typeface="+mn-ea"/>
                          <a:ea typeface="+mn-ea"/>
                        </a:rPr>
                        <a:t>100</a:t>
                      </a:r>
                    </a:p>
                  </a:txBody>
                  <a:tcPr marL="4763" marR="4763" marT="4763" marB="0" anchor="ctr">
                    <a:lnL>
                      <a:noFill/>
                    </a:lnL>
                    <a:lnR>
                      <a:noFill/>
                    </a:lnR>
                    <a:lnT>
                      <a:noFill/>
                    </a:lnT>
                    <a:lnB>
                      <a:noFill/>
                    </a:lnB>
                    <a:noFill/>
                  </a:tcPr>
                </a:tc>
                <a:tc>
                  <a:txBody>
                    <a:bodyPr/>
                    <a:lstStyle/>
                    <a:p>
                      <a:pPr algn="l" fontAlgn="ctr">
                        <a:buNone/>
                      </a:pPr>
                      <a:r>
                        <a:rPr lang="zh-CN" altLang="en-US" sz="900" b="0" i="0" u="none" strike="noStrike">
                          <a:solidFill>
                            <a:srgbClr val="000000"/>
                          </a:solidFill>
                          <a:effectLst/>
                          <a:latin typeface="+mn-ea"/>
                          <a:ea typeface="+mn-ea"/>
                        </a:rPr>
                        <a:t>俄罗斯约</a:t>
                      </a:r>
                      <a:r>
                        <a:rPr lang="en-US" altLang="zh-CN" sz="900" b="0" i="0" u="none" strike="noStrike">
                          <a:solidFill>
                            <a:srgbClr val="000000"/>
                          </a:solidFill>
                          <a:effectLst/>
                          <a:latin typeface="+mn-ea"/>
                          <a:ea typeface="+mn-ea"/>
                        </a:rPr>
                        <a:t>50%</a:t>
                      </a:r>
                      <a:r>
                        <a:rPr lang="zh-CN" altLang="en-US" sz="900" b="0" i="0" u="none" strike="noStrike">
                          <a:solidFill>
                            <a:srgbClr val="000000"/>
                          </a:solidFill>
                          <a:effectLst/>
                          <a:latin typeface="+mn-ea"/>
                          <a:ea typeface="+mn-ea"/>
                        </a:rPr>
                        <a:t>，卡特尔</a:t>
                      </a:r>
                      <a:r>
                        <a:rPr lang="en-US" altLang="zh-CN" sz="900" b="0" i="0" u="none" strike="noStrike">
                          <a:solidFill>
                            <a:srgbClr val="000000"/>
                          </a:solidFill>
                          <a:effectLst/>
                          <a:latin typeface="+mn-ea"/>
                          <a:ea typeface="+mn-ea"/>
                        </a:rPr>
                        <a:t>+</a:t>
                      </a:r>
                      <a:r>
                        <a:rPr lang="zh-CN" altLang="en-US" sz="900" b="0" i="0" u="none" strike="noStrike">
                          <a:solidFill>
                            <a:srgbClr val="000000"/>
                          </a:solidFill>
                          <a:effectLst/>
                          <a:latin typeface="+mn-ea"/>
                          <a:ea typeface="+mn-ea"/>
                        </a:rPr>
                        <a:t>美国约</a:t>
                      </a:r>
                      <a:r>
                        <a:rPr lang="en-US" altLang="zh-CN" sz="900" b="0" i="0" u="none" strike="noStrike">
                          <a:solidFill>
                            <a:srgbClr val="000000"/>
                          </a:solidFill>
                          <a:effectLst/>
                          <a:latin typeface="+mn-ea"/>
                          <a:ea typeface="+mn-ea"/>
                        </a:rPr>
                        <a:t>50%</a:t>
                      </a:r>
                      <a:r>
                        <a:rPr lang="zh-CN" altLang="en-US" sz="900" b="0" i="0" u="none" strike="noStrike">
                          <a:solidFill>
                            <a:srgbClr val="000000"/>
                          </a:solidFill>
                          <a:effectLst/>
                          <a:latin typeface="+mn-ea"/>
                          <a:ea typeface="+mn-ea"/>
                        </a:rPr>
                        <a:t>，均以转单为主</a:t>
                      </a:r>
                    </a:p>
                  </a:txBody>
                  <a:tcPr marL="4763" marR="4763" marT="4763" marB="0" anchor="ctr">
                    <a:lnL>
                      <a:noFill/>
                    </a:lnL>
                    <a:lnR>
                      <a:noFill/>
                    </a:lnR>
                    <a:lnT>
                      <a:noFill/>
                    </a:lnT>
                    <a:lnB>
                      <a:noFill/>
                    </a:lnB>
                    <a:noFill/>
                  </a:tcPr>
                </a:tc>
                <a:tc>
                  <a:txBody>
                    <a:bodyPr/>
                    <a:lstStyle/>
                    <a:p>
                      <a:pPr algn="l" fontAlgn="ctr">
                        <a:buNone/>
                      </a:pPr>
                      <a:r>
                        <a:rPr lang="en-US" altLang="zh-CN" sz="900" b="1" i="0" u="none" strike="noStrike">
                          <a:solidFill>
                            <a:srgbClr val="000000"/>
                          </a:solidFill>
                          <a:effectLst/>
                          <a:latin typeface="+mn-ea"/>
                          <a:ea typeface="+mn-ea"/>
                        </a:rPr>
                        <a:t>26-27</a:t>
                      </a:r>
                      <a:r>
                        <a:rPr lang="zh-CN" altLang="en-US" sz="900" b="1" i="0" u="none" strike="noStrike">
                          <a:solidFill>
                            <a:srgbClr val="000000"/>
                          </a:solidFill>
                          <a:effectLst/>
                          <a:latin typeface="+mn-ea"/>
                          <a:ea typeface="+mn-ea"/>
                        </a:rPr>
                        <a:t>年：</a:t>
                      </a:r>
                      <a:r>
                        <a:rPr lang="en-US" altLang="zh-CN" sz="900" b="1" i="0" u="none" strike="noStrike">
                          <a:solidFill>
                            <a:srgbClr val="000000"/>
                          </a:solidFill>
                          <a:effectLst/>
                          <a:latin typeface="+mn-ea"/>
                          <a:ea typeface="+mn-ea"/>
                        </a:rPr>
                        <a:t>100</a:t>
                      </a:r>
                      <a:r>
                        <a:rPr lang="zh-CN" altLang="en-US" sz="900" b="1" i="0" u="none" strike="noStrike">
                          <a:solidFill>
                            <a:srgbClr val="000000"/>
                          </a:solidFill>
                          <a:effectLst/>
                          <a:latin typeface="+mn-ea"/>
                          <a:ea typeface="+mn-ea"/>
                        </a:rPr>
                        <a:t>万方</a:t>
                      </a:r>
                      <a:r>
                        <a:rPr lang="zh-CN" altLang="en-US" sz="900" b="0" i="0" u="none" strike="noStrike">
                          <a:solidFill>
                            <a:srgbClr val="000000"/>
                          </a:solidFill>
                          <a:effectLst/>
                          <a:latin typeface="+mn-ea"/>
                          <a:ea typeface="+mn-ea"/>
                        </a:rPr>
                        <a:t>，来源新疆</a:t>
                      </a:r>
                      <a:r>
                        <a:rPr lang="en-US" altLang="zh-CN" sz="900" b="0" i="0" u="none" strike="noStrike">
                          <a:solidFill>
                            <a:srgbClr val="000000"/>
                          </a:solidFill>
                          <a:effectLst/>
                          <a:latin typeface="+mn-ea"/>
                          <a:ea typeface="+mn-ea"/>
                        </a:rPr>
                        <a:t>BOG</a:t>
                      </a:r>
                      <a:r>
                        <a:rPr lang="zh-CN" altLang="en-US" sz="900" b="0" i="0" u="none" strike="noStrike">
                          <a:solidFill>
                            <a:srgbClr val="000000"/>
                          </a:solidFill>
                          <a:effectLst/>
                          <a:latin typeface="+mn-ea"/>
                          <a:ea typeface="+mn-ea"/>
                        </a:rPr>
                        <a:t>提氦项目投产（</a:t>
                      </a:r>
                      <a:r>
                        <a:rPr lang="en-US" altLang="zh-CN" sz="900" b="0" i="0" u="none" strike="noStrike">
                          <a:solidFill>
                            <a:srgbClr val="000000"/>
                          </a:solidFill>
                          <a:effectLst/>
                          <a:latin typeface="+mn-ea"/>
                          <a:ea typeface="+mn-ea"/>
                        </a:rPr>
                        <a:t>26</a:t>
                      </a:r>
                      <a:r>
                        <a:rPr lang="zh-CN" altLang="en-US" sz="900" b="0" i="0" u="none" strike="noStrike">
                          <a:solidFill>
                            <a:srgbClr val="000000"/>
                          </a:solidFill>
                          <a:effectLst/>
                          <a:latin typeface="+mn-ea"/>
                          <a:ea typeface="+mn-ea"/>
                        </a:rPr>
                        <a:t>）</a:t>
                      </a:r>
                    </a:p>
                  </a:txBody>
                  <a:tcPr marL="4763" marR="4763" marT="4763" marB="0" anchor="ctr">
                    <a:lnL>
                      <a:noFill/>
                    </a:lnL>
                    <a:lnR>
                      <a:noFill/>
                    </a:lnR>
                    <a:lnT>
                      <a:noFill/>
                    </a:lnT>
                    <a:lnB>
                      <a:noFill/>
                    </a:lnB>
                    <a:noFill/>
                  </a:tcPr>
                </a:tc>
                <a:extLst>
                  <a:ext uri="{0D108BD9-81ED-4DB2-BD59-A6C34878D82A}">
                    <a16:rowId xmlns:a16="http://schemas.microsoft.com/office/drawing/2014/main" xmlns="" val="3680233845"/>
                  </a:ext>
                </a:extLst>
              </a:tr>
              <a:tr h="431976">
                <a:tc>
                  <a:txBody>
                    <a:bodyPr/>
                    <a:lstStyle/>
                    <a:p>
                      <a:pPr algn="l" fontAlgn="ctr">
                        <a:buNone/>
                      </a:pPr>
                      <a:r>
                        <a:rPr lang="zh-CN" altLang="en-US" sz="900" b="0" i="0" u="none" strike="noStrike" dirty="0">
                          <a:solidFill>
                            <a:srgbClr val="000000"/>
                          </a:solidFill>
                          <a:effectLst/>
                          <a:latin typeface="+mn-ea"/>
                          <a:ea typeface="+mn-ea"/>
                        </a:rPr>
                        <a:t>杭氧股份</a:t>
                      </a:r>
                    </a:p>
                  </a:txBody>
                  <a:tcPr marL="4763" marR="4763" marT="4763" marB="0" anchor="ctr">
                    <a:lnL>
                      <a:noFill/>
                    </a:lnL>
                    <a:lnR>
                      <a:noFill/>
                    </a:lnR>
                    <a:lnT>
                      <a:noFill/>
                    </a:lnT>
                    <a:lnB>
                      <a:noFill/>
                    </a:lnB>
                    <a:solidFill>
                      <a:srgbClr val="DDEBF7"/>
                    </a:solidFill>
                  </a:tcPr>
                </a:tc>
                <a:tc>
                  <a:txBody>
                    <a:bodyPr/>
                    <a:lstStyle/>
                    <a:p>
                      <a:pPr algn="r" fontAlgn="ctr">
                        <a:buNone/>
                      </a:pPr>
                      <a:r>
                        <a:rPr lang="en-US" altLang="zh-CN" sz="900" b="0" i="0" u="none" strike="noStrike">
                          <a:solidFill>
                            <a:srgbClr val="000000"/>
                          </a:solidFill>
                          <a:effectLst/>
                          <a:latin typeface="+mn-ea"/>
                          <a:ea typeface="+mn-ea"/>
                        </a:rPr>
                        <a:t>150-180</a:t>
                      </a:r>
                    </a:p>
                  </a:txBody>
                  <a:tcPr marL="4763" marR="4763" marT="4763" marB="0" anchor="ctr">
                    <a:lnL>
                      <a:noFill/>
                    </a:lnL>
                    <a:lnR>
                      <a:noFill/>
                    </a:lnR>
                    <a:lnT>
                      <a:noFill/>
                    </a:lnT>
                    <a:lnB>
                      <a:noFill/>
                    </a:lnB>
                    <a:solidFill>
                      <a:srgbClr val="DDEBF7"/>
                    </a:solidFill>
                  </a:tcPr>
                </a:tc>
                <a:tc>
                  <a:txBody>
                    <a:bodyPr/>
                    <a:lstStyle/>
                    <a:p>
                      <a:pPr algn="l" fontAlgn="ctr">
                        <a:buNone/>
                      </a:pPr>
                      <a:r>
                        <a:rPr lang="zh-CN" altLang="en-US" sz="900" b="0" i="0" u="none" strike="noStrike">
                          <a:solidFill>
                            <a:srgbClr val="000000"/>
                          </a:solidFill>
                          <a:effectLst/>
                          <a:latin typeface="+mn-ea"/>
                          <a:ea typeface="+mn-ea"/>
                        </a:rPr>
                        <a:t>俄罗斯</a:t>
                      </a:r>
                    </a:p>
                  </a:txBody>
                  <a:tcPr marL="4763" marR="4763" marT="4763" marB="0" anchor="ctr">
                    <a:lnL>
                      <a:noFill/>
                    </a:lnL>
                    <a:lnR>
                      <a:noFill/>
                    </a:lnR>
                    <a:lnT>
                      <a:noFill/>
                    </a:lnT>
                    <a:lnB>
                      <a:noFill/>
                    </a:lnB>
                    <a:solidFill>
                      <a:srgbClr val="DDEBF7"/>
                    </a:solidFill>
                  </a:tcPr>
                </a:tc>
                <a:tc>
                  <a:txBody>
                    <a:bodyPr/>
                    <a:lstStyle/>
                    <a:p>
                      <a:pPr algn="l" fontAlgn="ctr">
                        <a:buNone/>
                      </a:pPr>
                      <a:r>
                        <a:rPr lang="en-US" altLang="zh-CN" sz="900" b="1" i="0" u="none" strike="noStrike">
                          <a:solidFill>
                            <a:srgbClr val="000000"/>
                          </a:solidFill>
                          <a:effectLst/>
                          <a:latin typeface="+mn-ea"/>
                          <a:ea typeface="+mn-ea"/>
                        </a:rPr>
                        <a:t>26-27</a:t>
                      </a:r>
                      <a:r>
                        <a:rPr lang="zh-CN" altLang="en-US" sz="900" b="1" i="0" u="none" strike="noStrike">
                          <a:solidFill>
                            <a:srgbClr val="000000"/>
                          </a:solidFill>
                          <a:effectLst/>
                          <a:latin typeface="+mn-ea"/>
                          <a:ea typeface="+mn-ea"/>
                        </a:rPr>
                        <a:t>年：</a:t>
                      </a:r>
                      <a:r>
                        <a:rPr lang="en-US" altLang="zh-CN" sz="900" b="1" i="0" u="none" strike="noStrike">
                          <a:solidFill>
                            <a:srgbClr val="000000"/>
                          </a:solidFill>
                          <a:effectLst/>
                          <a:latin typeface="+mn-ea"/>
                          <a:ea typeface="+mn-ea"/>
                        </a:rPr>
                        <a:t>100</a:t>
                      </a:r>
                      <a:r>
                        <a:rPr lang="zh-CN" altLang="en-US" sz="900" b="1" i="0" u="none" strike="noStrike">
                          <a:solidFill>
                            <a:srgbClr val="000000"/>
                          </a:solidFill>
                          <a:effectLst/>
                          <a:latin typeface="+mn-ea"/>
                          <a:ea typeface="+mn-ea"/>
                        </a:rPr>
                        <a:t>万方</a:t>
                      </a:r>
                      <a:r>
                        <a:rPr lang="zh-CN" altLang="en-US" sz="900" b="0" i="0" u="none" strike="noStrike">
                          <a:solidFill>
                            <a:srgbClr val="000000"/>
                          </a:solidFill>
                          <a:effectLst/>
                          <a:latin typeface="+mn-ea"/>
                          <a:ea typeface="+mn-ea"/>
                        </a:rPr>
                        <a:t>，来源俄罗斯</a:t>
                      </a:r>
                    </a:p>
                  </a:txBody>
                  <a:tcPr marL="4763" marR="4763" marT="4763" marB="0" anchor="ctr">
                    <a:lnL>
                      <a:noFill/>
                    </a:lnL>
                    <a:lnR>
                      <a:noFill/>
                    </a:lnR>
                    <a:lnT>
                      <a:noFill/>
                    </a:lnT>
                    <a:lnB>
                      <a:noFill/>
                    </a:lnB>
                    <a:solidFill>
                      <a:srgbClr val="DDEBF7"/>
                    </a:solidFill>
                  </a:tcPr>
                </a:tc>
                <a:extLst>
                  <a:ext uri="{0D108BD9-81ED-4DB2-BD59-A6C34878D82A}">
                    <a16:rowId xmlns:a16="http://schemas.microsoft.com/office/drawing/2014/main" xmlns="" val="2967035799"/>
                  </a:ext>
                </a:extLst>
              </a:tr>
              <a:tr h="216377">
                <a:tc>
                  <a:txBody>
                    <a:bodyPr/>
                    <a:lstStyle/>
                    <a:p>
                      <a:pPr algn="l" fontAlgn="ctr">
                        <a:buNone/>
                      </a:pPr>
                      <a:r>
                        <a:rPr lang="zh-CN" altLang="en-US" sz="900" b="0" i="0" u="none" strike="noStrike">
                          <a:solidFill>
                            <a:srgbClr val="000000"/>
                          </a:solidFill>
                          <a:effectLst/>
                          <a:latin typeface="+mn-ea"/>
                          <a:ea typeface="+mn-ea"/>
                        </a:rPr>
                        <a:t>九丰能源</a:t>
                      </a:r>
                    </a:p>
                  </a:txBody>
                  <a:tcPr marL="4763" marR="4763" marT="476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900" b="0" i="0" u="none" strike="noStrike">
                          <a:solidFill>
                            <a:srgbClr val="000000"/>
                          </a:solidFill>
                          <a:effectLst/>
                          <a:latin typeface="+mn-ea"/>
                          <a:ea typeface="+mn-ea"/>
                        </a:rPr>
                        <a:t>150</a:t>
                      </a:r>
                    </a:p>
                  </a:txBody>
                  <a:tcPr marL="4763" marR="4763" marT="476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zh-CN" altLang="en-US" sz="900" b="0" i="0" u="none" strike="noStrike">
                          <a:solidFill>
                            <a:srgbClr val="000000"/>
                          </a:solidFill>
                          <a:effectLst/>
                          <a:latin typeface="+mn-ea"/>
                          <a:ea typeface="+mn-ea"/>
                        </a:rPr>
                        <a:t>国内</a:t>
                      </a:r>
                      <a:r>
                        <a:rPr lang="en-US" sz="900" b="0" i="0" u="none" strike="noStrike">
                          <a:solidFill>
                            <a:srgbClr val="000000"/>
                          </a:solidFill>
                          <a:effectLst/>
                          <a:latin typeface="+mn-ea"/>
                          <a:ea typeface="+mn-ea"/>
                        </a:rPr>
                        <a:t>BOG</a:t>
                      </a:r>
                    </a:p>
                  </a:txBody>
                  <a:tcPr marL="4763" marR="4763" marT="4763"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zh-CN" sz="900" b="0" i="0" u="none" strike="noStrike" dirty="0">
                          <a:solidFill>
                            <a:srgbClr val="000000"/>
                          </a:solidFill>
                          <a:effectLst/>
                          <a:latin typeface="+mn-ea"/>
                          <a:ea typeface="+mn-ea"/>
                        </a:rPr>
                        <a:t>-</a:t>
                      </a:r>
                    </a:p>
                  </a:txBody>
                  <a:tcPr marL="4763" marR="4763" marT="4763"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376347252"/>
                  </a:ext>
                </a:extLst>
              </a:tr>
            </a:tbl>
          </a:graphicData>
        </a:graphic>
      </p:graphicFrame>
      <p:sp>
        <p:nvSpPr>
          <p:cNvPr id="12" name="文本框 1">
            <a:extLst>
              <a:ext uri="{FF2B5EF4-FFF2-40B4-BE49-F238E27FC236}">
                <a16:creationId xmlns:a16="http://schemas.microsoft.com/office/drawing/2014/main" xmlns="" id="{51733FD2-2BB7-FCF9-296A-5F2F4C303B4C}"/>
              </a:ext>
            </a:extLst>
          </p:cNvPr>
          <p:cNvSpPr txBox="1"/>
          <p:nvPr/>
        </p:nvSpPr>
        <p:spPr>
          <a:xfrm>
            <a:off x="-232792" y="2024010"/>
            <a:ext cx="520633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表：主要外资气体厂的氦气资源与未来气源增量</a:t>
            </a:r>
          </a:p>
        </p:txBody>
      </p:sp>
      <p:sp>
        <p:nvSpPr>
          <p:cNvPr id="13" name="文本框 1">
            <a:extLst>
              <a:ext uri="{FF2B5EF4-FFF2-40B4-BE49-F238E27FC236}">
                <a16:creationId xmlns:a16="http://schemas.microsoft.com/office/drawing/2014/main" xmlns="" id="{78B0EA99-7D38-CD96-CEE4-307DBA2DB4AC}"/>
              </a:ext>
            </a:extLst>
          </p:cNvPr>
          <p:cNvSpPr txBox="1"/>
          <p:nvPr/>
        </p:nvSpPr>
        <p:spPr>
          <a:xfrm>
            <a:off x="4354222" y="2024010"/>
            <a:ext cx="520633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表：主要中国气体厂的氦气资源与未来气源增量</a:t>
            </a:r>
          </a:p>
        </p:txBody>
      </p:sp>
      <p:sp>
        <p:nvSpPr>
          <p:cNvPr id="14" name="文本占位符 5">
            <a:extLst>
              <a:ext uri="{FF2B5EF4-FFF2-40B4-BE49-F238E27FC236}">
                <a16:creationId xmlns:a16="http://schemas.microsoft.com/office/drawing/2014/main" xmlns="" id="{5CDF15E8-F149-EB75-D4BA-F0965B9E7C4F}"/>
              </a:ext>
            </a:extLst>
          </p:cNvPr>
          <p:cNvSpPr txBox="1"/>
          <p:nvPr/>
        </p:nvSpPr>
        <p:spPr>
          <a:xfrm>
            <a:off x="234828" y="912442"/>
            <a:ext cx="8664537" cy="108023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lvl="4" indent="-381000" algn="just">
              <a:lnSpc>
                <a:spcPct val="100000"/>
              </a:lnSpc>
              <a:spcBef>
                <a:spcPts val="0"/>
              </a:spcBef>
              <a:spcAft>
                <a:spcPts val="8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全球核心氦气资源使用配额制，集中在外资气体厂。</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全球角度：</a:t>
            </a:r>
            <a:r>
              <a:rPr lang="zh-CN" altLang="en-US" sz="1100" dirty="0">
                <a:latin typeface="Arial" panose="020B0604020202020204" pitchFamily="34" charset="0"/>
                <a:ea typeface="思源黑体 Heavy" panose="020B0A00000000000000" pitchFamily="34" charset="-122"/>
                <a:cs typeface="Arial" panose="020B0604020202020204" pitchFamily="34" charset="0"/>
              </a:rPr>
              <a:t>林德、液空与</a:t>
            </a:r>
            <a:r>
              <a:rPr lang="en-US" altLang="zh-CN" sz="1100" dirty="0">
                <a:latin typeface="Arial" panose="020B0604020202020204" pitchFamily="34" charset="0"/>
                <a:ea typeface="思源黑体 Heavy" panose="020B0A00000000000000" pitchFamily="34" charset="-122"/>
                <a:cs typeface="Arial" panose="020B0604020202020204" pitchFamily="34" charset="0"/>
              </a:rPr>
              <a:t>AP</a:t>
            </a:r>
            <a:r>
              <a:rPr lang="zh-CN" altLang="en-US" sz="1100" dirty="0">
                <a:latin typeface="Arial" panose="020B0604020202020204" pitchFamily="34" charset="0"/>
                <a:ea typeface="思源黑体 Heavy" panose="020B0A00000000000000" pitchFamily="34" charset="-122"/>
                <a:cs typeface="Arial" panose="020B0604020202020204" pitchFamily="34" charset="0"/>
              </a:rPr>
              <a:t>获取氦源占比约为</a:t>
            </a:r>
            <a:r>
              <a:rPr lang="en-US" altLang="zh-CN" sz="1100" dirty="0">
                <a:latin typeface="Arial" panose="020B0604020202020204" pitchFamily="34" charset="0"/>
                <a:ea typeface="思源黑体 Heavy" panose="020B0A00000000000000" pitchFamily="34" charset="-122"/>
                <a:cs typeface="Arial" panose="020B0604020202020204" pitchFamily="34" charset="0"/>
              </a:rPr>
              <a:t>15%-25%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左右，占据主要市场份额，同时从未来看，以上三家气体公司的增量获取也最大，市占率将进一步提升；</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中国市场：</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广钢气体是唯一从卡特尔获取直接长单的氦源公司，且未来</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年有望获取</a:t>
            </a:r>
            <a:r>
              <a:rPr lang="en-US" altLang="zh-CN" sz="1100" dirty="0">
                <a:latin typeface="Arial" panose="020B0604020202020204" pitchFamily="34" charset="0"/>
                <a:ea typeface="思源黑体 Heavy" panose="020B0A00000000000000" pitchFamily="34" charset="-122"/>
                <a:cs typeface="Arial" panose="020B0604020202020204" pitchFamily="34" charset="0"/>
              </a:rPr>
              <a:t>300+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万方的气源年增量，</a:t>
            </a:r>
            <a:r>
              <a:rPr lang="en-US" altLang="zh-CN" sz="1100" dirty="0">
                <a:latin typeface="Arial" panose="020B0604020202020204" pitchFamily="34" charset="0"/>
                <a:ea typeface="思源黑体 Heavy" panose="020B0A00000000000000" pitchFamily="34" charset="-122"/>
                <a:cs typeface="Arial" panose="020B0604020202020204" pitchFamily="34" charset="0"/>
              </a:rPr>
              <a:t>28</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年预计到</a:t>
            </a:r>
            <a:r>
              <a:rPr lang="en-US" altLang="zh-CN" sz="1100" dirty="0">
                <a:latin typeface="Arial" panose="020B0604020202020204" pitchFamily="34" charset="0"/>
                <a:ea typeface="思源黑体 Heavy" panose="020B0A00000000000000" pitchFamily="34" charset="-122"/>
                <a:cs typeface="Arial" panose="020B0604020202020204" pitchFamily="34" charset="0"/>
              </a:rPr>
              <a:t>900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万方年进口，预计占中国市场的</a:t>
            </a:r>
            <a:r>
              <a:rPr lang="en-US" altLang="zh-CN" sz="1100" dirty="0">
                <a:latin typeface="Arial" panose="020B0604020202020204" pitchFamily="34" charset="0"/>
                <a:ea typeface="思源黑体 Heavy" panose="020B0A00000000000000" pitchFamily="34" charset="-122"/>
                <a:cs typeface="Arial" panose="020B0604020202020204" pitchFamily="34" charset="0"/>
              </a:rPr>
              <a:t>1/3</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份额。</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spTree>
    <p:extLst>
      <p:ext uri="{BB962C8B-B14F-4D97-AF65-F5344CB8AC3E}">
        <p14:creationId xmlns:p14="http://schemas.microsoft.com/office/powerpoint/2010/main" val="909321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04</a:t>
            </a:r>
            <a:endParaRPr lang="zh-CN" altLang="en-US" sz="3200" dirty="0"/>
          </a:p>
        </p:txBody>
      </p:sp>
      <p:sp>
        <p:nvSpPr>
          <p:cNvPr id="24" name="矩形 23"/>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占位符 5"/>
          <p:cNvSpPr txBox="1"/>
          <p:nvPr/>
        </p:nvSpPr>
        <p:spPr>
          <a:xfrm>
            <a:off x="302186" y="915645"/>
            <a:ext cx="8815139" cy="1921063"/>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1000" lvl="4" indent="-381000" algn="just">
              <a:lnSpc>
                <a:spcPct val="100000"/>
              </a:lnSpc>
              <a:spcBef>
                <a:spcPts val="0"/>
              </a:spcBef>
              <a:spcAft>
                <a:spcPts val="8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海外市场：不同于中国氦气有大量俄罗斯气源进入，全球氦气呈现供需紧平衡状态，</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年初开始提价。</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1</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月开始部分海外公司提出氦气涨价</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10%-20%</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r>
              <a:rPr lang="en-US" altLang="zh-CN" sz="1100" dirty="0">
                <a:latin typeface="Arial" panose="020B0604020202020204" pitchFamily="34" charset="0"/>
                <a:ea typeface="思源黑体 Heavy" panose="020B0A00000000000000" pitchFamily="34" charset="-122"/>
                <a:cs typeface="Arial" panose="020B0604020202020204" pitchFamily="34" charset="0"/>
              </a:rPr>
              <a:t>Air Water</a:t>
            </a:r>
            <a:r>
              <a:rPr lang="zh-CN" altLang="en-US" sz="1100" dirty="0">
                <a:latin typeface="Arial" panose="020B0604020202020204" pitchFamily="34" charset="0"/>
                <a:ea typeface="思源黑体 Heavy" panose="020B0A00000000000000" pitchFamily="34" charset="-122"/>
                <a:cs typeface="Arial" panose="020B0604020202020204" pitchFamily="34" charset="0"/>
              </a:rPr>
              <a:t>、大阳日酸、岩谷产业在</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dirty="0">
                <a:latin typeface="Arial" panose="020B0604020202020204" pitchFamily="34" charset="0"/>
                <a:ea typeface="思源黑体 Heavy" panose="020B0A00000000000000" pitchFamily="34" charset="-122"/>
                <a:cs typeface="Arial" panose="020B0604020202020204" pitchFamily="34" charset="0"/>
              </a:rPr>
              <a:t>12</a:t>
            </a:r>
            <a:r>
              <a:rPr lang="zh-CN" altLang="en-US" sz="1100" dirty="0">
                <a:latin typeface="Arial" panose="020B0604020202020204" pitchFamily="34" charset="0"/>
                <a:ea typeface="思源黑体 Heavy" panose="020B0A00000000000000" pitchFamily="34" charset="-122"/>
                <a:cs typeface="Arial" panose="020B0604020202020204" pitchFamily="34" charset="0"/>
              </a:rPr>
              <a:t>月宣布</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dirty="0">
                <a:latin typeface="Arial" panose="020B0604020202020204" pitchFamily="34" charset="0"/>
                <a:ea typeface="思源黑体 Heavy" panose="020B0A00000000000000" pitchFamily="34" charset="-122"/>
                <a:cs typeface="Arial" panose="020B0604020202020204" pitchFamily="34" charset="0"/>
              </a:rPr>
              <a:t>1-2</a:t>
            </a:r>
            <a:r>
              <a:rPr lang="zh-CN" altLang="en-US" sz="1100" dirty="0">
                <a:latin typeface="Arial" panose="020B0604020202020204" pitchFamily="34" charset="0"/>
                <a:ea typeface="思源黑体 Heavy" panose="020B0A00000000000000" pitchFamily="34" charset="-122"/>
                <a:cs typeface="Arial" panose="020B0604020202020204" pitchFamily="34" charset="0"/>
              </a:rPr>
              <a:t>月开始氦气提价</a:t>
            </a:r>
            <a:r>
              <a:rPr lang="en-US" altLang="zh-CN" sz="1100" dirty="0">
                <a:latin typeface="Arial" panose="020B0604020202020204" pitchFamily="34" charset="0"/>
                <a:ea typeface="思源黑体 Heavy" panose="020B0A00000000000000" pitchFamily="34" charset="-122"/>
                <a:cs typeface="Arial" panose="020B0604020202020204" pitchFamily="34" charset="0"/>
              </a:rPr>
              <a:t>10%-20%</a:t>
            </a:r>
            <a:r>
              <a:rPr lang="zh-CN" altLang="en-US" sz="1100" dirty="0">
                <a:latin typeface="Arial" panose="020B0604020202020204" pitchFamily="34" charset="0"/>
                <a:ea typeface="思源黑体 Heavy" panose="020B0A00000000000000" pitchFamily="34" charset="-122"/>
                <a:cs typeface="Arial" panose="020B0604020202020204" pitchFamily="34" charset="0"/>
              </a:rPr>
              <a:t>，部分提价</a:t>
            </a:r>
            <a:r>
              <a:rPr lang="en-US" altLang="zh-CN" sz="1100" dirty="0">
                <a:latin typeface="Arial" panose="020B0604020202020204" pitchFamily="34" charset="0"/>
                <a:ea typeface="思源黑体 Heavy" panose="020B0A00000000000000" pitchFamily="34" charset="-122"/>
                <a:cs typeface="Arial" panose="020B0604020202020204" pitchFamily="34" charset="0"/>
              </a:rPr>
              <a:t>20%+</a:t>
            </a:r>
            <a:r>
              <a:rPr lang="zh-CN" altLang="en-US" sz="1100" dirty="0">
                <a:latin typeface="Arial" panose="020B0604020202020204" pitchFamily="34" charset="0"/>
                <a:ea typeface="思源黑体 Heavy" panose="020B0A00000000000000" pitchFamily="34" charset="-122"/>
                <a:cs typeface="Arial" panose="020B0604020202020204" pitchFamily="34" charset="0"/>
              </a:rPr>
              <a:t>，由于全球供需紧张以及能源成本大幅上升，为了稳定氦气供应，多元化采购来源（北美和中东）并扩大设施。</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中国市场：俄奥伦堡氦气工厂被袭带来对中国供应量减少，叠加</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年是半导体厂商爬坡较多年份，</a:t>
            </a:r>
            <a:r>
              <a:rPr lang="zh-CN" altLang="en-US" sz="1100" b="1" dirty="0">
                <a:solidFill>
                  <a:srgbClr val="C00000"/>
                </a:solidFill>
                <a:latin typeface="Arial" panose="020B0604020202020204" pitchFamily="34" charset="0"/>
                <a:ea typeface="思源黑体 Heavy" panose="020B0A00000000000000" pitchFamily="34" charset="-122"/>
                <a:cs typeface="Arial" panose="020B0604020202020204" pitchFamily="34" charset="0"/>
              </a:rPr>
              <a:t>电子大宗用氦开始率先涨价</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俄氦气厂被袭间接减少中国供应量。</a:t>
            </a:r>
            <a:r>
              <a:rPr lang="zh-CN" altLang="en-US" sz="1100" dirty="0">
                <a:latin typeface="Arial" panose="020B0604020202020204" pitchFamily="34" charset="0"/>
                <a:ea typeface="思源黑体 Heavy" panose="020B0A00000000000000" pitchFamily="34" charset="-122"/>
                <a:cs typeface="Arial" panose="020B0604020202020204" pitchFamily="34" charset="0"/>
              </a:rPr>
              <a:t>奥伦堡氦气工厂大约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500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万立方米，虽主要为本土自用，但这部分需靠俄罗斯其他气田弥补，预计影响中国供给约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15%</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。从结果表现上看，中国俄罗斯进口量占比从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dirty="0">
                <a:latin typeface="Arial" panose="020B0604020202020204" pitchFamily="34" charset="0"/>
                <a:ea typeface="思源黑体 Heavy" panose="020B0A00000000000000" pitchFamily="34" charset="-122"/>
                <a:cs typeface="Arial" panose="020B0604020202020204" pitchFamily="34" charset="0"/>
              </a:rPr>
              <a:t>7</a:t>
            </a:r>
            <a:r>
              <a:rPr lang="zh-CN" altLang="en-US" sz="1100" dirty="0">
                <a:latin typeface="Arial" panose="020B0604020202020204" pitchFamily="34" charset="0"/>
                <a:ea typeface="思源黑体 Heavy" panose="020B0A00000000000000" pitchFamily="34" charset="-122"/>
                <a:cs typeface="Arial" panose="020B0604020202020204" pitchFamily="34" charset="0"/>
              </a:rPr>
              <a:t>月的</a:t>
            </a:r>
            <a:r>
              <a:rPr lang="en-US" altLang="zh-CN" sz="1100" dirty="0">
                <a:latin typeface="Arial" panose="020B0604020202020204" pitchFamily="34" charset="0"/>
                <a:ea typeface="思源黑体 Heavy" panose="020B0A00000000000000" pitchFamily="34" charset="-122"/>
                <a:cs typeface="Arial" panose="020B0604020202020204" pitchFamily="34" charset="0"/>
              </a:rPr>
              <a:t>42%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减少到</a:t>
            </a:r>
            <a:r>
              <a:rPr lang="en-US" altLang="zh-CN" sz="1100" dirty="0">
                <a:latin typeface="Arial" panose="020B0604020202020204" pitchFamily="34" charset="0"/>
                <a:ea typeface="思源黑体 Heavy" panose="020B0A00000000000000" pitchFamily="34" charset="-122"/>
                <a:cs typeface="Arial" panose="020B0604020202020204" pitchFamily="34" charset="0"/>
              </a:rPr>
              <a:t>8</a:t>
            </a:r>
            <a:r>
              <a:rPr lang="zh-CN" altLang="en-US" sz="1100" dirty="0">
                <a:latin typeface="Arial" panose="020B0604020202020204" pitchFamily="34" charset="0"/>
                <a:ea typeface="思源黑体 Heavy" panose="020B0A00000000000000" pitchFamily="34" charset="-122"/>
                <a:cs typeface="Arial" panose="020B0604020202020204" pitchFamily="34" charset="0"/>
              </a:rPr>
              <a:t>月的</a:t>
            </a:r>
            <a:r>
              <a:rPr lang="en-US" altLang="zh-CN" sz="1100" dirty="0">
                <a:latin typeface="Arial" panose="020B0604020202020204" pitchFamily="34" charset="0"/>
                <a:ea typeface="思源黑体 Heavy" panose="020B0A00000000000000" pitchFamily="34" charset="-122"/>
                <a:cs typeface="Arial" panose="020B0604020202020204" pitchFamily="34" charset="0"/>
              </a:rPr>
              <a:t>37%</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381000" lvl="4" indent="-381000" algn="just">
              <a:lnSpc>
                <a:spcPct val="100000"/>
              </a:lnSpc>
              <a:spcBef>
                <a:spcPts val="0"/>
              </a:spcBef>
              <a:spcAft>
                <a:spcPts val="800"/>
              </a:spcAft>
              <a:buFont typeface="Wingdings" panose="05000000000000000000" pitchFamily="2" charset="2"/>
              <a:buChar char="ü"/>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电子级氦率先涨价。</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以广钢为例，由于其进口氦主要来着品质较好的卡塔尔与美国气源，从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3</a:t>
            </a:r>
            <a:r>
              <a:rPr lang="zh-CN" altLang="en-US" sz="1100" dirty="0">
                <a:latin typeface="Arial" panose="020B0604020202020204" pitchFamily="34" charset="0"/>
                <a:ea typeface="思源黑体 Heavy" panose="020B0A00000000000000" pitchFamily="34" charset="-122"/>
                <a:cs typeface="Arial" panose="020B0604020202020204" pitchFamily="34" charset="0"/>
              </a:rPr>
              <a:t>月开始对下游电子大宗气体用户进行涨价，平均年化涨价</a:t>
            </a:r>
            <a:r>
              <a:rPr lang="en-US" altLang="zh-CN" sz="1100" dirty="0">
                <a:latin typeface="Arial" panose="020B0604020202020204" pitchFamily="34" charset="0"/>
                <a:ea typeface="思源黑体 Heavy" panose="020B0A00000000000000" pitchFamily="34" charset="-122"/>
                <a:cs typeface="Arial" panose="020B0604020202020204" pitchFamily="34" charset="0"/>
              </a:rPr>
              <a:t>5%~10%</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p>
        </p:txBody>
      </p:sp>
      <p:sp>
        <p:nvSpPr>
          <p:cNvPr id="5" name="文本框 1"/>
          <p:cNvSpPr txBox="1"/>
          <p:nvPr>
            <p:custDataLst>
              <p:tags r:id="rId1"/>
            </p:custDataLst>
          </p:nvPr>
        </p:nvSpPr>
        <p:spPr>
          <a:xfrm>
            <a:off x="-326200" y="2809367"/>
            <a:ext cx="50490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图：中国氦气价格走势：</a:t>
            </a:r>
            <a:r>
              <a:rPr lang="en-US" altLang="zh-CN" dirty="0"/>
              <a:t>23</a:t>
            </a:r>
            <a:r>
              <a:rPr lang="zh-CN" altLang="en-US" dirty="0"/>
              <a:t>年以后开始迅速走低</a:t>
            </a:r>
          </a:p>
        </p:txBody>
      </p:sp>
      <p:graphicFrame>
        <p:nvGraphicFramePr>
          <p:cNvPr id="6" name="图表 5" descr="0623f894abe4a3bd47d067ff92fadf16;&#10;081bd4f23465a48d4f70aa2adfb86660"/>
          <p:cNvGraphicFramePr/>
          <p:nvPr>
            <p:extLst>
              <p:ext uri="{D42A27DB-BD31-4B8C-83A1-F6EECF244321}">
                <p14:modId xmlns:p14="http://schemas.microsoft.com/office/powerpoint/2010/main" val="3275723890"/>
              </p:ext>
            </p:extLst>
          </p:nvPr>
        </p:nvGraphicFramePr>
        <p:xfrm>
          <a:off x="294437" y="3021915"/>
          <a:ext cx="3707313" cy="1710075"/>
        </p:xfrm>
        <a:graphic>
          <a:graphicData uri="http://schemas.openxmlformats.org/drawingml/2006/chart">
            <c:chart xmlns:c="http://schemas.openxmlformats.org/drawingml/2006/chart" xmlns:r="http://schemas.openxmlformats.org/officeDocument/2006/relationships" r:id="rId7"/>
          </a:graphicData>
        </a:graphic>
      </p:graphicFrame>
      <p:sp>
        <p:nvSpPr>
          <p:cNvPr id="7" name="矩形 6"/>
          <p:cNvSpPr/>
          <p:nvPr/>
        </p:nvSpPr>
        <p:spPr>
          <a:xfrm>
            <a:off x="2827842" y="3256052"/>
            <a:ext cx="1028541" cy="869301"/>
          </a:xfrm>
          <a:prstGeom prst="rect">
            <a:avLst/>
          </a:prstGeom>
          <a:noFill/>
          <a:ln w="12700" cap="flat">
            <a:solidFill>
              <a:srgbClr val="C00000"/>
            </a:solidFill>
            <a:prstDash val="dash"/>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j-lt"/>
              <a:ea typeface="+mj-ea"/>
              <a:cs typeface="+mj-cs"/>
              <a:sym typeface="等线" panose="02010600030101010101" charset="-122"/>
            </a:endParaRPr>
          </a:p>
        </p:txBody>
      </p:sp>
      <p:sp>
        <p:nvSpPr>
          <p:cNvPr id="8" name="文本框 14"/>
          <p:cNvSpPr txBox="1"/>
          <p:nvPr/>
        </p:nvSpPr>
        <p:spPr>
          <a:xfrm>
            <a:off x="2827842" y="3256052"/>
            <a:ext cx="1028542" cy="64632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just" defTabSz="914400" rtl="0" fontAlgn="auto" latinLnBrk="0" hangingPunct="0">
              <a:lnSpc>
                <a:spcPct val="100000"/>
              </a:lnSpc>
              <a:spcBef>
                <a:spcPts val="0"/>
              </a:spcBef>
              <a:spcAft>
                <a:spcPts val="0"/>
              </a:spcAft>
              <a:buClrTx/>
              <a:buSzTx/>
              <a:buFontTx/>
              <a:buNone/>
            </a:pPr>
            <a:r>
              <a:rPr kumimoji="0" lang="zh-CN" altLang="en-US" sz="900" b="0" i="0" u="none" strike="noStrike" cap="none" spc="0" normalizeH="0" baseline="0" dirty="0">
                <a:ln>
                  <a:noFill/>
                </a:ln>
                <a:solidFill>
                  <a:srgbClr val="C00000"/>
                </a:solidFill>
                <a:effectLst/>
                <a:uFillTx/>
                <a:latin typeface="思源黑体 Heavy" panose="020B0A00000000000000" pitchFamily="34" charset="-122"/>
                <a:ea typeface="思源黑体 Heavy" panose="020B0A00000000000000" pitchFamily="34" charset="-122"/>
                <a:sym typeface="等线" panose="02010600030101010101" charset="-122"/>
              </a:rPr>
              <a:t>俄罗斯产量大幅释放，且制裁原因多数进入中国市场，导致价格崩塌</a:t>
            </a:r>
          </a:p>
        </p:txBody>
      </p:sp>
      <p:sp>
        <p:nvSpPr>
          <p:cNvPr id="10" name="文本框 20"/>
          <p:cNvSpPr txBox="1"/>
          <p:nvPr>
            <p:custDataLst>
              <p:tags r:id="rId2"/>
            </p:custDataLst>
          </p:nvPr>
        </p:nvSpPr>
        <p:spPr>
          <a:xfrm>
            <a:off x="4141096" y="2814728"/>
            <a:ext cx="50490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lang="zh-CN" sz="1800" b="0" i="0" u="none" strike="noStrike" cap="none" spc="0" normalizeH="0" baseline="0">
                <a:ln>
                  <a:noFill/>
                </a:ln>
                <a:solidFill>
                  <a:schemeClr val="lt1"/>
                </a:solidFill>
                <a:effectLst/>
                <a:uFillTx/>
              </a:defRPr>
            </a:defPPr>
            <a:lvl1pPr marR="0" indent="0" algn="ctr" defTabSz="914400" fontAlgn="auto" hangingPunct="0">
              <a:lnSpc>
                <a:spcPct val="100000"/>
              </a:lnSpc>
              <a:spcBef>
                <a:spcPts val="0"/>
              </a:spcBef>
              <a:spcAft>
                <a:spcPts val="0"/>
              </a:spcAft>
              <a:buClrTx/>
              <a:buSzTx/>
              <a:buFontTx/>
              <a:buNone/>
              <a:defRPr kumimoji="0" sz="1000" b="1" i="0" u="none" strike="noStrike" cap="none" spc="0" normalizeH="0" baseline="0">
                <a:ln>
                  <a:noFill/>
                </a:ln>
                <a:solidFill>
                  <a:schemeClr val="tx1"/>
                </a:solidFill>
                <a:effectLst/>
                <a:uFillTx/>
                <a:latin typeface="微软雅黑 Light" panose="020B0502040204020203" pitchFamily="34" charset="-122"/>
                <a:ea typeface="微软雅黑 Light" panose="020B0502040204020203" pitchFamily="34" charset="-122"/>
                <a:cs typeface="+mj-cs"/>
              </a:defRPr>
            </a:lvl1pPr>
            <a:lvl2pPr marL="0" marR="0" indent="457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2pPr>
            <a:lvl3pPr marL="0" marR="0" indent="914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3pPr>
            <a:lvl4pPr marL="0" marR="0" indent="1371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4pPr>
            <a:lvl5pPr marL="0" marR="0" indent="18288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5pPr>
            <a:lvl6pPr marL="0" marR="0" indent="22860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6pPr>
            <a:lvl7pPr marL="0" marR="0" indent="27432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7pPr>
            <a:lvl8pPr marL="0" marR="0" indent="32004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8pPr>
            <a:lvl9pPr marL="0" marR="0" indent="3657600" defTabSz="914400" fontAlgn="auto" hangingPunct="0">
              <a:lnSpc>
                <a:spcPct val="100000"/>
              </a:lnSpc>
              <a:spcBef>
                <a:spcPts val="0"/>
              </a:spcBef>
              <a:spcAft>
                <a:spcPts val="0"/>
              </a:spcAft>
              <a:buClrTx/>
              <a:buSzTx/>
              <a:buFontTx/>
              <a:buNone/>
              <a:defRPr kumimoji="0" sz="1800" b="0" i="0" u="none" strike="noStrike" cap="none" spc="0" normalizeH="0" baseline="0">
                <a:ln>
                  <a:noFill/>
                </a:ln>
                <a:solidFill>
                  <a:schemeClr val="tx1"/>
                </a:solidFill>
                <a:effectLst/>
                <a:uFillTx/>
                <a:latin typeface="+mj-lt"/>
                <a:ea typeface="+mj-ea"/>
                <a:cs typeface="+mj-cs"/>
              </a:defRPr>
            </a:lvl9pPr>
          </a:lstStyle>
          <a:p>
            <a:r>
              <a:rPr lang="zh-CN" altLang="en-US" dirty="0"/>
              <a:t>图：</a:t>
            </a:r>
            <a:r>
              <a:rPr lang="en-US" altLang="zh-CN" dirty="0"/>
              <a:t>8</a:t>
            </a:r>
            <a:r>
              <a:rPr lang="zh-CN" altLang="en-US" dirty="0"/>
              <a:t>月中国俄罗斯氦气进口量占比相比</a:t>
            </a:r>
            <a:r>
              <a:rPr lang="en-US" altLang="zh-CN" dirty="0"/>
              <a:t>7</a:t>
            </a:r>
            <a:r>
              <a:rPr lang="zh-CN" altLang="en-US" dirty="0"/>
              <a:t>月缩减</a:t>
            </a:r>
            <a:r>
              <a:rPr lang="en-US" altLang="zh-CN" dirty="0"/>
              <a:t>4-5pp</a:t>
            </a:r>
            <a:endParaRPr lang="zh-CN" altLang="en-US" dirty="0"/>
          </a:p>
        </p:txBody>
      </p:sp>
      <p:grpSp>
        <p:nvGrpSpPr>
          <p:cNvPr id="11" name="组合 10"/>
          <p:cNvGrpSpPr/>
          <p:nvPr>
            <p:custDataLst>
              <p:tags r:id="rId3"/>
            </p:custDataLst>
          </p:nvPr>
        </p:nvGrpSpPr>
        <p:grpSpPr>
          <a:xfrm>
            <a:off x="4416289" y="3231085"/>
            <a:ext cx="4549050" cy="1521940"/>
            <a:chOff x="5589788" y="4246798"/>
            <a:chExt cx="6351480" cy="2472397"/>
          </a:xfrm>
        </p:grpSpPr>
        <p:graphicFrame>
          <p:nvGraphicFramePr>
            <p:cNvPr id="12" name="图表 11"/>
            <p:cNvGraphicFramePr/>
            <p:nvPr/>
          </p:nvGraphicFramePr>
          <p:xfrm>
            <a:off x="8446060" y="4385297"/>
            <a:ext cx="3495208" cy="233389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3" name="图表 12"/>
            <p:cNvGraphicFramePr/>
            <p:nvPr>
              <p:extLst>
                <p:ext uri="{D42A27DB-BD31-4B8C-83A1-F6EECF244321}">
                  <p14:modId xmlns:p14="http://schemas.microsoft.com/office/powerpoint/2010/main" val="1423307875"/>
                </p:ext>
              </p:extLst>
            </p:nvPr>
          </p:nvGraphicFramePr>
          <p:xfrm>
            <a:off x="5589788" y="4376588"/>
            <a:ext cx="3292956" cy="2333898"/>
          </p:xfrm>
          <a:graphic>
            <a:graphicData uri="http://schemas.openxmlformats.org/drawingml/2006/chart">
              <c:chart xmlns:c="http://schemas.openxmlformats.org/drawingml/2006/chart" xmlns:r="http://schemas.openxmlformats.org/officeDocument/2006/relationships" r:id="rId9"/>
            </a:graphicData>
          </a:graphic>
        </p:graphicFrame>
        <p:sp>
          <p:nvSpPr>
            <p:cNvPr id="14" name="文本框 17"/>
            <p:cNvSpPr txBox="1"/>
            <p:nvPr>
              <p:custDataLst>
                <p:tags r:id="rId4"/>
              </p:custDataLst>
            </p:nvPr>
          </p:nvSpPr>
          <p:spPr>
            <a:xfrm>
              <a:off x="7210104" y="4246798"/>
              <a:ext cx="323163" cy="27699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mn-ea"/>
                  <a:cs typeface="Arial" panose="020B0604020202020204" pitchFamily="34" charset="0"/>
                  <a:sym typeface="等线" panose="02010600030101010101" charset="-122"/>
                </a:rPr>
                <a:t>7</a:t>
              </a:r>
              <a:r>
                <a:rPr kumimoji="0" lang="zh-CN" altLang="en-US" sz="1200" b="1" i="0" u="none" strike="noStrike" cap="none" spc="0" normalizeH="0" baseline="0" dirty="0">
                  <a:ln>
                    <a:noFill/>
                  </a:ln>
                  <a:solidFill>
                    <a:srgbClr val="000000"/>
                  </a:solidFill>
                  <a:effectLst/>
                  <a:uFillTx/>
                  <a:latin typeface="Arial" panose="020B0604020202020204" pitchFamily="34" charset="0"/>
                  <a:ea typeface="+mn-ea"/>
                  <a:cs typeface="Arial" panose="020B0604020202020204" pitchFamily="34" charset="0"/>
                  <a:sym typeface="等线" panose="02010600030101010101" charset="-122"/>
                </a:rPr>
                <a:t>月</a:t>
              </a:r>
            </a:p>
          </p:txBody>
        </p:sp>
        <p:sp>
          <p:nvSpPr>
            <p:cNvPr id="15" name="文本框 18"/>
            <p:cNvSpPr txBox="1"/>
            <p:nvPr>
              <p:custDataLst>
                <p:tags r:id="rId5"/>
              </p:custDataLst>
            </p:nvPr>
          </p:nvSpPr>
          <p:spPr>
            <a:xfrm>
              <a:off x="10031674" y="4252042"/>
              <a:ext cx="323163" cy="27699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horz" wrap="none" lIns="45719" tIns="45719" rIns="45719" bIns="45719"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r>
                <a:rPr kumimoji="0" lang="en-US" altLang="zh-CN" sz="1200" b="1" i="0" u="none" strike="noStrike" cap="none" spc="0" normalizeH="0" baseline="0" dirty="0">
                  <a:ln>
                    <a:noFill/>
                  </a:ln>
                  <a:solidFill>
                    <a:srgbClr val="000000"/>
                  </a:solidFill>
                  <a:effectLst/>
                  <a:uFillTx/>
                  <a:latin typeface="Arial" panose="020B0604020202020204" pitchFamily="34" charset="0"/>
                  <a:ea typeface="+mn-ea"/>
                  <a:cs typeface="Arial" panose="020B0604020202020204" pitchFamily="34" charset="0"/>
                  <a:sym typeface="等线" panose="02010600030101010101" charset="-122"/>
                </a:rPr>
                <a:t>8</a:t>
              </a:r>
              <a:r>
                <a:rPr kumimoji="0" lang="zh-CN" altLang="en-US" sz="1200" b="1" i="0" u="none" strike="noStrike" cap="none" spc="0" normalizeH="0" baseline="0" dirty="0">
                  <a:ln>
                    <a:noFill/>
                  </a:ln>
                  <a:solidFill>
                    <a:srgbClr val="000000"/>
                  </a:solidFill>
                  <a:effectLst/>
                  <a:uFillTx/>
                  <a:latin typeface="Arial" panose="020B0604020202020204" pitchFamily="34" charset="0"/>
                  <a:ea typeface="+mn-ea"/>
                  <a:cs typeface="Arial" panose="020B0604020202020204" pitchFamily="34" charset="0"/>
                  <a:sym typeface="等线" panose="02010600030101010101" charset="-122"/>
                </a:rPr>
                <a:t>月</a:t>
              </a:r>
            </a:p>
          </p:txBody>
        </p:sp>
        <p:sp>
          <p:nvSpPr>
            <p:cNvPr id="16" name="箭头: 右 15"/>
            <p:cNvSpPr/>
            <p:nvPr/>
          </p:nvSpPr>
          <p:spPr>
            <a:xfrm>
              <a:off x="8577943" y="5101687"/>
              <a:ext cx="304800" cy="281846"/>
            </a:xfrm>
            <a:prstGeom prst="rightArrow">
              <a:avLst/>
            </a:prstGeom>
            <a:solidFill>
              <a:srgbClr val="9DB2D5"/>
            </a:solidFill>
            <a:ln w="12700" cap="flat">
              <a:noFill/>
              <a:prstDash val="solid"/>
              <a:miter lim="800000"/>
            </a:ln>
          </p:spPr>
          <p:style>
            <a:lnRef idx="0">
              <a:srgbClr val="FFFFFF"/>
            </a:lnRef>
            <a:fillRef idx="0">
              <a:srgbClr val="FFFFFF"/>
            </a:fillRef>
            <a:effectRef idx="0">
              <a:srgbClr val="FFFFFF"/>
            </a:effectRef>
            <a:fontRef idx="none"/>
          </p:style>
          <p:txBody>
            <a:bodyPr rot="0" spcFirstLastPara="1" vert="horz" wrap="square" lIns="45719" tIns="45719" rIns="45719" bIns="45719"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等线" panose="02010600030101010101" charset="-122"/>
                </a:defRPr>
              </a:lvl9p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Arial" panose="020B0604020202020204" pitchFamily="34" charset="0"/>
                <a:ea typeface="+mj-ea"/>
                <a:cs typeface="Arial" panose="020B0604020202020204" pitchFamily="34" charset="0"/>
                <a:sym typeface="等线" panose="02010600030101010101" charset="-122"/>
              </a:endParaRPr>
            </a:p>
          </p:txBody>
        </p:sp>
      </p:grpSp>
      <p:sp>
        <p:nvSpPr>
          <p:cNvPr id="17" name="文本占位符 15"/>
          <p:cNvSpPr txBox="1"/>
          <p:nvPr/>
        </p:nvSpPr>
        <p:spPr>
          <a:xfrm>
            <a:off x="1370617" y="4627833"/>
            <a:ext cx="2485766" cy="1371600"/>
          </a:xfrm>
          <a:noFill/>
          <a:ln w="12700" cap="flat">
            <a:noFill/>
            <a:miter lim="400000"/>
          </a:ln>
          <a:effectLst/>
        </p:spPr>
        <p:style>
          <a:lnRef idx="0">
            <a:srgbClr val="FFFFFF"/>
          </a:lnRef>
          <a:fillRef idx="0">
            <a:srgbClr val="FFFFFF"/>
          </a:fillRef>
          <a:effectRef idx="0">
            <a:srgbClr val="FFFFFF"/>
          </a:effectRef>
          <a:fontRef idx="none"/>
        </p:style>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a:defRPr sz="1200" i="1">
                <a:solidFill>
                  <a:schemeClr val="tx1">
                    <a:lumMod val="65000"/>
                    <a:lumOff val="35000"/>
                  </a:schemeClr>
                </a:solidFill>
                <a:latin typeface="微软雅黑" panose="020B0503020204020204" charset="-122"/>
                <a:ea typeface="微软雅黑" panose="020B0503020204020204"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j-lt"/>
                <a:ea typeface="+mj-ea"/>
                <a:cs typeface="+mj-cs"/>
                <a:sym typeface="等线" panose="02010600030101010101" charset="-122"/>
              </a:defRPr>
            </a:lvl9pPr>
          </a:lstStyle>
          <a:p>
            <a:r>
              <a:rPr lang="zh-CN" altLang="en-US" sz="900" dirty="0"/>
              <a:t>资料来源：卓创数据</a:t>
            </a:r>
          </a:p>
        </p:txBody>
      </p:sp>
      <p:sp>
        <p:nvSpPr>
          <p:cNvPr id="3" name="文本框 2">
            <a:extLst>
              <a:ext uri="{FF2B5EF4-FFF2-40B4-BE49-F238E27FC236}">
                <a16:creationId xmlns:a16="http://schemas.microsoft.com/office/drawing/2014/main" xmlns="" id="{C989CC93-077B-04BA-DAB4-76F11D56FDEA}"/>
              </a:ext>
            </a:extLst>
          </p:cNvPr>
          <p:cNvSpPr txBox="1"/>
          <p:nvPr/>
        </p:nvSpPr>
        <p:spPr>
          <a:xfrm>
            <a:off x="806553" y="440039"/>
            <a:ext cx="6390393"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R="0" indent="0" defTabSz="914400">
              <a:lnSpc>
                <a:spcPct val="90000"/>
              </a:lnSpc>
              <a:spcBef>
                <a:spcPts val="0"/>
              </a:spcBef>
              <a:spcAft>
                <a:spcPts val="0"/>
              </a:spcAft>
              <a:buClrTx/>
              <a:buSzTx/>
              <a:buFontTx/>
              <a:buNone/>
              <a:defRPr sz="2000" b="1" i="0" u="none" strike="noStrike" cap="none" spc="0" baseline="0">
                <a:ln>
                  <a:noFill/>
                </a:ln>
                <a:solidFill>
                  <a:srgbClr val="0677D5"/>
                </a:solidFill>
                <a:uFillTx/>
                <a:latin typeface="+mj-ea"/>
                <a:ea typeface="思源黑体 CN Regular" panose="020B0500000000000000" charset="-122"/>
                <a:cs typeface="Arial" panose="020B0604020202020204" pitchFamily="34" charset="0"/>
              </a:defRPr>
            </a:lvl1pPr>
            <a:lvl2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2pPr>
            <a:lvl3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3pPr>
            <a:lvl4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4pPr>
            <a:lvl5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5pPr>
            <a:lvl6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6pPr>
            <a:lvl7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7pPr>
            <a:lvl8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8pPr>
            <a:lvl9pPr marL="0" marR="0" indent="0" defTabSz="91440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defRPr>
            </a:lvl9pPr>
          </a:lstStyle>
          <a:p>
            <a:r>
              <a:rPr lang="zh-CN" altLang="en-US" dirty="0"/>
              <a:t>氦气价格：稳健氦源稀缺，电子用氦开启涨价</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79630" y="1222042"/>
            <a:ext cx="7992888" cy="1761478"/>
            <a:chOff x="1763688" y="1403470"/>
            <a:chExt cx="7992888" cy="1761478"/>
          </a:xfrm>
        </p:grpSpPr>
        <p:sp>
          <p:nvSpPr>
            <p:cNvPr id="4" name="文本框 1"/>
            <p:cNvSpPr txBox="1"/>
            <p:nvPr/>
          </p:nvSpPr>
          <p:spPr>
            <a:xfrm>
              <a:off x="1763688" y="1403470"/>
              <a:ext cx="1326004" cy="1323439"/>
            </a:xfrm>
            <a:prstGeom prst="rect">
              <a:avLst/>
            </a:prstGeom>
            <a:noFill/>
            <a:ln w="9525">
              <a:noFill/>
              <a:miter/>
            </a:ln>
          </p:spPr>
          <p:txBody>
            <a:bodyPr wrap="none" anchor="t">
              <a:spAutoFit/>
            </a:bodyPr>
            <a:lstStyle/>
            <a:p>
              <a:pPr lvl="0"/>
              <a:r>
                <a:rPr lang="en-US" altLang="zh-CN" sz="8000" b="1" dirty="0">
                  <a:solidFill>
                    <a:schemeClr val="bg1"/>
                  </a:solidFill>
                  <a:latin typeface="Arial" panose="020B0604020202020204" pitchFamily="34" charset="0"/>
                  <a:ea typeface="思源黑体 CN Regular" panose="020B0500000000000000" charset="-122"/>
                  <a:cs typeface="Arial" panose="020B0604020202020204" pitchFamily="34" charset="0"/>
                </a:rPr>
                <a:t>05</a:t>
              </a:r>
            </a:p>
          </p:txBody>
        </p:sp>
        <p:sp>
          <p:nvSpPr>
            <p:cNvPr id="5" name="文本框 2"/>
            <p:cNvSpPr txBox="1"/>
            <p:nvPr/>
          </p:nvSpPr>
          <p:spPr>
            <a:xfrm>
              <a:off x="2987824" y="2355726"/>
              <a:ext cx="6768752" cy="645160"/>
            </a:xfrm>
            <a:prstGeom prst="rect">
              <a:avLst/>
            </a:prstGeom>
            <a:noFill/>
            <a:ln w="9525">
              <a:noFill/>
              <a:miter/>
            </a:ln>
          </p:spPr>
          <p:txBody>
            <a:bodyPr wrap="square" anchor="t">
              <a:spAutoFit/>
            </a:bodyPr>
            <a:lstStyle/>
            <a:p>
              <a:pPr lvl="0"/>
              <a:r>
                <a:rPr lang="zh-CN" altLang="en-US" sz="3600" b="1" dirty="0">
                  <a:solidFill>
                    <a:schemeClr val="bg1"/>
                  </a:solidFill>
                  <a:latin typeface="思源黑体 CN Regular" panose="020B0500000000000000" charset="-122"/>
                  <a:ea typeface="思源黑体 CN Regular" panose="020B0500000000000000" charset="-122"/>
                </a:rPr>
                <a:t>盈利预测与估值讨论</a:t>
              </a:r>
            </a:p>
          </p:txBody>
        </p:sp>
        <p:cxnSp>
          <p:nvCxnSpPr>
            <p:cNvPr id="7" name="直线连接符 3"/>
            <p:cNvCxnSpPr/>
            <p:nvPr/>
          </p:nvCxnSpPr>
          <p:spPr>
            <a:xfrm flipV="1">
              <a:off x="2280539" y="1774653"/>
              <a:ext cx="1283349" cy="1390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783952" y="426814"/>
            <a:ext cx="9418549"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盈利预测</a:t>
            </a:r>
          </a:p>
        </p:txBody>
      </p:sp>
      <p:sp>
        <p:nvSpPr>
          <p:cNvPr id="3" name="文本占位符 5"/>
          <p:cNvSpPr txBox="1"/>
          <p:nvPr/>
        </p:nvSpPr>
        <p:spPr>
          <a:xfrm>
            <a:off x="156483" y="905788"/>
            <a:ext cx="3543638" cy="3717881"/>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en-US" altLang="zh-CN" sz="1100" b="1" dirty="0">
                <a:latin typeface="Arial" panose="020B0604020202020204" pitchFamily="34" charset="0"/>
                <a:ea typeface="思源黑体 Heavy" panose="020B0A00000000000000" pitchFamily="34" charset="-122"/>
                <a:cs typeface="Arial" panose="020B0604020202020204" pitchFamily="34" charset="0"/>
              </a:rPr>
              <a:t>25/26/27</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年归母净利润预计为</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3/4.7/6.1</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亿元，同比</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+24.7%/+52.1%/+28.7%</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电子大宗气体：主要业绩驱动力，毛利率</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年触底，</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年预计回升。</a:t>
            </a:r>
            <a:endParaRPr lang="en-US" altLang="zh-CN" sz="1100" b="1"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现场制气：</a:t>
            </a:r>
            <a:r>
              <a:rPr lang="en-US" altLang="zh-CN" sz="1100" dirty="0">
                <a:latin typeface="Arial" panose="020B0604020202020204" pitchFamily="34" charset="0"/>
                <a:ea typeface="思源黑体 Heavy" panose="020B0A00000000000000" pitchFamily="34" charset="-122"/>
                <a:cs typeface="Arial" panose="020B0604020202020204" pitchFamily="34" charset="0"/>
              </a:rPr>
              <a:t>1</a:t>
            </a:r>
            <a:r>
              <a:rPr lang="zh-CN" altLang="en-US" sz="1100" dirty="0">
                <a:latin typeface="Arial" panose="020B0604020202020204" pitchFamily="34" charset="0"/>
                <a:ea typeface="思源黑体 Heavy" panose="020B0A00000000000000" pitchFamily="34" charset="-122"/>
                <a:cs typeface="Arial" panose="020B0604020202020204" pitchFamily="34" charset="0"/>
              </a:rPr>
              <a:t>）营收：公司在手项目达</a:t>
            </a:r>
            <a:r>
              <a:rPr lang="en-US" altLang="zh-CN" sz="1100" dirty="0">
                <a:latin typeface="Arial" panose="020B0604020202020204" pitchFamily="34" charset="0"/>
                <a:ea typeface="思源黑体 Heavy" panose="020B0A00000000000000" pitchFamily="34" charset="-122"/>
                <a:cs typeface="Arial" panose="020B0604020202020204" pitchFamily="34" charset="0"/>
              </a:rPr>
              <a:t>~80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万方，随着新项目投产以及</a:t>
            </a:r>
            <a:r>
              <a:rPr lang="en-US" altLang="zh-CN" sz="1100" dirty="0">
                <a:latin typeface="Arial" panose="020B0604020202020204" pitchFamily="34" charset="0"/>
                <a:ea typeface="思源黑体 Heavy" panose="020B0A00000000000000" pitchFamily="34" charset="-122"/>
                <a:cs typeface="Arial" panose="020B0604020202020204" pitchFamily="34" charset="0"/>
              </a:rPr>
              <a:t>23-24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年新建项目爬坡，营收有望实现快速增长；</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）毛利率：由于</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24H1</a:t>
            </a:r>
            <a:r>
              <a:rPr lang="zh-CN" altLang="en-US" sz="1100" dirty="0">
                <a:latin typeface="Arial" panose="020B0604020202020204" pitchFamily="34" charset="0"/>
                <a:ea typeface="思源黑体 Heavy" panose="020B0A00000000000000" pitchFamily="34" charset="-122"/>
                <a:cs typeface="Arial" panose="020B0604020202020204" pitchFamily="34" charset="0"/>
              </a:rPr>
              <a:t>项目投产较多，且</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24Q3</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为后续大型项目储备人员，导致较多成本与费用前置，</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年毛利率下行，随着项目爬坡带来经营杠杆释放，</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25-26</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年毛利率有望回升；</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零售供气：</a:t>
            </a:r>
            <a:r>
              <a:rPr lang="zh-CN" altLang="en-US" sz="1100" dirty="0">
                <a:latin typeface="Arial" panose="020B0604020202020204" pitchFamily="34" charset="0"/>
                <a:ea typeface="思源黑体 Heavy" panose="020B0A00000000000000" pitchFamily="34" charset="-122"/>
                <a:cs typeface="Arial" panose="020B0604020202020204" pitchFamily="34" charset="0"/>
              </a:rPr>
              <a:t>价格趋稳，量维持约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15%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增长，毛利率因氦气价格略涨从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26</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年有所修复。</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l"/>
            </a:pPr>
            <a:r>
              <a:rPr lang="zh-CN" altLang="en-US" sz="1100" dirty="0">
                <a:latin typeface="Arial" panose="020B0604020202020204" pitchFamily="34" charset="0"/>
                <a:ea typeface="思源黑体 Heavy" panose="020B0A00000000000000" pitchFamily="34" charset="-122"/>
                <a:cs typeface="Arial" panose="020B0604020202020204" pitchFamily="34" charset="0"/>
              </a:rPr>
              <a:t>氦气：①价格：国内供需达到基本平衡，后续价格有概率上行；</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）成本：</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年公司俄罗斯</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卡塔尔气源占比上行，后续成本基本持平；</a:t>
            </a:r>
            <a:r>
              <a:rPr lang="en-US" altLang="zh-CN" sz="1100" dirty="0">
                <a:latin typeface="Arial" panose="020B0604020202020204" pitchFamily="34" charset="0"/>
                <a:ea typeface="思源黑体 Heavy" panose="020B0A00000000000000" pitchFamily="34" charset="-122"/>
                <a:cs typeface="Arial" panose="020B0604020202020204" pitchFamily="34" charset="0"/>
              </a:rPr>
              <a:t>3</a:t>
            </a:r>
            <a:r>
              <a:rPr lang="zh-CN" altLang="en-US" sz="1100" dirty="0">
                <a:latin typeface="Arial" panose="020B0604020202020204" pitchFamily="34" charset="0"/>
                <a:ea typeface="思源黑体 Heavy" panose="020B0A00000000000000" pitchFamily="34" charset="-122"/>
                <a:cs typeface="Arial" panose="020B0604020202020204" pitchFamily="34" charset="0"/>
              </a:rPr>
              <a:t>）销量：公司氦罐持续增长，呈现</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增速。</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l"/>
            </a:pPr>
            <a:r>
              <a:rPr lang="zh-CN" altLang="en-US" sz="1100" dirty="0">
                <a:latin typeface="Arial" panose="020B0604020202020204" pitchFamily="34" charset="0"/>
                <a:ea typeface="思源黑体 Heavy" panose="020B0A00000000000000" pitchFamily="34" charset="-122"/>
                <a:cs typeface="Arial" panose="020B0604020202020204" pitchFamily="34" charset="0"/>
              </a:rPr>
              <a:t>氮气：价格触底，成本稳定，电子零售氮气跟随部分项目，营收有望实现持续增长</a:t>
            </a:r>
            <a:r>
              <a:rPr lang="zh-CN" altLang="en-US" sz="1600" dirty="0">
                <a:latin typeface="Arial" panose="020B0604020202020204" pitchFamily="34" charset="0"/>
                <a:ea typeface="+mj-ea"/>
                <a:cs typeface="Arial" panose="020B0604020202020204" pitchFamily="34" charset="0"/>
              </a:rPr>
              <a:t>。</a:t>
            </a:r>
            <a:endParaRPr lang="en-US" altLang="zh-CN" sz="1600" dirty="0">
              <a:latin typeface="Arial" panose="020B0604020202020204" pitchFamily="34" charset="0"/>
              <a:ea typeface="+mj-ea"/>
              <a:cs typeface="Arial" panose="020B0604020202020204" pitchFamily="34" charset="0"/>
            </a:endParaRPr>
          </a:p>
        </p:txBody>
      </p:sp>
      <p:sp>
        <p:nvSpPr>
          <p:cNvPr id="4" name="矩形 3"/>
          <p:cNvSpPr/>
          <p:nvPr/>
        </p:nvSpPr>
        <p:spPr>
          <a:xfrm>
            <a:off x="3172604" y="659567"/>
            <a:ext cx="671686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表：电子大宗气体预测</a:t>
            </a:r>
          </a:p>
        </p:txBody>
      </p:sp>
      <p:sp>
        <p:nvSpPr>
          <p:cNvPr id="6" name="矩形 5">
            <a:extLst>
              <a:ext uri="{FF2B5EF4-FFF2-40B4-BE49-F238E27FC236}">
                <a16:creationId xmlns:a16="http://schemas.microsoft.com/office/drawing/2014/main" xmlns="" id="{966FAC85-1A74-37DE-1A85-B7F464103FB0}"/>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06</a:t>
            </a:r>
            <a:endParaRPr lang="zh-CN" altLang="en-US" sz="3200" dirty="0"/>
          </a:p>
        </p:txBody>
      </p:sp>
      <p:sp>
        <p:nvSpPr>
          <p:cNvPr id="7" name="矩形 6">
            <a:extLst>
              <a:ext uri="{FF2B5EF4-FFF2-40B4-BE49-F238E27FC236}">
                <a16:creationId xmlns:a16="http://schemas.microsoft.com/office/drawing/2014/main" xmlns="" id="{1CC066A8-3F97-5817-88EE-0BB2FFA6B2B9}"/>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8" name="表格 7">
            <a:extLst>
              <a:ext uri="{FF2B5EF4-FFF2-40B4-BE49-F238E27FC236}">
                <a16:creationId xmlns:a16="http://schemas.microsoft.com/office/drawing/2014/main" xmlns="" id="{131B4EE8-CE35-340F-869C-B9EE72C414DB}"/>
              </a:ext>
            </a:extLst>
          </p:cNvPr>
          <p:cNvGraphicFramePr>
            <a:graphicFrameLocks noGrp="1"/>
          </p:cNvGraphicFramePr>
          <p:nvPr>
            <p:extLst>
              <p:ext uri="{D42A27DB-BD31-4B8C-83A1-F6EECF244321}">
                <p14:modId xmlns:p14="http://schemas.microsoft.com/office/powerpoint/2010/main" val="1079159686"/>
              </p:ext>
            </p:extLst>
          </p:nvPr>
        </p:nvGraphicFramePr>
        <p:xfrm>
          <a:off x="4148919" y="905788"/>
          <a:ext cx="4444784" cy="3771900"/>
        </p:xfrm>
        <a:graphic>
          <a:graphicData uri="http://schemas.openxmlformats.org/drawingml/2006/table">
            <a:tbl>
              <a:tblPr/>
              <a:tblGrid>
                <a:gridCol w="1469929">
                  <a:extLst>
                    <a:ext uri="{9D8B030D-6E8A-4147-A177-3AD203B41FA5}">
                      <a16:colId xmlns:a16="http://schemas.microsoft.com/office/drawing/2014/main" xmlns="" val="561804171"/>
                    </a:ext>
                  </a:extLst>
                </a:gridCol>
                <a:gridCol w="594971">
                  <a:extLst>
                    <a:ext uri="{9D8B030D-6E8A-4147-A177-3AD203B41FA5}">
                      <a16:colId xmlns:a16="http://schemas.microsoft.com/office/drawing/2014/main" xmlns="" val="4017274671"/>
                    </a:ext>
                  </a:extLst>
                </a:gridCol>
                <a:gridCol w="594971">
                  <a:extLst>
                    <a:ext uri="{9D8B030D-6E8A-4147-A177-3AD203B41FA5}">
                      <a16:colId xmlns:a16="http://schemas.microsoft.com/office/drawing/2014/main" xmlns="" val="92290466"/>
                    </a:ext>
                  </a:extLst>
                </a:gridCol>
                <a:gridCol w="594971">
                  <a:extLst>
                    <a:ext uri="{9D8B030D-6E8A-4147-A177-3AD203B41FA5}">
                      <a16:colId xmlns:a16="http://schemas.microsoft.com/office/drawing/2014/main" xmlns="" val="2040095889"/>
                    </a:ext>
                  </a:extLst>
                </a:gridCol>
                <a:gridCol w="594971">
                  <a:extLst>
                    <a:ext uri="{9D8B030D-6E8A-4147-A177-3AD203B41FA5}">
                      <a16:colId xmlns:a16="http://schemas.microsoft.com/office/drawing/2014/main" xmlns="" val="1712123468"/>
                    </a:ext>
                  </a:extLst>
                </a:gridCol>
                <a:gridCol w="594971">
                  <a:extLst>
                    <a:ext uri="{9D8B030D-6E8A-4147-A177-3AD203B41FA5}">
                      <a16:colId xmlns:a16="http://schemas.microsoft.com/office/drawing/2014/main" xmlns="" val="1075842509"/>
                    </a:ext>
                  </a:extLst>
                </a:gridCol>
              </a:tblGrid>
              <a:tr h="78252">
                <a:tc>
                  <a:txBody>
                    <a:bodyPr/>
                    <a:lstStyle/>
                    <a:p>
                      <a:pPr algn="l" fontAlgn="ctr">
                        <a:buNone/>
                      </a:pPr>
                      <a:r>
                        <a:rPr lang="zh-CN" altLang="en-US" sz="750" b="1" i="0" u="none" strike="noStrike">
                          <a:solidFill>
                            <a:srgbClr val="000000"/>
                          </a:solidFill>
                          <a:effectLst/>
                          <a:latin typeface="+mn-ea"/>
                          <a:ea typeface="+mn-ea"/>
                        </a:rPr>
                        <a:t>项目（百万元）</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750" b="1" i="0" u="none" strike="noStrike">
                          <a:solidFill>
                            <a:srgbClr val="000000"/>
                          </a:solidFill>
                          <a:effectLst/>
                          <a:latin typeface="+mn-ea"/>
                          <a:ea typeface="+mn-ea"/>
                        </a:rPr>
                        <a:t>2023</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750" b="1" i="0" u="none" strike="noStrike">
                          <a:solidFill>
                            <a:srgbClr val="000000"/>
                          </a:solidFill>
                          <a:effectLst/>
                          <a:latin typeface="+mn-ea"/>
                          <a:ea typeface="+mn-ea"/>
                        </a:rPr>
                        <a:t>2024</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750" b="1" i="0" u="none" strike="noStrike">
                          <a:solidFill>
                            <a:srgbClr val="000000"/>
                          </a:solidFill>
                          <a:effectLst/>
                          <a:latin typeface="+mn-ea"/>
                          <a:ea typeface="+mn-ea"/>
                        </a:rPr>
                        <a:t>2025E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750" b="1" i="0" u="none" strike="noStrike">
                          <a:solidFill>
                            <a:srgbClr val="000000"/>
                          </a:solidFill>
                          <a:effectLst/>
                          <a:latin typeface="+mn-ea"/>
                          <a:ea typeface="+mn-ea"/>
                        </a:rPr>
                        <a:t>2026E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750" b="1" i="0" u="none" strike="noStrike">
                          <a:solidFill>
                            <a:srgbClr val="000000"/>
                          </a:solidFill>
                          <a:effectLst/>
                          <a:latin typeface="+mn-ea"/>
                          <a:ea typeface="+mn-ea"/>
                        </a:rPr>
                        <a:t>2027E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74371759"/>
                  </a:ext>
                </a:extLst>
              </a:tr>
              <a:tr h="78252">
                <a:tc>
                  <a:txBody>
                    <a:bodyPr/>
                    <a:lstStyle/>
                    <a:p>
                      <a:pPr algn="l" fontAlgn="ctr">
                        <a:buNone/>
                      </a:pPr>
                      <a:r>
                        <a:rPr lang="zh-CN" altLang="en-US" sz="750" b="1" i="0" u="none" strike="noStrike">
                          <a:solidFill>
                            <a:srgbClr val="000000"/>
                          </a:solidFill>
                          <a:effectLst/>
                          <a:latin typeface="+mn-ea"/>
                          <a:ea typeface="+mn-ea"/>
                        </a:rPr>
                        <a:t>电子大宗气体</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750" b="1" i="0" u="none" strike="noStrike">
                          <a:solidFill>
                            <a:srgbClr val="000000"/>
                          </a:solidFill>
                          <a:effectLst/>
                          <a:latin typeface="+mn-ea"/>
                          <a:ea typeface="+mn-ea"/>
                        </a:rPr>
                        <a:t>1211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750" b="1" i="0" u="none" strike="noStrike">
                          <a:solidFill>
                            <a:srgbClr val="000000"/>
                          </a:solidFill>
                          <a:effectLst/>
                          <a:latin typeface="+mn-ea"/>
                          <a:ea typeface="+mn-ea"/>
                        </a:rPr>
                        <a:t>1487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750" b="1" i="0" u="none" strike="noStrike">
                          <a:solidFill>
                            <a:srgbClr val="000000"/>
                          </a:solidFill>
                          <a:effectLst/>
                          <a:latin typeface="+mn-ea"/>
                          <a:ea typeface="+mn-ea"/>
                        </a:rPr>
                        <a:t>2037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750" b="1" i="0" u="none" strike="noStrike">
                          <a:solidFill>
                            <a:srgbClr val="000000"/>
                          </a:solidFill>
                          <a:effectLst/>
                          <a:latin typeface="+mn-ea"/>
                          <a:ea typeface="+mn-ea"/>
                        </a:rPr>
                        <a:t>2546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750" b="1" i="0" u="none" strike="noStrike">
                          <a:solidFill>
                            <a:srgbClr val="000000"/>
                          </a:solidFill>
                          <a:effectLst/>
                          <a:latin typeface="+mn-ea"/>
                          <a:ea typeface="+mn-ea"/>
                        </a:rPr>
                        <a:t>3069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extLst>
                  <a:ext uri="{0D108BD9-81ED-4DB2-BD59-A6C34878D82A}">
                    <a16:rowId xmlns:a16="http://schemas.microsoft.com/office/drawing/2014/main" xmlns="" val="2713580212"/>
                  </a:ext>
                </a:extLst>
              </a:tr>
              <a:tr h="78252">
                <a:tc>
                  <a:txBody>
                    <a:bodyPr/>
                    <a:lstStyle/>
                    <a:p>
                      <a:pPr algn="l" fontAlgn="ctr">
                        <a:buNone/>
                      </a:pPr>
                      <a:r>
                        <a:rPr lang="zh-CN" altLang="en-US" sz="7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39.10%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29.17%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30.04%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32.88%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33.61%</a:t>
                      </a:r>
                    </a:p>
                  </a:txBody>
                  <a:tcPr marL="0" marR="0" marT="0" marB="0" anchor="ctr">
                    <a:lnL>
                      <a:noFill/>
                    </a:lnL>
                    <a:lnR>
                      <a:noFill/>
                    </a:lnR>
                    <a:lnT>
                      <a:noFill/>
                    </a:lnT>
                    <a:lnB>
                      <a:noFill/>
                    </a:lnB>
                    <a:noFill/>
                  </a:tcPr>
                </a:tc>
                <a:extLst>
                  <a:ext uri="{0D108BD9-81ED-4DB2-BD59-A6C34878D82A}">
                    <a16:rowId xmlns:a16="http://schemas.microsoft.com/office/drawing/2014/main" xmlns="" val="2660274939"/>
                  </a:ext>
                </a:extLst>
              </a:tr>
              <a:tr h="78252">
                <a:tc>
                  <a:txBody>
                    <a:bodyPr/>
                    <a:lstStyle/>
                    <a:p>
                      <a:pPr algn="l" fontAlgn="ctr">
                        <a:buNone/>
                      </a:pPr>
                      <a:r>
                        <a:rPr lang="zh-CN" altLang="en-US" sz="7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473.39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433.91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611.92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836.92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1031.70</a:t>
                      </a:r>
                    </a:p>
                  </a:txBody>
                  <a:tcPr marL="0" marR="0" marT="0" marB="0" anchor="ctr">
                    <a:lnL>
                      <a:noFill/>
                    </a:lnL>
                    <a:lnR>
                      <a:noFill/>
                    </a:lnR>
                    <a:lnT>
                      <a:noFill/>
                    </a:lnT>
                    <a:lnB>
                      <a:noFill/>
                    </a:lnB>
                    <a:noFill/>
                  </a:tcPr>
                </a:tc>
                <a:extLst>
                  <a:ext uri="{0D108BD9-81ED-4DB2-BD59-A6C34878D82A}">
                    <a16:rowId xmlns:a16="http://schemas.microsoft.com/office/drawing/2014/main" xmlns="" val="3171348789"/>
                  </a:ext>
                </a:extLst>
              </a:tr>
              <a:tr h="78252">
                <a:tc>
                  <a:txBody>
                    <a:bodyPr/>
                    <a:lstStyle/>
                    <a:p>
                      <a:pPr algn="l" fontAlgn="ctr">
                        <a:buNone/>
                      </a:pPr>
                      <a:r>
                        <a:rPr lang="zh-CN" altLang="en-US" sz="750" b="0" i="0" u="none" strike="noStrike">
                          <a:solidFill>
                            <a:srgbClr val="000000"/>
                          </a:solidFill>
                          <a:effectLst/>
                          <a:latin typeface="+mn-ea"/>
                          <a:ea typeface="+mn-ea"/>
                        </a:rPr>
                        <a:t>  </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现场制气</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750.00</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1083.61</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1569.74</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1986.68</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2397.88</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xmlns="" val="2794887594"/>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21%</a:t>
                      </a:r>
                    </a:p>
                  </a:txBody>
                  <a:tcPr marL="0" marR="0" marT="0" marB="0" anchor="ctr">
                    <a:lnL>
                      <a:noFill/>
                    </a:lnL>
                    <a:lnR>
                      <a:noFill/>
                    </a:lnR>
                    <a:lnT>
                      <a:noFill/>
                    </a:lnT>
                    <a:lnB>
                      <a:noFill/>
                    </a:lnB>
                    <a:noFill/>
                  </a:tcPr>
                </a:tc>
                <a:extLst>
                  <a:ext uri="{0D108BD9-81ED-4DB2-BD59-A6C34878D82A}">
                    <a16:rowId xmlns:a16="http://schemas.microsoft.com/office/drawing/2014/main" xmlns="" val="263872988"/>
                  </a:ext>
                </a:extLst>
              </a:tr>
              <a:tr h="78252">
                <a:tc>
                  <a:txBody>
                    <a:bodyPr/>
                    <a:lstStyle/>
                    <a:p>
                      <a:pPr algn="l" fontAlgn="ctr">
                        <a:buNone/>
                      </a:pPr>
                      <a:endParaRPr lang="zh-CN" altLang="en-US" sz="750" b="0" i="0" u="none" strike="noStrike">
                        <a:solidFill>
                          <a:srgbClr val="000000"/>
                        </a:solidFill>
                        <a:effectLst/>
                        <a:latin typeface="+mn-ea"/>
                        <a:ea typeface="+mn-ea"/>
                      </a:endParaRP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41.50%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34.41%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35.36%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37.96%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38.13%</a:t>
                      </a:r>
                    </a:p>
                  </a:txBody>
                  <a:tcPr marL="0" marR="0" marT="0" marB="0" anchor="ctr">
                    <a:lnL>
                      <a:noFill/>
                    </a:lnL>
                    <a:lnR>
                      <a:noFill/>
                    </a:lnR>
                    <a:lnT>
                      <a:noFill/>
                    </a:lnT>
                    <a:lnB>
                      <a:noFill/>
                    </a:lnB>
                    <a:noFill/>
                  </a:tcPr>
                </a:tc>
                <a:extLst>
                  <a:ext uri="{0D108BD9-81ED-4DB2-BD59-A6C34878D82A}">
                    <a16:rowId xmlns:a16="http://schemas.microsoft.com/office/drawing/2014/main" xmlns="" val="1067516914"/>
                  </a:ext>
                </a:extLst>
              </a:tr>
              <a:tr h="78252">
                <a:tc>
                  <a:txBody>
                    <a:bodyPr/>
                    <a:lstStyle/>
                    <a:p>
                      <a:pPr algn="l" fontAlgn="ctr">
                        <a:buNone/>
                      </a:pPr>
                      <a:r>
                        <a:rPr lang="zh-CN" altLang="en-US" sz="7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311.25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372.82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555.08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754.23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914.27</a:t>
                      </a:r>
                    </a:p>
                  </a:txBody>
                  <a:tcPr marL="0" marR="0" marT="0" marB="0" anchor="ctr">
                    <a:lnL>
                      <a:noFill/>
                    </a:lnL>
                    <a:lnR>
                      <a:noFill/>
                    </a:lnR>
                    <a:lnT>
                      <a:noFill/>
                    </a:lnT>
                    <a:lnB>
                      <a:noFill/>
                    </a:lnB>
                    <a:noFill/>
                  </a:tcPr>
                </a:tc>
                <a:extLst>
                  <a:ext uri="{0D108BD9-81ED-4DB2-BD59-A6C34878D82A}">
                    <a16:rowId xmlns:a16="http://schemas.microsoft.com/office/drawing/2014/main" xmlns="" val="3468941173"/>
                  </a:ext>
                </a:extLst>
              </a:tr>
              <a:tr h="78252">
                <a:tc>
                  <a:txBody>
                    <a:bodyPr/>
                    <a:lstStyle/>
                    <a:p>
                      <a:pPr algn="l" fontAlgn="ctr">
                        <a:buNone/>
                      </a:pPr>
                      <a:r>
                        <a:rPr lang="zh-CN" altLang="en-US" sz="750" b="0" i="0" u="none" strike="noStrike">
                          <a:solidFill>
                            <a:srgbClr val="000000"/>
                          </a:solidFill>
                          <a:effectLst/>
                          <a:latin typeface="+mn-ea"/>
                          <a:ea typeface="+mn-ea"/>
                        </a:rPr>
                        <a:t>     固定收费</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300.00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433.44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627.90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794.67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959.15</a:t>
                      </a:r>
                    </a:p>
                  </a:txBody>
                  <a:tcPr marL="0" marR="0" marT="0" marB="0" anchor="ctr">
                    <a:lnL>
                      <a:noFill/>
                    </a:lnL>
                    <a:lnR>
                      <a:noFill/>
                    </a:lnR>
                    <a:lnT>
                      <a:noFill/>
                    </a:lnT>
                    <a:lnB>
                      <a:noFill/>
                    </a:lnB>
                    <a:noFill/>
                  </a:tcPr>
                </a:tc>
                <a:extLst>
                  <a:ext uri="{0D108BD9-81ED-4DB2-BD59-A6C34878D82A}">
                    <a16:rowId xmlns:a16="http://schemas.microsoft.com/office/drawing/2014/main" xmlns="" val="3025072074"/>
                  </a:ext>
                </a:extLst>
              </a:tr>
              <a:tr h="78252">
                <a:tc>
                  <a:txBody>
                    <a:bodyPr/>
                    <a:lstStyle/>
                    <a:p>
                      <a:pPr algn="l" fontAlgn="ctr">
                        <a:buNone/>
                      </a:pPr>
                      <a:r>
                        <a:rPr lang="zh-CN" altLang="en-US" sz="750" b="0" i="0" u="none" strike="noStrike">
                          <a:solidFill>
                            <a:srgbClr val="000000"/>
                          </a:solidFill>
                          <a:effectLst/>
                          <a:latin typeface="+mn-ea"/>
                          <a:ea typeface="+mn-ea"/>
                        </a:rPr>
                        <a:t>     变动收费</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450.00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650.16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941.85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1192.01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1438.73</a:t>
                      </a:r>
                    </a:p>
                  </a:txBody>
                  <a:tcPr marL="0" marR="0" marT="0" marB="0" anchor="ctr">
                    <a:lnL>
                      <a:noFill/>
                    </a:lnL>
                    <a:lnR>
                      <a:noFill/>
                    </a:lnR>
                    <a:lnT>
                      <a:noFill/>
                    </a:lnT>
                    <a:lnB>
                      <a:noFill/>
                    </a:lnB>
                    <a:noFill/>
                  </a:tcPr>
                </a:tc>
                <a:extLst>
                  <a:ext uri="{0D108BD9-81ED-4DB2-BD59-A6C34878D82A}">
                    <a16:rowId xmlns:a16="http://schemas.microsoft.com/office/drawing/2014/main" xmlns="" val="2365003816"/>
                  </a:ext>
                </a:extLst>
              </a:tr>
              <a:tr h="78252">
                <a:tc>
                  <a:txBody>
                    <a:bodyPr/>
                    <a:lstStyle/>
                    <a:p>
                      <a:pPr algn="l" fontAlgn="ctr">
                        <a:buNone/>
                      </a:pPr>
                      <a:r>
                        <a:rPr lang="zh-CN" altLang="en-US" sz="750" b="0" i="0" u="none" strike="noStrike">
                          <a:solidFill>
                            <a:srgbClr val="000000"/>
                          </a:solidFill>
                          <a:effectLst/>
                          <a:latin typeface="+mn-ea"/>
                          <a:ea typeface="+mn-ea"/>
                        </a:rPr>
                        <a:t>         占比</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60%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60%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60%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60%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60%</a:t>
                      </a:r>
                    </a:p>
                  </a:txBody>
                  <a:tcPr marL="0" marR="0" marT="0" marB="0" anchor="ctr">
                    <a:lnL>
                      <a:noFill/>
                    </a:lnL>
                    <a:lnR>
                      <a:noFill/>
                    </a:lnR>
                    <a:lnT>
                      <a:noFill/>
                    </a:lnT>
                    <a:lnB>
                      <a:noFill/>
                    </a:lnB>
                    <a:noFill/>
                  </a:tcPr>
                </a:tc>
                <a:extLst>
                  <a:ext uri="{0D108BD9-81ED-4DB2-BD59-A6C34878D82A}">
                    <a16:rowId xmlns:a16="http://schemas.microsoft.com/office/drawing/2014/main" xmlns="" val="3143503698"/>
                  </a:ext>
                </a:extLst>
              </a:tr>
              <a:tr h="78252">
                <a:tc>
                  <a:txBody>
                    <a:bodyPr/>
                    <a:lstStyle/>
                    <a:p>
                      <a:pPr algn="l" fontAlgn="ctr">
                        <a:buNone/>
                      </a:pPr>
                      <a:r>
                        <a:rPr lang="zh-CN" altLang="en-US" sz="750" b="0" i="0" u="none" strike="noStrike">
                          <a:solidFill>
                            <a:srgbClr val="000000"/>
                          </a:solidFill>
                          <a:effectLst/>
                          <a:latin typeface="+mn-ea"/>
                          <a:ea typeface="+mn-ea"/>
                        </a:rPr>
                        <a:t>  </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零售供气</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460.73</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403.86</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467.55</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559.06</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750" b="0" i="0" u="none" strike="noStrike">
                          <a:solidFill>
                            <a:srgbClr val="000000"/>
                          </a:solidFill>
                          <a:effectLst/>
                          <a:latin typeface="+mn-ea"/>
                          <a:ea typeface="+mn-ea"/>
                        </a:rPr>
                        <a:t>671.35</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xmlns="" val="2344433340"/>
                  </a:ext>
                </a:extLst>
              </a:tr>
              <a:tr h="78252">
                <a:tc>
                  <a:txBody>
                    <a:bodyPr/>
                    <a:lstStyle/>
                    <a:p>
                      <a:pPr algn="l" fontAlgn="ctr">
                        <a:buNone/>
                      </a:pPr>
                      <a:r>
                        <a:rPr lang="zh-CN" altLang="en-US" sz="7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35.19%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15.13%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12.16%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14.79%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17.49%</a:t>
                      </a:r>
                    </a:p>
                  </a:txBody>
                  <a:tcPr marL="0" marR="0" marT="0" marB="0" anchor="ctr">
                    <a:lnL>
                      <a:noFill/>
                    </a:lnL>
                    <a:lnR>
                      <a:noFill/>
                    </a:lnR>
                    <a:lnT>
                      <a:noFill/>
                    </a:lnT>
                    <a:lnB>
                      <a:noFill/>
                    </a:lnB>
                    <a:noFill/>
                  </a:tcPr>
                </a:tc>
                <a:extLst>
                  <a:ext uri="{0D108BD9-81ED-4DB2-BD59-A6C34878D82A}">
                    <a16:rowId xmlns:a16="http://schemas.microsoft.com/office/drawing/2014/main" xmlns="" val="798647907"/>
                  </a:ext>
                </a:extLst>
              </a:tr>
              <a:tr h="78252">
                <a:tc>
                  <a:txBody>
                    <a:bodyPr/>
                    <a:lstStyle/>
                    <a:p>
                      <a:pPr algn="l" fontAlgn="ctr">
                        <a:buNone/>
                      </a:pPr>
                      <a:r>
                        <a:rPr lang="zh-CN" altLang="en-US" sz="7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162.14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61.09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56.84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82.69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117.43</a:t>
                      </a:r>
                    </a:p>
                  </a:txBody>
                  <a:tcPr marL="0" marR="0" marT="0" marB="0" anchor="ctr">
                    <a:lnL>
                      <a:noFill/>
                    </a:lnL>
                    <a:lnR>
                      <a:noFill/>
                    </a:lnR>
                    <a:lnT>
                      <a:noFill/>
                    </a:lnT>
                    <a:lnB>
                      <a:noFill/>
                    </a:lnB>
                    <a:noFill/>
                  </a:tcPr>
                </a:tc>
                <a:extLst>
                  <a:ext uri="{0D108BD9-81ED-4DB2-BD59-A6C34878D82A}">
                    <a16:rowId xmlns:a16="http://schemas.microsoft.com/office/drawing/2014/main" xmlns="" val="332253606"/>
                  </a:ext>
                </a:extLst>
              </a:tr>
              <a:tr h="78252">
                <a:tc>
                  <a:txBody>
                    <a:bodyPr/>
                    <a:lstStyle/>
                    <a:p>
                      <a:pPr algn="l" fontAlgn="ctr">
                        <a:buNone/>
                      </a:pPr>
                      <a:r>
                        <a:rPr lang="zh-CN" altLang="en-US" sz="750" b="0" i="0" u="none" strike="noStrike">
                          <a:solidFill>
                            <a:srgbClr val="000000"/>
                          </a:solidFill>
                          <a:effectLst/>
                          <a:latin typeface="+mn-ea"/>
                          <a:ea typeface="+mn-ea"/>
                        </a:rPr>
                        <a:t>     其中：氦气</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280.63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221.98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279.69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352.42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444.04</a:t>
                      </a:r>
                    </a:p>
                  </a:txBody>
                  <a:tcPr marL="0" marR="0" marT="0" marB="0" anchor="ctr">
                    <a:lnL>
                      <a:noFill/>
                    </a:lnL>
                    <a:lnR>
                      <a:noFill/>
                    </a:lnR>
                    <a:lnT>
                      <a:noFill/>
                    </a:lnT>
                    <a:lnB>
                      <a:noFill/>
                    </a:lnB>
                    <a:noFill/>
                  </a:tcPr>
                </a:tc>
                <a:extLst>
                  <a:ext uri="{0D108BD9-81ED-4DB2-BD59-A6C34878D82A}">
                    <a16:rowId xmlns:a16="http://schemas.microsoft.com/office/drawing/2014/main" xmlns="" val="563085651"/>
                  </a:ext>
                </a:extLst>
              </a:tr>
              <a:tr h="78252">
                <a:tc>
                  <a:txBody>
                    <a:bodyPr/>
                    <a:lstStyle/>
                    <a:p>
                      <a:pPr algn="l" fontAlgn="ctr">
                        <a:buNone/>
                      </a:pPr>
                      <a:r>
                        <a:rPr lang="zh-CN" altLang="en-US" sz="750" b="0" i="0" u="none" strike="noStrike">
                          <a:solidFill>
                            <a:srgbClr val="000000"/>
                          </a:solidFill>
                          <a:effectLst/>
                          <a:latin typeface="+mn-ea"/>
                          <a:ea typeface="+mn-ea"/>
                        </a:rPr>
                        <a:t>      销量（万瓶）</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24</a:t>
                      </a:r>
                    </a:p>
                  </a:txBody>
                  <a:tcPr marL="0" marR="0" marT="0" marB="0" anchor="ctr">
                    <a:lnL>
                      <a:noFill/>
                    </a:lnL>
                    <a:lnR>
                      <a:noFill/>
                    </a:lnR>
                    <a:lnT>
                      <a:noFill/>
                    </a:lnT>
                    <a:lnB>
                      <a:noFill/>
                    </a:lnB>
                    <a:noFill/>
                  </a:tcPr>
                </a:tc>
                <a:extLst>
                  <a:ext uri="{0D108BD9-81ED-4DB2-BD59-A6C34878D82A}">
                    <a16:rowId xmlns:a16="http://schemas.microsoft.com/office/drawing/2014/main" xmlns="" val="4024001313"/>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a:t>
                      </a:r>
                    </a:p>
                  </a:txBody>
                  <a:tcPr marL="0" marR="0" marT="0" marB="0" anchor="ctr">
                    <a:lnL>
                      <a:noFill/>
                    </a:lnL>
                    <a:lnR>
                      <a:noFill/>
                    </a:lnR>
                    <a:lnT>
                      <a:noFill/>
                    </a:lnT>
                    <a:lnB>
                      <a:noFill/>
                    </a:lnB>
                    <a:noFill/>
                  </a:tcPr>
                </a:tc>
                <a:extLst>
                  <a:ext uri="{0D108BD9-81ED-4DB2-BD59-A6C34878D82A}">
                    <a16:rowId xmlns:a16="http://schemas.microsoft.com/office/drawing/2014/main" xmlns="" val="1172089150"/>
                  </a:ext>
                </a:extLst>
              </a:tr>
              <a:tr h="78252">
                <a:tc>
                  <a:txBody>
                    <a:bodyPr/>
                    <a:lstStyle/>
                    <a:p>
                      <a:pPr algn="l" fontAlgn="ctr">
                        <a:buNone/>
                      </a:pPr>
                      <a:r>
                        <a:rPr lang="zh-CN" altLang="en-US" sz="750" b="0" i="0" u="none" strike="noStrike">
                          <a:solidFill>
                            <a:srgbClr val="000000"/>
                          </a:solidFill>
                          <a:effectLst/>
                          <a:latin typeface="+mn-ea"/>
                          <a:ea typeface="+mn-ea"/>
                        </a:rPr>
                        <a:t>      均价（元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瓶）</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2283.54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1598.47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1678.40</a:t>
                      </a:r>
                    </a:p>
                  </a:txBody>
                  <a:tcPr marL="0" marR="0" marT="0" marB="0" anchor="ctr">
                    <a:lnL>
                      <a:noFill/>
                    </a:lnL>
                    <a:lnR>
                      <a:noFill/>
                    </a:lnR>
                    <a:lnT>
                      <a:noFill/>
                    </a:lnT>
                    <a:lnB>
                      <a:noFill/>
                    </a:lnB>
                    <a:noFill/>
                  </a:tcPr>
                </a:tc>
                <a:tc>
                  <a:txBody>
                    <a:bodyPr/>
                    <a:lstStyle/>
                    <a:p>
                      <a:pPr algn="r" fontAlgn="ctr">
                        <a:buNone/>
                      </a:pPr>
                      <a:r>
                        <a:rPr lang="en-US" altLang="zh-CN" sz="750" b="0" i="0" u="none" strike="noStrike" dirty="0">
                          <a:solidFill>
                            <a:srgbClr val="000000"/>
                          </a:solidFill>
                          <a:effectLst/>
                          <a:latin typeface="+mn-ea"/>
                          <a:ea typeface="+mn-ea"/>
                        </a:rPr>
                        <a:t>1762.32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1850.43</a:t>
                      </a:r>
                    </a:p>
                  </a:txBody>
                  <a:tcPr marL="0" marR="0" marT="0" marB="0" anchor="ctr">
                    <a:lnL>
                      <a:noFill/>
                    </a:lnL>
                    <a:lnR>
                      <a:noFill/>
                    </a:lnR>
                    <a:lnT>
                      <a:noFill/>
                    </a:lnT>
                    <a:lnB>
                      <a:noFill/>
                    </a:lnB>
                    <a:noFill/>
                  </a:tcPr>
                </a:tc>
                <a:extLst>
                  <a:ext uri="{0D108BD9-81ED-4DB2-BD59-A6C34878D82A}">
                    <a16:rowId xmlns:a16="http://schemas.microsoft.com/office/drawing/2014/main" xmlns="" val="4254798644"/>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a:t>
                      </a:r>
                    </a:p>
                  </a:txBody>
                  <a:tcPr marL="0" marR="0" marT="0" marB="0" anchor="ctr">
                    <a:lnL>
                      <a:noFill/>
                    </a:lnL>
                    <a:lnR>
                      <a:noFill/>
                    </a:lnR>
                    <a:lnT>
                      <a:noFill/>
                    </a:lnT>
                    <a:lnB>
                      <a:noFill/>
                    </a:lnB>
                    <a:noFill/>
                  </a:tcPr>
                </a:tc>
                <a:extLst>
                  <a:ext uri="{0D108BD9-81ED-4DB2-BD59-A6C34878D82A}">
                    <a16:rowId xmlns:a16="http://schemas.microsoft.com/office/drawing/2014/main" xmlns="" val="720809232"/>
                  </a:ext>
                </a:extLst>
              </a:tr>
              <a:tr h="78252">
                <a:tc>
                  <a:txBody>
                    <a:bodyPr/>
                    <a:lstStyle/>
                    <a:p>
                      <a:pPr algn="l" fontAlgn="ctr">
                        <a:buNone/>
                      </a:pPr>
                      <a:r>
                        <a:rPr lang="zh-CN" altLang="en-US" sz="750" b="0" i="0" u="none" strike="noStrike">
                          <a:solidFill>
                            <a:srgbClr val="000000"/>
                          </a:solidFill>
                          <a:effectLst/>
                          <a:latin typeface="+mn-ea"/>
                          <a:ea typeface="+mn-ea"/>
                        </a:rPr>
                        <a:t>      成本（元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瓶）</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1424.58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1495.81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1495.81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1495.81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1495.81</a:t>
                      </a:r>
                    </a:p>
                  </a:txBody>
                  <a:tcPr marL="0" marR="0" marT="0" marB="0" anchor="ctr">
                    <a:lnL>
                      <a:noFill/>
                    </a:lnL>
                    <a:lnR>
                      <a:noFill/>
                    </a:lnR>
                    <a:lnT>
                      <a:noFill/>
                    </a:lnT>
                    <a:lnB>
                      <a:noFill/>
                    </a:lnB>
                    <a:noFill/>
                  </a:tcPr>
                </a:tc>
                <a:extLst>
                  <a:ext uri="{0D108BD9-81ED-4DB2-BD59-A6C34878D82A}">
                    <a16:rowId xmlns:a16="http://schemas.microsoft.com/office/drawing/2014/main" xmlns="" val="1407083664"/>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0%</a:t>
                      </a:r>
                    </a:p>
                  </a:txBody>
                  <a:tcPr marL="0" marR="0" marT="0" marB="0" anchor="ctr">
                    <a:lnL>
                      <a:noFill/>
                    </a:lnL>
                    <a:lnR>
                      <a:noFill/>
                    </a:lnR>
                    <a:lnT>
                      <a:noFill/>
                    </a:lnT>
                    <a:lnB>
                      <a:noFill/>
                    </a:lnB>
                    <a:noFill/>
                  </a:tcPr>
                </a:tc>
                <a:extLst>
                  <a:ext uri="{0D108BD9-81ED-4DB2-BD59-A6C34878D82A}">
                    <a16:rowId xmlns:a16="http://schemas.microsoft.com/office/drawing/2014/main" xmlns="" val="3939177759"/>
                  </a:ext>
                </a:extLst>
              </a:tr>
              <a:tr h="78252">
                <a:tc>
                  <a:txBody>
                    <a:bodyPr/>
                    <a:lstStyle/>
                    <a:p>
                      <a:pPr algn="l" fontAlgn="ctr">
                        <a:buNone/>
                      </a:pPr>
                      <a:r>
                        <a:rPr lang="zh-CN" altLang="en-US" sz="7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105.56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14.26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30.43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53.29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85.10</a:t>
                      </a:r>
                    </a:p>
                  </a:txBody>
                  <a:tcPr marL="0" marR="0" marT="0" marB="0" anchor="ctr">
                    <a:lnL>
                      <a:noFill/>
                    </a:lnL>
                    <a:lnR>
                      <a:noFill/>
                    </a:lnR>
                    <a:lnT>
                      <a:noFill/>
                    </a:lnT>
                    <a:lnB>
                      <a:noFill/>
                    </a:lnB>
                    <a:noFill/>
                  </a:tcPr>
                </a:tc>
                <a:extLst>
                  <a:ext uri="{0D108BD9-81ED-4DB2-BD59-A6C34878D82A}">
                    <a16:rowId xmlns:a16="http://schemas.microsoft.com/office/drawing/2014/main" xmlns="" val="4165446207"/>
                  </a:ext>
                </a:extLst>
              </a:tr>
              <a:tr h="78252">
                <a:tc>
                  <a:txBody>
                    <a:bodyPr/>
                    <a:lstStyle/>
                    <a:p>
                      <a:pPr algn="l" fontAlgn="ctr">
                        <a:buNone/>
                      </a:pPr>
                      <a:r>
                        <a:rPr lang="zh-CN" altLang="en-US" sz="750" b="0" i="0" u="none" strike="noStrike">
                          <a:solidFill>
                            <a:srgbClr val="000000"/>
                          </a:solidFill>
                          <a:effectLst/>
                          <a:latin typeface="+mn-ea"/>
                          <a:ea typeface="+mn-ea"/>
                        </a:rPr>
                        <a:t>     氮气</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131</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145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188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207</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227</a:t>
                      </a:r>
                    </a:p>
                  </a:txBody>
                  <a:tcPr marL="0" marR="0" marT="0" marB="0" anchor="ctr">
                    <a:lnL>
                      <a:noFill/>
                    </a:lnL>
                    <a:lnR>
                      <a:noFill/>
                    </a:lnR>
                    <a:lnT>
                      <a:noFill/>
                    </a:lnT>
                    <a:lnB>
                      <a:noFill/>
                    </a:lnB>
                    <a:noFill/>
                  </a:tcPr>
                </a:tc>
                <a:extLst>
                  <a:ext uri="{0D108BD9-81ED-4DB2-BD59-A6C34878D82A}">
                    <a16:rowId xmlns:a16="http://schemas.microsoft.com/office/drawing/2014/main" xmlns="" val="3479721018"/>
                  </a:ext>
                </a:extLst>
              </a:tr>
              <a:tr h="78252">
                <a:tc>
                  <a:txBody>
                    <a:bodyPr/>
                    <a:lstStyle/>
                    <a:p>
                      <a:pPr algn="l" fontAlgn="ctr">
                        <a:buNone/>
                      </a:pPr>
                      <a:r>
                        <a:rPr lang="zh-CN" altLang="en-US" sz="750" b="0" i="0" u="none" strike="noStrike">
                          <a:solidFill>
                            <a:srgbClr val="000000"/>
                          </a:solidFill>
                          <a:effectLst/>
                          <a:latin typeface="+mn-ea"/>
                          <a:ea typeface="+mn-ea"/>
                        </a:rPr>
                        <a:t>      销量（万吨）</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20.93</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25.12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32.65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35.92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39.51</a:t>
                      </a:r>
                    </a:p>
                  </a:txBody>
                  <a:tcPr marL="0" marR="0" marT="0" marB="0" anchor="ctr">
                    <a:lnL>
                      <a:noFill/>
                    </a:lnL>
                    <a:lnR>
                      <a:noFill/>
                    </a:lnR>
                    <a:lnT>
                      <a:noFill/>
                    </a:lnT>
                    <a:lnB>
                      <a:noFill/>
                    </a:lnB>
                    <a:noFill/>
                  </a:tcPr>
                </a:tc>
                <a:extLst>
                  <a:ext uri="{0D108BD9-81ED-4DB2-BD59-A6C34878D82A}">
                    <a16:rowId xmlns:a16="http://schemas.microsoft.com/office/drawing/2014/main" xmlns="" val="3976650645"/>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30%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10%</a:t>
                      </a:r>
                    </a:p>
                  </a:txBody>
                  <a:tcPr marL="0" marR="0" marT="0" marB="0" anchor="ctr">
                    <a:lnL>
                      <a:noFill/>
                    </a:lnL>
                    <a:lnR>
                      <a:noFill/>
                    </a:lnR>
                    <a:lnT>
                      <a:noFill/>
                    </a:lnT>
                    <a:lnB>
                      <a:noFill/>
                    </a:lnB>
                    <a:noFill/>
                  </a:tcPr>
                </a:tc>
                <a:extLst>
                  <a:ext uri="{0D108BD9-81ED-4DB2-BD59-A6C34878D82A}">
                    <a16:rowId xmlns:a16="http://schemas.microsoft.com/office/drawing/2014/main" xmlns="" val="2043495808"/>
                  </a:ext>
                </a:extLst>
              </a:tr>
              <a:tr h="78252">
                <a:tc>
                  <a:txBody>
                    <a:bodyPr/>
                    <a:lstStyle/>
                    <a:p>
                      <a:pPr algn="l" fontAlgn="ctr">
                        <a:buNone/>
                      </a:pPr>
                      <a:r>
                        <a:rPr lang="zh-CN" altLang="en-US" sz="750" b="0" i="0" u="none" strike="noStrike">
                          <a:solidFill>
                            <a:srgbClr val="000000"/>
                          </a:solidFill>
                          <a:effectLst/>
                          <a:latin typeface="+mn-ea"/>
                          <a:ea typeface="+mn-ea"/>
                        </a:rPr>
                        <a:t>      均价（元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625.32</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575.29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575.29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575.29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575.29</a:t>
                      </a:r>
                    </a:p>
                  </a:txBody>
                  <a:tcPr marL="0" marR="0" marT="0" marB="0" anchor="ctr">
                    <a:lnL>
                      <a:noFill/>
                    </a:lnL>
                    <a:lnR>
                      <a:noFill/>
                    </a:lnR>
                    <a:lnT>
                      <a:noFill/>
                    </a:lnT>
                    <a:lnB>
                      <a:noFill/>
                    </a:lnB>
                    <a:noFill/>
                  </a:tcPr>
                </a:tc>
                <a:extLst>
                  <a:ext uri="{0D108BD9-81ED-4DB2-BD59-A6C34878D82A}">
                    <a16:rowId xmlns:a16="http://schemas.microsoft.com/office/drawing/2014/main" xmlns="" val="4134473052"/>
                  </a:ext>
                </a:extLst>
              </a:tr>
              <a:tr h="78252">
                <a:tc>
                  <a:txBody>
                    <a:bodyPr/>
                    <a:lstStyle/>
                    <a:p>
                      <a:pPr algn="l" fontAlgn="ctr">
                        <a:buNone/>
                      </a:pPr>
                      <a:r>
                        <a:rPr lang="zh-CN" altLang="en-US" sz="750" b="0" i="0" u="none" strike="noStrike">
                          <a:solidFill>
                            <a:srgbClr val="000000"/>
                          </a:solidFill>
                          <a:effectLst/>
                          <a:latin typeface="+mn-ea"/>
                          <a:ea typeface="+mn-ea"/>
                        </a:rPr>
                        <a:t>      成本（元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515.00</a:t>
                      </a:r>
                    </a:p>
                  </a:txBody>
                  <a:tcPr marL="0" marR="0" marT="0" marB="0" anchor="ctr">
                    <a:lnL>
                      <a:noFill/>
                    </a:lnL>
                    <a:lnR>
                      <a:noFill/>
                    </a:lnR>
                    <a:lnT>
                      <a:noFill/>
                    </a:lnT>
                    <a:lnB>
                      <a:noFill/>
                    </a:lnB>
                    <a:noFill/>
                  </a:tcPr>
                </a:tc>
                <a:extLst>
                  <a:ext uri="{0D108BD9-81ED-4DB2-BD59-A6C34878D82A}">
                    <a16:rowId xmlns:a16="http://schemas.microsoft.com/office/drawing/2014/main" xmlns="" val="1294929543"/>
                  </a:ext>
                </a:extLst>
              </a:tr>
              <a:tr h="78252">
                <a:tc>
                  <a:txBody>
                    <a:bodyPr/>
                    <a:lstStyle/>
                    <a:p>
                      <a:pPr algn="l" fontAlgn="ctr">
                        <a:buNone/>
                      </a:pPr>
                      <a:r>
                        <a:rPr lang="zh-CN" altLang="en-US" sz="750" b="0" i="0" u="none" strike="noStrike">
                          <a:solidFill>
                            <a:srgbClr val="000000"/>
                          </a:solidFill>
                          <a:effectLst/>
                          <a:latin typeface="+mn-ea"/>
                          <a:ea typeface="+mn-ea"/>
                        </a:rPr>
                        <a:t>        制造成本（元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410.00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410.00</a:t>
                      </a:r>
                    </a:p>
                  </a:txBody>
                  <a:tcPr marL="0" marR="0" marT="0" marB="0" anchor="ctr">
                    <a:lnL>
                      <a:noFill/>
                    </a:lnL>
                    <a:lnR>
                      <a:noFill/>
                    </a:lnR>
                    <a:lnT>
                      <a:noFill/>
                    </a:lnT>
                    <a:lnB>
                      <a:noFill/>
                    </a:lnB>
                    <a:noFill/>
                  </a:tcPr>
                </a:tc>
                <a:extLst>
                  <a:ext uri="{0D108BD9-81ED-4DB2-BD59-A6C34878D82A}">
                    <a16:rowId xmlns:a16="http://schemas.microsoft.com/office/drawing/2014/main" xmlns="" val="489963762"/>
                  </a:ext>
                </a:extLst>
              </a:tr>
              <a:tr h="78252">
                <a:tc>
                  <a:txBody>
                    <a:bodyPr/>
                    <a:lstStyle/>
                    <a:p>
                      <a:pPr algn="l" fontAlgn="ctr">
                        <a:buNone/>
                      </a:pPr>
                      <a:r>
                        <a:rPr lang="zh-CN" altLang="en-US" sz="750" b="0" i="0" u="none" strike="noStrike">
                          <a:solidFill>
                            <a:srgbClr val="000000"/>
                          </a:solidFill>
                          <a:effectLst/>
                          <a:latin typeface="+mn-ea"/>
                          <a:ea typeface="+mn-ea"/>
                        </a:rPr>
                        <a:t>        运费（元</a:t>
                      </a:r>
                      <a:r>
                        <a:rPr lang="en-US" altLang="zh-CN" sz="750" b="0" i="0" u="none" strike="noStrike">
                          <a:solidFill>
                            <a:srgbClr val="000000"/>
                          </a:solidFill>
                          <a:effectLst/>
                          <a:latin typeface="+mn-ea"/>
                          <a:ea typeface="+mn-ea"/>
                        </a:rPr>
                        <a:t>/</a:t>
                      </a:r>
                      <a:r>
                        <a:rPr lang="zh-CN" altLang="en-US" sz="7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105.00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105.00</a:t>
                      </a:r>
                    </a:p>
                  </a:txBody>
                  <a:tcPr marL="0" marR="0" marT="0" marB="0" anchor="ctr">
                    <a:lnL>
                      <a:noFill/>
                    </a:lnL>
                    <a:lnR>
                      <a:noFill/>
                    </a:lnR>
                    <a:lnT>
                      <a:noFill/>
                    </a:lnT>
                    <a:lnB>
                      <a:noFill/>
                    </a:lnB>
                    <a:noFill/>
                  </a:tcPr>
                </a:tc>
                <a:extLst>
                  <a:ext uri="{0D108BD9-81ED-4DB2-BD59-A6C34878D82A}">
                    <a16:rowId xmlns:a16="http://schemas.microsoft.com/office/drawing/2014/main" xmlns="" val="2214026753"/>
                  </a:ext>
                </a:extLst>
              </a:tr>
              <a:tr h="78252">
                <a:tc>
                  <a:txBody>
                    <a:bodyPr/>
                    <a:lstStyle/>
                    <a:p>
                      <a:pPr algn="l" fontAlgn="ctr">
                        <a:buNone/>
                      </a:pPr>
                      <a:r>
                        <a:rPr lang="zh-CN" altLang="en-US" sz="7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23.09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15.14</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19.69</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21.66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23.82</a:t>
                      </a:r>
                    </a:p>
                  </a:txBody>
                  <a:tcPr marL="0" marR="0" marT="0" marB="0" anchor="ctr">
                    <a:lnL>
                      <a:noFill/>
                    </a:lnL>
                    <a:lnR>
                      <a:noFill/>
                    </a:lnR>
                    <a:lnT>
                      <a:noFill/>
                    </a:lnT>
                    <a:lnB>
                      <a:noFill/>
                    </a:lnB>
                    <a:noFill/>
                  </a:tcPr>
                </a:tc>
                <a:extLst>
                  <a:ext uri="{0D108BD9-81ED-4DB2-BD59-A6C34878D82A}">
                    <a16:rowId xmlns:a16="http://schemas.microsoft.com/office/drawing/2014/main" xmlns="" val="3459553758"/>
                  </a:ext>
                </a:extLst>
              </a:tr>
              <a:tr h="78252">
                <a:tc>
                  <a:txBody>
                    <a:bodyPr/>
                    <a:lstStyle/>
                    <a:p>
                      <a:pPr algn="l" fontAlgn="ctr">
                        <a:buNone/>
                      </a:pPr>
                      <a:r>
                        <a:rPr lang="zh-CN" altLang="en-US" sz="750" b="0" i="0" u="none" strike="noStrike">
                          <a:solidFill>
                            <a:srgbClr val="000000"/>
                          </a:solidFill>
                          <a:effectLst/>
                          <a:latin typeface="+mn-ea"/>
                          <a:ea typeface="+mn-ea"/>
                        </a:rPr>
                        <a:t>     其他</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49.20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37.38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44.86</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51.58</a:t>
                      </a:r>
                    </a:p>
                  </a:txBody>
                  <a:tcPr marL="0" marR="0" marT="0" marB="0" anchor="ctr">
                    <a:lnL>
                      <a:noFill/>
                    </a:lnL>
                    <a:lnR>
                      <a:noFill/>
                    </a:lnR>
                    <a:lnT>
                      <a:noFill/>
                    </a:lnT>
                    <a:lnB>
                      <a:noFill/>
                    </a:lnB>
                    <a:noFill/>
                  </a:tcPr>
                </a:tc>
                <a:tc>
                  <a:txBody>
                    <a:bodyPr/>
                    <a:lstStyle/>
                    <a:p>
                      <a:pPr algn="r" fontAlgn="ctr">
                        <a:buNone/>
                      </a:pPr>
                      <a:r>
                        <a:rPr lang="en-US" altLang="zh-CN" sz="750" b="0" i="0" u="none" strike="noStrike">
                          <a:solidFill>
                            <a:srgbClr val="000000"/>
                          </a:solidFill>
                          <a:effectLst/>
                          <a:latin typeface="+mn-ea"/>
                          <a:ea typeface="+mn-ea"/>
                        </a:rPr>
                        <a:t>56.74</a:t>
                      </a:r>
                    </a:p>
                  </a:txBody>
                  <a:tcPr marL="0" marR="0" marT="0" marB="0" anchor="ctr">
                    <a:lnL>
                      <a:noFill/>
                    </a:lnL>
                    <a:lnR>
                      <a:noFill/>
                    </a:lnR>
                    <a:lnT>
                      <a:noFill/>
                    </a:lnT>
                    <a:lnB>
                      <a:noFill/>
                    </a:lnB>
                    <a:noFill/>
                  </a:tcPr>
                </a:tc>
                <a:extLst>
                  <a:ext uri="{0D108BD9-81ED-4DB2-BD59-A6C34878D82A}">
                    <a16:rowId xmlns:a16="http://schemas.microsoft.com/office/drawing/2014/main" xmlns="" val="1661356083"/>
                  </a:ext>
                </a:extLst>
              </a:tr>
              <a:tr h="78252">
                <a:tc>
                  <a:txBody>
                    <a:bodyPr/>
                    <a:lstStyle/>
                    <a:p>
                      <a:pPr algn="l" fontAlgn="ctr">
                        <a:buNone/>
                      </a:pPr>
                      <a:r>
                        <a:rPr lang="en-US" sz="7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30%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15%</a:t>
                      </a:r>
                    </a:p>
                  </a:txBody>
                  <a:tcPr marL="0" marR="0" marT="0" marB="0" anchor="ctr">
                    <a:lnL>
                      <a:noFill/>
                    </a:lnL>
                    <a:lnR>
                      <a:noFill/>
                    </a:lnR>
                    <a:lnT>
                      <a:noFill/>
                    </a:lnT>
                    <a:lnB>
                      <a:noFill/>
                    </a:lnB>
                    <a:noFill/>
                  </a:tcPr>
                </a:tc>
                <a:tc>
                  <a:txBody>
                    <a:bodyPr/>
                    <a:lstStyle/>
                    <a:p>
                      <a:pPr algn="r" fontAlgn="ctr">
                        <a:buNone/>
                      </a:pPr>
                      <a:r>
                        <a:rPr lang="en-US" altLang="zh-CN" sz="750" b="0" i="0" u="none" strike="noStrike">
                          <a:effectLst/>
                          <a:latin typeface="+mn-ea"/>
                          <a:ea typeface="+mn-ea"/>
                        </a:rPr>
                        <a:t>10%</a:t>
                      </a:r>
                    </a:p>
                  </a:txBody>
                  <a:tcPr marL="0" marR="0" marT="0" marB="0" anchor="ctr">
                    <a:lnL>
                      <a:noFill/>
                    </a:lnL>
                    <a:lnR>
                      <a:noFill/>
                    </a:lnR>
                    <a:lnT>
                      <a:noFill/>
                    </a:lnT>
                    <a:lnB>
                      <a:noFill/>
                    </a:lnB>
                    <a:noFill/>
                  </a:tcPr>
                </a:tc>
                <a:extLst>
                  <a:ext uri="{0D108BD9-81ED-4DB2-BD59-A6C34878D82A}">
                    <a16:rowId xmlns:a16="http://schemas.microsoft.com/office/drawing/2014/main" xmlns="" val="1907382289"/>
                  </a:ext>
                </a:extLst>
              </a:tr>
              <a:tr h="78252">
                <a:tc>
                  <a:txBody>
                    <a:bodyPr/>
                    <a:lstStyle/>
                    <a:p>
                      <a:pPr algn="l" fontAlgn="ctr">
                        <a:buNone/>
                      </a:pPr>
                      <a:r>
                        <a:rPr lang="zh-CN" altLang="en-US" sz="750" b="0" i="0" u="none" strike="noStrike">
                          <a:solidFill>
                            <a:srgbClr val="000000"/>
                          </a:solidFill>
                          <a:effectLst/>
                          <a:latin typeface="+mn-ea"/>
                          <a:ea typeface="+mn-ea"/>
                        </a:rPr>
                        <a:t>      毛利</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750" b="0" i="0" u="none" strike="noStrike">
                          <a:solidFill>
                            <a:srgbClr val="000000"/>
                          </a:solidFill>
                          <a:effectLst/>
                          <a:latin typeface="+mn-ea"/>
                          <a:ea typeface="+mn-ea"/>
                        </a:rPr>
                        <a:t>7.38</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750" b="0" i="0" u="none" strike="noStrike">
                          <a:solidFill>
                            <a:srgbClr val="000000"/>
                          </a:solidFill>
                          <a:effectLst/>
                          <a:latin typeface="+mn-ea"/>
                          <a:ea typeface="+mn-ea"/>
                        </a:rPr>
                        <a:t>5.61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750" b="0" i="0" u="none" strike="noStrike">
                          <a:solidFill>
                            <a:srgbClr val="000000"/>
                          </a:solidFill>
                          <a:effectLst/>
                          <a:latin typeface="+mn-ea"/>
                          <a:ea typeface="+mn-ea"/>
                        </a:rPr>
                        <a:t>6.73</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750" b="0" i="0" u="none" strike="noStrike">
                          <a:solidFill>
                            <a:srgbClr val="000000"/>
                          </a:solidFill>
                          <a:effectLst/>
                          <a:latin typeface="+mn-ea"/>
                          <a:ea typeface="+mn-ea"/>
                        </a:rPr>
                        <a:t>7.74</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750" b="0" i="0" u="none" strike="noStrike" dirty="0">
                          <a:solidFill>
                            <a:srgbClr val="000000"/>
                          </a:solidFill>
                          <a:effectLst/>
                          <a:latin typeface="+mn-ea"/>
                          <a:ea typeface="+mn-ea"/>
                        </a:rPr>
                        <a:t>8.51</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80444578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230537" y="1047098"/>
            <a:ext cx="3221631" cy="3281554"/>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通用工业气体业务：</a:t>
            </a:r>
            <a:r>
              <a:rPr lang="en-US" altLang="zh-CN" sz="1100" b="1" dirty="0">
                <a:latin typeface="Arial" panose="020B0604020202020204" pitchFamily="34" charset="0"/>
                <a:ea typeface="思源黑体 Heavy" panose="020B0A00000000000000" pitchFamily="34" charset="-122"/>
                <a:cs typeface="Arial" panose="020B0604020202020204" pitchFamily="34" charset="0"/>
              </a:rPr>
              <a:t>26</a:t>
            </a:r>
            <a:r>
              <a:rPr lang="zh-CN" altLang="en-US" sz="1100" b="1" dirty="0">
                <a:latin typeface="Arial" panose="020B0604020202020204" pitchFamily="34" charset="0"/>
                <a:ea typeface="思源黑体 Heavy" panose="020B0A00000000000000" pitchFamily="34" charset="-122"/>
                <a:cs typeface="Arial" panose="020B0604020202020204" pitchFamily="34" charset="0"/>
              </a:rPr>
              <a:t>年开始营收、毛利率回升，主因液态气价格同比风险减弱</a:t>
            </a:r>
            <a:r>
              <a:rPr lang="zh-CN" altLang="en-US" sz="1100" dirty="0">
                <a:latin typeface="Arial" panose="020B0604020202020204" pitchFamily="34" charset="0"/>
                <a:ea typeface="思源黑体 Heavy" panose="020B0A00000000000000" pitchFamily="34" charset="-122"/>
                <a:cs typeface="Arial" panose="020B0604020202020204" pitchFamily="34" charset="0"/>
              </a:rPr>
              <a:t>。</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现场制气：</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公司未有新钢铁、化工项目，营收端维持稳健，毛利率基本维持。</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u="sng" dirty="0">
                <a:latin typeface="Arial" panose="020B0604020202020204" pitchFamily="34" charset="0"/>
                <a:ea typeface="思源黑体 Heavy" panose="020B0A00000000000000" pitchFamily="34" charset="-122"/>
                <a:cs typeface="Arial" panose="020B0604020202020204" pitchFamily="34" charset="0"/>
              </a:rPr>
              <a:t>零售供气：</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主要为液氧</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液氮</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液氩与非电子氦气销售。预计</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25/26/27</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年营收随着氦气获取量有所增长，毛利从</a:t>
            </a:r>
            <a:r>
              <a:rPr lang="en-US" altLang="zh-CN" sz="1100" dirty="0">
                <a:latin typeface="Arial" panose="020B0604020202020204" pitchFamily="34" charset="0"/>
                <a:ea typeface="思源黑体 Heavy" panose="020B0A00000000000000" pitchFamily="34" charset="-122"/>
                <a:cs typeface="Arial" panose="020B0604020202020204" pitchFamily="34" charset="0"/>
              </a:rPr>
              <a:t>26</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年开始有所修复。</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l"/>
            </a:pPr>
            <a:r>
              <a:rPr lang="zh-CN" altLang="en-US" sz="1100" dirty="0">
                <a:latin typeface="Arial" panose="020B0604020202020204" pitchFamily="34" charset="0"/>
                <a:ea typeface="思源黑体 Heavy" panose="020B0A00000000000000" pitchFamily="34" charset="-122"/>
                <a:cs typeface="Arial" panose="020B0604020202020204" pitchFamily="34" charset="0"/>
              </a:rPr>
              <a:t>液态气：</a:t>
            </a:r>
            <a:r>
              <a:rPr lang="en-US" altLang="zh-CN" sz="1100" dirty="0">
                <a:latin typeface="Arial" panose="020B0604020202020204" pitchFamily="34" charset="0"/>
                <a:ea typeface="思源黑体 Heavy" panose="020B0A00000000000000" pitchFamily="34" charset="-122"/>
                <a:cs typeface="Arial" panose="020B0604020202020204" pitchFamily="34" charset="0"/>
              </a:rPr>
              <a:t>24-25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年由于需求减弱，价格仍有下滑，但当前价格处于现金成本与全制造成本之间，下行风险已经释放，因此</a:t>
            </a:r>
            <a:r>
              <a:rPr lang="en-US" altLang="zh-CN" sz="1100" dirty="0">
                <a:latin typeface="Arial" panose="020B0604020202020204" pitchFamily="34" charset="0"/>
                <a:ea typeface="思源黑体 Heavy" panose="020B0A00000000000000" pitchFamily="34" charset="-122"/>
                <a:cs typeface="Arial" panose="020B0604020202020204" pitchFamily="34" charset="0"/>
              </a:rPr>
              <a:t>26</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年开始三类液态气价格维持稳健，能否上行取决于整体工业经济复苏程度；从量上看，随着公司零售渠道上行，仍有望带动增量销售，稳健提升；</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l"/>
            </a:pPr>
            <a:r>
              <a:rPr lang="zh-CN" altLang="en-US" sz="1100" dirty="0">
                <a:latin typeface="Arial" panose="020B0604020202020204" pitchFamily="34" charset="0"/>
                <a:ea typeface="思源黑体 Heavy" panose="020B0A00000000000000" pitchFamily="34" charset="-122"/>
                <a:cs typeface="Arial" panose="020B0604020202020204" pitchFamily="34" charset="0"/>
              </a:rPr>
              <a:t>非电子氦气：非电子氦气价格已到冰点，市场相对透明，成本端到</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年也基本稳定。</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p:txBody>
      </p:sp>
      <p:sp>
        <p:nvSpPr>
          <p:cNvPr id="4" name="矩形 3"/>
          <p:cNvSpPr/>
          <p:nvPr/>
        </p:nvSpPr>
        <p:spPr>
          <a:xfrm>
            <a:off x="2685626" y="457316"/>
            <a:ext cx="6924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chemeClr val="lt1"/>
                </a:solidFill>
                <a:effectLst/>
                <a:uFillTx/>
                <a:latin typeface="+mj-lt"/>
                <a:ea typeface="+mj-ea"/>
                <a:cs typeface="+mj-cs"/>
                <a:sym typeface="等线" panose="02010600030101010101" charset="-122"/>
              </a:defRPr>
            </a:lvl9pPr>
          </a:lstStyle>
          <a:p>
            <a:pPr algn="ctr"/>
            <a:r>
              <a:rPr lang="zh-CN" altLang="en-US" sz="1000" b="1" dirty="0">
                <a:solidFill>
                  <a:schemeClr val="tx1"/>
                </a:solidFill>
                <a:latin typeface="微软雅黑 Light" panose="020B0502040204020203" pitchFamily="34" charset="-122"/>
                <a:ea typeface="微软雅黑 Light" panose="020B0502040204020203" pitchFamily="34" charset="-122"/>
              </a:rPr>
              <a:t>表：通用工业气体预测</a:t>
            </a:r>
          </a:p>
        </p:txBody>
      </p:sp>
      <p:sp>
        <p:nvSpPr>
          <p:cNvPr id="6" name="标题 1">
            <a:extLst>
              <a:ext uri="{FF2B5EF4-FFF2-40B4-BE49-F238E27FC236}">
                <a16:creationId xmlns:a16="http://schemas.microsoft.com/office/drawing/2014/main" xmlns="" id="{32246E53-08ED-0392-2FC6-842E5CF838BB}"/>
              </a:ext>
            </a:extLst>
          </p:cNvPr>
          <p:cNvSpPr>
            <a:spLocks noGrp="1"/>
          </p:cNvSpPr>
          <p:nvPr/>
        </p:nvSpPr>
        <p:spPr>
          <a:xfrm>
            <a:off x="783952" y="426814"/>
            <a:ext cx="9418549"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盈利预测</a:t>
            </a:r>
          </a:p>
        </p:txBody>
      </p:sp>
      <p:sp>
        <p:nvSpPr>
          <p:cNvPr id="7" name="矩形 6">
            <a:extLst>
              <a:ext uri="{FF2B5EF4-FFF2-40B4-BE49-F238E27FC236}">
                <a16:creationId xmlns:a16="http://schemas.microsoft.com/office/drawing/2014/main" xmlns="" id="{53D6FCCA-3879-9C7A-6C40-C47C658EFEA9}"/>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06</a:t>
            </a:r>
            <a:endParaRPr lang="zh-CN" altLang="en-US" sz="3200" dirty="0"/>
          </a:p>
        </p:txBody>
      </p:sp>
      <p:sp>
        <p:nvSpPr>
          <p:cNvPr id="8" name="矩形 7">
            <a:extLst>
              <a:ext uri="{FF2B5EF4-FFF2-40B4-BE49-F238E27FC236}">
                <a16:creationId xmlns:a16="http://schemas.microsoft.com/office/drawing/2014/main" xmlns="" id="{39C6A538-B0D9-50CA-B010-48F13F00D31E}"/>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9" name="表格 8">
            <a:extLst>
              <a:ext uri="{FF2B5EF4-FFF2-40B4-BE49-F238E27FC236}">
                <a16:creationId xmlns:a16="http://schemas.microsoft.com/office/drawing/2014/main" xmlns="" id="{44C56C24-AE10-158D-46B4-202D663C3CBB}"/>
              </a:ext>
            </a:extLst>
          </p:cNvPr>
          <p:cNvGraphicFramePr>
            <a:graphicFrameLocks noGrp="1"/>
          </p:cNvGraphicFramePr>
          <p:nvPr>
            <p:extLst>
              <p:ext uri="{D42A27DB-BD31-4B8C-83A1-F6EECF244321}">
                <p14:modId xmlns:p14="http://schemas.microsoft.com/office/powerpoint/2010/main" val="2294537055"/>
              </p:ext>
            </p:extLst>
          </p:nvPr>
        </p:nvGraphicFramePr>
        <p:xfrm>
          <a:off x="4032639" y="699151"/>
          <a:ext cx="4619898" cy="4358640"/>
        </p:xfrm>
        <a:graphic>
          <a:graphicData uri="http://schemas.openxmlformats.org/drawingml/2006/table">
            <a:tbl>
              <a:tblPr/>
              <a:tblGrid>
                <a:gridCol w="1527843">
                  <a:extLst>
                    <a:ext uri="{9D8B030D-6E8A-4147-A177-3AD203B41FA5}">
                      <a16:colId xmlns:a16="http://schemas.microsoft.com/office/drawing/2014/main" xmlns="" val="65542726"/>
                    </a:ext>
                  </a:extLst>
                </a:gridCol>
                <a:gridCol w="618411">
                  <a:extLst>
                    <a:ext uri="{9D8B030D-6E8A-4147-A177-3AD203B41FA5}">
                      <a16:colId xmlns:a16="http://schemas.microsoft.com/office/drawing/2014/main" xmlns="" val="487110677"/>
                    </a:ext>
                  </a:extLst>
                </a:gridCol>
                <a:gridCol w="618411">
                  <a:extLst>
                    <a:ext uri="{9D8B030D-6E8A-4147-A177-3AD203B41FA5}">
                      <a16:colId xmlns:a16="http://schemas.microsoft.com/office/drawing/2014/main" xmlns="" val="1418047015"/>
                    </a:ext>
                  </a:extLst>
                </a:gridCol>
                <a:gridCol w="618411">
                  <a:extLst>
                    <a:ext uri="{9D8B030D-6E8A-4147-A177-3AD203B41FA5}">
                      <a16:colId xmlns:a16="http://schemas.microsoft.com/office/drawing/2014/main" xmlns="" val="472895978"/>
                    </a:ext>
                  </a:extLst>
                </a:gridCol>
                <a:gridCol w="618411">
                  <a:extLst>
                    <a:ext uri="{9D8B030D-6E8A-4147-A177-3AD203B41FA5}">
                      <a16:colId xmlns:a16="http://schemas.microsoft.com/office/drawing/2014/main" xmlns="" val="2784902110"/>
                    </a:ext>
                  </a:extLst>
                </a:gridCol>
                <a:gridCol w="618411">
                  <a:extLst>
                    <a:ext uri="{9D8B030D-6E8A-4147-A177-3AD203B41FA5}">
                      <a16:colId xmlns:a16="http://schemas.microsoft.com/office/drawing/2014/main" xmlns="" val="3385887145"/>
                    </a:ext>
                  </a:extLst>
                </a:gridCol>
              </a:tblGrid>
              <a:tr h="72636">
                <a:tc>
                  <a:txBody>
                    <a:bodyPr/>
                    <a:lstStyle/>
                    <a:p>
                      <a:pPr algn="l" fontAlgn="ctr">
                        <a:buNone/>
                      </a:pPr>
                      <a:r>
                        <a:rPr lang="zh-CN" altLang="en-US" sz="650" b="1" i="0" u="none" strike="noStrike" dirty="0">
                          <a:solidFill>
                            <a:srgbClr val="000000"/>
                          </a:solidFill>
                          <a:effectLst/>
                          <a:latin typeface="+mn-ea"/>
                          <a:ea typeface="+mn-ea"/>
                        </a:rPr>
                        <a:t>项目（百万元）</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50" b="1" i="0" u="none" strike="noStrike">
                          <a:solidFill>
                            <a:srgbClr val="000000"/>
                          </a:solidFill>
                          <a:effectLst/>
                          <a:latin typeface="+mn-ea"/>
                          <a:ea typeface="+mn-ea"/>
                        </a:rPr>
                        <a:t>2023</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altLang="zh-CN" sz="650" b="1" i="0" u="none" strike="noStrike">
                          <a:solidFill>
                            <a:srgbClr val="000000"/>
                          </a:solidFill>
                          <a:effectLst/>
                          <a:latin typeface="+mn-ea"/>
                          <a:ea typeface="+mn-ea"/>
                        </a:rPr>
                        <a:t>2024</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50" b="1" i="0" u="none" strike="noStrike">
                          <a:solidFill>
                            <a:srgbClr val="000000"/>
                          </a:solidFill>
                          <a:effectLst/>
                          <a:latin typeface="+mn-ea"/>
                          <a:ea typeface="+mn-ea"/>
                        </a:rPr>
                        <a:t>2025E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50" b="1" i="0" u="none" strike="noStrike">
                          <a:solidFill>
                            <a:srgbClr val="000000"/>
                          </a:solidFill>
                          <a:effectLst/>
                          <a:latin typeface="+mn-ea"/>
                          <a:ea typeface="+mn-ea"/>
                        </a:rPr>
                        <a:t>2026E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buNone/>
                      </a:pPr>
                      <a:r>
                        <a:rPr lang="en-US" sz="650" b="1" i="0" u="none" strike="noStrike">
                          <a:solidFill>
                            <a:srgbClr val="000000"/>
                          </a:solidFill>
                          <a:effectLst/>
                          <a:latin typeface="+mn-ea"/>
                          <a:ea typeface="+mn-ea"/>
                        </a:rPr>
                        <a:t>2027E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981899892"/>
                  </a:ext>
                </a:extLst>
              </a:tr>
              <a:tr h="72636">
                <a:tc>
                  <a:txBody>
                    <a:bodyPr/>
                    <a:lstStyle/>
                    <a:p>
                      <a:pPr algn="l" fontAlgn="ctr">
                        <a:buNone/>
                      </a:pPr>
                      <a:r>
                        <a:rPr lang="zh-CN" altLang="en-US" sz="650" b="1" i="0" u="none" strike="noStrike">
                          <a:solidFill>
                            <a:srgbClr val="000000"/>
                          </a:solidFill>
                          <a:effectLst/>
                          <a:latin typeface="+mn-ea"/>
                          <a:ea typeface="+mn-ea"/>
                        </a:rPr>
                        <a:t>通用工业气体</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650" b="1" i="0" u="none" strike="noStrike">
                          <a:solidFill>
                            <a:srgbClr val="000000"/>
                          </a:solidFill>
                          <a:effectLst/>
                          <a:latin typeface="+mn-ea"/>
                          <a:ea typeface="+mn-ea"/>
                        </a:rPr>
                        <a:t>514.53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650" b="1" i="0" u="none" strike="noStrike">
                          <a:solidFill>
                            <a:srgbClr val="000000"/>
                          </a:solidFill>
                          <a:effectLst/>
                          <a:latin typeface="+mn-ea"/>
                          <a:ea typeface="+mn-ea"/>
                        </a:rPr>
                        <a:t>483.83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650" b="1" i="0" u="none" strike="noStrike">
                          <a:solidFill>
                            <a:srgbClr val="000000"/>
                          </a:solidFill>
                          <a:effectLst/>
                          <a:latin typeface="+mn-ea"/>
                          <a:ea typeface="+mn-ea"/>
                        </a:rPr>
                        <a:t>521.93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650" b="1" i="0" u="none" strike="noStrike">
                          <a:solidFill>
                            <a:srgbClr val="000000"/>
                          </a:solidFill>
                          <a:effectLst/>
                          <a:latin typeface="+mn-ea"/>
                          <a:ea typeface="+mn-ea"/>
                        </a:rPr>
                        <a:t>564.09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tc>
                  <a:txBody>
                    <a:bodyPr/>
                    <a:lstStyle/>
                    <a:p>
                      <a:pPr algn="r" fontAlgn="ctr">
                        <a:buNone/>
                      </a:pPr>
                      <a:r>
                        <a:rPr lang="en-US" altLang="zh-CN" sz="650" b="1" i="0" u="none" strike="noStrike">
                          <a:solidFill>
                            <a:srgbClr val="000000"/>
                          </a:solidFill>
                          <a:effectLst/>
                          <a:latin typeface="+mn-ea"/>
                          <a:ea typeface="+mn-ea"/>
                        </a:rPr>
                        <a:t>617.28</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DCE6F1"/>
                    </a:solidFill>
                  </a:tcPr>
                </a:tc>
                <a:extLst>
                  <a:ext uri="{0D108BD9-81ED-4DB2-BD59-A6C34878D82A}">
                    <a16:rowId xmlns:a16="http://schemas.microsoft.com/office/drawing/2014/main" xmlns="" val="2652255277"/>
                  </a:ext>
                </a:extLst>
              </a:tr>
              <a:tr h="72636">
                <a:tc>
                  <a:txBody>
                    <a:bodyPr/>
                    <a:lstStyle/>
                    <a:p>
                      <a:pPr algn="l" fontAlgn="ctr">
                        <a:buNone/>
                      </a:pPr>
                      <a:r>
                        <a:rPr lang="zh-CN" altLang="en-US" sz="6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24.35%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14.94%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11.01%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11.91%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12.79%</a:t>
                      </a:r>
                    </a:p>
                  </a:txBody>
                  <a:tcPr marL="0" marR="0" marT="0" marB="0" anchor="ctr">
                    <a:lnL>
                      <a:noFill/>
                    </a:lnL>
                    <a:lnR>
                      <a:noFill/>
                    </a:lnR>
                    <a:lnT>
                      <a:noFill/>
                    </a:lnT>
                    <a:lnB>
                      <a:noFill/>
                    </a:lnB>
                    <a:noFill/>
                  </a:tcPr>
                </a:tc>
                <a:extLst>
                  <a:ext uri="{0D108BD9-81ED-4DB2-BD59-A6C34878D82A}">
                    <a16:rowId xmlns:a16="http://schemas.microsoft.com/office/drawing/2014/main" xmlns="" val="3370647592"/>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125.26</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72.28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57.45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67.16</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78.96</a:t>
                      </a:r>
                    </a:p>
                  </a:txBody>
                  <a:tcPr marL="0" marR="0" marT="0" marB="0" anchor="ctr">
                    <a:lnL>
                      <a:noFill/>
                    </a:lnL>
                    <a:lnR>
                      <a:noFill/>
                    </a:lnR>
                    <a:lnT>
                      <a:noFill/>
                    </a:lnT>
                    <a:lnB>
                      <a:noFill/>
                    </a:lnB>
                    <a:noFill/>
                  </a:tcPr>
                </a:tc>
                <a:extLst>
                  <a:ext uri="{0D108BD9-81ED-4DB2-BD59-A6C34878D82A}">
                    <a16:rowId xmlns:a16="http://schemas.microsoft.com/office/drawing/2014/main" xmlns="" val="634674596"/>
                  </a:ext>
                </a:extLst>
              </a:tr>
              <a:tr h="72636">
                <a:tc>
                  <a:txBody>
                    <a:bodyPr/>
                    <a:lstStyle/>
                    <a:p>
                      <a:pPr algn="l" fontAlgn="ctr">
                        <a:buNone/>
                      </a:pPr>
                      <a:r>
                        <a:rPr lang="zh-CN" altLang="en-US" sz="650" b="0" i="0" u="none" strike="noStrike">
                          <a:solidFill>
                            <a:srgbClr val="000000"/>
                          </a:solidFill>
                          <a:effectLst/>
                          <a:latin typeface="+mn-ea"/>
                          <a:ea typeface="+mn-ea"/>
                        </a:rPr>
                        <a:t>  </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现场制气</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97.03</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97.03</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97.03</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97.03</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97.03</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xmlns="" val="1765715052"/>
                  </a:ext>
                </a:extLst>
              </a:tr>
              <a:tr h="72636">
                <a:tc>
                  <a:txBody>
                    <a:bodyPr/>
                    <a:lstStyle/>
                    <a:p>
                      <a:pPr algn="l" fontAlgn="ctr">
                        <a:buNone/>
                      </a:pPr>
                      <a:r>
                        <a:rPr lang="zh-CN" altLang="en-US" sz="6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35.50%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33.00%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33.00%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33.00%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33.00%</a:t>
                      </a:r>
                    </a:p>
                  </a:txBody>
                  <a:tcPr marL="0" marR="0" marT="0" marB="0" anchor="ctr">
                    <a:lnL>
                      <a:noFill/>
                    </a:lnL>
                    <a:lnR>
                      <a:noFill/>
                    </a:lnR>
                    <a:lnT>
                      <a:noFill/>
                    </a:lnT>
                    <a:lnB>
                      <a:noFill/>
                    </a:lnB>
                    <a:noFill/>
                  </a:tcPr>
                </a:tc>
                <a:extLst>
                  <a:ext uri="{0D108BD9-81ED-4DB2-BD59-A6C34878D82A}">
                    <a16:rowId xmlns:a16="http://schemas.microsoft.com/office/drawing/2014/main" xmlns="" val="2781456186"/>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34.44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32.02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32.02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32.02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32.02</a:t>
                      </a:r>
                    </a:p>
                  </a:txBody>
                  <a:tcPr marL="0" marR="0" marT="0" marB="0" anchor="ctr">
                    <a:lnL>
                      <a:noFill/>
                    </a:lnL>
                    <a:lnR>
                      <a:noFill/>
                    </a:lnR>
                    <a:lnT>
                      <a:noFill/>
                    </a:lnT>
                    <a:lnB>
                      <a:noFill/>
                    </a:lnB>
                    <a:noFill/>
                  </a:tcPr>
                </a:tc>
                <a:extLst>
                  <a:ext uri="{0D108BD9-81ED-4DB2-BD59-A6C34878D82A}">
                    <a16:rowId xmlns:a16="http://schemas.microsoft.com/office/drawing/2014/main" xmlns="" val="3562766166"/>
                  </a:ext>
                </a:extLst>
              </a:tr>
              <a:tr h="72636">
                <a:tc>
                  <a:txBody>
                    <a:bodyPr/>
                    <a:lstStyle/>
                    <a:p>
                      <a:pPr algn="l" fontAlgn="ctr">
                        <a:buNone/>
                      </a:pPr>
                      <a:r>
                        <a:rPr lang="zh-CN" altLang="en-US" sz="650" b="0" i="0" u="none" strike="noStrike">
                          <a:solidFill>
                            <a:srgbClr val="000000"/>
                          </a:solidFill>
                          <a:effectLst/>
                          <a:latin typeface="+mn-ea"/>
                          <a:ea typeface="+mn-ea"/>
                        </a:rPr>
                        <a:t>  </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零售供气</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417.50</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386.81</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424.91</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467.06</a:t>
                      </a:r>
                    </a:p>
                  </a:txBody>
                  <a:tcPr marL="0" marR="0" marT="0" marB="0" anchor="ctr">
                    <a:lnL>
                      <a:noFill/>
                    </a:lnL>
                    <a:lnR>
                      <a:noFill/>
                    </a:lnR>
                    <a:lnT>
                      <a:noFill/>
                    </a:lnT>
                    <a:lnB>
                      <a:noFill/>
                    </a:lnB>
                    <a:solidFill>
                      <a:srgbClr val="D9D9D9"/>
                    </a:solidFill>
                  </a:tcPr>
                </a:tc>
                <a:tc>
                  <a:txBody>
                    <a:bodyPr/>
                    <a:lstStyle/>
                    <a:p>
                      <a:pPr algn="r" fontAlgn="ctr">
                        <a:buNone/>
                      </a:pPr>
                      <a:r>
                        <a:rPr lang="en-US" altLang="zh-CN" sz="650" b="0" i="0" u="none" strike="noStrike">
                          <a:solidFill>
                            <a:srgbClr val="000000"/>
                          </a:solidFill>
                          <a:effectLst/>
                          <a:latin typeface="+mn-ea"/>
                          <a:ea typeface="+mn-ea"/>
                        </a:rPr>
                        <a:t>520.25</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xmlns="" val="3537632426"/>
                  </a:ext>
                </a:extLst>
              </a:tr>
              <a:tr h="72636">
                <a:tc>
                  <a:txBody>
                    <a:bodyPr/>
                    <a:lstStyle/>
                    <a:p>
                      <a:pPr algn="l" fontAlgn="ctr">
                        <a:buNone/>
                      </a:pPr>
                      <a:r>
                        <a:rPr lang="zh-CN" altLang="en-US" sz="650" b="0" i="0" u="none" strike="noStrike">
                          <a:solidFill>
                            <a:srgbClr val="000000"/>
                          </a:solidFill>
                          <a:effectLst/>
                          <a:latin typeface="+mn-ea"/>
                          <a:ea typeface="+mn-ea"/>
                        </a:rPr>
                        <a:t>   毛利率</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21.75%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10.41%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5.99%</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7.52%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9.02%</a:t>
                      </a:r>
                    </a:p>
                  </a:txBody>
                  <a:tcPr marL="0" marR="0" marT="0" marB="0" anchor="ctr">
                    <a:lnL>
                      <a:noFill/>
                    </a:lnL>
                    <a:lnR>
                      <a:noFill/>
                    </a:lnR>
                    <a:lnT>
                      <a:noFill/>
                    </a:lnT>
                    <a:lnB>
                      <a:noFill/>
                    </a:lnB>
                    <a:noFill/>
                  </a:tcPr>
                </a:tc>
                <a:extLst>
                  <a:ext uri="{0D108BD9-81ED-4DB2-BD59-A6C34878D82A}">
                    <a16:rowId xmlns:a16="http://schemas.microsoft.com/office/drawing/2014/main" xmlns="" val="1542958049"/>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90.82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40.27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25.44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35.14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46.95</a:t>
                      </a:r>
                    </a:p>
                  </a:txBody>
                  <a:tcPr marL="0" marR="0" marT="0" marB="0" anchor="ctr">
                    <a:lnL>
                      <a:noFill/>
                    </a:lnL>
                    <a:lnR>
                      <a:noFill/>
                    </a:lnR>
                    <a:lnT>
                      <a:noFill/>
                    </a:lnT>
                    <a:lnB>
                      <a:noFill/>
                    </a:lnB>
                    <a:noFill/>
                  </a:tcPr>
                </a:tc>
                <a:extLst>
                  <a:ext uri="{0D108BD9-81ED-4DB2-BD59-A6C34878D82A}">
                    <a16:rowId xmlns:a16="http://schemas.microsoft.com/office/drawing/2014/main" xmlns="" val="3014092091"/>
                  </a:ext>
                </a:extLst>
              </a:tr>
              <a:tr h="72636">
                <a:tc>
                  <a:txBody>
                    <a:bodyPr/>
                    <a:lstStyle/>
                    <a:p>
                      <a:pPr algn="l" fontAlgn="ctr">
                        <a:buNone/>
                      </a:pPr>
                      <a:r>
                        <a:rPr lang="zh-CN" altLang="en-US" sz="650" b="0" i="0" u="none" strike="noStrike">
                          <a:solidFill>
                            <a:srgbClr val="000000"/>
                          </a:solidFill>
                          <a:effectLst/>
                          <a:latin typeface="+mn-ea"/>
                          <a:ea typeface="+mn-ea"/>
                        </a:rPr>
                        <a:t>     氧气</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127.12</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226.91</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238.25</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250.17</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262.67</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1227740377"/>
                  </a:ext>
                </a:extLst>
              </a:tr>
              <a:tr h="72636">
                <a:tc>
                  <a:txBody>
                    <a:bodyPr/>
                    <a:lstStyle/>
                    <a:p>
                      <a:pPr algn="l" fontAlgn="ctr">
                        <a:buNone/>
                      </a:pPr>
                      <a:r>
                        <a:rPr lang="zh-CN" altLang="en-US" sz="650" b="0" i="0" u="none" strike="noStrike">
                          <a:solidFill>
                            <a:srgbClr val="000000"/>
                          </a:solidFill>
                          <a:effectLst/>
                          <a:latin typeface="+mn-ea"/>
                          <a:ea typeface="+mn-ea"/>
                        </a:rPr>
                        <a:t>      销量（万吨）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19.76</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41.49</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43.57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45.74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48.03</a:t>
                      </a:r>
                    </a:p>
                  </a:txBody>
                  <a:tcPr marL="0" marR="0" marT="0" marB="0" anchor="ctr">
                    <a:lnL>
                      <a:noFill/>
                    </a:lnL>
                    <a:lnR>
                      <a:noFill/>
                    </a:lnR>
                    <a:lnT>
                      <a:noFill/>
                    </a:lnT>
                    <a:lnB>
                      <a:noFill/>
                    </a:lnB>
                    <a:noFill/>
                  </a:tcPr>
                </a:tc>
                <a:extLst>
                  <a:ext uri="{0D108BD9-81ED-4DB2-BD59-A6C34878D82A}">
                    <a16:rowId xmlns:a16="http://schemas.microsoft.com/office/drawing/2014/main" xmlns="" val="4073933880"/>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extLst>
                  <a:ext uri="{0D108BD9-81ED-4DB2-BD59-A6C34878D82A}">
                    <a16:rowId xmlns:a16="http://schemas.microsoft.com/office/drawing/2014/main" xmlns="" val="823861367"/>
                  </a:ext>
                </a:extLst>
              </a:tr>
              <a:tr h="72636">
                <a:tc>
                  <a:txBody>
                    <a:bodyPr/>
                    <a:lstStyle/>
                    <a:p>
                      <a:pPr algn="l" fontAlgn="ctr">
                        <a:buNone/>
                      </a:pPr>
                      <a:r>
                        <a:rPr lang="zh-CN" altLang="en-US" sz="650" b="0" i="0" u="none" strike="noStrike">
                          <a:solidFill>
                            <a:srgbClr val="000000"/>
                          </a:solidFill>
                          <a:effectLst/>
                          <a:latin typeface="+mn-ea"/>
                          <a:ea typeface="+mn-ea"/>
                        </a:rPr>
                        <a:t>      均价（元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643.38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546.88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546.88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546.88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546.88</a:t>
                      </a:r>
                    </a:p>
                  </a:txBody>
                  <a:tcPr marL="0" marR="0" marT="0" marB="0" anchor="ctr">
                    <a:lnL>
                      <a:noFill/>
                    </a:lnL>
                    <a:lnR>
                      <a:noFill/>
                    </a:lnR>
                    <a:lnT>
                      <a:noFill/>
                    </a:lnT>
                    <a:lnB>
                      <a:noFill/>
                    </a:lnB>
                    <a:noFill/>
                  </a:tcPr>
                </a:tc>
                <a:extLst>
                  <a:ext uri="{0D108BD9-81ED-4DB2-BD59-A6C34878D82A}">
                    <a16:rowId xmlns:a16="http://schemas.microsoft.com/office/drawing/2014/main" xmlns="" val="1729637892"/>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-6%</a:t>
                      </a:r>
                    </a:p>
                  </a:txBody>
                  <a:tcPr marL="0" marR="0" marT="0" marB="0" anchor="ctr">
                    <a:lnL>
                      <a:noFill/>
                    </a:lnL>
                    <a:lnR>
                      <a:noFill/>
                    </a:lnR>
                    <a:lnT>
                      <a:noFill/>
                    </a:lnT>
                    <a:lnB>
                      <a:noFill/>
                    </a:lnB>
                    <a:noFill/>
                  </a:tcPr>
                </a:tc>
                <a:tc>
                  <a:txBody>
                    <a:bodyPr/>
                    <a:lstStyle/>
                    <a:p>
                      <a:pPr algn="r" fontAlgn="ctr">
                        <a:buNone/>
                      </a:pPr>
                      <a:r>
                        <a:rPr lang="en-US" altLang="zh-CN" sz="650" b="0" i="0" u="none" strike="noStrike" dirty="0">
                          <a:effectLst/>
                          <a:latin typeface="+mn-ea"/>
                          <a:ea typeface="+mn-ea"/>
                        </a:rPr>
                        <a:t>-15%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extLst>
                  <a:ext uri="{0D108BD9-81ED-4DB2-BD59-A6C34878D82A}">
                    <a16:rowId xmlns:a16="http://schemas.microsoft.com/office/drawing/2014/main" xmlns="" val="2694614780"/>
                  </a:ext>
                </a:extLst>
              </a:tr>
              <a:tr h="72636">
                <a:tc>
                  <a:txBody>
                    <a:bodyPr/>
                    <a:lstStyle/>
                    <a:p>
                      <a:pPr algn="l" fontAlgn="ctr">
                        <a:buNone/>
                      </a:pPr>
                      <a:r>
                        <a:rPr lang="zh-CN" altLang="en-US" sz="650" b="0" i="0" u="none" strike="noStrike">
                          <a:solidFill>
                            <a:srgbClr val="000000"/>
                          </a:solidFill>
                          <a:effectLst/>
                          <a:latin typeface="+mn-ea"/>
                          <a:ea typeface="+mn-ea"/>
                        </a:rPr>
                        <a:t>      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536.93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536.93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536.93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536.93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536.93</a:t>
                      </a:r>
                    </a:p>
                  </a:txBody>
                  <a:tcPr marL="0" marR="0" marT="0" marB="0" anchor="ctr">
                    <a:lnL>
                      <a:noFill/>
                    </a:lnL>
                    <a:lnR>
                      <a:noFill/>
                    </a:lnR>
                    <a:lnT>
                      <a:noFill/>
                    </a:lnT>
                    <a:lnB>
                      <a:noFill/>
                    </a:lnB>
                    <a:noFill/>
                  </a:tcPr>
                </a:tc>
                <a:extLst>
                  <a:ext uri="{0D108BD9-81ED-4DB2-BD59-A6C34878D82A}">
                    <a16:rowId xmlns:a16="http://schemas.microsoft.com/office/drawing/2014/main" xmlns="" val="2489092113"/>
                  </a:ext>
                </a:extLst>
              </a:tr>
              <a:tr h="72636">
                <a:tc>
                  <a:txBody>
                    <a:bodyPr/>
                    <a:lstStyle/>
                    <a:p>
                      <a:pPr algn="l" fontAlgn="ctr">
                        <a:buNone/>
                      </a:pPr>
                      <a:r>
                        <a:rPr lang="zh-CN" altLang="en-US" sz="650" b="0" i="0" u="none" strike="noStrike">
                          <a:solidFill>
                            <a:srgbClr val="000000"/>
                          </a:solidFill>
                          <a:effectLst/>
                          <a:latin typeface="+mn-ea"/>
                          <a:ea typeface="+mn-ea"/>
                        </a:rPr>
                        <a:t>        制造成本（元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450.00</a:t>
                      </a:r>
                    </a:p>
                  </a:txBody>
                  <a:tcPr marL="0" marR="0" marT="0" marB="0" anchor="ctr">
                    <a:lnL>
                      <a:noFill/>
                    </a:lnL>
                    <a:lnR>
                      <a:noFill/>
                    </a:lnR>
                    <a:lnT>
                      <a:noFill/>
                    </a:lnT>
                    <a:lnB>
                      <a:noFill/>
                    </a:lnB>
                    <a:noFill/>
                  </a:tcPr>
                </a:tc>
                <a:extLst>
                  <a:ext uri="{0D108BD9-81ED-4DB2-BD59-A6C34878D82A}">
                    <a16:rowId xmlns:a16="http://schemas.microsoft.com/office/drawing/2014/main" xmlns="" val="2920784367"/>
                  </a:ext>
                </a:extLst>
              </a:tr>
              <a:tr h="72636">
                <a:tc>
                  <a:txBody>
                    <a:bodyPr/>
                    <a:lstStyle/>
                    <a:p>
                      <a:pPr algn="l" fontAlgn="ctr">
                        <a:buNone/>
                      </a:pPr>
                      <a:r>
                        <a:rPr lang="zh-CN" altLang="en-US" sz="650" b="0" i="0" u="none" strike="noStrike">
                          <a:solidFill>
                            <a:srgbClr val="000000"/>
                          </a:solidFill>
                          <a:effectLst/>
                          <a:latin typeface="+mn-ea"/>
                          <a:ea typeface="+mn-ea"/>
                        </a:rPr>
                        <a:t>        运费（元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86.93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86.93</a:t>
                      </a:r>
                    </a:p>
                  </a:txBody>
                  <a:tcPr marL="0" marR="0" marT="0" marB="0" anchor="ctr">
                    <a:lnL>
                      <a:noFill/>
                    </a:lnL>
                    <a:lnR>
                      <a:noFill/>
                    </a:lnR>
                    <a:lnT>
                      <a:noFill/>
                    </a:lnT>
                    <a:lnB>
                      <a:noFill/>
                    </a:lnB>
                    <a:noFill/>
                  </a:tcPr>
                </a:tc>
                <a:extLst>
                  <a:ext uri="{0D108BD9-81ED-4DB2-BD59-A6C34878D82A}">
                    <a16:rowId xmlns:a16="http://schemas.microsoft.com/office/drawing/2014/main" xmlns="" val="1834413147"/>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21.03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4.13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4.34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4.55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4.78</a:t>
                      </a:r>
                    </a:p>
                  </a:txBody>
                  <a:tcPr marL="0" marR="0" marT="0" marB="0" anchor="ctr">
                    <a:lnL>
                      <a:noFill/>
                    </a:lnL>
                    <a:lnR>
                      <a:noFill/>
                    </a:lnR>
                    <a:lnT>
                      <a:noFill/>
                    </a:lnT>
                    <a:lnB>
                      <a:noFill/>
                    </a:lnB>
                    <a:noFill/>
                  </a:tcPr>
                </a:tc>
                <a:extLst>
                  <a:ext uri="{0D108BD9-81ED-4DB2-BD59-A6C34878D82A}">
                    <a16:rowId xmlns:a16="http://schemas.microsoft.com/office/drawing/2014/main" xmlns="" val="1718282854"/>
                  </a:ext>
                </a:extLst>
              </a:tr>
              <a:tr h="72636">
                <a:tc>
                  <a:txBody>
                    <a:bodyPr/>
                    <a:lstStyle/>
                    <a:p>
                      <a:pPr algn="l" fontAlgn="ctr">
                        <a:buNone/>
                      </a:pPr>
                      <a:r>
                        <a:rPr lang="zh-CN" altLang="en-US" sz="650" b="0" i="0" u="none" strike="noStrike">
                          <a:solidFill>
                            <a:srgbClr val="000000"/>
                          </a:solidFill>
                          <a:effectLst/>
                          <a:latin typeface="+mn-ea"/>
                          <a:ea typeface="+mn-ea"/>
                        </a:rPr>
                        <a:t>     氮气</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68</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72</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75</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79</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83</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3811654752"/>
                  </a:ext>
                </a:extLst>
              </a:tr>
              <a:tr h="72636">
                <a:tc>
                  <a:txBody>
                    <a:bodyPr/>
                    <a:lstStyle/>
                    <a:p>
                      <a:pPr algn="l" fontAlgn="ctr">
                        <a:buNone/>
                      </a:pPr>
                      <a:r>
                        <a:rPr lang="zh-CN" altLang="en-US" sz="650" b="0" i="0" u="none" strike="noStrike">
                          <a:solidFill>
                            <a:srgbClr val="000000"/>
                          </a:solidFill>
                          <a:effectLst/>
                          <a:latin typeface="+mn-ea"/>
                          <a:ea typeface="+mn-ea"/>
                        </a:rPr>
                        <a:t>      销量（万吨）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10.78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12.94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14.23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14.94</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15.69</a:t>
                      </a:r>
                    </a:p>
                  </a:txBody>
                  <a:tcPr marL="0" marR="0" marT="0" marB="0" anchor="ctr">
                    <a:lnL>
                      <a:noFill/>
                    </a:lnL>
                    <a:lnR>
                      <a:noFill/>
                    </a:lnR>
                    <a:lnT>
                      <a:noFill/>
                    </a:lnT>
                    <a:lnB>
                      <a:noFill/>
                    </a:lnB>
                    <a:noFill/>
                  </a:tcPr>
                </a:tc>
                <a:extLst>
                  <a:ext uri="{0D108BD9-81ED-4DB2-BD59-A6C34878D82A}">
                    <a16:rowId xmlns:a16="http://schemas.microsoft.com/office/drawing/2014/main" xmlns="" val="2816320523"/>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extLst>
                  <a:ext uri="{0D108BD9-81ED-4DB2-BD59-A6C34878D82A}">
                    <a16:rowId xmlns:a16="http://schemas.microsoft.com/office/drawing/2014/main" xmlns="" val="3377318739"/>
                  </a:ext>
                </a:extLst>
              </a:tr>
              <a:tr h="72636">
                <a:tc>
                  <a:txBody>
                    <a:bodyPr/>
                    <a:lstStyle/>
                    <a:p>
                      <a:pPr algn="l" fontAlgn="ctr">
                        <a:buNone/>
                      </a:pPr>
                      <a:r>
                        <a:rPr lang="zh-CN" altLang="en-US" sz="650" b="0" i="0" u="none" strike="noStrike">
                          <a:solidFill>
                            <a:srgbClr val="000000"/>
                          </a:solidFill>
                          <a:effectLst/>
                          <a:latin typeface="+mn-ea"/>
                          <a:ea typeface="+mn-ea"/>
                        </a:rPr>
                        <a:t>      均价（元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633.15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557.17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529.32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529.32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529.32</a:t>
                      </a:r>
                    </a:p>
                  </a:txBody>
                  <a:tcPr marL="0" marR="0" marT="0" marB="0" anchor="ctr">
                    <a:lnL>
                      <a:noFill/>
                    </a:lnL>
                    <a:lnR>
                      <a:noFill/>
                    </a:lnR>
                    <a:lnT>
                      <a:noFill/>
                    </a:lnT>
                    <a:lnB>
                      <a:noFill/>
                    </a:lnB>
                    <a:noFill/>
                  </a:tcPr>
                </a:tc>
                <a:extLst>
                  <a:ext uri="{0D108BD9-81ED-4DB2-BD59-A6C34878D82A}">
                    <a16:rowId xmlns:a16="http://schemas.microsoft.com/office/drawing/2014/main" xmlns="" val="91816913"/>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extLst>
                  <a:ext uri="{0D108BD9-81ED-4DB2-BD59-A6C34878D82A}">
                    <a16:rowId xmlns:a16="http://schemas.microsoft.com/office/drawing/2014/main" xmlns="" val="3125384358"/>
                  </a:ext>
                </a:extLst>
              </a:tr>
              <a:tr h="72636">
                <a:tc>
                  <a:txBody>
                    <a:bodyPr/>
                    <a:lstStyle/>
                    <a:p>
                      <a:pPr algn="l" fontAlgn="ctr">
                        <a:buNone/>
                      </a:pPr>
                      <a:r>
                        <a:rPr lang="zh-CN" altLang="en-US" sz="650" b="0" i="0" u="none" strike="noStrike">
                          <a:solidFill>
                            <a:srgbClr val="000000"/>
                          </a:solidFill>
                          <a:effectLst/>
                          <a:latin typeface="+mn-ea"/>
                          <a:ea typeface="+mn-ea"/>
                        </a:rPr>
                        <a:t>      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550.83</a:t>
                      </a:r>
                    </a:p>
                  </a:txBody>
                  <a:tcPr marL="0" marR="0" marT="0" marB="0" anchor="ctr">
                    <a:lnL>
                      <a:noFill/>
                    </a:lnL>
                    <a:lnR>
                      <a:noFill/>
                    </a:lnR>
                    <a:lnT>
                      <a:noFill/>
                    </a:lnT>
                    <a:lnB>
                      <a:noFill/>
                    </a:lnB>
                    <a:noFill/>
                  </a:tcPr>
                </a:tc>
                <a:extLst>
                  <a:ext uri="{0D108BD9-81ED-4DB2-BD59-A6C34878D82A}">
                    <a16:rowId xmlns:a16="http://schemas.microsoft.com/office/drawing/2014/main" xmlns="" val="1564913189"/>
                  </a:ext>
                </a:extLst>
              </a:tr>
              <a:tr h="72636">
                <a:tc>
                  <a:txBody>
                    <a:bodyPr/>
                    <a:lstStyle/>
                    <a:p>
                      <a:pPr algn="l" fontAlgn="ctr">
                        <a:buNone/>
                      </a:pPr>
                      <a:r>
                        <a:rPr lang="zh-CN" altLang="en-US" sz="650" b="0" i="0" u="none" strike="noStrike">
                          <a:solidFill>
                            <a:srgbClr val="000000"/>
                          </a:solidFill>
                          <a:effectLst/>
                          <a:latin typeface="+mn-ea"/>
                          <a:ea typeface="+mn-ea"/>
                        </a:rPr>
                        <a:t>        制造成本（元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420.00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420.00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420.00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420.00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420.00</a:t>
                      </a:r>
                    </a:p>
                  </a:txBody>
                  <a:tcPr marL="0" marR="0" marT="0" marB="0" anchor="ctr">
                    <a:lnL>
                      <a:noFill/>
                    </a:lnL>
                    <a:lnR>
                      <a:noFill/>
                    </a:lnR>
                    <a:lnT>
                      <a:noFill/>
                    </a:lnT>
                    <a:lnB>
                      <a:noFill/>
                    </a:lnB>
                    <a:noFill/>
                  </a:tcPr>
                </a:tc>
                <a:extLst>
                  <a:ext uri="{0D108BD9-81ED-4DB2-BD59-A6C34878D82A}">
                    <a16:rowId xmlns:a16="http://schemas.microsoft.com/office/drawing/2014/main" xmlns="" val="4111753302"/>
                  </a:ext>
                </a:extLst>
              </a:tr>
              <a:tr h="72636">
                <a:tc>
                  <a:txBody>
                    <a:bodyPr/>
                    <a:lstStyle/>
                    <a:p>
                      <a:pPr algn="l" fontAlgn="ctr">
                        <a:buNone/>
                      </a:pPr>
                      <a:r>
                        <a:rPr lang="zh-CN" altLang="en-US" sz="650" b="0" i="0" u="none" strike="noStrike">
                          <a:solidFill>
                            <a:srgbClr val="000000"/>
                          </a:solidFill>
                          <a:effectLst/>
                          <a:latin typeface="+mn-ea"/>
                          <a:ea typeface="+mn-ea"/>
                        </a:rPr>
                        <a:t>        运费（元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130.83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130.83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130.83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130.83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130.83</a:t>
                      </a:r>
                    </a:p>
                  </a:txBody>
                  <a:tcPr marL="0" marR="0" marT="0" marB="0" anchor="ctr">
                    <a:lnL>
                      <a:noFill/>
                    </a:lnL>
                    <a:lnR>
                      <a:noFill/>
                    </a:lnR>
                    <a:lnT>
                      <a:noFill/>
                    </a:lnT>
                    <a:lnB>
                      <a:noFill/>
                    </a:lnB>
                    <a:noFill/>
                  </a:tcPr>
                </a:tc>
                <a:extLst>
                  <a:ext uri="{0D108BD9-81ED-4DB2-BD59-A6C34878D82A}">
                    <a16:rowId xmlns:a16="http://schemas.microsoft.com/office/drawing/2014/main" xmlns="" val="836244490"/>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8.87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0.82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-3.06</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-3.21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-3.37</a:t>
                      </a:r>
                    </a:p>
                  </a:txBody>
                  <a:tcPr marL="0" marR="0" marT="0" marB="0" anchor="ctr">
                    <a:lnL>
                      <a:noFill/>
                    </a:lnL>
                    <a:lnR>
                      <a:noFill/>
                    </a:lnR>
                    <a:lnT>
                      <a:noFill/>
                    </a:lnT>
                    <a:lnB>
                      <a:noFill/>
                    </a:lnB>
                    <a:noFill/>
                  </a:tcPr>
                </a:tc>
                <a:extLst>
                  <a:ext uri="{0D108BD9-81ED-4DB2-BD59-A6C34878D82A}">
                    <a16:rowId xmlns:a16="http://schemas.microsoft.com/office/drawing/2014/main" xmlns="" val="464658437"/>
                  </a:ext>
                </a:extLst>
              </a:tr>
              <a:tr h="72636">
                <a:tc>
                  <a:txBody>
                    <a:bodyPr/>
                    <a:lstStyle/>
                    <a:p>
                      <a:pPr algn="l" fontAlgn="ctr">
                        <a:buNone/>
                      </a:pPr>
                      <a:r>
                        <a:rPr lang="zh-CN" altLang="en-US" sz="650" b="0" i="0" u="none" strike="noStrike">
                          <a:solidFill>
                            <a:srgbClr val="000000"/>
                          </a:solidFill>
                          <a:effectLst/>
                          <a:latin typeface="+mn-ea"/>
                          <a:ea typeface="+mn-ea"/>
                        </a:rPr>
                        <a:t>     氩气</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35</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28</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23</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23</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25</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848225114"/>
                  </a:ext>
                </a:extLst>
              </a:tr>
              <a:tr h="72636">
                <a:tc>
                  <a:txBody>
                    <a:bodyPr/>
                    <a:lstStyle/>
                    <a:p>
                      <a:pPr algn="l" fontAlgn="ctr">
                        <a:buNone/>
                      </a:pPr>
                      <a:r>
                        <a:rPr lang="zh-CN" altLang="en-US" sz="650" b="0" i="0" u="none" strike="noStrike">
                          <a:solidFill>
                            <a:srgbClr val="000000"/>
                          </a:solidFill>
                          <a:effectLst/>
                          <a:latin typeface="+mn-ea"/>
                          <a:ea typeface="+mn-ea"/>
                        </a:rPr>
                        <a:t>      销量（万吨）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2.12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3.43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3.77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3.77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4.15</a:t>
                      </a:r>
                    </a:p>
                  </a:txBody>
                  <a:tcPr marL="0" marR="0" marT="0" marB="0" anchor="ctr">
                    <a:lnL>
                      <a:noFill/>
                    </a:lnL>
                    <a:lnR>
                      <a:noFill/>
                    </a:lnR>
                    <a:lnT>
                      <a:noFill/>
                    </a:lnT>
                    <a:lnB>
                      <a:noFill/>
                    </a:lnB>
                    <a:noFill/>
                  </a:tcPr>
                </a:tc>
                <a:extLst>
                  <a:ext uri="{0D108BD9-81ED-4DB2-BD59-A6C34878D82A}">
                    <a16:rowId xmlns:a16="http://schemas.microsoft.com/office/drawing/2014/main" xmlns="" val="3301488520"/>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62%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10%</a:t>
                      </a:r>
                    </a:p>
                  </a:txBody>
                  <a:tcPr marL="0" marR="0" marT="0" marB="0" anchor="ctr">
                    <a:lnL>
                      <a:noFill/>
                    </a:lnL>
                    <a:lnR>
                      <a:noFill/>
                    </a:lnR>
                    <a:lnT>
                      <a:noFill/>
                    </a:lnT>
                    <a:lnB>
                      <a:noFill/>
                    </a:lnB>
                    <a:noFill/>
                  </a:tcPr>
                </a:tc>
                <a:extLst>
                  <a:ext uri="{0D108BD9-81ED-4DB2-BD59-A6C34878D82A}">
                    <a16:rowId xmlns:a16="http://schemas.microsoft.com/office/drawing/2014/main" xmlns="" val="3842316371"/>
                  </a:ext>
                </a:extLst>
              </a:tr>
              <a:tr h="72636">
                <a:tc>
                  <a:txBody>
                    <a:bodyPr/>
                    <a:lstStyle/>
                    <a:p>
                      <a:pPr algn="l" fontAlgn="ctr">
                        <a:buNone/>
                      </a:pPr>
                      <a:r>
                        <a:rPr lang="zh-CN" altLang="en-US" sz="650" b="0" i="0" u="none" strike="noStrike">
                          <a:solidFill>
                            <a:srgbClr val="000000"/>
                          </a:solidFill>
                          <a:effectLst/>
                          <a:latin typeface="+mn-ea"/>
                          <a:ea typeface="+mn-ea"/>
                        </a:rPr>
                        <a:t>      均价（元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1632.23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816.11</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612.08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612.08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612.08</a:t>
                      </a:r>
                    </a:p>
                  </a:txBody>
                  <a:tcPr marL="0" marR="0" marT="0" marB="0" anchor="ctr">
                    <a:lnL>
                      <a:noFill/>
                    </a:lnL>
                    <a:lnR>
                      <a:noFill/>
                    </a:lnR>
                    <a:lnT>
                      <a:noFill/>
                    </a:lnT>
                    <a:lnB>
                      <a:noFill/>
                    </a:lnB>
                    <a:noFill/>
                  </a:tcPr>
                </a:tc>
                <a:extLst>
                  <a:ext uri="{0D108BD9-81ED-4DB2-BD59-A6C34878D82A}">
                    <a16:rowId xmlns:a16="http://schemas.microsoft.com/office/drawing/2014/main" xmlns="" val="2945904136"/>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-50%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0%</a:t>
                      </a:r>
                    </a:p>
                  </a:txBody>
                  <a:tcPr marL="0" marR="0" marT="0" marB="0" anchor="ctr">
                    <a:lnL>
                      <a:noFill/>
                    </a:lnL>
                    <a:lnR>
                      <a:noFill/>
                    </a:lnR>
                    <a:lnT>
                      <a:noFill/>
                    </a:lnT>
                    <a:lnB>
                      <a:noFill/>
                    </a:lnB>
                    <a:noFill/>
                  </a:tcPr>
                </a:tc>
                <a:extLst>
                  <a:ext uri="{0D108BD9-81ED-4DB2-BD59-A6C34878D82A}">
                    <a16:rowId xmlns:a16="http://schemas.microsoft.com/office/drawing/2014/main" xmlns="" val="1371104767"/>
                  </a:ext>
                </a:extLst>
              </a:tr>
              <a:tr h="72636">
                <a:tc>
                  <a:txBody>
                    <a:bodyPr/>
                    <a:lstStyle/>
                    <a:p>
                      <a:pPr algn="l" fontAlgn="ctr">
                        <a:buNone/>
                      </a:pPr>
                      <a:r>
                        <a:rPr lang="zh-CN" altLang="en-US" sz="650" b="0" i="0" u="none" strike="noStrike">
                          <a:solidFill>
                            <a:srgbClr val="000000"/>
                          </a:solidFill>
                          <a:effectLst/>
                          <a:latin typeface="+mn-ea"/>
                          <a:ea typeface="+mn-ea"/>
                        </a:rPr>
                        <a:t>      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863.00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781.50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823.63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823.63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823.63</a:t>
                      </a:r>
                    </a:p>
                  </a:txBody>
                  <a:tcPr marL="0" marR="0" marT="0" marB="0" anchor="ctr">
                    <a:lnL>
                      <a:noFill/>
                    </a:lnL>
                    <a:lnR>
                      <a:noFill/>
                    </a:lnR>
                    <a:lnT>
                      <a:noFill/>
                    </a:lnT>
                    <a:lnB>
                      <a:noFill/>
                    </a:lnB>
                    <a:noFill/>
                  </a:tcPr>
                </a:tc>
                <a:extLst>
                  <a:ext uri="{0D108BD9-81ED-4DB2-BD59-A6C34878D82A}">
                    <a16:rowId xmlns:a16="http://schemas.microsoft.com/office/drawing/2014/main" xmlns="" val="1905027128"/>
                  </a:ext>
                </a:extLst>
              </a:tr>
              <a:tr h="72636">
                <a:tc>
                  <a:txBody>
                    <a:bodyPr/>
                    <a:lstStyle/>
                    <a:p>
                      <a:pPr algn="l" fontAlgn="ctr">
                        <a:buNone/>
                      </a:pPr>
                      <a:r>
                        <a:rPr lang="zh-CN" altLang="en-US" sz="650" b="0" i="0" u="none" strike="noStrike">
                          <a:solidFill>
                            <a:srgbClr val="000000"/>
                          </a:solidFill>
                          <a:effectLst/>
                          <a:latin typeface="+mn-ea"/>
                          <a:ea typeface="+mn-ea"/>
                        </a:rPr>
                        <a:t>        制造成本（元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750.00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800.00</a:t>
                      </a:r>
                    </a:p>
                  </a:txBody>
                  <a:tcPr marL="0" marR="0" marT="0" marB="0" anchor="ctr">
                    <a:lnL>
                      <a:noFill/>
                    </a:lnL>
                    <a:lnR>
                      <a:noFill/>
                    </a:lnR>
                    <a:lnT>
                      <a:noFill/>
                    </a:lnT>
                    <a:lnB>
                      <a:noFill/>
                    </a:lnB>
                    <a:noFill/>
                  </a:tcPr>
                </a:tc>
                <a:extLst>
                  <a:ext uri="{0D108BD9-81ED-4DB2-BD59-A6C34878D82A}">
                    <a16:rowId xmlns:a16="http://schemas.microsoft.com/office/drawing/2014/main" xmlns="" val="1484511663"/>
                  </a:ext>
                </a:extLst>
              </a:tr>
              <a:tr h="72636">
                <a:tc>
                  <a:txBody>
                    <a:bodyPr/>
                    <a:lstStyle/>
                    <a:p>
                      <a:pPr algn="l" fontAlgn="ctr">
                        <a:buNone/>
                      </a:pPr>
                      <a:r>
                        <a:rPr lang="zh-CN" altLang="en-US" sz="650" b="0" i="0" u="none" strike="noStrike">
                          <a:solidFill>
                            <a:srgbClr val="000000"/>
                          </a:solidFill>
                          <a:effectLst/>
                          <a:latin typeface="+mn-ea"/>
                          <a:ea typeface="+mn-ea"/>
                        </a:rPr>
                        <a:t>        运费（元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63.00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31.50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23.63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23.63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23.63</a:t>
                      </a:r>
                    </a:p>
                  </a:txBody>
                  <a:tcPr marL="0" marR="0" marT="0" marB="0" anchor="ctr">
                    <a:lnL>
                      <a:noFill/>
                    </a:lnL>
                    <a:lnR>
                      <a:noFill/>
                    </a:lnR>
                    <a:lnT>
                      <a:noFill/>
                    </a:lnT>
                    <a:lnB>
                      <a:noFill/>
                    </a:lnB>
                    <a:noFill/>
                  </a:tcPr>
                </a:tc>
                <a:extLst>
                  <a:ext uri="{0D108BD9-81ED-4DB2-BD59-A6C34878D82A}">
                    <a16:rowId xmlns:a16="http://schemas.microsoft.com/office/drawing/2014/main" xmlns="" val="3062627742"/>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16.30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1.19</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-7.98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-7.98</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-8.77</a:t>
                      </a:r>
                    </a:p>
                  </a:txBody>
                  <a:tcPr marL="0" marR="0" marT="0" marB="0" anchor="ctr">
                    <a:lnL>
                      <a:noFill/>
                    </a:lnL>
                    <a:lnR>
                      <a:noFill/>
                    </a:lnR>
                    <a:lnT>
                      <a:noFill/>
                    </a:lnT>
                    <a:lnB>
                      <a:noFill/>
                    </a:lnB>
                    <a:noFill/>
                  </a:tcPr>
                </a:tc>
                <a:extLst>
                  <a:ext uri="{0D108BD9-81ED-4DB2-BD59-A6C34878D82A}">
                    <a16:rowId xmlns:a16="http://schemas.microsoft.com/office/drawing/2014/main" xmlns="" val="2262603270"/>
                  </a:ext>
                </a:extLst>
              </a:tr>
              <a:tr h="72636">
                <a:tc>
                  <a:txBody>
                    <a:bodyPr/>
                    <a:lstStyle/>
                    <a:p>
                      <a:pPr algn="l" fontAlgn="ctr">
                        <a:buNone/>
                      </a:pPr>
                      <a:r>
                        <a:rPr lang="zh-CN" altLang="en-US" sz="650" b="0" i="0" u="none" strike="noStrike">
                          <a:solidFill>
                            <a:srgbClr val="000000"/>
                          </a:solidFill>
                          <a:effectLst/>
                          <a:latin typeface="+mn-ea"/>
                          <a:ea typeface="+mn-ea"/>
                        </a:rPr>
                        <a:t>     氦气</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82.89</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75.43</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88.26</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114.73</a:t>
                      </a:r>
                    </a:p>
                  </a:txBody>
                  <a:tcPr marL="0" marR="0" marT="0" marB="0" anchor="ctr">
                    <a:lnL>
                      <a:noFill/>
                    </a:lnL>
                    <a:lnR>
                      <a:noFill/>
                    </a:lnR>
                    <a:lnT>
                      <a:noFill/>
                    </a:lnT>
                    <a:lnB>
                      <a:noFill/>
                    </a:lnB>
                    <a:solidFill>
                      <a:srgbClr val="F2F2F2"/>
                    </a:solidFill>
                  </a:tcPr>
                </a:tc>
                <a:tc>
                  <a:txBody>
                    <a:bodyPr/>
                    <a:lstStyle/>
                    <a:p>
                      <a:pPr algn="r" fontAlgn="ctr">
                        <a:buNone/>
                      </a:pPr>
                      <a:r>
                        <a:rPr lang="en-US" altLang="zh-CN" sz="650" b="0" i="0" u="none" strike="noStrike">
                          <a:solidFill>
                            <a:srgbClr val="000000"/>
                          </a:solidFill>
                          <a:effectLst/>
                          <a:latin typeface="+mn-ea"/>
                          <a:ea typeface="+mn-ea"/>
                        </a:rPr>
                        <a:t>149.15</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xmlns="" val="2840992270"/>
                  </a:ext>
                </a:extLst>
              </a:tr>
              <a:tr h="72636">
                <a:tc>
                  <a:txBody>
                    <a:bodyPr/>
                    <a:lstStyle/>
                    <a:p>
                      <a:pPr algn="l" fontAlgn="ctr">
                        <a:buNone/>
                      </a:pPr>
                      <a:r>
                        <a:rPr lang="zh-CN" altLang="en-US" sz="650" b="0" i="0" u="none" strike="noStrike">
                          <a:solidFill>
                            <a:srgbClr val="000000"/>
                          </a:solidFill>
                          <a:effectLst/>
                          <a:latin typeface="+mn-ea"/>
                          <a:ea typeface="+mn-ea"/>
                        </a:rPr>
                        <a:t>      销量（万瓶）</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5.53</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7.19</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9.35</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12.16</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15.81</a:t>
                      </a:r>
                    </a:p>
                  </a:txBody>
                  <a:tcPr marL="0" marR="0" marT="0" marB="0" anchor="ctr">
                    <a:lnL>
                      <a:noFill/>
                    </a:lnL>
                    <a:lnR>
                      <a:noFill/>
                    </a:lnR>
                    <a:lnT>
                      <a:noFill/>
                    </a:lnT>
                    <a:lnB>
                      <a:noFill/>
                    </a:lnB>
                    <a:noFill/>
                  </a:tcPr>
                </a:tc>
                <a:extLst>
                  <a:ext uri="{0D108BD9-81ED-4DB2-BD59-A6C34878D82A}">
                    <a16:rowId xmlns:a16="http://schemas.microsoft.com/office/drawing/2014/main" xmlns="" val="2090209109"/>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35.00%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effectLst/>
                          <a:latin typeface="+mn-ea"/>
                          <a:ea typeface="+mn-ea"/>
                        </a:rPr>
                        <a:t>30.00%</a:t>
                      </a:r>
                    </a:p>
                  </a:txBody>
                  <a:tcPr marL="0" marR="0" marT="0" marB="0" anchor="ctr">
                    <a:lnL>
                      <a:noFill/>
                    </a:lnL>
                    <a:lnR>
                      <a:noFill/>
                    </a:lnR>
                    <a:lnT>
                      <a:noFill/>
                    </a:lnT>
                    <a:lnB>
                      <a:noFill/>
                    </a:lnB>
                    <a:noFill/>
                  </a:tcPr>
                </a:tc>
                <a:extLst>
                  <a:ext uri="{0D108BD9-81ED-4DB2-BD59-A6C34878D82A}">
                    <a16:rowId xmlns:a16="http://schemas.microsoft.com/office/drawing/2014/main" xmlns="" val="1599037000"/>
                  </a:ext>
                </a:extLst>
              </a:tr>
              <a:tr h="72636">
                <a:tc>
                  <a:txBody>
                    <a:bodyPr/>
                    <a:lstStyle/>
                    <a:p>
                      <a:pPr algn="l" fontAlgn="ctr">
                        <a:buNone/>
                      </a:pPr>
                      <a:r>
                        <a:rPr lang="zh-CN" altLang="en-US" sz="650" b="0" i="0" u="none" strike="noStrike">
                          <a:solidFill>
                            <a:srgbClr val="000000"/>
                          </a:solidFill>
                          <a:effectLst/>
                          <a:latin typeface="+mn-ea"/>
                          <a:ea typeface="+mn-ea"/>
                        </a:rPr>
                        <a:t>      均价（元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瓶）</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1497.82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1048.47</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943.62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943.62</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943.62</a:t>
                      </a:r>
                    </a:p>
                  </a:txBody>
                  <a:tcPr marL="0" marR="0" marT="0" marB="0" anchor="ctr">
                    <a:lnL>
                      <a:noFill/>
                    </a:lnL>
                    <a:lnR>
                      <a:noFill/>
                    </a:lnR>
                    <a:lnT>
                      <a:noFill/>
                    </a:lnT>
                    <a:lnB>
                      <a:noFill/>
                    </a:lnB>
                    <a:noFill/>
                  </a:tcPr>
                </a:tc>
                <a:extLst>
                  <a:ext uri="{0D108BD9-81ED-4DB2-BD59-A6C34878D82A}">
                    <a16:rowId xmlns:a16="http://schemas.microsoft.com/office/drawing/2014/main" xmlns="" val="3358676174"/>
                  </a:ext>
                </a:extLst>
              </a:tr>
              <a:tr h="72636">
                <a:tc>
                  <a:txBody>
                    <a:bodyPr/>
                    <a:lstStyle/>
                    <a:p>
                      <a:pPr algn="l" fontAlgn="ctr">
                        <a:buNone/>
                      </a:pPr>
                      <a:r>
                        <a:rPr lang="en-US" sz="650" b="0" i="0" u="none" strike="noStrike">
                          <a:solidFill>
                            <a:srgbClr val="000000"/>
                          </a:solidFill>
                          <a:effectLst/>
                          <a:latin typeface="+mn-ea"/>
                          <a:ea typeface="+mn-ea"/>
                        </a:rPr>
                        <a:t>        yoy</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-30%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-10%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0%</a:t>
                      </a:r>
                    </a:p>
                  </a:txBody>
                  <a:tcPr marL="0" marR="0" marT="0" marB="0" anchor="ctr">
                    <a:lnL>
                      <a:noFill/>
                    </a:lnL>
                    <a:lnR>
                      <a:noFill/>
                    </a:lnR>
                    <a:lnT>
                      <a:noFill/>
                    </a:lnT>
                    <a:lnB>
                      <a:noFill/>
                    </a:lnB>
                    <a:noFill/>
                  </a:tcPr>
                </a:tc>
                <a:extLst>
                  <a:ext uri="{0D108BD9-81ED-4DB2-BD59-A6C34878D82A}">
                    <a16:rowId xmlns:a16="http://schemas.microsoft.com/office/drawing/2014/main" xmlns="" val="4039860232"/>
                  </a:ext>
                </a:extLst>
              </a:tr>
              <a:tr h="72636">
                <a:tc>
                  <a:txBody>
                    <a:bodyPr/>
                    <a:lstStyle/>
                    <a:p>
                      <a:pPr algn="l" fontAlgn="ctr">
                        <a:buNone/>
                      </a:pPr>
                      <a:r>
                        <a:rPr lang="zh-CN" altLang="en-US" sz="650" b="0" i="0" u="none" strike="noStrike">
                          <a:solidFill>
                            <a:srgbClr val="000000"/>
                          </a:solidFill>
                          <a:effectLst/>
                          <a:latin typeface="+mn-ea"/>
                          <a:ea typeface="+mn-ea"/>
                        </a:rPr>
                        <a:t>      成本（元</a:t>
                      </a:r>
                      <a:r>
                        <a:rPr lang="en-US" altLang="zh-CN" sz="650" b="0" i="0" u="none" strike="noStrike">
                          <a:solidFill>
                            <a:srgbClr val="000000"/>
                          </a:solidFill>
                          <a:effectLst/>
                          <a:latin typeface="+mn-ea"/>
                          <a:ea typeface="+mn-ea"/>
                        </a:rPr>
                        <a:t>/</a:t>
                      </a:r>
                      <a:r>
                        <a:rPr lang="zh-CN" altLang="en-US" sz="650" b="0" i="0" u="none" strike="noStrike">
                          <a:solidFill>
                            <a:srgbClr val="000000"/>
                          </a:solidFill>
                          <a:effectLst/>
                          <a:latin typeface="+mn-ea"/>
                          <a:ea typeface="+mn-ea"/>
                        </a:rPr>
                        <a:t>吨）</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600.00</a:t>
                      </a:r>
                    </a:p>
                  </a:txBody>
                  <a:tcPr marL="0" marR="0" marT="0" marB="0" anchor="ctr">
                    <a:lnL>
                      <a:noFill/>
                    </a:lnL>
                    <a:lnR>
                      <a:noFill/>
                    </a:lnR>
                    <a:lnT>
                      <a:noFill/>
                    </a:lnT>
                    <a:lnB>
                      <a:noFill/>
                    </a:lnB>
                    <a:noFill/>
                  </a:tcPr>
                </a:tc>
                <a:tc>
                  <a:txBody>
                    <a:bodyPr/>
                    <a:lstStyle/>
                    <a:p>
                      <a:pPr algn="r" fontAlgn="ctr">
                        <a:buNone/>
                      </a:pPr>
                      <a:r>
                        <a:rPr lang="en-US" altLang="zh-CN" sz="650" b="0" i="0" u="none" strike="noStrike">
                          <a:solidFill>
                            <a:srgbClr val="000000"/>
                          </a:solidFill>
                          <a:effectLst/>
                          <a:latin typeface="+mn-ea"/>
                          <a:ea typeface="+mn-ea"/>
                        </a:rPr>
                        <a:t>600.00</a:t>
                      </a:r>
                    </a:p>
                  </a:txBody>
                  <a:tcPr marL="0" marR="0" marT="0" marB="0" anchor="ctr">
                    <a:lnL>
                      <a:noFill/>
                    </a:lnL>
                    <a:lnR>
                      <a:noFill/>
                    </a:lnR>
                    <a:lnT>
                      <a:noFill/>
                    </a:lnT>
                    <a:lnB>
                      <a:noFill/>
                    </a:lnB>
                    <a:noFill/>
                  </a:tcPr>
                </a:tc>
                <a:extLst>
                  <a:ext uri="{0D108BD9-81ED-4DB2-BD59-A6C34878D82A}">
                    <a16:rowId xmlns:a16="http://schemas.microsoft.com/office/drawing/2014/main" xmlns="" val="2058350735"/>
                  </a:ext>
                </a:extLst>
              </a:tr>
              <a:tr h="72636">
                <a:tc>
                  <a:txBody>
                    <a:bodyPr/>
                    <a:lstStyle/>
                    <a:p>
                      <a:pPr algn="l" fontAlgn="ctr">
                        <a:buNone/>
                      </a:pPr>
                      <a:r>
                        <a:rPr lang="zh-CN" altLang="en-US" sz="650" b="0" i="0" u="none" strike="noStrike">
                          <a:solidFill>
                            <a:srgbClr val="000000"/>
                          </a:solidFill>
                          <a:effectLst/>
                          <a:latin typeface="+mn-ea"/>
                          <a:ea typeface="+mn-ea"/>
                        </a:rPr>
                        <a:t>      毛利</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50" b="0" i="0" u="none" strike="noStrike" dirty="0">
                          <a:solidFill>
                            <a:srgbClr val="000000"/>
                          </a:solidFill>
                          <a:effectLst/>
                          <a:latin typeface="+mn-ea"/>
                          <a:ea typeface="+mn-ea"/>
                        </a:rPr>
                        <a:t>49.69</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50" b="0" i="0" u="none" strike="noStrike">
                          <a:solidFill>
                            <a:srgbClr val="000000"/>
                          </a:solidFill>
                          <a:effectLst/>
                          <a:latin typeface="+mn-ea"/>
                          <a:ea typeface="+mn-ea"/>
                        </a:rPr>
                        <a:t>32.27</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50" b="0" i="0" u="none" strike="noStrike">
                          <a:solidFill>
                            <a:srgbClr val="000000"/>
                          </a:solidFill>
                          <a:effectLst/>
                          <a:latin typeface="+mn-ea"/>
                          <a:ea typeface="+mn-ea"/>
                        </a:rPr>
                        <a:t>32.14</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50" b="0" i="0" u="none" strike="noStrike">
                          <a:solidFill>
                            <a:srgbClr val="000000"/>
                          </a:solidFill>
                          <a:effectLst/>
                          <a:latin typeface="+mn-ea"/>
                          <a:ea typeface="+mn-ea"/>
                        </a:rPr>
                        <a:t>41.78</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r" fontAlgn="ctr">
                        <a:buNone/>
                      </a:pPr>
                      <a:r>
                        <a:rPr lang="en-US" altLang="zh-CN" sz="650" b="0" i="0" u="none" strike="noStrike" dirty="0">
                          <a:solidFill>
                            <a:srgbClr val="000000"/>
                          </a:solidFill>
                          <a:effectLst/>
                          <a:latin typeface="+mn-ea"/>
                          <a:ea typeface="+mn-ea"/>
                        </a:rPr>
                        <a:t>54.32</a:t>
                      </a:r>
                    </a:p>
                  </a:txBody>
                  <a:tcPr marL="0" marR="0" marT="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91873840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5"/>
          <p:cNvSpPr txBox="1"/>
          <p:nvPr/>
        </p:nvSpPr>
        <p:spPr>
          <a:xfrm>
            <a:off x="194959" y="843510"/>
            <a:ext cx="8698318" cy="1802717"/>
          </a:xfrm>
          <a:prstGeom prst="rect">
            <a:avLst/>
          </a:prstGeom>
        </p:spPr>
        <p:txBody>
          <a:bodyPr/>
          <a:lstStyle>
            <a:lvl1pPr marL="400050" indent="-400050" algn="l" defTabSz="914400" rtl="0" eaLnBrk="1" latinLnBrk="0" hangingPunct="1">
              <a:lnSpc>
                <a:spcPct val="90000"/>
              </a:lnSpc>
              <a:spcBef>
                <a:spcPts val="1000"/>
              </a:spcBef>
              <a:buFont typeface="Arial" panose="020B0604020202020204" pitchFamily="34" charset="0"/>
              <a:buChar char="•"/>
              <a:defRPr lang="zh-CN" altLang="en-US" sz="14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200" kern="1200" dirty="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zh-CN" altLang="en-US" sz="1100" kern="1200" dirty="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zh-CN" altLang="en-US" sz="105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利润中枢：</a:t>
            </a:r>
            <a:r>
              <a:rPr lang="zh-CN" altLang="en-US" sz="1100" dirty="0">
                <a:latin typeface="Arial" panose="020B0604020202020204" pitchFamily="34" charset="0"/>
                <a:ea typeface="思源黑体 Heavy" panose="020B0A00000000000000" pitchFamily="34" charset="-122"/>
                <a:cs typeface="Arial" panose="020B0604020202020204" pitchFamily="34" charset="0"/>
              </a:rPr>
              <a:t>气体行业属于长期稳健、现金牛业务，公司营收与利润会随着项目获取、投放不断增长，叠加公司将从电子大宗气体业务向特种气体业务延展，发展空间将进一步打开。中期利润</a:t>
            </a:r>
            <a:r>
              <a:rPr lang="en-US" altLang="zh-CN" sz="1100" dirty="0">
                <a:latin typeface="Arial" panose="020B0604020202020204" pitchFamily="34" charset="0"/>
                <a:ea typeface="思源黑体 Heavy" panose="020B0A00000000000000" pitchFamily="34" charset="-122"/>
                <a:cs typeface="Arial" panose="020B0604020202020204" pitchFamily="34" charset="0"/>
              </a:rPr>
              <a:t>10-11</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亿元，远期利润</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25-26</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亿元，相比</a:t>
            </a:r>
            <a:r>
              <a:rPr lang="en-US" altLang="zh-CN" sz="1100" dirty="0">
                <a:latin typeface="Arial" panose="020B0604020202020204" pitchFamily="34" charset="0"/>
                <a:ea typeface="思源黑体 Heavy" panose="020B0A00000000000000" pitchFamily="34" charset="-122"/>
                <a:cs typeface="Arial" panose="020B0604020202020204" pitchFamily="34" charset="0"/>
              </a:rPr>
              <a:t>25</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a:t>
            </a:r>
            <a:r>
              <a:rPr lang="en-US" altLang="zh-CN" sz="1100" dirty="0">
                <a:latin typeface="Arial" panose="020B0604020202020204" pitchFamily="34" charset="0"/>
                <a:ea typeface="思源黑体 Heavy" panose="020B0A00000000000000" pitchFamily="34" charset="-122"/>
                <a:cs typeface="Arial" panose="020B0604020202020204" pitchFamily="34" charset="0"/>
              </a:rPr>
              <a:t>3</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亿元利润有较大上行空间。</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市值空间：</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公司处于快速获取项目与拓展业务阶段，卡位半导体先进材料、气体商业模式优势赛道，竞争优势明确。同时，公司项目获取到释放利润需要</a:t>
            </a:r>
            <a:r>
              <a:rPr lang="en-US" altLang="zh-CN" sz="1100" dirty="0">
                <a:latin typeface="Arial" panose="020B0604020202020204" pitchFamily="34" charset="0"/>
                <a:ea typeface="思源黑体 Heavy" panose="020B0A00000000000000" pitchFamily="34" charset="-122"/>
                <a:cs typeface="Arial" panose="020B0604020202020204" pitchFamily="34" charset="0"/>
              </a:rPr>
              <a:t>2-3</a:t>
            </a:r>
            <a:r>
              <a:rPr lang="zh-CN" altLang="en-US" sz="1100" dirty="0">
                <a:latin typeface="Arial" panose="020B0604020202020204" pitchFamily="34" charset="0"/>
                <a:ea typeface="思源黑体 Heavy" panose="020B0A00000000000000" pitchFamily="34" charset="-122"/>
                <a:cs typeface="Arial" panose="020B0604020202020204" pitchFamily="34" charset="0"/>
              </a:rPr>
              <a:t>年时间，因此短期估值的意义不大。</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中期可作为估值锚：</a:t>
            </a:r>
            <a:r>
              <a:rPr lang="en-US" altLang="zh-CN" sz="1100" dirty="0">
                <a:latin typeface="Arial" panose="020B0604020202020204" pitchFamily="34" charset="0"/>
                <a:ea typeface="思源黑体 Heavy" panose="020B0A00000000000000" pitchFamily="34" charset="-122"/>
                <a:cs typeface="Arial" panose="020B0604020202020204" pitchFamily="34" charset="0"/>
              </a:rPr>
              <a:t>12-13</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亿元利润中枢，</a:t>
            </a:r>
            <a:r>
              <a:rPr lang="en-US" altLang="zh-CN" sz="1100" dirty="0">
                <a:latin typeface="Arial" panose="020B0604020202020204" pitchFamily="34" charset="0"/>
                <a:ea typeface="思源黑体 Heavy" panose="020B0A00000000000000" pitchFamily="34" charset="-122"/>
                <a:cs typeface="Arial" panose="020B0604020202020204" pitchFamily="34" charset="0"/>
              </a:rPr>
              <a:t>40-50</a:t>
            </a:r>
            <a:r>
              <a:rPr lang="zh-CN" altLang="en-US" sz="1100" dirty="0">
                <a:latin typeface="Arial" panose="020B0604020202020204" pitchFamily="34" charset="0"/>
                <a:ea typeface="思源黑体 Heavy" panose="020B0A00000000000000" pitchFamily="34" charset="-122"/>
                <a:cs typeface="Arial" panose="020B0604020202020204" pitchFamily="34" charset="0"/>
              </a:rPr>
              <a:t>倍</a:t>
            </a:r>
            <a:r>
              <a:rPr lang="en-US" altLang="zh-CN" sz="1100" dirty="0">
                <a:latin typeface="Arial" panose="020B0604020202020204" pitchFamily="34" charset="0"/>
                <a:ea typeface="思源黑体 Heavy" panose="020B0A00000000000000" pitchFamily="34" charset="-122"/>
                <a:cs typeface="Arial" panose="020B0604020202020204" pitchFamily="34" charset="0"/>
              </a:rPr>
              <a:t>PE</a:t>
            </a:r>
            <a:r>
              <a:rPr lang="zh-CN" altLang="en-US" sz="1100" dirty="0">
                <a:latin typeface="Arial" panose="020B0604020202020204" pitchFamily="34" charset="0"/>
                <a:ea typeface="思源黑体 Heavy" panose="020B0A00000000000000" pitchFamily="34" charset="-122"/>
                <a:cs typeface="Arial" panose="020B0604020202020204" pitchFamily="34" charset="0"/>
              </a:rPr>
              <a:t>（半导体材料卡位），对应目标市值约</a:t>
            </a:r>
            <a:r>
              <a:rPr lang="en-US" altLang="zh-CN" sz="1100" dirty="0">
                <a:latin typeface="Arial" panose="020B0604020202020204" pitchFamily="34" charset="0"/>
                <a:ea typeface="思源黑体 Heavy" panose="020B0A00000000000000" pitchFamily="34" charset="-122"/>
                <a:cs typeface="Arial" panose="020B0604020202020204" pitchFamily="34" charset="0"/>
              </a:rPr>
              <a:t>500-600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ü"/>
            </a:pPr>
            <a:r>
              <a:rPr lang="zh-CN" altLang="en-US" sz="1100" dirty="0">
                <a:latin typeface="Arial" panose="020B0604020202020204" pitchFamily="34" charset="0"/>
                <a:ea typeface="思源黑体 Heavy" panose="020B0A00000000000000" pitchFamily="34" charset="-122"/>
                <a:cs typeface="Arial" panose="020B0604020202020204" pitchFamily="34" charset="0"/>
              </a:rPr>
              <a:t>远期估值：不考虑拓展工业通用气体以及海外市场拓展，预计公司</a:t>
            </a:r>
            <a:r>
              <a:rPr lang="en-US" altLang="zh-CN" sz="1100" dirty="0">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亿元利润中枢，对标海外气体公司估值中去</a:t>
            </a:r>
            <a:r>
              <a:rPr lang="en-US" altLang="zh-CN" sz="1100" dirty="0">
                <a:latin typeface="Arial" panose="020B0604020202020204" pitchFamily="34" charset="0"/>
                <a:ea typeface="思源黑体 Heavy" panose="020B0A00000000000000" pitchFamily="34" charset="-122"/>
                <a:cs typeface="Arial" panose="020B0604020202020204" pitchFamily="34" charset="0"/>
              </a:rPr>
              <a:t>30</a:t>
            </a:r>
            <a:r>
              <a:rPr lang="zh-CN" altLang="en-US" sz="1100" dirty="0">
                <a:latin typeface="Arial" panose="020B0604020202020204" pitchFamily="34" charset="0"/>
                <a:ea typeface="思源黑体 Heavy" panose="020B0A00000000000000" pitchFamily="34" charset="-122"/>
                <a:cs typeface="Arial" panose="020B0604020202020204" pitchFamily="34" charset="0"/>
              </a:rPr>
              <a:t>倍</a:t>
            </a:r>
            <a:r>
              <a:rPr lang="en-US" altLang="zh-CN" sz="1100" dirty="0">
                <a:latin typeface="Arial" panose="020B0604020202020204" pitchFamily="34" charset="0"/>
                <a:ea typeface="思源黑体 Heavy" panose="020B0A00000000000000" pitchFamily="34" charset="-122"/>
                <a:cs typeface="Arial" panose="020B0604020202020204" pitchFamily="34" charset="0"/>
              </a:rPr>
              <a:t>PE</a:t>
            </a:r>
            <a:r>
              <a:rPr lang="zh-CN" altLang="en-US" sz="1100" dirty="0">
                <a:latin typeface="Arial" panose="020B0604020202020204" pitchFamily="34" charset="0"/>
                <a:ea typeface="思源黑体 Heavy" panose="020B0A00000000000000" pitchFamily="34" charset="-122"/>
                <a:cs typeface="Arial" panose="020B0604020202020204" pitchFamily="34" charset="0"/>
              </a:rPr>
              <a:t>，对应</a:t>
            </a:r>
            <a:r>
              <a:rPr lang="en-US" altLang="zh-CN" sz="1100" dirty="0">
                <a:latin typeface="Arial" panose="020B0604020202020204" pitchFamily="34" charset="0"/>
                <a:ea typeface="思源黑体 Heavy" panose="020B0A00000000000000" pitchFamily="34" charset="-122"/>
                <a:cs typeface="Arial" panose="020B0604020202020204" pitchFamily="34" charset="0"/>
              </a:rPr>
              <a:t>900</a:t>
            </a:r>
            <a:r>
              <a:rPr lang="zh-CN" altLang="en-US" sz="1100" dirty="0">
                <a:latin typeface="Arial" panose="020B0604020202020204" pitchFamily="34" charset="0"/>
                <a:ea typeface="思源黑体 Heavy" panose="020B0A00000000000000" pitchFamily="34" charset="-122"/>
                <a:cs typeface="Arial" panose="020B0604020202020204" pitchFamily="34" charset="0"/>
              </a:rPr>
              <a:t>亿元目标市值。</a:t>
            </a:r>
            <a:endParaRPr lang="en-US" altLang="zh-CN" sz="1100" dirty="0">
              <a:latin typeface="Arial" panose="020B0604020202020204" pitchFamily="34" charset="0"/>
              <a:ea typeface="思源黑体 Heavy" panose="020B0A00000000000000" pitchFamily="34" charset="-122"/>
              <a:cs typeface="Arial" panose="020B0604020202020204" pitchFamily="34" charset="0"/>
            </a:endParaRPr>
          </a:p>
          <a:p>
            <a:pPr marL="285750" lvl="4" indent="-285750" algn="just">
              <a:lnSpc>
                <a:spcPct val="100000"/>
              </a:lnSpc>
              <a:spcBef>
                <a:spcPts val="0"/>
              </a:spcBef>
              <a:spcAft>
                <a:spcPts val="600"/>
              </a:spcAft>
              <a:buFont typeface="Wingdings" panose="05000000000000000000" pitchFamily="2" charset="2"/>
              <a:buChar char="n"/>
            </a:pPr>
            <a:r>
              <a:rPr lang="zh-CN" altLang="en-US" sz="1100" b="1" dirty="0">
                <a:latin typeface="Arial" panose="020B0604020202020204" pitchFamily="34" charset="0"/>
                <a:ea typeface="思源黑体 Heavy" panose="020B0A00000000000000" pitchFamily="34" charset="-122"/>
                <a:cs typeface="Arial" panose="020B0604020202020204" pitchFamily="34" charset="0"/>
              </a:rPr>
              <a:t>重要催化：</a:t>
            </a:r>
            <a:r>
              <a:rPr lang="en-US" altLang="zh-CN" sz="1100" dirty="0">
                <a:latin typeface="Arial" panose="020B0604020202020204" pitchFamily="34" charset="0"/>
                <a:ea typeface="思源黑体 Heavy" panose="020B0A00000000000000" pitchFamily="34" charset="-122"/>
                <a:cs typeface="Arial" panose="020B0604020202020204" pitchFamily="34" charset="0"/>
              </a:rPr>
              <a:t>1</a:t>
            </a:r>
            <a:r>
              <a:rPr lang="zh-CN" altLang="en-US" sz="1100" dirty="0">
                <a:latin typeface="Arial" panose="020B0604020202020204" pitchFamily="34" charset="0"/>
                <a:ea typeface="思源黑体 Heavy" panose="020B0A00000000000000" pitchFamily="34" charset="-122"/>
                <a:cs typeface="Arial" panose="020B0604020202020204" pitchFamily="34" charset="0"/>
              </a:rPr>
              <a:t>）下游存储厂等宣告扩产；</a:t>
            </a:r>
            <a:r>
              <a:rPr lang="en-US" altLang="zh-CN" sz="1100" dirty="0">
                <a:latin typeface="Arial" panose="020B0604020202020204" pitchFamily="34" charset="0"/>
                <a:ea typeface="思源黑体 Heavy" panose="020B0A00000000000000" pitchFamily="34" charset="-122"/>
                <a:cs typeface="Arial" panose="020B0604020202020204" pitchFamily="34" charset="0"/>
              </a:rPr>
              <a:t>2</a:t>
            </a:r>
            <a:r>
              <a:rPr lang="zh-CN" altLang="en-US" sz="1100" dirty="0">
                <a:latin typeface="Arial" panose="020B0604020202020204" pitchFamily="34" charset="0"/>
                <a:ea typeface="思源黑体 Heavy" panose="020B0A00000000000000" pitchFamily="34" charset="-122"/>
                <a:cs typeface="Arial" panose="020B0604020202020204" pitchFamily="34" charset="0"/>
              </a:rPr>
              <a:t>）关注公司进入海外晶圆厂供应链情况，比如韩国三星等（预计设备端</a:t>
            </a:r>
            <a:r>
              <a:rPr lang="en-US" altLang="zh-CN" sz="1100" dirty="0">
                <a:latin typeface="Arial" panose="020B0604020202020204" pitchFamily="34" charset="0"/>
                <a:ea typeface="思源黑体 Heavy" panose="020B0A00000000000000" pitchFamily="34" charset="-122"/>
                <a:cs typeface="Arial" panose="020B0604020202020204" pitchFamily="34" charset="0"/>
              </a:rPr>
              <a:t>+</a:t>
            </a:r>
            <a:r>
              <a:rPr lang="zh-CN" altLang="en-US" sz="1100" dirty="0">
                <a:latin typeface="Arial" panose="020B0604020202020204" pitchFamily="34" charset="0"/>
                <a:ea typeface="思源黑体 Heavy" panose="020B0A00000000000000" pitchFamily="34" charset="-122"/>
                <a:cs typeface="Arial" panose="020B0604020202020204" pitchFamily="34" charset="0"/>
              </a:rPr>
              <a:t>氦气供应进展）</a:t>
            </a:r>
            <a:r>
              <a:rPr lang="zh-CN" altLang="en-US" sz="1600" dirty="0">
                <a:latin typeface="Arial" panose="020B0604020202020204" pitchFamily="34" charset="0"/>
                <a:ea typeface="+mj-ea"/>
                <a:cs typeface="Arial" panose="020B0604020202020204" pitchFamily="34" charset="0"/>
              </a:rPr>
              <a:t>。</a:t>
            </a:r>
            <a:endParaRPr lang="en-US" altLang="zh-CN" sz="1600" dirty="0">
              <a:latin typeface="Arial" panose="020B0604020202020204" pitchFamily="34" charset="0"/>
              <a:ea typeface="+mj-ea"/>
              <a:cs typeface="Arial" panose="020B0604020202020204" pitchFamily="34" charset="0"/>
            </a:endParaRPr>
          </a:p>
        </p:txBody>
      </p:sp>
      <p:sp>
        <p:nvSpPr>
          <p:cNvPr id="4" name="矩形 3"/>
          <p:cNvSpPr/>
          <p:nvPr/>
        </p:nvSpPr>
        <p:spPr>
          <a:xfrm>
            <a:off x="1109663" y="2646227"/>
            <a:ext cx="6924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914400" hangingPunct="0"/>
            <a:r>
              <a:rPr lang="zh-CN" altLang="en-US" sz="1000" b="1" dirty="0">
                <a:solidFill>
                  <a:schemeClr val="tx1"/>
                </a:solidFill>
                <a:latin typeface="微软雅黑 Light" panose="020B0502040204020203" pitchFamily="34" charset="-122"/>
                <a:ea typeface="微软雅黑 Light" panose="020B0502040204020203" pitchFamily="34" charset="-122"/>
                <a:cs typeface="+mj-cs"/>
              </a:rPr>
              <a:t>表：公司短中长期净利润预计与估值讨论</a:t>
            </a:r>
          </a:p>
        </p:txBody>
      </p:sp>
      <p:sp>
        <p:nvSpPr>
          <p:cNvPr id="6" name="标题 1">
            <a:extLst>
              <a:ext uri="{FF2B5EF4-FFF2-40B4-BE49-F238E27FC236}">
                <a16:creationId xmlns:a16="http://schemas.microsoft.com/office/drawing/2014/main" xmlns="" id="{C7FCCE01-DDAD-B296-3745-A9C44D10842B}"/>
              </a:ext>
            </a:extLst>
          </p:cNvPr>
          <p:cNvSpPr>
            <a:spLocks noGrp="1"/>
          </p:cNvSpPr>
          <p:nvPr/>
        </p:nvSpPr>
        <p:spPr>
          <a:xfrm>
            <a:off x="783952" y="426814"/>
            <a:ext cx="9418549" cy="369332"/>
          </a:xfrm>
          <a:prstGeom prst="rect">
            <a:avLst/>
          </a:prstGeom>
          <a:noFill/>
          <a:ln w="9525">
            <a:noFill/>
            <a:miter lim="800000"/>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marR="0" indent="0" algn="l" defTabSz="914400" rtl="0" latinLnBrk="0">
              <a:lnSpc>
                <a:spcPct val="90000"/>
              </a:lnSpc>
              <a:spcBef>
                <a:spcPts val="0"/>
              </a:spcBef>
              <a:spcAft>
                <a:spcPts val="0"/>
              </a:spcAft>
              <a:buClrTx/>
              <a:buSzTx/>
              <a:buFontTx/>
              <a:buNone/>
              <a:defRPr sz="4000" b="0" i="0" u="none" strike="noStrike" cap="none" spc="0" baseline="0">
                <a:ln>
                  <a:noFill/>
                </a:ln>
                <a:solidFill>
                  <a:srgbClr val="164694"/>
                </a:solidFill>
                <a:uFillTx/>
                <a:latin typeface="+mj-ea"/>
                <a:ea typeface="+mj-ea"/>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zh-CN" altLang="en-US" sz="2000" b="1" dirty="0">
                <a:solidFill>
                  <a:srgbClr val="0677D5"/>
                </a:solidFill>
                <a:ea typeface="思源黑体 CN Regular" panose="020B0500000000000000" charset="-122"/>
                <a:cs typeface="Arial" panose="020B0604020202020204" pitchFamily="34" charset="0"/>
                <a:sym typeface="等线" panose="02010600030101010101" charset="-122"/>
              </a:rPr>
              <a:t>估值与投资建议</a:t>
            </a:r>
          </a:p>
        </p:txBody>
      </p:sp>
      <p:sp>
        <p:nvSpPr>
          <p:cNvPr id="7" name="矩形 6">
            <a:extLst>
              <a:ext uri="{FF2B5EF4-FFF2-40B4-BE49-F238E27FC236}">
                <a16:creationId xmlns:a16="http://schemas.microsoft.com/office/drawing/2014/main" xmlns="" id="{1855611F-4741-580D-E7EE-962F9541335F}"/>
              </a:ext>
            </a:extLst>
          </p:cNvPr>
          <p:cNvSpPr/>
          <p:nvPr/>
        </p:nvSpPr>
        <p:spPr>
          <a:xfrm>
            <a:off x="0" y="411510"/>
            <a:ext cx="6840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06</a:t>
            </a:r>
            <a:endParaRPr lang="zh-CN" altLang="en-US" sz="3200" dirty="0"/>
          </a:p>
        </p:txBody>
      </p:sp>
      <p:sp>
        <p:nvSpPr>
          <p:cNvPr id="8" name="矩形 7">
            <a:extLst>
              <a:ext uri="{FF2B5EF4-FFF2-40B4-BE49-F238E27FC236}">
                <a16:creationId xmlns:a16="http://schemas.microsoft.com/office/drawing/2014/main" xmlns="" id="{6737A98F-EDE7-EED9-420D-501ACF8545FA}"/>
              </a:ext>
            </a:extLst>
          </p:cNvPr>
          <p:cNvSpPr/>
          <p:nvPr/>
        </p:nvSpPr>
        <p:spPr>
          <a:xfrm>
            <a:off x="712376" y="411510"/>
            <a:ext cx="43200" cy="432000"/>
          </a:xfrm>
          <a:prstGeom prst="rect">
            <a:avLst/>
          </a:prstGeom>
          <a:solidFill>
            <a:srgbClr val="0677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9" name="表格 8">
            <a:extLst>
              <a:ext uri="{FF2B5EF4-FFF2-40B4-BE49-F238E27FC236}">
                <a16:creationId xmlns:a16="http://schemas.microsoft.com/office/drawing/2014/main" xmlns="" id="{235A10F7-8170-A04C-7F6B-9E3B83865768}"/>
              </a:ext>
            </a:extLst>
          </p:cNvPr>
          <p:cNvGraphicFramePr>
            <a:graphicFrameLocks noGrp="1"/>
          </p:cNvGraphicFramePr>
          <p:nvPr>
            <p:extLst>
              <p:ext uri="{D42A27DB-BD31-4B8C-83A1-F6EECF244321}">
                <p14:modId xmlns:p14="http://schemas.microsoft.com/office/powerpoint/2010/main" val="172444672"/>
              </p:ext>
            </p:extLst>
          </p:nvPr>
        </p:nvGraphicFramePr>
        <p:xfrm>
          <a:off x="410362" y="2882832"/>
          <a:ext cx="8416547" cy="1403740"/>
        </p:xfrm>
        <a:graphic>
          <a:graphicData uri="http://schemas.openxmlformats.org/drawingml/2006/table">
            <a:tbl>
              <a:tblPr/>
              <a:tblGrid>
                <a:gridCol w="897114">
                  <a:extLst>
                    <a:ext uri="{9D8B030D-6E8A-4147-A177-3AD203B41FA5}">
                      <a16:colId xmlns:a16="http://schemas.microsoft.com/office/drawing/2014/main" xmlns="" val="2697451761"/>
                    </a:ext>
                  </a:extLst>
                </a:gridCol>
                <a:gridCol w="939929">
                  <a:extLst>
                    <a:ext uri="{9D8B030D-6E8A-4147-A177-3AD203B41FA5}">
                      <a16:colId xmlns:a16="http://schemas.microsoft.com/office/drawing/2014/main" xmlns="" val="3303842719"/>
                    </a:ext>
                  </a:extLst>
                </a:gridCol>
                <a:gridCol w="629146">
                  <a:extLst>
                    <a:ext uri="{9D8B030D-6E8A-4147-A177-3AD203B41FA5}">
                      <a16:colId xmlns:a16="http://schemas.microsoft.com/office/drawing/2014/main" xmlns="" val="314256086"/>
                    </a:ext>
                  </a:extLst>
                </a:gridCol>
                <a:gridCol w="1963239">
                  <a:extLst>
                    <a:ext uri="{9D8B030D-6E8A-4147-A177-3AD203B41FA5}">
                      <a16:colId xmlns:a16="http://schemas.microsoft.com/office/drawing/2014/main" xmlns="" val="2585278055"/>
                    </a:ext>
                  </a:extLst>
                </a:gridCol>
                <a:gridCol w="3987119">
                  <a:extLst>
                    <a:ext uri="{9D8B030D-6E8A-4147-A177-3AD203B41FA5}">
                      <a16:colId xmlns:a16="http://schemas.microsoft.com/office/drawing/2014/main" xmlns="" val="2218795462"/>
                    </a:ext>
                  </a:extLst>
                </a:gridCol>
              </a:tblGrid>
              <a:tr h="91559">
                <a:tc>
                  <a:txBody>
                    <a:bodyPr/>
                    <a:lstStyle/>
                    <a:p>
                      <a:pPr algn="l" fontAlgn="b">
                        <a:buNone/>
                      </a:pPr>
                      <a:r>
                        <a:rPr lang="zh-CN" altLang="en-US" sz="800" b="1" i="0" u="none" strike="noStrike" dirty="0">
                          <a:solidFill>
                            <a:schemeClr val="bg1"/>
                          </a:solidFill>
                          <a:effectLst/>
                          <a:latin typeface="+mn-ea"/>
                          <a:ea typeface="+mn-ea"/>
                        </a:rPr>
                        <a:t>维度</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b">
                        <a:buNone/>
                      </a:pPr>
                      <a:r>
                        <a:rPr lang="zh-CN" altLang="en-US" sz="800" b="1" i="0" u="none" strike="noStrike" dirty="0">
                          <a:solidFill>
                            <a:schemeClr val="bg1"/>
                          </a:solidFill>
                          <a:effectLst/>
                          <a:latin typeface="+mn-ea"/>
                          <a:ea typeface="+mn-ea"/>
                        </a:rPr>
                        <a:t>归母净利润（亿元）</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fontAlgn="ctr">
                        <a:buNone/>
                      </a:pPr>
                      <a:r>
                        <a:rPr lang="en-US" sz="800" b="1" i="0" u="none" strike="noStrike">
                          <a:solidFill>
                            <a:schemeClr val="bg1"/>
                          </a:solidFill>
                          <a:effectLst/>
                          <a:latin typeface="+mn-ea"/>
                          <a:ea typeface="+mn-ea"/>
                        </a:rPr>
                        <a:t>PE</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ctr">
                        <a:buNone/>
                      </a:pPr>
                      <a:r>
                        <a:rPr lang="zh-CN" altLang="en-US" sz="800" b="1" i="0" u="none" strike="noStrike" dirty="0">
                          <a:solidFill>
                            <a:schemeClr val="bg1"/>
                          </a:solidFill>
                          <a:effectLst/>
                          <a:latin typeface="+mn-ea"/>
                          <a:ea typeface="+mn-ea"/>
                        </a:rPr>
                        <a:t>目标市值</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l" fontAlgn="b">
                        <a:buNone/>
                      </a:pPr>
                      <a:r>
                        <a:rPr lang="zh-CN" altLang="en-US" sz="800" b="1" i="0" u="none" strike="noStrike" dirty="0">
                          <a:solidFill>
                            <a:schemeClr val="bg1"/>
                          </a:solidFill>
                          <a:effectLst/>
                          <a:latin typeface="+mn-ea"/>
                          <a:ea typeface="+mn-ea"/>
                        </a:rPr>
                        <a:t>核心假设</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xmlns="" val="3767687297"/>
                  </a:ext>
                </a:extLst>
              </a:tr>
              <a:tr h="640910">
                <a:tc>
                  <a:txBody>
                    <a:bodyPr/>
                    <a:lstStyle/>
                    <a:p>
                      <a:pPr algn="l" fontAlgn="ctr">
                        <a:buNone/>
                      </a:pPr>
                      <a:r>
                        <a:rPr lang="zh-CN" altLang="en-US" sz="800" b="0" i="0" u="none" strike="noStrike" dirty="0">
                          <a:solidFill>
                            <a:srgbClr val="000000"/>
                          </a:solidFill>
                          <a:effectLst/>
                          <a:latin typeface="+mn-ea"/>
                          <a:ea typeface="+mn-ea"/>
                        </a:rPr>
                        <a:t>中期（</a:t>
                      </a:r>
                      <a:r>
                        <a:rPr lang="en-US" altLang="zh-CN" sz="800" b="0" i="0" u="none" strike="noStrike" dirty="0">
                          <a:solidFill>
                            <a:srgbClr val="000000"/>
                          </a:solidFill>
                          <a:effectLst/>
                          <a:latin typeface="+mn-ea"/>
                          <a:ea typeface="+mn-ea"/>
                        </a:rPr>
                        <a:t>28-29</a:t>
                      </a:r>
                      <a:r>
                        <a:rPr lang="zh-CN" altLang="en-US" sz="800" b="0" i="0" u="none" strike="noStrike" dirty="0">
                          <a:solidFill>
                            <a:srgbClr val="000000"/>
                          </a:solidFill>
                          <a:effectLst/>
                          <a:latin typeface="+mn-ea"/>
                          <a:ea typeface="+mn-ea"/>
                        </a:rPr>
                        <a:t>年）</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en-US" altLang="zh-CN" sz="800" b="0" i="0" u="none" strike="noStrike" dirty="0">
                          <a:solidFill>
                            <a:srgbClr val="000000"/>
                          </a:solidFill>
                          <a:effectLst/>
                          <a:latin typeface="+mn-ea"/>
                          <a:ea typeface="+mn-ea"/>
                        </a:rPr>
                        <a:t>12-13</a:t>
                      </a:r>
                      <a:r>
                        <a:rPr lang="zh-CN" altLang="en-US" sz="800" b="0" i="0" u="none" strike="noStrike" dirty="0">
                          <a:solidFill>
                            <a:srgbClr val="000000"/>
                          </a:solidFill>
                          <a:effectLst/>
                          <a:latin typeface="+mn-ea"/>
                          <a:ea typeface="+mn-ea"/>
                        </a:rPr>
                        <a:t>（</a:t>
                      </a:r>
                      <a:r>
                        <a:rPr lang="en-US" altLang="zh-CN" sz="800" b="0" i="0" u="none" strike="noStrike" dirty="0">
                          <a:solidFill>
                            <a:srgbClr val="000000"/>
                          </a:solidFill>
                          <a:effectLst/>
                          <a:latin typeface="+mn-ea"/>
                          <a:ea typeface="+mn-ea"/>
                        </a:rPr>
                        <a:t>90%+</a:t>
                      </a:r>
                      <a:r>
                        <a:rPr lang="zh-CN" altLang="en-US" sz="800" b="0" i="0" u="none" strike="noStrike" dirty="0">
                          <a:solidFill>
                            <a:srgbClr val="000000"/>
                          </a:solidFill>
                          <a:effectLst/>
                          <a:latin typeface="+mn-ea"/>
                          <a:ea typeface="+mn-ea"/>
                        </a:rPr>
                        <a:t>半导体驱动）</a:t>
                      </a:r>
                      <a:endParaRPr lang="en-US" altLang="zh-CN" sz="800" b="0" i="0" u="none" strike="noStrike" dirty="0">
                        <a:solidFill>
                          <a:srgbClr val="000000"/>
                        </a:solidFill>
                        <a:effectLst/>
                        <a:latin typeface="+mn-ea"/>
                        <a:ea typeface="+mn-ea"/>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ctr">
                        <a:buNone/>
                      </a:pPr>
                      <a:r>
                        <a:rPr lang="en-US" altLang="zh-CN" sz="800" b="0" i="0" u="none" strike="noStrike" dirty="0">
                          <a:solidFill>
                            <a:srgbClr val="000000"/>
                          </a:solidFill>
                          <a:effectLst/>
                          <a:latin typeface="+mn-ea"/>
                          <a:ea typeface="+mn-ea"/>
                        </a:rPr>
                        <a:t>40-50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en-US" altLang="zh-CN" sz="800" b="0" i="0" u="none" strike="noStrike" dirty="0">
                          <a:solidFill>
                            <a:srgbClr val="000000"/>
                          </a:solidFill>
                          <a:effectLst/>
                          <a:latin typeface="+mn-ea"/>
                          <a:ea typeface="+mn-ea"/>
                        </a:rPr>
                        <a:t>500-600</a:t>
                      </a:r>
                      <a:r>
                        <a:rPr lang="zh-CN" altLang="en-US" sz="800" b="0" i="0" u="none" strike="noStrike" dirty="0">
                          <a:solidFill>
                            <a:srgbClr val="000000"/>
                          </a:solidFill>
                          <a:effectLst/>
                          <a:latin typeface="+mn-ea"/>
                          <a:ea typeface="+mn-ea"/>
                        </a:rPr>
                        <a:t>元，中值</a:t>
                      </a:r>
                      <a:r>
                        <a:rPr lang="en-US" altLang="zh-CN" sz="800" b="0" i="0" u="none" strike="noStrike" dirty="0">
                          <a:solidFill>
                            <a:srgbClr val="000000"/>
                          </a:solidFill>
                          <a:effectLst/>
                          <a:latin typeface="+mn-ea"/>
                          <a:ea typeface="+mn-ea"/>
                        </a:rPr>
                        <a:t>550</a:t>
                      </a:r>
                      <a:r>
                        <a:rPr lang="zh-CN" altLang="en-US" sz="800" b="0" i="0" u="none" strike="noStrike" dirty="0">
                          <a:solidFill>
                            <a:srgbClr val="000000"/>
                          </a:solidFill>
                          <a:effectLst/>
                          <a:latin typeface="+mn-ea"/>
                          <a:ea typeface="+mn-ea"/>
                        </a:rPr>
                        <a:t>亿元</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zh-CN" altLang="en-US" sz="800" b="1" i="0" u="none" strike="noStrike" dirty="0">
                          <a:solidFill>
                            <a:srgbClr val="000000"/>
                          </a:solidFill>
                          <a:effectLst/>
                          <a:latin typeface="+mn-ea"/>
                          <a:ea typeface="+mn-ea"/>
                        </a:rPr>
                        <a:t>合计：净利润</a:t>
                      </a:r>
                      <a:r>
                        <a:rPr lang="en-US" altLang="zh-CN" sz="800" b="1" i="0" u="none" strike="noStrike" dirty="0">
                          <a:solidFill>
                            <a:srgbClr val="000000"/>
                          </a:solidFill>
                          <a:effectLst/>
                          <a:latin typeface="+mn-ea"/>
                          <a:ea typeface="+mn-ea"/>
                        </a:rPr>
                        <a:t>12-13</a:t>
                      </a:r>
                      <a:r>
                        <a:rPr lang="zh-CN" altLang="en-US" sz="800" b="1" i="0" u="none" strike="noStrike" dirty="0">
                          <a:solidFill>
                            <a:srgbClr val="000000"/>
                          </a:solidFill>
                          <a:effectLst/>
                          <a:latin typeface="+mn-ea"/>
                          <a:ea typeface="+mn-ea"/>
                        </a:rPr>
                        <a:t>亿元</a:t>
                      </a:r>
                      <a:r>
                        <a:rPr lang="zh-CN" altLang="en-US" sz="800" b="0" i="0" u="none" strike="noStrike" dirty="0">
                          <a:solidFill>
                            <a:srgbClr val="000000"/>
                          </a:solidFill>
                          <a:effectLst/>
                          <a:latin typeface="+mn-ea"/>
                          <a:ea typeface="+mn-ea"/>
                        </a:rPr>
                        <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1</a:t>
                      </a:r>
                      <a:r>
                        <a:rPr lang="zh-CN" altLang="en-US" sz="800" b="0" i="0" u="none" strike="noStrike" dirty="0">
                          <a:solidFill>
                            <a:srgbClr val="000000"/>
                          </a:solidFill>
                          <a:effectLst/>
                          <a:latin typeface="+mn-ea"/>
                          <a:ea typeface="+mn-ea"/>
                        </a:rPr>
                        <a:t>）电子大宗气体：在手</a:t>
                      </a:r>
                      <a:r>
                        <a:rPr lang="en-US" altLang="zh-CN" sz="800" b="0" i="0" u="none" strike="noStrike" dirty="0">
                          <a:solidFill>
                            <a:srgbClr val="000000"/>
                          </a:solidFill>
                          <a:effectLst/>
                          <a:latin typeface="+mn-ea"/>
                          <a:ea typeface="+mn-ea"/>
                        </a:rPr>
                        <a:t>89</a:t>
                      </a:r>
                      <a:r>
                        <a:rPr lang="zh-CN" altLang="en-US" sz="800" b="0" i="0" u="none" strike="noStrike" dirty="0">
                          <a:solidFill>
                            <a:srgbClr val="000000"/>
                          </a:solidFill>
                          <a:effectLst/>
                          <a:latin typeface="+mn-ea"/>
                          <a:ea typeface="+mn-ea"/>
                        </a:rPr>
                        <a:t>万方，单万方对应年收入</a:t>
                      </a:r>
                      <a:r>
                        <a:rPr lang="en-US" altLang="zh-CN" sz="800" b="0" i="0" u="none" strike="noStrike" dirty="0">
                          <a:solidFill>
                            <a:srgbClr val="000000"/>
                          </a:solidFill>
                          <a:effectLst/>
                          <a:latin typeface="+mn-ea"/>
                          <a:ea typeface="+mn-ea"/>
                        </a:rPr>
                        <a:t>5000</a:t>
                      </a:r>
                      <a:r>
                        <a:rPr lang="zh-CN" altLang="en-US" sz="800" b="0" i="0" u="none" strike="noStrike" dirty="0">
                          <a:solidFill>
                            <a:srgbClr val="000000"/>
                          </a:solidFill>
                          <a:effectLst/>
                          <a:latin typeface="+mn-ea"/>
                          <a:ea typeface="+mn-ea"/>
                        </a:rPr>
                        <a:t>万，对应营收</a:t>
                      </a:r>
                      <a:r>
                        <a:rPr lang="en-US" altLang="zh-CN" sz="800" b="0" i="0" u="none" strike="noStrike" dirty="0">
                          <a:solidFill>
                            <a:srgbClr val="000000"/>
                          </a:solidFill>
                          <a:effectLst/>
                          <a:latin typeface="+mn-ea"/>
                          <a:ea typeface="+mn-ea"/>
                        </a:rPr>
                        <a:t>45</a:t>
                      </a:r>
                      <a:r>
                        <a:rPr lang="zh-CN" altLang="en-US" sz="800" b="0" i="0" u="none" strike="noStrike" dirty="0">
                          <a:solidFill>
                            <a:srgbClr val="000000"/>
                          </a:solidFill>
                          <a:effectLst/>
                          <a:latin typeface="+mn-ea"/>
                          <a:ea typeface="+mn-ea"/>
                        </a:rPr>
                        <a:t>亿元，</a:t>
                      </a:r>
                      <a:r>
                        <a:rPr lang="en-US" altLang="zh-CN" sz="800" b="0" i="0" u="none" strike="noStrike" dirty="0">
                          <a:solidFill>
                            <a:srgbClr val="000000"/>
                          </a:solidFill>
                          <a:effectLst/>
                          <a:latin typeface="+mn-ea"/>
                          <a:ea typeface="+mn-ea"/>
                        </a:rPr>
                        <a:t>20%~25%</a:t>
                      </a:r>
                      <a:r>
                        <a:rPr lang="zh-CN" altLang="en-US" sz="800" b="0" i="0" u="none" strike="noStrike" dirty="0">
                          <a:solidFill>
                            <a:srgbClr val="000000"/>
                          </a:solidFill>
                          <a:effectLst/>
                          <a:latin typeface="+mn-ea"/>
                          <a:ea typeface="+mn-ea"/>
                        </a:rPr>
                        <a:t>净利率水平，对应净利润大约</a:t>
                      </a:r>
                      <a:r>
                        <a:rPr lang="en-US" altLang="zh-CN" sz="800" b="0" i="0" u="none" strike="noStrike" dirty="0">
                          <a:solidFill>
                            <a:srgbClr val="000000"/>
                          </a:solidFill>
                          <a:effectLst/>
                          <a:latin typeface="+mn-ea"/>
                          <a:ea typeface="+mn-ea"/>
                        </a:rPr>
                        <a:t>10</a:t>
                      </a:r>
                      <a:r>
                        <a:rPr lang="zh-CN" altLang="en-US" sz="800" b="0" i="0" u="none" strike="noStrike" dirty="0">
                          <a:solidFill>
                            <a:srgbClr val="000000"/>
                          </a:solidFill>
                          <a:effectLst/>
                          <a:latin typeface="+mn-ea"/>
                          <a:ea typeface="+mn-ea"/>
                        </a:rPr>
                        <a:t>亿元；</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）工业通用气体：大约营收</a:t>
                      </a:r>
                      <a:r>
                        <a:rPr lang="en-US" altLang="zh-CN" sz="800" b="0" i="0" u="none" strike="noStrike" dirty="0">
                          <a:solidFill>
                            <a:srgbClr val="000000"/>
                          </a:solidFill>
                          <a:effectLst/>
                          <a:latin typeface="+mn-ea"/>
                          <a:ea typeface="+mn-ea"/>
                        </a:rPr>
                        <a:t>5</a:t>
                      </a:r>
                      <a:r>
                        <a:rPr lang="zh-CN" altLang="en-US" sz="800" b="0" i="0" u="none" strike="noStrike" dirty="0">
                          <a:solidFill>
                            <a:srgbClr val="000000"/>
                          </a:solidFill>
                          <a:effectLst/>
                          <a:latin typeface="+mn-ea"/>
                          <a:ea typeface="+mn-ea"/>
                        </a:rPr>
                        <a:t>亿元，对应净利润</a:t>
                      </a:r>
                      <a:r>
                        <a:rPr lang="en-US" altLang="zh-CN" sz="800" b="0" i="0" u="none" strike="noStrike" dirty="0">
                          <a:solidFill>
                            <a:srgbClr val="000000"/>
                          </a:solidFill>
                          <a:effectLst/>
                          <a:latin typeface="+mn-ea"/>
                          <a:ea typeface="+mn-ea"/>
                        </a:rPr>
                        <a:t>0.85</a:t>
                      </a:r>
                      <a:r>
                        <a:rPr lang="zh-CN" altLang="en-US" sz="800" b="0" i="0" u="none" strike="noStrike" dirty="0">
                          <a:solidFill>
                            <a:srgbClr val="000000"/>
                          </a:solidFill>
                          <a:effectLst/>
                          <a:latin typeface="+mn-ea"/>
                          <a:ea typeface="+mn-ea"/>
                        </a:rPr>
                        <a:t>亿元；</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3</a:t>
                      </a:r>
                      <a:r>
                        <a:rPr lang="zh-CN" altLang="en-US" sz="800" b="0" i="0" u="none" strike="noStrike" dirty="0">
                          <a:solidFill>
                            <a:srgbClr val="000000"/>
                          </a:solidFill>
                          <a:effectLst/>
                          <a:latin typeface="+mn-ea"/>
                          <a:ea typeface="+mn-ea"/>
                        </a:rPr>
                        <a:t>）电子特气：大约</a:t>
                      </a: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亿元</a:t>
                      </a:r>
                    </a:p>
                  </a:txBody>
                  <a:tcPr marL="0" marR="0" marT="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xmlns="" val="3712150511"/>
                  </a:ext>
                </a:extLst>
              </a:tr>
              <a:tr h="640910">
                <a:tc>
                  <a:txBody>
                    <a:bodyPr/>
                    <a:lstStyle/>
                    <a:p>
                      <a:pPr algn="l" fontAlgn="ctr">
                        <a:buNone/>
                      </a:pPr>
                      <a:r>
                        <a:rPr lang="zh-CN" altLang="en-US" sz="800" b="0" i="0" u="none" strike="noStrike" dirty="0">
                          <a:solidFill>
                            <a:srgbClr val="000000"/>
                          </a:solidFill>
                          <a:effectLst/>
                          <a:latin typeface="+mn-ea"/>
                          <a:ea typeface="+mn-ea"/>
                        </a:rPr>
                        <a:t>远期</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en-US" altLang="zh-CN" sz="800" b="0" i="0" u="none" strike="noStrike" dirty="0">
                          <a:solidFill>
                            <a:srgbClr val="000000"/>
                          </a:solidFill>
                          <a:effectLst/>
                          <a:latin typeface="+mn-ea"/>
                          <a:ea typeface="+mn-ea"/>
                        </a:rPr>
                        <a:t>32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zh-CN" sz="800" b="0" i="0" u="none" strike="noStrike" dirty="0">
                          <a:solidFill>
                            <a:srgbClr val="000000"/>
                          </a:solidFill>
                          <a:effectLst/>
                          <a:latin typeface="+mn-ea"/>
                          <a:ea typeface="+mn-ea"/>
                        </a:rPr>
                        <a:t>30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en-US" altLang="zh-CN" sz="800" b="0" i="0" u="none" strike="noStrike" dirty="0">
                          <a:solidFill>
                            <a:srgbClr val="000000"/>
                          </a:solidFill>
                          <a:effectLst/>
                          <a:latin typeface="+mn-ea"/>
                          <a:ea typeface="+mn-ea"/>
                        </a:rPr>
                        <a:t>900</a:t>
                      </a:r>
                      <a:r>
                        <a:rPr lang="zh-CN" altLang="en-US" sz="800" b="0" i="0" u="none" strike="noStrike" dirty="0">
                          <a:solidFill>
                            <a:srgbClr val="000000"/>
                          </a:solidFill>
                          <a:effectLst/>
                          <a:latin typeface="+mn-ea"/>
                          <a:ea typeface="+mn-ea"/>
                        </a:rPr>
                        <a:t>亿元，如果考虑公司未来在工业现场制气拓展，市值空间有望向上</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ctr">
                        <a:buNone/>
                      </a:pPr>
                      <a:r>
                        <a:rPr lang="zh-CN" altLang="en-US" sz="800" b="1" i="0" u="none" strike="noStrike" dirty="0">
                          <a:solidFill>
                            <a:srgbClr val="000000"/>
                          </a:solidFill>
                          <a:effectLst/>
                          <a:latin typeface="+mn-ea"/>
                          <a:ea typeface="+mn-ea"/>
                        </a:rPr>
                        <a:t>合计：净利润</a:t>
                      </a:r>
                      <a:r>
                        <a:rPr lang="en-US" altLang="zh-CN" sz="800" b="1" i="0" u="none" strike="noStrike" dirty="0">
                          <a:solidFill>
                            <a:srgbClr val="000000"/>
                          </a:solidFill>
                          <a:effectLst/>
                          <a:latin typeface="+mn-ea"/>
                          <a:ea typeface="+mn-ea"/>
                        </a:rPr>
                        <a:t>25-26</a:t>
                      </a:r>
                      <a:r>
                        <a:rPr lang="zh-CN" altLang="en-US" sz="800" b="1" i="0" u="none" strike="noStrike" dirty="0">
                          <a:solidFill>
                            <a:srgbClr val="000000"/>
                          </a:solidFill>
                          <a:effectLst/>
                          <a:latin typeface="+mn-ea"/>
                          <a:ea typeface="+mn-ea"/>
                        </a:rPr>
                        <a:t>亿元</a:t>
                      </a:r>
                      <a:r>
                        <a:rPr lang="zh-CN" altLang="en-US" sz="800" b="0" i="0" u="none" strike="noStrike" dirty="0">
                          <a:solidFill>
                            <a:srgbClr val="000000"/>
                          </a:solidFill>
                          <a:effectLst/>
                          <a:latin typeface="+mn-ea"/>
                          <a:ea typeface="+mn-ea"/>
                        </a:rPr>
                        <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1</a:t>
                      </a:r>
                      <a:r>
                        <a:rPr lang="zh-CN" altLang="en-US" sz="800" b="0" i="0" u="none" strike="noStrike" dirty="0">
                          <a:solidFill>
                            <a:srgbClr val="000000"/>
                          </a:solidFill>
                          <a:effectLst/>
                          <a:latin typeface="+mn-ea"/>
                          <a:ea typeface="+mn-ea"/>
                        </a:rPr>
                        <a:t>）电子大宗气体：整体市场占比</a:t>
                      </a:r>
                      <a:r>
                        <a:rPr lang="en-US" altLang="zh-CN" sz="800" b="0" i="0" u="none" strike="noStrike" dirty="0">
                          <a:solidFill>
                            <a:srgbClr val="000000"/>
                          </a:solidFill>
                          <a:effectLst/>
                          <a:latin typeface="+mn-ea"/>
                          <a:ea typeface="+mn-ea"/>
                        </a:rPr>
                        <a:t>35%</a:t>
                      </a:r>
                      <a:r>
                        <a:rPr lang="zh-CN" altLang="en-US" sz="800" b="0" i="0" u="none" strike="noStrike" dirty="0">
                          <a:solidFill>
                            <a:srgbClr val="000000"/>
                          </a:solidFill>
                          <a:effectLst/>
                          <a:latin typeface="+mn-ea"/>
                          <a:ea typeface="+mn-ea"/>
                        </a:rPr>
                        <a:t>，对应公司收入</a:t>
                      </a:r>
                      <a:r>
                        <a:rPr lang="en-US" altLang="zh-CN" sz="800" b="0" i="0" u="none" strike="noStrike" dirty="0">
                          <a:solidFill>
                            <a:srgbClr val="000000"/>
                          </a:solidFill>
                          <a:effectLst/>
                          <a:latin typeface="+mn-ea"/>
                          <a:ea typeface="+mn-ea"/>
                        </a:rPr>
                        <a:t>120</a:t>
                      </a:r>
                      <a:r>
                        <a:rPr lang="zh-CN" altLang="en-US" sz="800" b="0" i="0" u="none" strike="noStrike" dirty="0">
                          <a:solidFill>
                            <a:srgbClr val="000000"/>
                          </a:solidFill>
                          <a:effectLst/>
                          <a:latin typeface="+mn-ea"/>
                          <a:ea typeface="+mn-ea"/>
                        </a:rPr>
                        <a:t>亿元，净利率</a:t>
                      </a:r>
                      <a:r>
                        <a:rPr lang="en-US" altLang="zh-CN" sz="800" b="0" i="0" u="none" strike="noStrike" dirty="0">
                          <a:solidFill>
                            <a:srgbClr val="000000"/>
                          </a:solidFill>
                          <a:effectLst/>
                          <a:latin typeface="+mn-ea"/>
                          <a:ea typeface="+mn-ea"/>
                        </a:rPr>
                        <a:t>20%+</a:t>
                      </a:r>
                      <a:r>
                        <a:rPr lang="zh-CN" altLang="en-US" sz="800" b="0" i="0" u="none" strike="noStrike" dirty="0">
                          <a:solidFill>
                            <a:srgbClr val="000000"/>
                          </a:solidFill>
                          <a:effectLst/>
                          <a:latin typeface="+mn-ea"/>
                          <a:ea typeface="+mn-ea"/>
                        </a:rPr>
                        <a:t>，对应</a:t>
                      </a:r>
                      <a:r>
                        <a:rPr lang="en-US" altLang="zh-CN" sz="800" b="0" i="0" u="none" strike="noStrike" dirty="0">
                          <a:solidFill>
                            <a:srgbClr val="000000"/>
                          </a:solidFill>
                          <a:effectLst/>
                          <a:latin typeface="+mn-ea"/>
                          <a:ea typeface="+mn-ea"/>
                        </a:rPr>
                        <a:t>25</a:t>
                      </a:r>
                      <a:r>
                        <a:rPr lang="zh-CN" altLang="en-US" sz="800" b="0" i="0" u="none" strike="noStrike" dirty="0">
                          <a:solidFill>
                            <a:srgbClr val="000000"/>
                          </a:solidFill>
                          <a:effectLst/>
                          <a:latin typeface="+mn-ea"/>
                          <a:ea typeface="+mn-ea"/>
                        </a:rPr>
                        <a:t>亿元净利润；</a:t>
                      </a:r>
                      <a:br>
                        <a:rPr lang="zh-CN" altLang="en-US" sz="800" b="0" i="0" u="none" strike="noStrike" dirty="0">
                          <a:solidFill>
                            <a:srgbClr val="000000"/>
                          </a:solidFill>
                          <a:effectLst/>
                          <a:latin typeface="+mn-ea"/>
                          <a:ea typeface="+mn-ea"/>
                        </a:rPr>
                      </a:br>
                      <a:r>
                        <a:rPr lang="en-US" altLang="zh-CN" sz="800" b="0" i="0" u="none" strike="noStrike" dirty="0">
                          <a:solidFill>
                            <a:srgbClr val="000000"/>
                          </a:solidFill>
                          <a:effectLst/>
                          <a:latin typeface="+mn-ea"/>
                          <a:ea typeface="+mn-ea"/>
                        </a:rPr>
                        <a:t>2</a:t>
                      </a:r>
                      <a:r>
                        <a:rPr lang="zh-CN" altLang="en-US" sz="800" b="0" i="0" u="none" strike="noStrike" dirty="0">
                          <a:solidFill>
                            <a:srgbClr val="000000"/>
                          </a:solidFill>
                          <a:effectLst/>
                          <a:latin typeface="+mn-ea"/>
                          <a:ea typeface="+mn-ea"/>
                        </a:rPr>
                        <a:t>）电子特种气体：</a:t>
                      </a:r>
                      <a:r>
                        <a:rPr lang="en-US" altLang="zh-CN" sz="800" b="0" i="0" u="none" strike="noStrike" dirty="0">
                          <a:solidFill>
                            <a:srgbClr val="000000"/>
                          </a:solidFill>
                          <a:effectLst/>
                          <a:latin typeface="+mn-ea"/>
                          <a:ea typeface="+mn-ea"/>
                        </a:rPr>
                        <a:t>6+</a:t>
                      </a:r>
                    </a:p>
                    <a:p>
                      <a:pPr algn="l" fontAlgn="ctr">
                        <a:buNone/>
                      </a:pPr>
                      <a:r>
                        <a:rPr lang="en-US" altLang="zh-CN" sz="800" b="0" i="0" u="none" strike="noStrike" dirty="0">
                          <a:solidFill>
                            <a:srgbClr val="000000"/>
                          </a:solidFill>
                          <a:effectLst/>
                          <a:latin typeface="+mn-ea"/>
                          <a:ea typeface="+mn-ea"/>
                        </a:rPr>
                        <a:t>3</a:t>
                      </a:r>
                      <a:r>
                        <a:rPr lang="zh-CN" altLang="en-US" sz="800" b="0" i="0" u="none" strike="noStrike" dirty="0">
                          <a:solidFill>
                            <a:srgbClr val="000000"/>
                          </a:solidFill>
                          <a:effectLst/>
                          <a:latin typeface="+mn-ea"/>
                          <a:ea typeface="+mn-ea"/>
                        </a:rPr>
                        <a:t>）工业通用气体：暂不考虑增加项目，营收</a:t>
                      </a:r>
                      <a:r>
                        <a:rPr lang="en-US" altLang="zh-CN" sz="800" b="0" i="0" u="none" strike="noStrike" dirty="0">
                          <a:solidFill>
                            <a:srgbClr val="000000"/>
                          </a:solidFill>
                          <a:effectLst/>
                          <a:latin typeface="+mn-ea"/>
                          <a:ea typeface="+mn-ea"/>
                        </a:rPr>
                        <a:t>5</a:t>
                      </a:r>
                      <a:r>
                        <a:rPr lang="zh-CN" altLang="en-US" sz="800" b="0" i="0" u="none" strike="noStrike" dirty="0">
                          <a:solidFill>
                            <a:srgbClr val="000000"/>
                          </a:solidFill>
                          <a:effectLst/>
                          <a:latin typeface="+mn-ea"/>
                          <a:ea typeface="+mn-ea"/>
                        </a:rPr>
                        <a:t>亿元，对应净利润</a:t>
                      </a:r>
                      <a:r>
                        <a:rPr lang="en-US" altLang="zh-CN" sz="800" b="0" i="0" u="none" strike="noStrike" dirty="0">
                          <a:solidFill>
                            <a:srgbClr val="000000"/>
                          </a:solidFill>
                          <a:effectLst/>
                          <a:latin typeface="+mn-ea"/>
                          <a:ea typeface="+mn-ea"/>
                        </a:rPr>
                        <a:t>0.85</a:t>
                      </a:r>
                      <a:r>
                        <a:rPr lang="zh-CN" altLang="en-US" sz="800" b="0" i="0" u="none" strike="noStrike" dirty="0">
                          <a:solidFill>
                            <a:srgbClr val="000000"/>
                          </a:solidFill>
                          <a:effectLst/>
                          <a:latin typeface="+mn-ea"/>
                          <a:ea typeface="+mn-ea"/>
                        </a:rPr>
                        <a:t>亿元</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1176582846"/>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7BD3"/>
            </a:gs>
            <a:gs pos="100000">
              <a:srgbClr val="002060"/>
            </a:gs>
          </a:gsLst>
          <a:lin ang="5400000" scaled="0"/>
        </a:gradFill>
        <a:effectLst/>
      </p:bgPr>
    </p:bg>
    <p:spTree>
      <p:nvGrpSpPr>
        <p:cNvPr id="1" name=""/>
        <p:cNvGrpSpPr/>
        <p:nvPr/>
      </p:nvGrpSpPr>
      <p:grpSpPr>
        <a:xfrm>
          <a:off x="0" y="0"/>
          <a:ext cx="0" cy="0"/>
          <a:chOff x="0" y="0"/>
          <a:chExt cx="0" cy="0"/>
        </a:xfrm>
      </p:grpSpPr>
      <p:sp>
        <p:nvSpPr>
          <p:cNvPr id="2" name="TextBox 3"/>
          <p:cNvSpPr txBox="1"/>
          <p:nvPr/>
        </p:nvSpPr>
        <p:spPr>
          <a:xfrm>
            <a:off x="3439161" y="2731462"/>
            <a:ext cx="2265680" cy="299085"/>
          </a:xfrm>
          <a:prstGeom prst="rect">
            <a:avLst/>
          </a:prstGeom>
          <a:noFill/>
        </p:spPr>
        <p:txBody>
          <a:bodyPr wrap="none">
            <a:spAutoFit/>
          </a:bodyPr>
          <a:lstStyle/>
          <a:p>
            <a:pPr algn="ctr" fontAlgn="auto">
              <a:spcBef>
                <a:spcPts val="0"/>
              </a:spcBef>
              <a:spcAft>
                <a:spcPts val="0"/>
              </a:spcAft>
              <a:defRPr/>
            </a:pPr>
            <a:r>
              <a:rPr lang="zh-CN" altLang="en-US" dirty="0">
                <a:solidFill>
                  <a:schemeClr val="bg1"/>
                </a:solidFill>
                <a:latin typeface="思源黑体 CN Regular" panose="020B0500000000000000" charset="-122"/>
                <a:ea typeface="思源黑体 CN Regular" panose="020B0500000000000000" charset="-122"/>
              </a:rPr>
              <a:t>国泰海通证券研究所</a:t>
            </a:r>
            <a:r>
              <a:rPr lang="en-US" altLang="zh-CN" dirty="0">
                <a:solidFill>
                  <a:schemeClr val="bg1"/>
                </a:solidFill>
                <a:latin typeface="思源黑体 CN Regular" panose="020B0500000000000000" charset="-122"/>
                <a:ea typeface="思源黑体 CN Regular" panose="020B0500000000000000" charset="-122"/>
              </a:rPr>
              <a:t>XX</a:t>
            </a:r>
            <a:r>
              <a:rPr lang="zh-CN" altLang="en-US" dirty="0">
                <a:solidFill>
                  <a:schemeClr val="bg1"/>
                </a:solidFill>
                <a:latin typeface="思源黑体 CN Regular" panose="020B0500000000000000" charset="-122"/>
                <a:ea typeface="思源黑体 CN Regular" panose="020B0500000000000000" charset="-122"/>
              </a:rPr>
              <a:t>团队</a:t>
            </a:r>
          </a:p>
        </p:txBody>
      </p:sp>
      <p:sp>
        <p:nvSpPr>
          <p:cNvPr id="3" name="矩形 8"/>
          <p:cNvSpPr>
            <a:spLocks noChangeArrowheads="1"/>
          </p:cNvSpPr>
          <p:nvPr/>
        </p:nvSpPr>
        <p:spPr bwMode="auto">
          <a:xfrm>
            <a:off x="2633552" y="1299731"/>
            <a:ext cx="3876897" cy="1323439"/>
          </a:xfrm>
          <a:prstGeom prst="rect">
            <a:avLst/>
          </a:prstGeom>
          <a:noFill/>
          <a:ln w="9525">
            <a:noFill/>
            <a:miter lim="800000"/>
          </a:ln>
        </p:spPr>
        <p:txBody>
          <a:bodyPr wrap="square" anchor="b">
            <a:spAutoFit/>
          </a:bodyPr>
          <a:lstStyle/>
          <a:p>
            <a:pPr algn="ctr"/>
            <a:r>
              <a:rPr lang="en-US" altLang="zh-CN" sz="4000" b="1" dirty="0">
                <a:solidFill>
                  <a:schemeClr val="bg1"/>
                </a:solidFill>
                <a:latin typeface="Arial" panose="020B0604020202020204" pitchFamily="34" charset="0"/>
                <a:ea typeface="思源黑体 CN Regular" panose="020B0500000000000000" charset="-122"/>
                <a:cs typeface="Arial" panose="020B0604020202020204" pitchFamily="34" charset="0"/>
              </a:rPr>
              <a:t>THANKS FOR</a:t>
            </a:r>
          </a:p>
          <a:p>
            <a:pPr algn="ctr"/>
            <a:r>
              <a:rPr lang="en-US" altLang="zh-CN" sz="4000" b="1" dirty="0">
                <a:solidFill>
                  <a:schemeClr val="bg1"/>
                </a:solidFill>
                <a:latin typeface="Arial" panose="020B0604020202020204" pitchFamily="34" charset="0"/>
                <a:ea typeface="思源黑体 CN Regular" panose="020B0500000000000000" charset="-122"/>
                <a:cs typeface="Arial" panose="020B0604020202020204" pitchFamily="34" charset="0"/>
              </a:rPr>
              <a:t>LISTENING</a:t>
            </a:r>
            <a:endParaRPr lang="zh-CN" altLang="en-US" sz="4000" b="1" dirty="0">
              <a:solidFill>
                <a:schemeClr val="bg1"/>
              </a:solidFill>
              <a:latin typeface="Arial" panose="020B0604020202020204" pitchFamily="34" charset="0"/>
              <a:ea typeface="思源黑体 CN Regular" panose="020B0500000000000000" charset="-122"/>
              <a:cs typeface="Arial" panose="020B06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Q4MGY1MmQzNzk1OTdkZjg3OWMwZDhmZDJkZjM2MjMifQ=="/>
  <p:tag name="KSO_WPP_MARK_KEY" val="5a11e972-bf52-4d30-ada6-8f44fbe7ea66"/>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90.766377952756,&quot;left&quot;:39.1251968503937,&quot;top&quot;:218.93755905511813,&quot;width&quot;:560.1890551181102}"/>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90.766377952756,&quot;left&quot;:39.1251968503937,&quot;top&quot;:218.93755905511813,&quot;width&quot;:560.1890551181102}"/>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44.07220472440946,&quot;left&quot;:-22.735748031496065,&quot;top&quot;:207.91330708661417,&quot;width&quot;:742.735748031496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44.07220472440946,&quot;left&quot;:-22.735748031496065,&quot;top&quot;:207.91330708661417,&quot;width&quot;:742.735748031496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44.07220472440946,&quot;left&quot;:-22.735748031496065,&quot;top&quot;:207.91330708661417,&quot;width&quot;:742.7357480314961}"/>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44.07220472440946,&quot;left&quot;:-22.735748031496065,&quot;top&quot;:207.91330708661417,&quot;width&quot;:742.7357480314961}"/>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44.07220472440946,&quot;left&quot;:-22.735748031496065,&quot;top&quot;:207.91330708661417,&quot;width&quot;:742.7357480314961}"/>
</p:tagLst>
</file>

<file path=ppt/theme/theme1.xml><?xml version="1.0" encoding="utf-8"?>
<a:theme xmlns:a="http://schemas.openxmlformats.org/drawingml/2006/main" name="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思源黑体 Heavy"/>
        <a:cs typeface=""/>
      </a:majorFont>
      <a:minorFont>
        <a:latin typeface="Arial"/>
        <a:ea typeface="思源黑体 Heavy"/>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rtlCol="0" anchor="ctr"/>
      <a:lstStyle>
        <a:defPPr algn="l">
          <a:defRPr sz="1100" dirty="0">
            <a:latin typeface="思源黑体 Heavy" panose="020B0A00000000000000" pitchFamily="34" charset="-122"/>
            <a:ea typeface="思源黑体 Heavy" panose="020B0A00000000000000" pitchFamily="34" charset="-122"/>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思源宋体 C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思源宋体 CN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思源宋体 CN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C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思源宋体 CN Light"/>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主题2021</Template>
  <TotalTime>2109</TotalTime>
  <Words>15453</Words>
  <Application>Microsoft Office PowerPoint</Application>
  <PresentationFormat>全屏显示(16:9)</PresentationFormat>
  <Paragraphs>2563</Paragraphs>
  <Slides>44</Slides>
  <Notes>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44</vt:i4>
      </vt:variant>
    </vt:vector>
  </HeadingPairs>
  <TitlesOfParts>
    <vt:vector size="63" baseType="lpstr">
      <vt:lpstr>Wonder Arial</vt:lpstr>
      <vt:lpstr>等线</vt:lpstr>
      <vt:lpstr>等线 Light</vt:lpstr>
      <vt:lpstr>汉仪雅酷黑简</vt:lpstr>
      <vt:lpstr>黑体</vt:lpstr>
      <vt:lpstr>楷体_GB2312</vt:lpstr>
      <vt:lpstr>思源黑体 CN Bold</vt:lpstr>
      <vt:lpstr>思源黑体 CN Regular</vt:lpstr>
      <vt:lpstr>思源黑体 Heavy</vt:lpstr>
      <vt:lpstr>思源宋体 CN Heavy</vt:lpstr>
      <vt:lpstr>思源宋体 CN Light</vt:lpstr>
      <vt:lpstr>微软雅黑</vt:lpstr>
      <vt:lpstr>微软雅黑 Light</vt:lpstr>
      <vt:lpstr>Arial</vt:lpstr>
      <vt:lpstr>Calibri</vt:lpstr>
      <vt:lpstr>Times New Roman</vt:lpstr>
      <vt:lpstr>Wingdings</vt:lpstr>
      <vt:lpstr>主题</vt:lpstr>
      <vt:lpstr>1_主题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通用</dc:title>
  <dc:creator>研究运营</dc:creator>
  <cp:lastModifiedBy>白昕</cp:lastModifiedBy>
  <cp:revision>237</cp:revision>
  <dcterms:created xsi:type="dcterms:W3CDTF">2021-01-04T07:17:00Z</dcterms:created>
  <dcterms:modified xsi:type="dcterms:W3CDTF">2026-01-12T07:36:16Z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99999">
    <vt:lpwstr>GTJAWATERMARKEDFLAG</vt:lpwstr>
  </property>
  <property fmtid="{D5CDD505-2E9C-101B-9397-08002B2CF9AE}" pid="3" name="0">
    <vt:lpwstr>国泰君安证券股份有限公司*今年的PPT模板，麻烦上传携宁系统*qianwenting@gtjas.com*hao.yu@sinitek.com * *kangkai@gtjas.com,cuijingyi@gtjas.com *2021-01-05 13:34:17;</vt:lpwstr>
  </property>
  <property fmtid="{D5CDD505-2E9C-101B-9397-08002B2CF9AE}" pid="4" name="ICV">
    <vt:lpwstr>D3B72B0079044FC18BC5C3FDB3253EA9</vt:lpwstr>
  </property>
  <property fmtid="{D5CDD505-2E9C-101B-9397-08002B2CF9AE}" pid="5" name="KSOProductBuildVer">
    <vt:lpwstr>2052-12.1.0.22529</vt:lpwstr>
  </property>
</Properties>
</file>