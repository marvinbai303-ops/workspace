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7b6cdfce1334676" /><Relationship Type="http://schemas.openxmlformats.org/officeDocument/2006/relationships/extended-properties" Target="/docProps/app.xml" Id="R10106a6f4fa148b6" /><Relationship Type="http://schemas.openxmlformats.org/officeDocument/2006/relationships/officeDocument" Target="/ppt/presentation.xml" Id="R0bf7f3d881ac4b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25b4a8f2f041bb"/>
  </p:sldMasterIdLst>
  <p:notesMasterIdLst>
    <p:notesMasterId xmlns:r="http://schemas.openxmlformats.org/officeDocument/2006/relationships" r:id="R018700c97dc94c5e"/>
  </p:notesMasterIdLst>
  <p:sldIdLst>
    <p:sldId xmlns:r="http://schemas.openxmlformats.org/officeDocument/2006/relationships" id="256" r:id="R31d3cd5165634b46"/>
    <p:sldId xmlns:r="http://schemas.openxmlformats.org/officeDocument/2006/relationships" id="257" r:id="Re42049e0888d40d9"/>
    <p:sldId xmlns:r="http://schemas.openxmlformats.org/officeDocument/2006/relationships" id="258" r:id="Rf028985f5264484f"/>
    <p:sldId xmlns:r="http://schemas.openxmlformats.org/officeDocument/2006/relationships" id="259" r:id="R6d109716eaa745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99b73df3364e2b" /><Relationship Type="http://schemas.openxmlformats.org/officeDocument/2006/relationships/slideMaster" Target="/ppt/slideMasters/slideMaster1.xml" Id="R1225b4a8f2f041bb" /><Relationship Type="http://schemas.openxmlformats.org/officeDocument/2006/relationships/notesMaster" Target="/ppt/notesMasters/notesMaster1.xml" Id="R018700c97dc94c5e" /><Relationship Type="http://schemas.openxmlformats.org/officeDocument/2006/relationships/presProps" Target="/ppt/presProps.xml" Id="R56a0b3bfca33485e" /><Relationship Type="http://schemas.openxmlformats.org/officeDocument/2006/relationships/viewProps" Target="/ppt/viewProps.xml" Id="Rde93228f182e426c" /><Relationship Type="http://schemas.openxmlformats.org/officeDocument/2006/relationships/tableStyles" Target="/ppt/tableStyles.xml" Id="R061fd1a80d254cf2" /><Relationship Type="http://schemas.openxmlformats.org/officeDocument/2006/relationships/slide" Target="/ppt/slides/slide1.xml" Id="R31d3cd5165634b46" /><Relationship Type="http://schemas.openxmlformats.org/officeDocument/2006/relationships/slide" Target="/ppt/slides/slide2.xml" Id="Re42049e0888d40d9" /><Relationship Type="http://schemas.openxmlformats.org/officeDocument/2006/relationships/slide" Target="/ppt/slides/slide3.xml" Id="Rf028985f5264484f" /><Relationship Type="http://schemas.openxmlformats.org/officeDocument/2006/relationships/slide" Target="/ppt/slides/slide4.xml" Id="R6d109716eaa745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f6e5a8703544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d4f580965146e7" /><Relationship Type="http://schemas.openxmlformats.org/officeDocument/2006/relationships/notesMaster" Target="/ppt/notesMasters/notesMaster1.xml" Id="Rca5f55fcc31b48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353b79b6f344bd" /><Relationship Type="http://schemas.openxmlformats.org/officeDocument/2006/relationships/notesMaster" Target="/ppt/notesMasters/notesMaster1.xml" Id="R8afc5f7eec4a4b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01bf97e9a14ff7" /><Relationship Type="http://schemas.openxmlformats.org/officeDocument/2006/relationships/notesMaster" Target="/ppt/notesMasters/notesMaster1.xml" Id="R3216a2af1d964c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4042909e6c94666" /><Relationship Type="http://schemas.openxmlformats.org/officeDocument/2006/relationships/notesMaster" Target="/ppt/notesMasters/notesMaster1.xml" Id="R882f9e9ff35b4e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核心讲法：行业Beta成立之后，2026年不再只是交易产业想象力，而是订单和现金流驱动盈利上修、盈利上修再推动估值抬升的“戴维斯双击”。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https://www.nhsa.gov.cn/art/2025/7/1/art_104_17058.html</a:t>
            </a:r>
          </a:p>
          <a:p xmlns:a="http://schemas.openxmlformats.org/drawingml/2006/main">
            <a:r>
              <a:t>- https://www.nhsa.gov.cn/art/2026/4/14/art_53_20215.html</a:t>
            </a:r>
          </a:p>
          <a:p xmlns:a="http://schemas.openxmlformats.org/drawingml/2006/main">
            <a:r>
              <a:t>- https://data.eastmoney.com/report/zw_industry.jshtml?infocode=AP202607051826728220</a:t>
            </a:r>
          </a:p>
          <a:p xmlns:a="http://schemas.openxmlformats.org/drawingml/2006/main">
            <a:r>
              <a:t>- https://www.wuxiapptec.cn/news/wuxi-news/wuxi-apptec-crdmo-model-delivers-strong-results</a:t>
            </a:r>
          </a:p>
          <a:p xmlns:a="http://schemas.openxmlformats.org/drawingml/2006/main">
            <a:r>
              <a:t>- https://finance.sina.com.cn/wm/2026-07-13/doc-inihspyt4282488.shtml</a:t>
            </a:r>
          </a:p>
          <a:p xmlns:a="http://schemas.openxmlformats.org/drawingml/2006/main">
            <a:r>
              <a:t>- IMA：嘉实基金郝淼交流，2026-08-21（私域资料）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判断2026是否能形成持续Alpha，不能只看阶段涨幅，需要三道检验：</a:t>
            </a:r>
          </a:p>
          <a:p xmlns:a="http://schemas.openxmlformats.org/drawingml/2006/main">
            <a:r>
              <a:t>1. 独立于大盘：已经满足。2025/6—9沪深300上涨20.8%、医药上涨14.9%，医药跑输；2026/6—8.21沪深300下跌5.6%、医药上涨9.9%，形成约15.5个百分点超额。</a:t>
            </a:r>
          </a:p>
          <a:p xmlns:a="http://schemas.openxmlformats.org/drawingml/2006/main">
            <a:r>
              <a:t>2. 盈利持续上修：已经满足。2026H1创新药BD约为2025H1的2.1倍；药明康德持续经营收入增长48%、经营现金流增长41.3%，并上调全年指引。</a:t>
            </a:r>
          </a:p>
          <a:p xmlns:a="http://schemas.openxmlformats.org/drawingml/2006/main">
            <a:r>
              <a:t>3. 机构资金扩散：尚待验证。医药总仓位处于阶段低位，具备增配空间；但现有资金已集中CXO，真正的持续Alpha需要盈利型创新药接力并带动医药总仓位回升。</a:t>
            </a:r>
          </a:p>
          <a:p xmlns:a="http://schemas.openxmlformats.org/drawingml/2006/main"/>
          <a:p xmlns:a="http://schemas.openxmlformats.org/drawingml/2006/main">
            <a:r>
              <a:t>结论：2026具备比2025更强的产业基础，但“持续Alpha”仍是条件式判断，不是无条件线性外推。</a:t>
            </a:r>
          </a:p>
          <a:p xmlns:a="http://schemas.openxmlformats.org/drawingml/2006/main"/>
          <a:p xmlns:a="http://schemas.openxmlformats.org/drawingml/2006/main">
            <a:r>
              <a:t>注：2025与2026基金持仓报告样本口径不同，不直接比较绝对仓位，只使用各自报告中的变动方向与内部结构。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同花顺iFinD：000300.SH、000808.CSI、931152.CSI、884244.TI；区间2025-06-01至2025-09-30、2026-06-01至2026-08-21</a:t>
            </a:r>
          </a:p>
          <a:p xmlns:a="http://schemas.openxmlformats.org/drawingml/2006/main">
            <a:r>
              <a:t>- https://www.drugtimes.cn/2025/07/02/chao48448yimeiyuan2025nianshangbannianzhongguochuangxinyaoch/</a:t>
            </a:r>
          </a:p>
          <a:p xmlns:a="http://schemas.openxmlformats.org/drawingml/2006/main">
            <a:r>
              <a:t>- https://data.eastmoney.com/report/zw_industry.jshtml?infocode=AP202607051826728220</a:t>
            </a:r>
          </a:p>
          <a:p xmlns:a="http://schemas.openxmlformats.org/drawingml/2006/main">
            <a:r>
              <a:t>- https://www.wuxiapptec.cn/news/wuxi-news/wuxi-apptec-crdmo-model-delivers-strong-results</a:t>
            </a:r>
          </a:p>
          <a:p xmlns:a="http://schemas.openxmlformats.org/drawingml/2006/main">
            <a:r>
              <a:t>- https://data.eastmoney.com/report/info/AP202607301827476211.html</a:t>
            </a:r>
          </a:p>
          <a:p xmlns:a="http://schemas.openxmlformats.org/drawingml/2006/main">
            <a:r>
              <a:t>- https://field.10jqka.com.cn/20251104/c672228873.shtml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配置判断：未来6—12个月，CXO仍具备更高的盈利确定性，但估值和交易拥挤度已经明显修复；创新药的胜率低于CXO，但相对估值位置和事件弹性更好。</a:t>
            </a:r>
          </a:p>
          <a:p xmlns:a="http://schemas.openxmlformats.org/drawingml/2006/main"/>
          <a:p xmlns:a="http://schemas.openxmlformats.org/drawingml/2006/main">
            <a:r>
              <a:t>“研究框架评分”为基于产业兑现、估值位置和交易拥挤度的定性判断，仅用于比较，不是收益预测。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同花顺iFinD：931152.CSI、884244.TI，估值截至2026-08-21</a:t>
            </a:r>
          </a:p>
          <a:p xmlns:a="http://schemas.openxmlformats.org/drawingml/2006/main">
            <a:r>
              <a:t>- https://www.wuxiapptec.cn/news/wuxi-news/wuxi-apptec-crdmo-model-delivers-strong-results</a:t>
            </a:r>
          </a:p>
          <a:p xmlns:a="http://schemas.openxmlformats.org/drawingml/2006/main">
            <a:r>
              <a:t>- https://data.eastmoney.com/report/zw_industry.jshtml?infocode=AP202607051826728220</a:t>
            </a:r>
          </a:p>
          <a:p xmlns:a="http://schemas.openxmlformats.org/drawingml/2006/main">
            <a:r>
              <a:t>- https://finance.sina.com.cn/wm/2026-07-13/doc-inihspyt4282488.shtml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讲法：郝淼在8月21日交流中提到，FDA改革落地，A/H医药业绩和海外授权延续增长；投资跟踪上，CXO主要观察订单、收入与现金流，创新药结合临床成功率和DCF评估。三只产品仅展示2026Q2前十大持仓的客观结构差异，不作产品风格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口径：A/C份额共用同一投资组合，仅展示A类主代码。前十大持仓按研究口径归类，其他为100%减去已分类前十大持仓占基金净值。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IMA：嘉实郝淼交流0821，2026-08-21（私域资料）</a:t>
            </a:r>
          </a:p>
          <a:p xmlns:a="http://schemas.openxmlformats.org/drawingml/2006/main">
            <a:r>
              <a:t>- 同花顺iFinD：000711、005303、006603，报告期2026-06-30</a:t>
            </a:r>
          </a:p>
          <a:p xmlns:a="http://schemas.openxmlformats.org/drawingml/2006/main">
            <a:r>
              <a:t>- https://www.jsfund.cn/main/a/20251210/484034.shtml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f799666efc48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076cd97c0947ba" /><Relationship Type="http://schemas.openxmlformats.org/officeDocument/2006/relationships/slideLayout" Target="/ppt/slideLayouts/slideLayout1.xml" Id="R18d01ae88c1745c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d01ae88c1745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4972f078c046fd" /><Relationship Type="http://schemas.openxmlformats.org/officeDocument/2006/relationships/notesSlide" Target="/ppt/notesSlides/notesSlide1.xml" Id="R743f88d727b443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8113a47034f11" /><Relationship Type="http://schemas.openxmlformats.org/officeDocument/2006/relationships/notesSlide" Target="/ppt/notesSlides/notesSlide2.xml" Id="R6fbc996699ea43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9e787ed834df9" /><Relationship Type="http://schemas.openxmlformats.org/officeDocument/2006/relationships/chart" Target="/ppt/slides/charts/chart1.xml" Id="Rb716006babd54d7f" /><Relationship Type="http://schemas.openxmlformats.org/officeDocument/2006/relationships/notesSlide" Target="/ppt/notesSlides/notesSlide3.xml" Id="R4544dcd163fe46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2039971c5479d" /><Relationship Type="http://schemas.openxmlformats.org/officeDocument/2006/relationships/chart" Target="/ppt/slides/charts/chart2.xml" Id="Rab5256027eaf41fb" /><Relationship Type="http://schemas.openxmlformats.org/officeDocument/2006/relationships/chart" Target="/ppt/slides/charts/chart3.xml" Id="R3b14e6bc0d2043df" /><Relationship Type="http://schemas.openxmlformats.org/officeDocument/2006/relationships/chart" Target="/ppt/slides/charts/chart4.xml" Id="R79359e39e8384589" /><Relationship Type="http://schemas.openxmlformats.org/officeDocument/2006/relationships/notesSlide" Target="/ppt/notesSlides/notesSlide4.xml" Id="Rebd45c23a5254ab3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39649122807018"/>
          <c:y val="0.0129032258064516"/>
        </c:manualLayout>
      </c:layout>
      <c:overlay val="1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1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CXO</c:f>
              <c:strCache>
                <c:ptCount val="1"/>
                <c:pt idx="0">
                  <c:v>CXO</c:v>
                </c:pt>
              </c:strCache>
            </c:strRef>
          </c:tx>
          <c:spPr>
            <a:solidFill xmlns:a="http://schemas.openxmlformats.org/drawingml/2006/main">
              <a:srgbClr val="2F6BFF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{"盈利确定性","短期拥挤度","中期赔率"}</c:f>
              <c:strCache>
                <c:ptCount val="3"/>
                <c:pt idx="0">
                  <c:v>盈利确定性</c:v>
                </c:pt>
                <c:pt idx="1">
                  <c:v>短期拥挤度</c:v>
                </c:pt>
                <c:pt idx="2">
                  <c:v>中期赔率</c:v>
                </c:pt>
              </c:strCache>
            </c:strRef>
          </c:cat>
          <c:val>
            <c:numRef>
              <c:f>{5,4,3}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ser>
          <c:idx val="1"/>
          <c:order val="1"/>
          <c:tx>
            <c:strRef>
              <c:f>创新药</c:f>
              <c:strCache>
                <c:ptCount val="1"/>
                <c:pt idx="0">
                  <c:v>创新药</c:v>
                </c:pt>
              </c:strCache>
            </c:strRef>
          </c:tx>
          <c:spPr>
            <a:solidFill xmlns:a="http://schemas.openxmlformats.org/drawingml/2006/main">
              <a:srgbClr val="F59E0B"/>
            </a:solidFill>
          </c:spPr>
          <c:dLbls>
            <c:numFmt formatCode="General" sourceLinked="1"/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0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{"盈利确定性","短期拥挤度","中期赔率"}</c:f>
              <c:strCache>
                <c:ptCount val="3"/>
                <c:pt idx="0">
                  <c:v>盈利确定性</c:v>
                </c:pt>
                <c:pt idx="1">
                  <c:v>短期拥挤度</c:v>
                </c:pt>
                <c:pt idx="2">
                  <c:v>中期赔率</c:v>
                </c:pt>
              </c:strCache>
            </c:strRef>
          </c:cat>
          <c:val>
            <c:numRef>
              <c:f>{3,2,5}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CF0"/>
              </a:solidFill>
              <a:prstDash val="solid"/>
            </a:ln>
          </c:spPr>
        </c:majorGridlines>
        <c:numFmt formatCode="General" sourceLinked="1"/>
        <c:majorTickMark val="out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rot="-60000000" spcFirstLastPara="0" vert="horz" wrap="square" anchor="ctr" anchorCtr="1"/>
          <a:lstStyle xmlns:a="http://schemas.openxmlformats.org/drawingml/2006/main"/>
          <a:p xmlns:a="http://schemas.openxmlformats.org/drawingml/2006/main">
            <a:pPr>
              <a:defRPr sz="825" b="0" i="0" u="none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1050" b="0" i="0" u="none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975" b="0" i="0" u="none">
              <a:solidFill>
                <a:srgbClr val="667085"/>
              </a:solidFill>
              <a:latin typeface="STHeiti"/>
              <a:ea typeface="STHeiti"/>
              <a:cs typeface="STHeit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占基金净值</c:v>
          </c:tx>
          <c:dPt>
            <c:idx val="0"/>
            <c:spPr>
              <a:solidFill xmlns:a="http://schemas.openxmlformats.org/drawingml/2006/main">
                <a:srgbClr val="2F6BF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F59E0B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E5E7EB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3"/>
              <c:pt idx="0">
                <c:v>CXO</c:v>
              </c:pt>
              <c:pt idx="1">
                <c:v>创新药</c:v>
              </c:pt>
              <c:pt idx="2">
                <c:v>其他</c:v>
              </c:pt>
            </c:strLit>
          </c:cat>
          <c:val>
            <c:numLit>
              <c:formatCode>General</c:formatCode>
              <c:ptCount val="3"/>
              <c:pt idx="0">
                <c:v>51.8</c:v>
              </c:pt>
              <c:pt idx="1">
                <c:v>16.6</c:v>
              </c:pt>
              <c:pt idx="2">
                <c:v>31.6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6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占基金净值</c:v>
          </c:tx>
          <c:dPt>
            <c:idx val="0"/>
            <c:spPr>
              <a:solidFill xmlns:a="http://schemas.openxmlformats.org/drawingml/2006/main">
                <a:srgbClr val="2F6BFF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F59E0B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2"/>
            <c:spPr>
              <a:solidFill xmlns:a="http://schemas.openxmlformats.org/drawingml/2006/main">
                <a:srgbClr val="00A68A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3"/>
            <c:spPr>
              <a:solidFill xmlns:a="http://schemas.openxmlformats.org/drawingml/2006/main">
                <a:srgbClr val="E5E7EB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4"/>
              <c:pt idx="0">
                <c:v>CXO</c:v>
              </c:pt>
              <c:pt idx="1">
                <c:v>创新药</c:v>
              </c:pt>
              <c:pt idx="2">
                <c:v>医疗器械</c:v>
              </c:pt>
              <c:pt idx="3">
                <c:v>其他</c:v>
              </c:pt>
            </c:strLit>
          </c:cat>
          <c:val>
            <c:numLit>
              <c:formatCode>General</c:formatCode>
              <c:ptCount val="4"/>
              <c:pt idx="0">
                <c:v>34.1</c:v>
              </c:pt>
              <c:pt idx="1">
                <c:v>18.3</c:v>
              </c:pt>
              <c:pt idx="2">
                <c:v>5.8</c:v>
              </c:pt>
              <c:pt idx="3">
                <c:v>41.8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6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doughnutChart>
        <c:ser>
          <c:idx val="0"/>
          <c:order val="0"/>
          <c:tx>
            <c:v>占基金净值</c:v>
          </c:tx>
          <c:dPt>
            <c:idx val="0"/>
            <c:spPr>
              <a:solidFill xmlns:a="http://schemas.openxmlformats.org/drawingml/2006/main">
                <a:srgbClr val="F59E0B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dPt>
            <c:idx val="1"/>
            <c:spPr>
              <a:solidFill xmlns:a="http://schemas.openxmlformats.org/drawingml/2006/main">
                <a:srgbClr val="E5E7EB"/>
              </a:solidFill>
              <a:ln xmlns:a="http://schemas.openxmlformats.org/drawingml/2006/main" w="9525">
                <a:solidFill>
                  <a:srgbClr val="FFFFFF"/>
                </a:solidFill>
                <a:prstDash val="solid"/>
              </a:ln>
            </c:spPr>
          </c:dPt>
          <c:cat>
            <c:strLit>
              <c:ptCount val="2"/>
              <c:pt idx="0">
                <c:v>创新药/制药</c:v>
              </c:pt>
              <c:pt idx="1">
                <c:v>其他</c:v>
              </c:pt>
            </c:strLit>
          </c:cat>
          <c:val>
            <c:numLit>
              <c:formatCode>General</c:formatCode>
              <c:ptCount val="2"/>
              <c:pt idx="0">
                <c:v>69.8</c:v>
              </c:pt>
              <c:pt idx="1">
                <c:v>30.2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66"/>
      </c:doughnutChart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5D5DF61C-B454-4A8C-A354-EF19826F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60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医药正在从估值修复走向盈利周期</a:t>
            </a:r>
            <a:endParaRPr sz="360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3" name="accent-1">
            <a:extLst xmlns:a="http://schemas.openxmlformats.org/drawingml/2006/main">
              <a:ext uri="{FF2B5EF4-FFF2-40B4-BE49-F238E27FC236}">
                <a16:creationId xmlns:a16="http://schemas.microsoft.com/office/drawing/2014/main" id="{0BB98CC1-5B1C-49B4-B672-B0DEFAB5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BFF"/>
            </a:solidFill>
            <a:prstDash val="solid"/>
          </a:ln>
        </p:spPr>
      </p:sp>
      <p:sp>
        <p:nvSpPr>
          <p:cNvPr id="4" name="subtitle-1">
            <a:extLst xmlns:a="http://schemas.openxmlformats.org/drawingml/2006/main">
              <a:ext uri="{FF2B5EF4-FFF2-40B4-BE49-F238E27FC236}">
                <a16:creationId xmlns:a16="http://schemas.microsoft.com/office/drawing/2014/main" id="{AC2F53D1-01A0-42BF-8A83-293566C5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72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725" b="1">
                <a:solidFill>
                  <a:srgbClr val="667085"/>
                </a:solidFill>
                <a:latin typeface="STHeiti Regular"/>
                <a:ea typeface="STHeiti Regular"/>
                <a:cs typeface="STHeiti Regular"/>
              </a:rPr>
              <a:t>创新</a:t>
            </a:r>
            <a:r>
              <a:rPr sz="1725" b="1">
                <a:solidFill>
                  <a:srgbClr val="667085"/>
                </a:solidFill>
                <a:latin typeface="STHeiti Regular"/>
                <a:ea typeface="STHeiti Regular"/>
                <a:cs typeface="STHeiti Regular"/>
              </a:rPr>
              <a:t>药</a:t>
            </a:r>
            <a:r>
              <a:rPr sz="1725" b="1">
                <a:solidFill>
                  <a:srgbClr val="667085"/>
                </a:solidFill>
                <a:latin typeface="STHeiti Regular"/>
                <a:ea typeface="STHeiti Regular"/>
                <a:cs typeface="STHeiti Regular"/>
              </a:rPr>
              <a:t>资产全球化，正在形成“BD回款—研发投入—CXO订单—利润兑现”的正循环</a:t>
            </a:r>
            <a:endParaRPr sz="1725" b="1">
              <a:solidFill>
                <a:srgbClr val="667085"/>
              </a:solidFill>
              <a:latin typeface="STHeiti Regular"/>
              <a:ea typeface="STHeiti Regular"/>
              <a:cs typeface="STHeiti Regular"/>
            </a:endParaRPr>
          </a:p>
        </p:txBody>
      </p:sp>
      <p:sp>
        <p:nvSpPr>
          <p:cNvPr id="5" name="arrow-1">
            <a:extLst xmlns:a="http://schemas.openxmlformats.org/drawingml/2006/main">
              <a:ext uri="{FF2B5EF4-FFF2-40B4-BE49-F238E27FC236}">
                <a16:creationId xmlns:a16="http://schemas.microsoft.com/office/drawing/2014/main" id="{E62F1285-05E9-461E-817D-27C10FC3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003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→</a:t>
            </a:r>
            <a:endParaRPr sz="3150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6" name="arrow-2">
            <a:extLst xmlns:a="http://schemas.openxmlformats.org/drawingml/2006/main">
              <a:ext uri="{FF2B5EF4-FFF2-40B4-BE49-F238E27FC236}">
                <a16:creationId xmlns:a16="http://schemas.microsoft.com/office/drawing/2014/main" id="{72D1ED7B-3732-473C-9EED-C532A334B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000375"/>
            <a:ext cx="47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3150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3150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→</a:t>
            </a:r>
            <a:endParaRPr sz="3150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7" name="stage-panel-1">
            <a:extLst xmlns:a="http://schemas.openxmlformats.org/drawingml/2006/main">
              <a:ext uri="{FF2B5EF4-FFF2-40B4-BE49-F238E27FC236}">
                <a16:creationId xmlns:a16="http://schemas.microsoft.com/office/drawing/2014/main" id="{880422E4-A1C9-476B-B046-C164B391C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age-panel-2">
            <a:extLst xmlns:a="http://schemas.openxmlformats.org/drawingml/2006/main">
              <a:ext uri="{FF2B5EF4-FFF2-40B4-BE49-F238E27FC236}">
                <a16:creationId xmlns:a16="http://schemas.microsoft.com/office/drawing/2014/main" id="{42579630-AC58-4B0B-ADE2-B7818F0B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panel-3">
            <a:extLst xmlns:a="http://schemas.openxmlformats.org/drawingml/2006/main">
              <a:ext uri="{FF2B5EF4-FFF2-40B4-BE49-F238E27FC236}">
                <a16:creationId xmlns:a16="http://schemas.microsoft.com/office/drawing/2014/main" id="{44BDCD30-F89C-4780-944D-E2F18D97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90700"/>
            <a:ext cx="34290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tage1-head">
            <a:extLst xmlns:a="http://schemas.openxmlformats.org/drawingml/2006/main">
              <a:ext uri="{FF2B5EF4-FFF2-40B4-BE49-F238E27FC236}">
                <a16:creationId xmlns:a16="http://schemas.microsoft.com/office/drawing/2014/main" id="{BB7F8568-8C27-4F5E-80A4-80D2738E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① 资产重估</a:t>
            </a:r>
            <a:endParaRPr sz="1800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1" name="stage1-metric-value">
            <a:extLst xmlns:a="http://schemas.openxmlformats.org/drawingml/2006/main">
              <a:ext uri="{FF2B5EF4-FFF2-40B4-BE49-F238E27FC236}">
                <a16:creationId xmlns:a16="http://schemas.microsoft.com/office/drawing/2014/main" id="{246A5ACD-B066-4162-8495-D0150343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431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997亿美元</a:t>
            </a:r>
            <a:endParaRPr sz="32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2" name="stage1-metric-label">
            <a:extLst xmlns:a="http://schemas.openxmlformats.org/drawingml/2006/main">
              <a:ext uri="{FF2B5EF4-FFF2-40B4-BE49-F238E27FC236}">
                <a16:creationId xmlns:a16="http://schemas.microsoft.com/office/drawing/2014/main" id="{CB9B553B-BECF-49FC-AEF2-A190E01E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2026H1中国创新药BD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约为2025全年交易额的73%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3" name="stage1-rule">
            <a:extLst xmlns:a="http://schemas.openxmlformats.org/drawingml/2006/main">
              <a:ext uri="{FF2B5EF4-FFF2-40B4-BE49-F238E27FC236}">
                <a16:creationId xmlns:a16="http://schemas.microsoft.com/office/drawing/2014/main" id="{D9DDA23D-19B6-43AE-8D93-2F8F952B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14" name="stage1-meaning">
            <a:extLst xmlns:a="http://schemas.openxmlformats.org/drawingml/2006/main">
              <a:ext uri="{FF2B5EF4-FFF2-40B4-BE49-F238E27FC236}">
                <a16:creationId xmlns:a16="http://schemas.microsoft.com/office/drawing/2014/main" id="{C6B486DE-AAAD-4DF6-A648-420EFE11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中国创新资产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从“可选”变为“必选”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5" name="stage2-head">
            <a:extLst xmlns:a="http://schemas.openxmlformats.org/drawingml/2006/main">
              <a:ext uri="{FF2B5EF4-FFF2-40B4-BE49-F238E27FC236}">
                <a16:creationId xmlns:a16="http://schemas.microsoft.com/office/drawing/2014/main" id="{AE4E15ED-7AAE-4CA2-8AC0-5B7DE5D2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38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② 现金回流</a:t>
            </a:r>
            <a:endParaRPr sz="1800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6" name="stage2-metric-value">
            <a:extLst xmlns:a="http://schemas.openxmlformats.org/drawingml/2006/main">
              <a:ext uri="{FF2B5EF4-FFF2-40B4-BE49-F238E27FC236}">
                <a16:creationId xmlns:a16="http://schemas.microsoft.com/office/drawing/2014/main" id="{06B8AE83-4368-4D1E-8237-C6085A68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431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≈60亿美元</a:t>
            </a:r>
            <a:endParaRPr sz="322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7" name="stage2-metric-label">
            <a:extLst xmlns:a="http://schemas.openxmlformats.org/drawingml/2006/main">
              <a:ext uri="{FF2B5EF4-FFF2-40B4-BE49-F238E27FC236}">
                <a16:creationId xmlns:a16="http://schemas.microsoft.com/office/drawing/2014/main" id="{BA6178AB-6D83-479E-AB9D-9FCE1DB6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2026H1 BD首付款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同比增长超过100%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8" name="stage2-rule">
            <a:extLst xmlns:a="http://schemas.openxmlformats.org/drawingml/2006/main">
              <a:ext uri="{FF2B5EF4-FFF2-40B4-BE49-F238E27FC236}">
                <a16:creationId xmlns:a16="http://schemas.microsoft.com/office/drawing/2014/main" id="{77B18C46-CB0F-4F40-AC55-549EEB73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909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FC3FF"/>
            </a:solidFill>
            <a:prstDash val="solid"/>
          </a:ln>
        </p:spPr>
      </p:sp>
      <p:sp>
        <p:nvSpPr>
          <p:cNvPr id="19" name="stage2-meaning">
            <a:extLst xmlns:a="http://schemas.openxmlformats.org/drawingml/2006/main">
              <a:ext uri="{FF2B5EF4-FFF2-40B4-BE49-F238E27FC236}">
                <a16:creationId xmlns:a16="http://schemas.microsoft.com/office/drawing/2014/main" id="{FE279122-4292-4349-BD1A-0B6CC78C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00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授权收入改善现金流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并反哺下一轮研发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0" name="stage3-head">
            <a:extLst xmlns:a="http://schemas.openxmlformats.org/drawingml/2006/main">
              <a:ext uri="{FF2B5EF4-FFF2-40B4-BE49-F238E27FC236}">
                <a16:creationId xmlns:a16="http://schemas.microsoft.com/office/drawing/2014/main" id="{F14F7132-AD0A-4E3C-AAC6-C9C0CE2C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038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0E9F8A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0E9F8A"/>
                </a:solidFill>
                <a:latin typeface="STHeiti"/>
                <a:ea typeface="STHeiti"/>
                <a:cs typeface="STHeiti"/>
              </a:rPr>
              <a:t>③ 盈利兑现</a:t>
            </a:r>
            <a:endParaRPr sz="1800" b="1">
              <a:solidFill>
                <a:srgbClr val="0E9F8A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1" name="stage3-metric-value">
            <a:extLst xmlns:a="http://schemas.openxmlformats.org/drawingml/2006/main">
              <a:ext uri="{FF2B5EF4-FFF2-40B4-BE49-F238E27FC236}">
                <a16:creationId xmlns:a16="http://schemas.microsoft.com/office/drawing/2014/main" id="{678F8826-B882-4C4B-AB20-C7262953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431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0E9F8A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0E9F8A"/>
                </a:solidFill>
                <a:latin typeface="STHeiti"/>
                <a:ea typeface="STHeiti"/>
                <a:cs typeface="STHeiti"/>
              </a:rPr>
              <a:t>664亿元</a:t>
            </a:r>
            <a:endParaRPr sz="3225" b="1">
              <a:solidFill>
                <a:srgbClr val="0E9F8A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2" name="stage3-metric-label">
            <a:extLst xmlns:a="http://schemas.openxmlformats.org/drawingml/2006/main">
              <a:ext uri="{FF2B5EF4-FFF2-40B4-BE49-F238E27FC236}">
                <a16:creationId xmlns:a16="http://schemas.microsoft.com/office/drawing/2014/main" id="{B7EEBA1B-D5CF-4C45-B949-7FBBFD73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1051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药明康德持续经营业务在手订单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35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35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同比增长25.2%</a:t>
            </a:r>
            <a:endParaRPr sz="135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3" name="stage3-rule">
            <a:extLst xmlns:a="http://schemas.openxmlformats.org/drawingml/2006/main">
              <a:ext uri="{FF2B5EF4-FFF2-40B4-BE49-F238E27FC236}">
                <a16:creationId xmlns:a16="http://schemas.microsoft.com/office/drawing/2014/main" id="{EB4BA2BC-BD2C-4F30-B945-32C95CEA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7909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4" name="stage3-meaning">
            <a:extLst xmlns:a="http://schemas.openxmlformats.org/drawingml/2006/main">
              <a:ext uri="{FF2B5EF4-FFF2-40B4-BE49-F238E27FC236}">
                <a16:creationId xmlns:a16="http://schemas.microsoft.com/office/drawing/2014/main" id="{8C67CE14-26B5-42D4-BE8A-91A762C3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0050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持续经营收入 +48%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65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65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经营现金流 +41.3%</a:t>
            </a:r>
            <a:endParaRPr sz="165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5" name="thesis-banner-1">
            <a:extLst xmlns:a="http://schemas.openxmlformats.org/drawingml/2006/main">
              <a:ext uri="{FF2B5EF4-FFF2-40B4-BE49-F238E27FC236}">
                <a16:creationId xmlns:a16="http://schemas.microsoft.com/office/drawing/2014/main" id="{324AED86-9E8F-4EFB-A6A6-4886C997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112776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hesis-1">
            <a:extLst xmlns:a="http://schemas.openxmlformats.org/drawingml/2006/main">
              <a:ext uri="{FF2B5EF4-FFF2-40B4-BE49-F238E27FC236}">
                <a16:creationId xmlns:a16="http://schemas.microsoft.com/office/drawing/2014/main" id="{BFEA688A-8019-4AF1-BB34-928B9838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81625"/>
            <a:ext cx="1072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00" b="1">
                <a:solidFill>
                  <a:srgbClr val="FFFFFF"/>
                </a:solidFill>
                <a:latin typeface="STHeiti"/>
                <a:ea typeface="STHeiti"/>
                <a:cs typeface="STHeiti"/>
              </a:defRPr>
            </a:pPr>
            <a:r>
              <a:rPr sz="2100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行业Beta</a:t>
            </a:r>
            <a:r>
              <a:rPr sz="2100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性机会成立</a:t>
            </a:r>
            <a:r>
              <a:rPr sz="2100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：</a:t>
            </a:r>
            <a:r>
              <a:rPr sz="2100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2026年开始交易盈利与估值的“戴维斯双击”</a:t>
            </a:r>
            <a:endParaRPr sz="2100" b="1">
              <a:solidFill>
                <a:srgbClr val="FFFF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7" name="footer-rule-1">
            <a:extLst xmlns:a="http://schemas.openxmlformats.org/drawingml/2006/main">
              <a:ext uri="{FF2B5EF4-FFF2-40B4-BE49-F238E27FC236}">
                <a16:creationId xmlns:a16="http://schemas.microsoft.com/office/drawing/2014/main" id="{716A363F-158C-493D-BF6A-E7632F42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007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source-1">
            <a:extLst xmlns:a="http://schemas.openxmlformats.org/drawingml/2006/main">
              <a:ext uri="{FF2B5EF4-FFF2-40B4-BE49-F238E27FC236}">
                <a16:creationId xmlns:a16="http://schemas.microsoft.com/office/drawing/2014/main" id="{CCFBAEA1-94DB-41B5-BE27-C24A8604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来源：国家医保局；国金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证券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；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浙商证券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；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药明康德</a:t>
            </a:r>
            <a:endParaRPr sz="86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9" name="page-1">
            <a:extLst xmlns:a="http://schemas.openxmlformats.org/drawingml/2006/main">
              <a:ext uri="{FF2B5EF4-FFF2-40B4-BE49-F238E27FC236}">
                <a16:creationId xmlns:a16="http://schemas.microsoft.com/office/drawing/2014/main" id="{E2B60BD2-050B-4478-9FA9-D27613CD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9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01</a:t>
            </a:r>
            <a:endParaRPr sz="9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</p:spTree>
    <p:extLst>
      <p:ext uri="{BB962C8B-B14F-4D97-AF65-F5344CB8AC3E}">
        <p14:creationId xmlns:p14="http://schemas.microsoft.com/office/powerpoint/2010/main" val="6356697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7169CE78-FA49-450C-9613-1C8A0D9A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60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2026年医药行情大概率强于2025年Q3</a:t>
            </a:r>
            <a:endParaRPr sz="360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3" name="accent-2">
            <a:extLst xmlns:a="http://schemas.openxmlformats.org/drawingml/2006/main">
              <a:ext uri="{FF2B5EF4-FFF2-40B4-BE49-F238E27FC236}">
                <a16:creationId xmlns:a16="http://schemas.microsoft.com/office/drawing/2014/main" id="{94859C0A-3E1E-4348-88A7-C52A0819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BFF"/>
            </a:solidFill>
            <a:prstDash val="solid"/>
          </a:ln>
        </p:spPr>
      </p:sp>
      <p:sp>
        <p:nvSpPr>
          <p:cNvPr id="5" name="chart-caption-2">
            <a:extLst xmlns:a="http://schemas.openxmlformats.org/drawingml/2006/main">
              <a:ext uri="{FF2B5EF4-FFF2-40B4-BE49-F238E27FC236}">
                <a16:creationId xmlns:a16="http://schemas.microsoft.com/office/drawing/2014/main" id="{296DDF03-98CB-453E-9949-723B1709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为什么2025更像轮动，2026更可能形成持续Alpha</a:t>
            </a:r>
            <a:endParaRPr sz="12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7" name="logic-card-1">
            <a:extLst xmlns:a="http://schemas.openxmlformats.org/drawingml/2006/main">
              <a:ext uri="{FF2B5EF4-FFF2-40B4-BE49-F238E27FC236}">
                <a16:creationId xmlns:a16="http://schemas.microsoft.com/office/drawing/2014/main" id="{2F851399-7AD1-4C32-82FC-39441420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333500"/>
            <a:ext cx="4667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ogic-title-1">
            <a:extLst xmlns:a="http://schemas.openxmlformats.org/drawingml/2006/main">
              <a:ext uri="{FF2B5EF4-FFF2-40B4-BE49-F238E27FC236}">
                <a16:creationId xmlns:a16="http://schemas.microsoft.com/office/drawing/2014/main" id="{FF0920AA-A9D0-4907-BF2B-D2E211AC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335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57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① 独立于大盘</a:t>
            </a:r>
            <a:endParaRPr sz="157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9" name="logic-main-1">
            <a:extLst xmlns:a="http://schemas.openxmlformats.org/drawingml/2006/main">
              <a:ext uri="{FF2B5EF4-FFF2-40B4-BE49-F238E27FC236}">
                <a16:creationId xmlns:a16="http://schemas.microsoft.com/office/drawing/2014/main" id="{D39E9EB1-F6FA-4A5A-9C9F-21FF3B9B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7642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已满足  ✓</a:t>
            </a:r>
            <a:endParaRPr sz="187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0" name="logic-sub-1">
            <a:extLst xmlns:a="http://schemas.openxmlformats.org/drawingml/2006/main">
              <a:ext uri="{FF2B5EF4-FFF2-40B4-BE49-F238E27FC236}">
                <a16:creationId xmlns:a16="http://schemas.microsoft.com/office/drawing/2014/main" id="{2B393D38-B160-4898-98AB-16306276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28850"/>
            <a:ext cx="404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大盘-5.6%，医药+9.9%；超额+15.5pp</a:t>
            </a:r>
            <a:endParaRPr sz="120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1" name="logic-card-2">
            <a:extLst xmlns:a="http://schemas.openxmlformats.org/drawingml/2006/main">
              <a:ext uri="{FF2B5EF4-FFF2-40B4-BE49-F238E27FC236}">
                <a16:creationId xmlns:a16="http://schemas.microsoft.com/office/drawing/2014/main" id="{F50CD5E5-911C-4604-9202-B1184280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57475"/>
            <a:ext cx="466725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ogic-title-2">
            <a:extLst xmlns:a="http://schemas.openxmlformats.org/drawingml/2006/main">
              <a:ext uri="{FF2B5EF4-FFF2-40B4-BE49-F238E27FC236}">
                <a16:creationId xmlns:a16="http://schemas.microsoft.com/office/drawing/2014/main" id="{EC691FB5-641C-4C42-AA94-A03BC2C7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57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157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② 盈利持续上修</a:t>
            </a:r>
            <a:endParaRPr sz="157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3" name="logic-main-2">
            <a:extLst xmlns:a="http://schemas.openxmlformats.org/drawingml/2006/main">
              <a:ext uri="{FF2B5EF4-FFF2-40B4-BE49-F238E27FC236}">
                <a16:creationId xmlns:a16="http://schemas.microsoft.com/office/drawing/2014/main" id="{B3059B9B-2464-4BA2-B38F-9A7D560E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00400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7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87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已满足  ✓</a:t>
            </a:r>
            <a:endParaRPr sz="187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4" name="logic-sub-2">
            <a:extLst xmlns:a="http://schemas.openxmlformats.org/drawingml/2006/main">
              <a:ext uri="{FF2B5EF4-FFF2-40B4-BE49-F238E27FC236}">
                <a16:creationId xmlns:a16="http://schemas.microsoft.com/office/drawing/2014/main" id="{78864D5E-7DEF-4483-8439-A1E96C2B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52825"/>
            <a:ext cx="4048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00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00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BD翻倍，收入与现金流进入报表</a:t>
            </a:r>
            <a:endParaRPr sz="1200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5" name="logic-card-3">
            <a:extLst xmlns:a="http://schemas.openxmlformats.org/drawingml/2006/main">
              <a:ext uri="{FF2B5EF4-FFF2-40B4-BE49-F238E27FC236}">
                <a16:creationId xmlns:a16="http://schemas.microsoft.com/office/drawing/2014/main" id="{422199F6-2A4C-4CBB-9F00-25FF618C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4667250" cy="1419225"/>
          </a:xfrm>
          <a:prstGeom xmlns:a="http://schemas.openxmlformats.org/drawingml/2006/main" prst="roundRect">
            <a:avLst>
              <a:gd name="adj" fmla="val 8054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ogic-title-3">
            <a:extLst xmlns:a="http://schemas.openxmlformats.org/drawingml/2006/main">
              <a:ext uri="{FF2B5EF4-FFF2-40B4-BE49-F238E27FC236}">
                <a16:creationId xmlns:a16="http://schemas.microsoft.com/office/drawing/2014/main" id="{8E7B0C15-0AB4-4F0A-B1A3-DE747E82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1814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575" b="1">
                <a:solidFill>
                  <a:srgbClr val="6DCBF4"/>
                </a:solidFill>
                <a:latin typeface="STHeiti"/>
                <a:ea typeface="STHeiti"/>
                <a:cs typeface="STHeiti"/>
              </a:defRPr>
            </a:pPr>
            <a:r>
              <a:rPr sz="1575" b="1">
                <a:solidFill>
                  <a:srgbClr val="6DCBF4"/>
                </a:solidFill>
                <a:latin typeface="STHeiti"/>
                <a:ea typeface="STHeiti"/>
                <a:cs typeface="STHeiti"/>
              </a:rPr>
              <a:t>③ </a:t>
            </a:r>
            <a:r>
              <a:rPr sz="1575" b="1">
                <a:solidFill>
                  <a:srgbClr val="6DCBF4"/>
                </a:solidFill>
                <a:latin typeface="STHeiti"/>
                <a:ea typeface="STHeiti"/>
                <a:cs typeface="STHeiti"/>
              </a:rPr>
              <a:t>行情持续</a:t>
            </a:r>
            <a:r>
              <a:rPr sz="1575" b="1">
                <a:solidFill>
                  <a:srgbClr val="6DCBF4"/>
                </a:solidFill>
                <a:latin typeface="STHeiti"/>
                <a:ea typeface="STHeiti"/>
                <a:cs typeface="STHeiti"/>
              </a:rPr>
              <a:t>扩散</a:t>
            </a:r>
            <a:endParaRPr sz="1575" b="1">
              <a:solidFill>
                <a:srgbClr val="6DCBF4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7" name="logic-main-3">
            <a:extLst xmlns:a="http://schemas.openxmlformats.org/drawingml/2006/main">
              <a:ext uri="{FF2B5EF4-FFF2-40B4-BE49-F238E27FC236}">
                <a16:creationId xmlns:a16="http://schemas.microsoft.com/office/drawing/2014/main" id="{73C55308-34AB-45FC-B905-E0B79521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524375"/>
            <a:ext cx="4048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800" b="1">
                <a:solidFill>
                  <a:srgbClr val="FFFFFF"/>
                </a:solidFill>
                <a:latin typeface="STHeiti"/>
                <a:ea typeface="STHeiti"/>
                <a:cs typeface="STHeiti"/>
              </a:defRPr>
            </a:pPr>
            <a:r>
              <a:rPr sz="1800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尚待验证 </a:t>
            </a:r>
            <a:endParaRPr sz="1800" b="1">
              <a:solidFill>
                <a:srgbClr val="FFFF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8" name="logic-sub-3">
            <a:extLst xmlns:a="http://schemas.openxmlformats.org/drawingml/2006/main">
              <a:ext uri="{FF2B5EF4-FFF2-40B4-BE49-F238E27FC236}">
                <a16:creationId xmlns:a16="http://schemas.microsoft.com/office/drawing/2014/main" id="{CCF8F60E-7FBA-49AD-88E5-56A7FED6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76800"/>
            <a:ext cx="404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E4E7EC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E4E7EC"/>
                </a:solidFill>
                <a:latin typeface="STHeiti"/>
                <a:ea typeface="STHeiti"/>
                <a:cs typeface="STHeiti"/>
              </a:rPr>
              <a:t>总仓位低，但CXO已局部拥挤</a:t>
            </a:r>
            <a:endParaRPr sz="1275" b="1">
              <a:solidFill>
                <a:srgbClr val="E4E7EC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E4E7EC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E4E7EC"/>
                </a:solidFill>
                <a:latin typeface="STHeiti"/>
                <a:ea typeface="STHeiti"/>
                <a:cs typeface="STHeiti"/>
              </a:rPr>
              <a:t>持续性取决于创新药接力</a:t>
            </a:r>
            <a:endParaRPr sz="1275" b="1">
              <a:solidFill>
                <a:srgbClr val="E4E7EC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9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3474882D-102E-4EB7-B6BE-765EA673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781675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0" name="source-2">
            <a:extLst xmlns:a="http://schemas.openxmlformats.org/drawingml/2006/main">
              <a:ext uri="{FF2B5EF4-FFF2-40B4-BE49-F238E27FC236}">
                <a16:creationId xmlns:a16="http://schemas.microsoft.com/office/drawing/2014/main" id="{B390EF6E-B093-4D93-A2D3-DB97EEE0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867400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来源：同花顺iFinD；国金证券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；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浙商证券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；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中泰证券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；</a:t>
            </a: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药明康德</a:t>
            </a:r>
            <a:endParaRPr sz="86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1" name="page-2">
            <a:extLst xmlns:a="http://schemas.openxmlformats.org/drawingml/2006/main">
              <a:ext uri="{FF2B5EF4-FFF2-40B4-BE49-F238E27FC236}">
                <a16:creationId xmlns:a16="http://schemas.microsoft.com/office/drawing/2014/main" id="{2052A574-5550-4652-B7B9-D1B9C095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867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9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02</a:t>
            </a:r>
            <a:endParaRPr sz="9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graphicFrame>
        <p:nvGraphicFramePr>
          <p:cNvPr id="41" name="表格 43"/>
          <p:cNvGraphicFramePr/>
          <p:nvPr/>
        </p:nvGraphicFramePr>
        <p:xfrm>
          <a:off xmlns:a="http://schemas.openxmlformats.org/drawingml/2006/main" x="361950" y="1543050"/>
          <a:ext xmlns:a="http://schemas.openxmlformats.org/drawingml/2006/main" cx="6236335" cy="390080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13790"/>
                <a:gridCol w="2240280"/>
                <a:gridCol w="2882265"/>
              </a:tblGrid>
              <a:tr h="4140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检验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2025Q3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0182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FFFFFF"/>
                          </a:solidFill>
                        </a:rPr>
                        <a:t>2026本轮</a:t>
                      </a:r>
                      <a:endParaRPr sz="1600" b="1">
                        <a:solidFill>
                          <a:srgbClr val="FFFFFF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101828"/>
                    </a:solidFill>
                  </a:tcPr>
                </a:tc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市场环境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沪深300 +20.8%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医药 +14.9%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沪深300 -5.6%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医药 +9.9%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行情节奏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CXO 7月 +29.3%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8–9月降至低个位数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创新药6–8月连续为正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+4.5% / +4.8% / +5.9%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</a:tr>
              <a:tr h="871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产业盈利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政策+BD打开预期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CXO订单初现拐点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BD规模约2.1×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收入+48% / 现金流+41%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</a:tr>
              <a:tr h="871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机构交易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主动基金医药仓位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>
                          <a:solidFill>
                            <a:srgbClr val="101828"/>
                          </a:solidFill>
                        </a:rPr>
                        <a:t>Q3环比 -0.39pp</a:t>
                      </a:r>
                      <a:endParaRPr sz="1400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医药总仓位6.54%低位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400" b="1">
                          <a:solidFill>
                            <a:srgbClr val="101828"/>
                          </a:solidFill>
                        </a:rPr>
                        <a:t>但CXO内部占28.2%</a:t>
                      </a:r>
                      <a:endParaRPr sz="1400" b="1">
                        <a:solidFill>
                          <a:srgbClr val="101828"/>
                        </a:solidFill>
                      </a:endParaRPr>
                    </a:p>
                  </a:txBody>
                  <a:tcPr marL="91440" marR="91440" marT="45720" marB="45720">
                    <a:solidFill>
                      <a:srgbClr val="EAF0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7143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A9EDE3B-CE8B-4F73-A638-13A47074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60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CXO定胜率，创新药决定</a:t>
            </a:r>
            <a:r>
              <a:rPr sz="360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赔率</a:t>
            </a:r>
            <a:endParaRPr sz="360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3" name="accent-3">
            <a:extLst xmlns:a="http://schemas.openxmlformats.org/drawingml/2006/main">
              <a:ext uri="{FF2B5EF4-FFF2-40B4-BE49-F238E27FC236}">
                <a16:creationId xmlns:a16="http://schemas.microsoft.com/office/drawing/2014/main" id="{96270CF2-1AF7-4BA9-9DC8-A79C5FE2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BFF"/>
            </a:solidFill>
            <a:prstDash val="solid"/>
          </a:ln>
        </p:spPr>
      </p:sp>
      <p:sp>
        <p:nvSpPr>
          <p:cNvPr id="5" name="cxo-panel">
            <a:extLst xmlns:a="http://schemas.openxmlformats.org/drawingml/2006/main">
              <a:ext uri="{FF2B5EF4-FFF2-40B4-BE49-F238E27FC236}">
                <a16:creationId xmlns:a16="http://schemas.microsoft.com/office/drawing/2014/main" id="{E1274170-3A0B-41D4-A2DC-9AF885DD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40485"/>
            <a:ext cx="5381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xo-head">
            <a:extLst xmlns:a="http://schemas.openxmlformats.org/drawingml/2006/main">
              <a:ext uri="{FF2B5EF4-FFF2-40B4-BE49-F238E27FC236}">
                <a16:creationId xmlns:a16="http://schemas.microsoft.com/office/drawing/2014/main" id="{2775592D-D008-44AC-A6BC-CA25FE4B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003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02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CXO｜更高胜率</a:t>
            </a:r>
            <a:endParaRPr sz="202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7" name="cxo-value1">
            <a:extLst xmlns:a="http://schemas.openxmlformats.org/drawingml/2006/main">
              <a:ext uri="{FF2B5EF4-FFF2-40B4-BE49-F238E27FC236}">
                <a16:creationId xmlns:a16="http://schemas.microsoft.com/office/drawing/2014/main" id="{D8ED05D2-1172-4654-8707-2AEC3747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628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664亿元</a:t>
            </a:r>
            <a:endParaRPr sz="32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8" name="cxo-label1">
            <a:extLst xmlns:a="http://schemas.openxmlformats.org/drawingml/2006/main">
              <a:ext uri="{FF2B5EF4-FFF2-40B4-BE49-F238E27FC236}">
                <a16:creationId xmlns:a16="http://schemas.microsoft.com/office/drawing/2014/main" id="{124C0335-DD35-46A7-909E-5488D513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063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在手订单｜同比 +25.2%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9" name="cxo-value2">
            <a:extLst xmlns:a="http://schemas.openxmlformats.org/drawingml/2006/main">
              <a:ext uri="{FF2B5EF4-FFF2-40B4-BE49-F238E27FC236}">
                <a16:creationId xmlns:a16="http://schemas.microsoft.com/office/drawing/2014/main" id="{CFDB8817-E098-4DE8-B6A7-8E582969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2628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35.4×</a:t>
            </a:r>
            <a:endParaRPr sz="322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0" name="cxo-label2">
            <a:extLst xmlns:a="http://schemas.openxmlformats.org/drawingml/2006/main">
              <a:ext uri="{FF2B5EF4-FFF2-40B4-BE49-F238E27FC236}">
                <a16:creationId xmlns:a16="http://schemas.microsoft.com/office/drawing/2014/main" id="{00F21931-C4F6-4E09-A628-CA3DC88E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40635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PE｜2025/9约36.8×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1" name="cxo-rule">
            <a:extLst xmlns:a="http://schemas.openxmlformats.org/drawingml/2006/main">
              <a:ext uri="{FF2B5EF4-FFF2-40B4-BE49-F238E27FC236}">
                <a16:creationId xmlns:a16="http://schemas.microsoft.com/office/drawing/2014/main" id="{28542B70-327D-4BC4-B028-876E3E3C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9735"/>
            <a:ext cx="4848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FF"/>
            </a:solidFill>
            <a:prstDash val="solid"/>
          </a:ln>
        </p:spPr>
      </p:sp>
      <p:sp>
        <p:nvSpPr>
          <p:cNvPr id="12" name="cxo-bottom">
            <a:extLst xmlns:a="http://schemas.openxmlformats.org/drawingml/2006/main">
              <a:ext uri="{FF2B5EF4-FFF2-40B4-BE49-F238E27FC236}">
                <a16:creationId xmlns:a16="http://schemas.microsoft.com/office/drawing/2014/main" id="{650F1B86-F143-43D3-85DD-0F5CFF18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071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收入、订单、现金流均已验证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但PE处于近一年约82%分位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3" name="drug-panel">
            <a:extLst xmlns:a="http://schemas.openxmlformats.org/drawingml/2006/main">
              <a:ext uri="{FF2B5EF4-FFF2-40B4-BE49-F238E27FC236}">
                <a16:creationId xmlns:a16="http://schemas.microsoft.com/office/drawing/2014/main" id="{C0DF0FB1-B045-4BEA-BFC7-1EE74543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340485"/>
            <a:ext cx="5381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rug-head">
            <a:extLst xmlns:a="http://schemas.openxmlformats.org/drawingml/2006/main">
              <a:ext uri="{FF2B5EF4-FFF2-40B4-BE49-F238E27FC236}">
                <a16:creationId xmlns:a16="http://schemas.microsoft.com/office/drawing/2014/main" id="{F1585E97-47A6-48FC-8FC0-C6E63079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5003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025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创新药｜更高赔率</a:t>
            </a:r>
            <a:endParaRPr sz="2025" b="1">
              <a:solidFill>
                <a:srgbClr val="F59E0B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5" name="drug-value1">
            <a:extLst xmlns:a="http://schemas.openxmlformats.org/drawingml/2006/main">
              <a:ext uri="{FF2B5EF4-FFF2-40B4-BE49-F238E27FC236}">
                <a16:creationId xmlns:a16="http://schemas.microsoft.com/office/drawing/2014/main" id="{FA108D04-BB2E-4F82-98B6-EE661A09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2628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997亿美元</a:t>
            </a:r>
            <a:endParaRPr sz="32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6" name="drug-label1">
            <a:extLst xmlns:a="http://schemas.openxmlformats.org/drawingml/2006/main">
              <a:ext uri="{FF2B5EF4-FFF2-40B4-BE49-F238E27FC236}">
                <a16:creationId xmlns:a16="http://schemas.microsoft.com/office/drawing/2014/main" id="{822B7544-75FC-49AC-9AA7-4C40F6B6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40635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2026H1 BD｜2025全年73%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7" name="drug-value2">
            <a:extLst xmlns:a="http://schemas.openxmlformats.org/drawingml/2006/main">
              <a:ext uri="{FF2B5EF4-FFF2-40B4-BE49-F238E27FC236}">
                <a16:creationId xmlns:a16="http://schemas.microsoft.com/office/drawing/2014/main" id="{A048C28B-763C-4BEE-839B-87F3F3A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2628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50.4×</a:t>
            </a:r>
            <a:endParaRPr sz="3225" b="1">
              <a:solidFill>
                <a:srgbClr val="F59E0B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8" name="drug-label2">
            <a:extLst xmlns:a="http://schemas.openxmlformats.org/drawingml/2006/main">
              <a:ext uri="{FF2B5EF4-FFF2-40B4-BE49-F238E27FC236}">
                <a16:creationId xmlns:a16="http://schemas.microsoft.com/office/drawing/2014/main" id="{3B4BBEC5-9BA5-4142-9AA1-983A336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4063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PE｜2025/9约58×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9" name="drug-rule">
            <a:extLst xmlns:a="http://schemas.openxmlformats.org/drawingml/2006/main">
              <a:ext uri="{FF2B5EF4-FFF2-40B4-BE49-F238E27FC236}">
                <a16:creationId xmlns:a16="http://schemas.microsoft.com/office/drawing/2014/main" id="{EA03AC97-0DC4-45BF-8E9C-BBCDBC9D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59735"/>
            <a:ext cx="4848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D28C"/>
            </a:solidFill>
            <a:prstDash val="solid"/>
          </a:ln>
        </p:spPr>
      </p:sp>
      <p:sp>
        <p:nvSpPr>
          <p:cNvPr id="20" name="drug-bottom">
            <a:extLst xmlns:a="http://schemas.openxmlformats.org/drawingml/2006/main">
              <a:ext uri="{FF2B5EF4-FFF2-40B4-BE49-F238E27FC236}">
                <a16:creationId xmlns:a16="http://schemas.microsoft.com/office/drawing/2014/main" id="{90AAA1F5-C85D-4AF1-B244-559678DE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4071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估值尚未回到2025高点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盈利型资产有望承接下一棒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1" name="score-caption">
            <a:extLst xmlns:a="http://schemas.openxmlformats.org/drawingml/2006/main">
              <a:ext uri="{FF2B5EF4-FFF2-40B4-BE49-F238E27FC236}">
                <a16:creationId xmlns:a16="http://schemas.microsoft.com/office/drawing/2014/main" id="{914DF653-4DE6-4973-88E5-55377FC3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2176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研究框架评分</a:t>
            </a:r>
            <a:endParaRPr sz="12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551180" y="4369435"/>
          <a:ext xmlns:a="http://schemas.openxmlformats.org/drawingml/2006/main" cx="7239000" cy="1476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16006babd54d7f"/>
          </a:graphicData>
        </a:graphic>
      </p:graphicFrame>
      <p:sp>
        <p:nvSpPr>
          <p:cNvPr id="23" name="final-banner">
            <a:extLst xmlns:a="http://schemas.openxmlformats.org/drawingml/2006/main">
              <a:ext uri="{FF2B5EF4-FFF2-40B4-BE49-F238E27FC236}">
                <a16:creationId xmlns:a16="http://schemas.microsoft.com/office/drawing/2014/main" id="{87B13AEC-4153-49B5-98A7-E19D3703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40835"/>
            <a:ext cx="3714750" cy="1495425"/>
          </a:xfrm>
          <a:prstGeom xmlns:a="http://schemas.openxmlformats.org/drawingml/2006/main" prst="roundRect">
            <a:avLst>
              <a:gd name="adj" fmla="val 6369"/>
            </a:avLst>
          </a:prstGeom>
          <a:solidFill xmlns:a="http://schemas.openxmlformats.org/drawingml/2006/main">
            <a:srgbClr val="101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inal-banner-kicker">
            <a:extLst xmlns:a="http://schemas.openxmlformats.org/drawingml/2006/main">
              <a:ext uri="{FF2B5EF4-FFF2-40B4-BE49-F238E27FC236}">
                <a16:creationId xmlns:a16="http://schemas.microsoft.com/office/drawing/2014/main" id="{46E94271-51AB-479C-9D21-3C3FBA1C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59910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350" b="1">
                <a:solidFill>
                  <a:srgbClr val="6DCBF4"/>
                </a:solidFill>
                <a:latin typeface="STHeiti"/>
                <a:ea typeface="STHeiti"/>
                <a:cs typeface="STHeiti"/>
              </a:defRPr>
            </a:pPr>
            <a:r>
              <a:rPr sz="1350" b="1">
                <a:solidFill>
                  <a:srgbClr val="6DCBF4"/>
                </a:solidFill>
                <a:latin typeface="STHeiti"/>
                <a:ea typeface="STHeiti"/>
                <a:cs typeface="STHeiti"/>
              </a:rPr>
              <a:t>本轮能否超过2025</a:t>
            </a:r>
            <a:endParaRPr sz="1350" b="1">
              <a:solidFill>
                <a:srgbClr val="6DCBF4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5" name="final-banner-main">
            <a:extLst xmlns:a="http://schemas.openxmlformats.org/drawingml/2006/main">
              <a:ext uri="{FF2B5EF4-FFF2-40B4-BE49-F238E27FC236}">
                <a16:creationId xmlns:a16="http://schemas.microsoft.com/office/drawing/2014/main" id="{5468F180-5619-4096-B3C7-15635C0B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683760"/>
            <a:ext cx="3190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325" b="1">
                <a:solidFill>
                  <a:srgbClr val="FFFFFF"/>
                </a:solidFill>
                <a:latin typeface="STHeiti"/>
                <a:ea typeface="STHeiti"/>
                <a:cs typeface="STHeiti"/>
              </a:defRPr>
            </a:pPr>
            <a:r>
              <a:rPr sz="2325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取决于创新药</a:t>
            </a:r>
            <a:endParaRPr sz="2325" b="1">
              <a:solidFill>
                <a:srgbClr val="FFFFFF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2325" b="1">
                <a:solidFill>
                  <a:srgbClr val="FFFFFF"/>
                </a:solidFill>
                <a:latin typeface="STHeiti"/>
                <a:ea typeface="STHeiti"/>
                <a:cs typeface="STHeiti"/>
              </a:defRPr>
            </a:pPr>
            <a:r>
              <a:rPr sz="2325" b="1">
                <a:solidFill>
                  <a:srgbClr val="FFFFFF"/>
                </a:solidFill>
                <a:latin typeface="STHeiti"/>
                <a:ea typeface="STHeiti"/>
                <a:cs typeface="STHeiti"/>
              </a:rPr>
              <a:t>能否接力CXO</a:t>
            </a:r>
            <a:endParaRPr sz="2325" b="1">
              <a:solidFill>
                <a:srgbClr val="FFFF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6" name="final-banner-sub">
            <a:extLst xmlns:a="http://schemas.openxmlformats.org/drawingml/2006/main">
              <a:ext uri="{FF2B5EF4-FFF2-40B4-BE49-F238E27FC236}">
                <a16:creationId xmlns:a16="http://schemas.microsoft.com/office/drawing/2014/main" id="{D3D470BF-BD67-4B16-8FDA-11FAE268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350510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090" b="0">
                <a:solidFill>
                  <a:srgbClr val="E4E7EC"/>
                </a:solidFill>
                <a:latin typeface="STHeiti"/>
                <a:ea typeface="STHeiti"/>
                <a:cs typeface="STHeiti"/>
              </a:defRPr>
            </a:pPr>
            <a:r>
              <a:rPr sz="1090" b="0">
                <a:solidFill>
                  <a:srgbClr val="E4E7EC"/>
                </a:solidFill>
                <a:latin typeface="STHeiti"/>
                <a:ea typeface="STHeiti"/>
                <a:cs typeface="STHeiti"/>
              </a:rPr>
              <a:t>CXO持有、不追斜率；增量关注盈利与数据催化</a:t>
            </a:r>
            <a:endParaRPr sz="1090" b="0">
              <a:solidFill>
                <a:srgbClr val="E4E7EC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27500C09-E71B-4485-B5A3-9DF25873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866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source-3">
            <a:extLst xmlns:a="http://schemas.openxmlformats.org/drawingml/2006/main">
              <a:ext uri="{FF2B5EF4-FFF2-40B4-BE49-F238E27FC236}">
                <a16:creationId xmlns:a16="http://schemas.microsoft.com/office/drawing/2014/main" id="{9D7E5B9A-6A8F-4853-A8B1-247CA274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4385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来源：同花顺iFinD（估值截至2026/8/21）；药明康德2026H1；国金证券（2026/7/5）；浙商证券（2026/7/13）。评分为研究判断</a:t>
            </a:r>
            <a:endParaRPr sz="86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9" name="page-3">
            <a:extLst xmlns:a="http://schemas.openxmlformats.org/drawingml/2006/main">
              <a:ext uri="{FF2B5EF4-FFF2-40B4-BE49-F238E27FC236}">
                <a16:creationId xmlns:a16="http://schemas.microsoft.com/office/drawing/2014/main" id="{3C8505E5-214F-4DDF-9D86-157C5A34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7438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9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03</a:t>
            </a:r>
            <a:endParaRPr sz="9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</p:spTree>
    <p:extLst>
      <p:ext uri="{BB962C8B-B14F-4D97-AF65-F5344CB8AC3E}">
        <p14:creationId xmlns:p14="http://schemas.microsoft.com/office/powerpoint/2010/main" val="944145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A9EDE3B-CE8B-4F73-A638-13A47074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600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嘉实基金大健康组最新观点</a:t>
            </a:r>
            <a:endParaRPr sz="3600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3" name="accent-3">
            <a:extLst xmlns:a="http://schemas.openxmlformats.org/drawingml/2006/main">
              <a:ext uri="{FF2B5EF4-FFF2-40B4-BE49-F238E27FC236}">
                <a16:creationId xmlns:a16="http://schemas.microsoft.com/office/drawing/2014/main" id="{96270CF2-1AF7-4BA9-9DC8-A79C5FE2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F6BFF"/>
            </a:solidFill>
            <a:prstDash val="solid"/>
          </a:ln>
        </p:spPr>
      </p:sp>
      <p:sp>
        <p:nvSpPr>
          <p:cNvPr id="5" name="cxo-panel">
            <a:extLst xmlns:a="http://schemas.openxmlformats.org/drawingml/2006/main">
              <a:ext uri="{FF2B5EF4-FFF2-40B4-BE49-F238E27FC236}">
                <a16:creationId xmlns:a16="http://schemas.microsoft.com/office/drawing/2014/main" id="{E1274170-3A0B-41D4-A2DC-9AF885DD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40485"/>
            <a:ext cx="5381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xo-head">
            <a:extLst xmlns:a="http://schemas.openxmlformats.org/drawingml/2006/main">
              <a:ext uri="{FF2B5EF4-FFF2-40B4-BE49-F238E27FC236}">
                <a16:creationId xmlns:a16="http://schemas.microsoft.com/office/drawing/2014/main" id="{2775592D-D008-44AC-A6BC-CA25FE4B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003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02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当前行业变化</a:t>
            </a:r>
            <a:endParaRPr sz="202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7" name="cxo-value1">
            <a:extLst xmlns:a="http://schemas.openxmlformats.org/drawingml/2006/main">
              <a:ext uri="{FF2B5EF4-FFF2-40B4-BE49-F238E27FC236}">
                <a16:creationId xmlns:a16="http://schemas.microsoft.com/office/drawing/2014/main" id="{D8ED05D2-1172-4654-8707-2AEC3747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628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FDA改革</a:t>
            </a:r>
            <a:endParaRPr sz="32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8" name="cxo-label1">
            <a:extLst xmlns:a="http://schemas.openxmlformats.org/drawingml/2006/main">
              <a:ext uri="{FF2B5EF4-FFF2-40B4-BE49-F238E27FC236}">
                <a16:creationId xmlns:a16="http://schemas.microsoft.com/office/drawing/2014/main" id="{124C0335-DD35-46A7-909E-5488D513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063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人事改革落地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9" name="cxo-value2">
            <a:extLst xmlns:a="http://schemas.openxmlformats.org/drawingml/2006/main">
              <a:ext uri="{FF2B5EF4-FFF2-40B4-BE49-F238E27FC236}">
                <a16:creationId xmlns:a16="http://schemas.microsoft.com/office/drawing/2014/main" id="{CFDB8817-E098-4DE8-B6A7-8E582969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2628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2F6BFF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2F6BFF"/>
                </a:solidFill>
                <a:latin typeface="STHeiti"/>
                <a:ea typeface="STHeiti"/>
                <a:cs typeface="STHeiti"/>
              </a:rPr>
              <a:t>A/H业绩</a:t>
            </a:r>
            <a:endParaRPr sz="3225" b="1">
              <a:solidFill>
                <a:srgbClr val="2F6BFF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0" name="cxo-label2">
            <a:extLst xmlns:a="http://schemas.openxmlformats.org/drawingml/2006/main">
              <a:ext uri="{FF2B5EF4-FFF2-40B4-BE49-F238E27FC236}">
                <a16:creationId xmlns:a16="http://schemas.microsoft.com/office/drawing/2014/main" id="{00F21931-C4F6-4E09-A628-CA3DC88E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40635"/>
            <a:ext cx="2143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业绩与海外授权增长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1" name="cxo-rule">
            <a:extLst xmlns:a="http://schemas.openxmlformats.org/drawingml/2006/main">
              <a:ext uri="{FF2B5EF4-FFF2-40B4-BE49-F238E27FC236}">
                <a16:creationId xmlns:a16="http://schemas.microsoft.com/office/drawing/2014/main" id="{28542B70-327D-4BC4-B028-876E3E3C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9735"/>
            <a:ext cx="4848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8FF"/>
            </a:solidFill>
            <a:prstDash val="solid"/>
          </a:ln>
        </p:spPr>
      </p:sp>
      <p:sp>
        <p:nvSpPr>
          <p:cNvPr id="12" name="cxo-bottom">
            <a:extLst xmlns:a="http://schemas.openxmlformats.org/drawingml/2006/main">
              <a:ext uri="{FF2B5EF4-FFF2-40B4-BE49-F238E27FC236}">
                <a16:creationId xmlns:a16="http://schemas.microsoft.com/office/drawing/2014/main" id="{650F1B86-F143-43D3-85DD-0F5CFF18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071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全球医药风险偏好回升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截至8月21日短期趋势未见拐点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3" name="drug-panel">
            <a:extLst xmlns:a="http://schemas.openxmlformats.org/drawingml/2006/main">
              <a:ext uri="{FF2B5EF4-FFF2-40B4-BE49-F238E27FC236}">
                <a16:creationId xmlns:a16="http://schemas.microsoft.com/office/drawing/2014/main" id="{C0DF0FB1-B045-4BEA-BFC7-1EE74543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340485"/>
            <a:ext cx="53816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drug-head">
            <a:extLst xmlns:a="http://schemas.openxmlformats.org/drawingml/2006/main">
              <a:ext uri="{FF2B5EF4-FFF2-40B4-BE49-F238E27FC236}">
                <a16:creationId xmlns:a16="http://schemas.microsoft.com/office/drawing/2014/main" id="{F1585E97-47A6-48FC-8FC0-C6E63079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55003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025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2025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投资线索</a:t>
            </a:r>
            <a:endParaRPr sz="2025" b="1">
              <a:solidFill>
                <a:srgbClr val="F59E0B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5" name="drug-value1">
            <a:extLst xmlns:a="http://schemas.openxmlformats.org/drawingml/2006/main">
              <a:ext uri="{FF2B5EF4-FFF2-40B4-BE49-F238E27FC236}">
                <a16:creationId xmlns:a16="http://schemas.microsoft.com/office/drawing/2014/main" id="{FA108D04-BB2E-4F82-98B6-EE661A09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026285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CXO</a:t>
            </a:r>
            <a:endParaRPr sz="32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6" name="drug-label1">
            <a:extLst xmlns:a="http://schemas.openxmlformats.org/drawingml/2006/main">
              <a:ext uri="{FF2B5EF4-FFF2-40B4-BE49-F238E27FC236}">
                <a16:creationId xmlns:a16="http://schemas.microsoft.com/office/drawing/2014/main" id="{822B7544-75FC-49AC-9AA7-4C40F6B6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40635"/>
            <a:ext cx="2524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订单 · 收入 · 现金流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7" name="drug-value2">
            <a:extLst xmlns:a="http://schemas.openxmlformats.org/drawingml/2006/main">
              <a:ext uri="{FF2B5EF4-FFF2-40B4-BE49-F238E27FC236}">
                <a16:creationId xmlns:a16="http://schemas.microsoft.com/office/drawing/2014/main" id="{A048C28B-763C-4BEE-839B-87F3F3AF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2628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225" b="1">
                <a:solidFill>
                  <a:srgbClr val="F59E0B"/>
                </a:solidFill>
                <a:latin typeface="STHeiti"/>
                <a:ea typeface="STHeiti"/>
                <a:cs typeface="STHeiti"/>
              </a:defRPr>
            </a:pPr>
            <a:r>
              <a:rPr sz="3225" b="1">
                <a:solidFill>
                  <a:srgbClr val="F59E0B"/>
                </a:solidFill>
                <a:latin typeface="STHeiti"/>
                <a:ea typeface="STHeiti"/>
                <a:cs typeface="STHeiti"/>
              </a:rPr>
              <a:t>创新药</a:t>
            </a:r>
            <a:endParaRPr sz="3225" b="1">
              <a:solidFill>
                <a:srgbClr val="F59E0B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8" name="drug-label2">
            <a:extLst xmlns:a="http://schemas.openxmlformats.org/drawingml/2006/main">
              <a:ext uri="{FF2B5EF4-FFF2-40B4-BE49-F238E27FC236}">
                <a16:creationId xmlns:a16="http://schemas.microsoft.com/office/drawing/2014/main" id="{3B4BBEC5-9BA5-4142-9AA1-983A3362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4063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临床成功率 + DCF</a:t>
            </a:r>
            <a:endParaRPr sz="127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19" name="drug-rule">
            <a:extLst xmlns:a="http://schemas.openxmlformats.org/drawingml/2006/main">
              <a:ext uri="{FF2B5EF4-FFF2-40B4-BE49-F238E27FC236}">
                <a16:creationId xmlns:a16="http://schemas.microsoft.com/office/drawing/2014/main" id="{EA03AC97-0DC4-45BF-8E9C-BBCDBC9D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59735"/>
            <a:ext cx="4848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5D28C"/>
            </a:solidFill>
            <a:prstDash val="solid"/>
          </a:ln>
        </p:spPr>
      </p:sp>
      <p:sp>
        <p:nvSpPr>
          <p:cNvPr id="20" name="drug-bottom">
            <a:extLst xmlns:a="http://schemas.openxmlformats.org/drawingml/2006/main">
              <a:ext uri="{FF2B5EF4-FFF2-40B4-BE49-F238E27FC236}">
                <a16:creationId xmlns:a16="http://schemas.microsoft.com/office/drawing/2014/main" id="{90AAA1F5-C85D-4AF1-B244-559678DE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14071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郝淼当前更多配置CXO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  <a:p xmlns:a="http://schemas.openxmlformats.org/drawingml/2006/main">
            <a:pPr algn="l">
              <a:lnSpc>
                <a:spcPct val="95000"/>
              </a:lnSpc>
              <a:buNone/>
              <a:defRPr sz="142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42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三只产品持仓方向存在差异</a:t>
            </a:r>
            <a:endParaRPr sz="1425" b="1">
              <a:solidFill>
                <a:srgbClr val="101828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1" name="score-caption">
            <a:extLst xmlns:a="http://schemas.openxmlformats.org/drawingml/2006/main">
              <a:ext uri="{FF2B5EF4-FFF2-40B4-BE49-F238E27FC236}">
                <a16:creationId xmlns:a16="http://schemas.microsoft.com/office/drawing/2014/main" id="{914DF653-4DE6-4973-88E5-55377FC3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2176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2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2026Q2前十大持仓结构｜占基金净值</a:t>
            </a:r>
            <a:endParaRPr sz="12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7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27500C09-E71B-4485-B5A3-9DF25873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8866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28" name="source-3">
            <a:extLst xmlns:a="http://schemas.openxmlformats.org/drawingml/2006/main">
              <a:ext uri="{FF2B5EF4-FFF2-40B4-BE49-F238E27FC236}">
                <a16:creationId xmlns:a16="http://schemas.microsoft.com/office/drawing/2014/main" id="{9D7E5B9A-6A8F-4853-A8B1-247CA274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4385"/>
            <a:ext cx="1062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865" b="0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865" b="0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来源：IMA《嘉实郝淼交流0821》（2026/8/21）；同花顺iFinD（2026Q2）；嘉实基金。Top10分类为研究归类</a:t>
            </a:r>
            <a:endParaRPr sz="865" b="0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29" name="page-3">
            <a:extLst xmlns:a="http://schemas.openxmlformats.org/drawingml/2006/main">
              <a:ext uri="{FF2B5EF4-FFF2-40B4-BE49-F238E27FC236}">
                <a16:creationId xmlns:a16="http://schemas.microsoft.com/office/drawing/2014/main" id="{3C8505E5-214F-4DDF-9D86-157C5A34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87438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95000"/>
              </a:lnSpc>
              <a:buNone/>
              <a:defRPr sz="975" b="1">
                <a:solidFill>
                  <a:srgbClr val="667085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667085"/>
                </a:solidFill>
                <a:latin typeface="STHeiti"/>
                <a:ea typeface="STHeiti"/>
                <a:cs typeface="STHeiti"/>
              </a:rPr>
              <a:t>04</a:t>
            </a:r>
            <a:endParaRPr sz="975" b="1">
              <a:solidFill>
                <a:srgbClr val="667085"/>
              </a:solidFill>
              <a:latin typeface="STHeiti"/>
              <a:ea typeface="STHeiti"/>
              <a:cs typeface="STHeiti"/>
            </a:endParaRPr>
          </a:p>
        </p:txBody>
      </p:sp>
      <p:sp>
        <p:nvSpPr>
          <p:cNvPr id="30" name="fund-medical-care-title">
            <a:extLst xmlns:a="http://schemas.openxmlformats.org/drawingml/2006/main">
              <a:ext uri="{FF2B5EF4-FFF2-40B4-BE49-F238E27FC236}">
                <a16:creationId xmlns:a16="http://schemas.microsoft.com/office/drawing/2014/main" id="{E3763524-0310-4576-829A-EED9E1AE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嘉实医疗保健｜000711</a:t>
            </a:r>
          </a:p>
        </p:txBody>
      </p:sp>
      <p:graphicFrame>
        <p:nvGraphicFramePr>
          <p:cNvPr id="62" name="Chart"/>
          <p:cNvGraphicFramePr/>
          <p:nvPr/>
        </p:nvGraphicFramePr>
        <p:xfrm>
          <a:off xmlns:a="http://schemas.openxmlformats.org/drawingml/2006/main" x="495300" y="4438650"/>
          <a:ext xmlns:a="http://schemas.openxmlformats.org/drawingml/2006/main" cx="1104900" cy="1104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5256027eaf41fb"/>
          </a:graphicData>
        </a:graphic>
      </p:graphicFrame>
      <p:sp>
        <p:nvSpPr>
          <p:cNvPr id="32" name="fund-medical-care-facts">
            <a:extLst xmlns:a="http://schemas.openxmlformats.org/drawingml/2006/main">
              <a:ext uri="{FF2B5EF4-FFF2-40B4-BE49-F238E27FC236}">
                <a16:creationId xmlns:a16="http://schemas.microsoft.com/office/drawing/2014/main" id="{F0A83728-87D5-4C10-9112-BB773EBF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0075"/>
            <a:ext cx="23526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0">
                <a:solidFill>
                  <a:srgbClr val="667085"/>
                </a:solidFill>
              </a:rPr>
              <a:t>重仓方向：</a:t>
            </a:r>
            <a:r>
              <a:rPr sz="975" b="1">
                <a:solidFill>
                  <a:srgbClr val="101828"/>
                </a:solidFill>
              </a:rPr>
              <a:t>CXO、创新药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2F6BFF"/>
                </a:solidFill>
              </a:rPr>
              <a:t>● </a:t>
            </a:r>
            <a:r>
              <a:rPr sz="975" b="0">
                <a:solidFill>
                  <a:srgbClr val="344054"/>
                </a:solidFill>
              </a:rPr>
              <a:t>CXO 51.8%  </a:t>
            </a:r>
            <a:r>
              <a:rPr sz="975" b="1">
                <a:solidFill>
                  <a:srgbClr val="F59E0B"/>
                </a:solidFill>
              </a:rPr>
              <a:t>● </a:t>
            </a:r>
            <a:r>
              <a:rPr sz="975" b="0">
                <a:solidFill>
                  <a:srgbClr val="344054"/>
                </a:solidFill>
              </a:rPr>
              <a:t>创新药 16.6%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B8BEC8"/>
                </a:solidFill>
              </a:rPr>
              <a:t>● </a:t>
            </a:r>
            <a:r>
              <a:rPr sz="975" b="0">
                <a:solidFill>
                  <a:srgbClr val="667085"/>
                </a:solidFill>
              </a:rPr>
              <a:t>其他 31.6%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0">
                <a:solidFill>
                  <a:srgbClr val="344054"/>
                </a:solidFill>
              </a:rPr>
              <a:t>代表：凯莱英、药明康德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0">
                <a:solidFill>
                  <a:srgbClr val="667085"/>
                </a:solidFill>
              </a:rPr>
              <a:t>Top10 68.4%</a:t>
            </a:r>
          </a:p>
        </p:txBody>
      </p:sp>
      <p:sp>
        <p:nvSpPr>
          <p:cNvPr id="33" name="fund-medical-health-title">
            <a:extLst xmlns:a="http://schemas.openxmlformats.org/drawingml/2006/main">
              <a:ext uri="{FF2B5EF4-FFF2-40B4-BE49-F238E27FC236}">
                <a16:creationId xmlns:a16="http://schemas.microsoft.com/office/drawing/2014/main" id="{28B4E344-E282-491A-B0BF-B30744E3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5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嘉实医药健康｜005303</a:t>
            </a:r>
          </a:p>
        </p:txBody>
      </p:sp>
      <p:graphicFrame>
        <p:nvGraphicFramePr>
          <p:cNvPr id="65" name="Chart"/>
          <p:cNvGraphicFramePr/>
          <p:nvPr/>
        </p:nvGraphicFramePr>
        <p:xfrm>
          <a:off xmlns:a="http://schemas.openxmlformats.org/drawingml/2006/main" x="4276725" y="4438650"/>
          <a:ext xmlns:a="http://schemas.openxmlformats.org/drawingml/2006/main" cx="1104900" cy="1104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14e6bc0d2043df"/>
          </a:graphicData>
        </a:graphic>
      </p:graphicFrame>
      <p:sp>
        <p:nvSpPr>
          <p:cNvPr id="35" name="fund-medical-health-facts">
            <a:extLst xmlns:a="http://schemas.openxmlformats.org/drawingml/2006/main">
              <a:ext uri="{FF2B5EF4-FFF2-40B4-BE49-F238E27FC236}">
                <a16:creationId xmlns:a16="http://schemas.microsoft.com/office/drawing/2014/main" id="{7C4B6265-520C-4C93-9102-87DA0A9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410075"/>
            <a:ext cx="23526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0">
                <a:solidFill>
                  <a:srgbClr val="667085"/>
                </a:solidFill>
              </a:rPr>
              <a:t>重仓方向：</a:t>
            </a:r>
            <a:r>
              <a:rPr sz="975" b="1">
                <a:solidFill>
                  <a:srgbClr val="101828"/>
                </a:solidFill>
              </a:rPr>
              <a:t>CXO、创新药、器械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2F6BFF"/>
                </a:solidFill>
              </a:rPr>
              <a:t>● </a:t>
            </a:r>
            <a:r>
              <a:rPr sz="975" b="0">
                <a:solidFill>
                  <a:srgbClr val="344054"/>
                </a:solidFill>
              </a:rPr>
              <a:t>CXO 34.1%  </a:t>
            </a:r>
            <a:r>
              <a:rPr sz="975" b="1">
                <a:solidFill>
                  <a:srgbClr val="F59E0B"/>
                </a:solidFill>
              </a:rPr>
              <a:t>● </a:t>
            </a:r>
            <a:r>
              <a:rPr sz="975" b="0">
                <a:solidFill>
                  <a:srgbClr val="344054"/>
                </a:solidFill>
              </a:rPr>
              <a:t>创新药 18.3%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00A68A"/>
                </a:solidFill>
              </a:rPr>
              <a:t>● </a:t>
            </a:r>
            <a:r>
              <a:rPr sz="975" b="0">
                <a:solidFill>
                  <a:srgbClr val="344054"/>
                </a:solidFill>
              </a:rPr>
              <a:t>器械 5.8%  </a:t>
            </a:r>
            <a:r>
              <a:rPr sz="975" b="1">
                <a:solidFill>
                  <a:srgbClr val="B8BEC8"/>
                </a:solidFill>
              </a:rPr>
              <a:t>● </a:t>
            </a:r>
            <a:r>
              <a:rPr sz="975" b="0">
                <a:solidFill>
                  <a:srgbClr val="667085"/>
                </a:solidFill>
              </a:rPr>
              <a:t>其他 41.8%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0">
                <a:solidFill>
                  <a:srgbClr val="344054"/>
                </a:solidFill>
              </a:rPr>
              <a:t>代表：药明康德、信达生物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0">
                <a:solidFill>
                  <a:srgbClr val="667085"/>
                </a:solidFill>
              </a:rPr>
              <a:t>Top10 58.1%</a:t>
            </a:r>
          </a:p>
        </p:txBody>
      </p:sp>
      <p:sp>
        <p:nvSpPr>
          <p:cNvPr id="36" name="fund-mutual-selection-title">
            <a:extLst xmlns:a="http://schemas.openxmlformats.org/drawingml/2006/main">
              <a:ext uri="{FF2B5EF4-FFF2-40B4-BE49-F238E27FC236}">
                <a16:creationId xmlns:a16="http://schemas.microsoft.com/office/drawing/2014/main" id="{6504ED07-3A04-4365-8E39-3DA22652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1529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01828"/>
                </a:solidFill>
                <a:latin typeface="STHeiti"/>
                <a:ea typeface="STHeiti"/>
                <a:cs typeface="STHeiti"/>
              </a:defRPr>
            </a:pPr>
            <a:r>
              <a:rPr sz="1275" b="1">
                <a:solidFill>
                  <a:srgbClr val="101828"/>
                </a:solidFill>
                <a:latin typeface="STHeiti"/>
                <a:ea typeface="STHeiti"/>
                <a:cs typeface="STHeiti"/>
              </a:rPr>
              <a:t>嘉实互融精选｜006603</a:t>
            </a:r>
          </a:p>
        </p:txBody>
      </p:sp>
      <p:graphicFrame>
        <p:nvGraphicFramePr>
          <p:cNvPr id="68" name="Chart"/>
          <p:cNvGraphicFramePr/>
          <p:nvPr/>
        </p:nvGraphicFramePr>
        <p:xfrm>
          <a:off xmlns:a="http://schemas.openxmlformats.org/drawingml/2006/main" x="8058150" y="4438650"/>
          <a:ext xmlns:a="http://schemas.openxmlformats.org/drawingml/2006/main" cx="1104900" cy="1104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359e39e8384589"/>
          </a:graphicData>
        </a:graphic>
      </p:graphicFrame>
      <p:sp>
        <p:nvSpPr>
          <p:cNvPr id="38" name="fund-mutual-selection-facts">
            <a:extLst xmlns:a="http://schemas.openxmlformats.org/drawingml/2006/main">
              <a:ext uri="{FF2B5EF4-FFF2-40B4-BE49-F238E27FC236}">
                <a16:creationId xmlns:a16="http://schemas.microsoft.com/office/drawing/2014/main" id="{6150C05F-F03D-47AD-8A91-F21E1632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10075"/>
            <a:ext cx="2352675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0">
                <a:solidFill>
                  <a:srgbClr val="667085"/>
                </a:solidFill>
              </a:rPr>
              <a:t>重仓方向：</a:t>
            </a:r>
            <a:r>
              <a:rPr sz="975" b="1">
                <a:solidFill>
                  <a:srgbClr val="101828"/>
                </a:solidFill>
              </a:rPr>
              <a:t>创新药/制药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F59E0B"/>
                </a:solidFill>
              </a:rPr>
              <a:t>● </a:t>
            </a:r>
            <a:r>
              <a:rPr sz="975" b="0">
                <a:solidFill>
                  <a:srgbClr val="344054"/>
                </a:solidFill>
              </a:rPr>
              <a:t>创新药/制药 69.8%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1">
                <a:solidFill>
                  <a:srgbClr val="B8BEC8"/>
                </a:solidFill>
              </a:rPr>
              <a:t>● </a:t>
            </a:r>
            <a:r>
              <a:rPr sz="975" b="0">
                <a:solidFill>
                  <a:srgbClr val="667085"/>
                </a:solidFill>
              </a:rPr>
              <a:t>其他 30.2%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0">
                <a:solidFill>
                  <a:srgbClr val="344054"/>
                </a:solidFill>
              </a:rPr>
              <a:t>代表：泽璟制药、科伦博泰</a:t>
            </a:r>
          </a:p>
          <a:p xmlns:a="http://schemas.openxmlformats.org/drawingml/2006/main">
            <a:pPr>
              <a:defRPr sz="975">
                <a:solidFill>
                  <a:srgbClr val="344054"/>
                </a:solidFill>
                <a:latin typeface="STHeiti"/>
                <a:ea typeface="STHeiti"/>
                <a:cs typeface="STHeiti"/>
              </a:defRPr>
            </a:pPr>
            <a:r>
              <a:rPr sz="975" b="0">
                <a:solidFill>
                  <a:srgbClr val="667085"/>
                </a:solidFill>
              </a:rPr>
              <a:t>Top10 69.8%</a:t>
            </a:r>
          </a:p>
        </p:txBody>
      </p:sp>
    </p:spTree>
    <p:extLst>
      <p:ext uri="{BB962C8B-B14F-4D97-AF65-F5344CB8AC3E}">
        <p14:creationId xmlns:p14="http://schemas.microsoft.com/office/powerpoint/2010/main" val="944145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2026-08-24T09:53:44.2090000Z</dcterms:created>
  <dcterms:modified xsi:type="dcterms:W3CDTF">2026-08-24T09:53:44.2090000Z</dcterms:modified>
</coreProperties>
</file>