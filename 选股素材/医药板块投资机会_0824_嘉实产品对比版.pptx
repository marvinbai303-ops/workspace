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2bb6daacb1d441a" /><Relationship Type="http://schemas.openxmlformats.org/officeDocument/2006/relationships/extended-properties" Target="/docProps/app.xml" Id="Rdc1f6207217d4e28" /><Relationship Type="http://schemas.openxmlformats.org/officeDocument/2006/relationships/officeDocument" Target="/ppt/presentation.xml" Id="Rafb5e9c3c2794e0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1c208c9b7245f2"/>
  </p:sldMasterIdLst>
  <p:notesMasterIdLst>
    <p:notesMasterId xmlns:r="http://schemas.openxmlformats.org/officeDocument/2006/relationships" r:id="Rb3b98efdfc054793"/>
  </p:notesMasterIdLst>
  <p:sldIdLst>
    <p:sldId xmlns:r="http://schemas.openxmlformats.org/officeDocument/2006/relationships" id="256" r:id="R526bc2923be64799"/>
    <p:sldId xmlns:r="http://schemas.openxmlformats.org/officeDocument/2006/relationships" id="257" r:id="R0d44596a15564686"/>
    <p:sldId xmlns:r="http://schemas.openxmlformats.org/officeDocument/2006/relationships" id="258" r:id="R512df0daac744252"/>
    <p:sldId xmlns:r="http://schemas.openxmlformats.org/officeDocument/2006/relationships" id="259" r:id="Rbde19f896539420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69c09f10880438e" /><Relationship Type="http://schemas.openxmlformats.org/officeDocument/2006/relationships/slideMaster" Target="/ppt/slideMasters/slideMaster1.xml" Id="R6b1c208c9b7245f2" /><Relationship Type="http://schemas.openxmlformats.org/officeDocument/2006/relationships/notesMaster" Target="/ppt/notesMasters/notesMaster1.xml" Id="Rb3b98efdfc054793" /><Relationship Type="http://schemas.openxmlformats.org/officeDocument/2006/relationships/presProps" Target="/ppt/presProps.xml" Id="R131d321677f54587" /><Relationship Type="http://schemas.openxmlformats.org/officeDocument/2006/relationships/viewProps" Target="/ppt/viewProps.xml" Id="Rd493acab4a70468d" /><Relationship Type="http://schemas.openxmlformats.org/officeDocument/2006/relationships/tableStyles" Target="/ppt/tableStyles.xml" Id="R63f6110b7ca24f4c" /><Relationship Type="http://schemas.openxmlformats.org/officeDocument/2006/relationships/slide" Target="/ppt/slides/slide1.xml" Id="R526bc2923be64799" /><Relationship Type="http://schemas.openxmlformats.org/officeDocument/2006/relationships/slide" Target="/ppt/slides/slide2.xml" Id="R0d44596a15564686" /><Relationship Type="http://schemas.openxmlformats.org/officeDocument/2006/relationships/slide" Target="/ppt/slides/slide3.xml" Id="R512df0daac744252" /><Relationship Type="http://schemas.openxmlformats.org/officeDocument/2006/relationships/slide" Target="/ppt/slides/slide4.xml" Id="Rbde19f896539420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7495ee4406c450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abfa5e663a8464e" /><Relationship Type="http://schemas.openxmlformats.org/officeDocument/2006/relationships/notesMaster" Target="/ppt/notesMasters/notesMaster1.xml" Id="R5cbdd2ce14274fb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9e587f097e841f9" /><Relationship Type="http://schemas.openxmlformats.org/officeDocument/2006/relationships/notesMaster" Target="/ppt/notesMasters/notesMaster1.xml" Id="R38f680ba9e384c4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d0d6367138c4b04" /><Relationship Type="http://schemas.openxmlformats.org/officeDocument/2006/relationships/notesMaster" Target="/ppt/notesMasters/notesMaster1.xml" Id="R640e0a89b6f240d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73534e3e32c4e10" /><Relationship Type="http://schemas.openxmlformats.org/officeDocument/2006/relationships/notesMaster" Target="/ppt/notesMasters/notesMaster1.xml" Id="Rf8b5e093dbef43d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核心讲法：行业Beta成立之后，2026年不再只是交易产业想象力，而是订单和现金流驱动盈利上修、盈利上修再推动估值抬升的“戴维斯双击”。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https://www.nhsa.gov.cn/art/2025/7/1/art_104_17058.html</a:t>
            </a:r>
          </a:p>
          <a:p xmlns:a="http://schemas.openxmlformats.org/drawingml/2006/main">
            <a:r>
              <a:t>- https://www.nhsa.gov.cn/art/2026/4/14/art_53_20215.html</a:t>
            </a:r>
          </a:p>
          <a:p xmlns:a="http://schemas.openxmlformats.org/drawingml/2006/main">
            <a:r>
              <a:t>- https://data.eastmoney.com/report/zw_industry.jshtml?infocode=AP202607051826728220</a:t>
            </a:r>
          </a:p>
          <a:p xmlns:a="http://schemas.openxmlformats.org/drawingml/2006/main">
            <a:r>
              <a:t>- https://www.wuxiapptec.cn/news/wuxi-news/wuxi-apptec-crdmo-model-delivers-strong-results</a:t>
            </a:r>
          </a:p>
          <a:p xmlns:a="http://schemas.openxmlformats.org/drawingml/2006/main">
            <a:r>
              <a:t>- https://finance.sina.com.cn/wm/2026-07-13/doc-inihspyt4282488.shtml</a:t>
            </a:r>
          </a:p>
          <a:p xmlns:a="http://schemas.openxmlformats.org/drawingml/2006/main">
            <a:r>
              <a:t>- IMA：嘉实基金郝淼交流，2026-08-21（私域资料）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判断2026是否能形成持续Alpha，不能只看阶段涨幅，需要三道检验：</a:t>
            </a:r>
          </a:p>
          <a:p xmlns:a="http://schemas.openxmlformats.org/drawingml/2006/main">
            <a:r>
              <a:t>1. 独立于大盘：已经满足。2025/6—9沪深300上涨20.8%、医药上涨14.9%，医药跑输；2026/6—8.21沪深300下跌5.6%、医药上涨9.9%，形成约15.5个百分点超额。</a:t>
            </a:r>
          </a:p>
          <a:p xmlns:a="http://schemas.openxmlformats.org/drawingml/2006/main">
            <a:r>
              <a:t>2. 盈利持续上修：已经满足。2026H1创新药BD约为2025H1的2.1倍；药明康德持续经营收入增长48%、经营现金流增长41.3%，并上调全年指引。</a:t>
            </a:r>
          </a:p>
          <a:p xmlns:a="http://schemas.openxmlformats.org/drawingml/2006/main">
            <a:r>
              <a:t>3. 机构资金扩散：尚待验证。医药总仓位处于阶段低位，具备增配空间；但现有资金已集中CXO，真正的持续Alpha需要盈利型创新药接力并带动医药总仓位回升。</a:t>
            </a:r>
          </a:p>
          <a:p xmlns:a="http://schemas.openxmlformats.org/drawingml/2006/main"/>
          <a:p xmlns:a="http://schemas.openxmlformats.org/drawingml/2006/main">
            <a:r>
              <a:t>结论：2026具备比2025更强的产业基础，但“持续Alpha”仍是条件式判断，不是无条件线性外推。</a:t>
            </a:r>
          </a:p>
          <a:p xmlns:a="http://schemas.openxmlformats.org/drawingml/2006/main"/>
          <a:p xmlns:a="http://schemas.openxmlformats.org/drawingml/2006/main">
            <a:r>
              <a:t>注：2025与2026基金持仓报告样本口径不同，不直接比较绝对仓位，只使用各自报告中的变动方向与内部结构。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同花顺iFinD：000300.SH、000808.CSI、931152.CSI、884244.TI；区间2025-06-01至2025-09-30、2026-06-01至2026-08-21</a:t>
            </a:r>
          </a:p>
          <a:p xmlns:a="http://schemas.openxmlformats.org/drawingml/2006/main">
            <a:r>
              <a:t>- https://www.drugtimes.cn/2025/07/02/chao48448yimeiyuan2025nianshangbannianzhongguochuangxinyaoch/</a:t>
            </a:r>
          </a:p>
          <a:p xmlns:a="http://schemas.openxmlformats.org/drawingml/2006/main">
            <a:r>
              <a:t>- https://data.eastmoney.com/report/zw_industry.jshtml?infocode=AP202607051826728220</a:t>
            </a:r>
          </a:p>
          <a:p xmlns:a="http://schemas.openxmlformats.org/drawingml/2006/main">
            <a:r>
              <a:t>- https://www.wuxiapptec.cn/news/wuxi-news/wuxi-apptec-crdmo-model-delivers-strong-results</a:t>
            </a:r>
          </a:p>
          <a:p xmlns:a="http://schemas.openxmlformats.org/drawingml/2006/main">
            <a:r>
              <a:t>- https://data.eastmoney.com/report/info/AP202607301827476211.html</a:t>
            </a:r>
          </a:p>
          <a:p xmlns:a="http://schemas.openxmlformats.org/drawingml/2006/main">
            <a:r>
              <a:t>- https://field.10jqka.com.cn/20251104/c672228873.shtml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配置判断：未来6—12个月，CXO仍具备更高的盈利确定性，但估值和交易拥挤度已经明显修复；创新药的胜率低于CXO，但相对估值位置和事件弹性更好。</a:t>
            </a:r>
          </a:p>
          <a:p xmlns:a="http://schemas.openxmlformats.org/drawingml/2006/main"/>
          <a:p xmlns:a="http://schemas.openxmlformats.org/drawingml/2006/main">
            <a:r>
              <a:t>“研究框架评分”为基于产业兑现、估值位置和交易拥挤度的定性判断，仅用于比较，不是收益预测。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同花顺iFinD：931152.CSI、884244.TI，估值截至2026-08-21</a:t>
            </a:r>
          </a:p>
          <a:p xmlns:a="http://schemas.openxmlformats.org/drawingml/2006/main">
            <a:r>
              <a:t>- https://www.wuxiapptec.cn/news/wuxi-news/wuxi-apptec-crdmo-model-delivers-strong-results</a:t>
            </a:r>
          </a:p>
          <a:p xmlns:a="http://schemas.openxmlformats.org/drawingml/2006/main">
            <a:r>
              <a:t>- https://data.eastmoney.com/report/zw_industry.jshtml?infocode=AP202607051826728220</a:t>
            </a:r>
          </a:p>
          <a:p xmlns:a="http://schemas.openxmlformats.org/drawingml/2006/main">
            <a:r>
              <a:t>- https://finance.sina.com.cn/wm/2026-07-13/doc-inihspyt4282488.shtml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口径说明：近1年收益率按复权单位净值计算，截止2026-08-24；最大回撤区间为2025-08-25至2026-08-24。2026年中报尚未披露完整持仓，6月30日季报仅公开Top10，因此页面中的医药细分赛道占比是公开Top10持仓穿透并按市值归一化后的结果，不代表完整组合行业分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分类说明：CXO包含申万医疗研发外包及奥浦迈；创新药包含创新药/生物科技公司及恒瑞医药；医疗器械为惠泰医疗；综合制药为石药集团。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IMA：嘉实郝淼交流0821，读取于2026-08-25（私域资料）</a:t>
            </a:r>
          </a:p>
          <a:p xmlns:a="http://schemas.openxmlformats.org/drawingml/2006/main">
            <a:r>
              <a:t>- 同花顺iFinD：000711.OF、005303.OF、006603.OF近1年收益率与最大回撤，数据截至2026-08-24</a:t>
            </a:r>
          </a:p>
          <a:p xmlns:a="http://schemas.openxmlformats.org/drawingml/2006/main">
            <a:r>
              <a:t>- 同花顺iFinD：三只基金2026-06-30季报前十大持仓、市值及占净值比例</a:t>
            </a:r>
          </a:p>
          <a:p xmlns:a="http://schemas.openxmlformats.org/drawingml/2006/main">
            <a:r>
              <a:t>- 同花顺iFinD：相关持仓申万2021三级行业及港股行业分类</a:t>
            </a:r>
          </a:p>
          <a:p xmlns:a="http://schemas.openxmlformats.org/drawingml/2006/main">
            <a:r>
              <a:t>- 用户提供结构参考图：codex-clipboard-d703d5d1-9a6c-4e0b-87cf-1ed9f878e202.png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5882d99d9f45b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66d6508e5874d62" /><Relationship Type="http://schemas.openxmlformats.org/officeDocument/2006/relationships/slideLayout" Target="/ppt/slideLayouts/slideLayout1.xml" Id="R5ad8e17b2bcb429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ad8e17b2bcb429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9561f4ab5c435e" /><Relationship Type="http://schemas.openxmlformats.org/officeDocument/2006/relationships/notesSlide" Target="/ppt/notesSlides/notesSlide1.xml" Id="R4283867e68c9478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fe14a1fd0a4f9b" /><Relationship Type="http://schemas.openxmlformats.org/officeDocument/2006/relationships/notesSlide" Target="/ppt/notesSlides/notesSlide2.xml" Id="Rcd73514a8de04bb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fc85a9f3524896" /><Relationship Type="http://schemas.openxmlformats.org/officeDocument/2006/relationships/chart" Target="/ppt/slides/charts/chart1.xml" Id="R55e8606b4afb48dc" /><Relationship Type="http://schemas.openxmlformats.org/officeDocument/2006/relationships/notesSlide" Target="/ppt/notesSlides/notesSlide3.xml" Id="Re2085cd74d2d41e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2e8a20c80b484a" /><Relationship Type="http://schemas.openxmlformats.org/officeDocument/2006/relationships/notesSlide" Target="/ppt/notesSlides/notesSlide4.xml" Id="R4e0c7b14efcb4294" /></Relationships>
</file>

<file path=ppt/slides/charts/chart1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0.439649122807018"/>
          <c:y val="0.0129032258064516"/>
        </c:manualLayout>
      </c:layout>
      <c:overlay val="1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800" b="1" i="0" u="none">
              <a:solidFill>
                <a:schemeClr val="tx1"/>
              </a:solidFill>
              <a:latin typeface="+mn-lt"/>
              <a:ea typeface="+mn-lt"/>
              <a:cs typeface="+mn-lt"/>
            </a:defRPr>
          </a:pPr>
        </a:p>
      </c:txPr>
    </c:title>
    <c:autoTitleDeleted val="0"/>
    <c:plotArea>
      <c:barChart>
        <c:barDir val="bar"/>
        <c:grouping val="clustered"/>
        <c:varyColors val="0"/>
        <c:ser>
          <c:idx val="0"/>
          <c:order val="0"/>
          <c:tx>
            <c:strRef>
              <c:f>CXO</c:f>
              <c:strCache>
                <c:ptCount val="1"/>
                <c:pt idx="0">
                  <c:v>CXO</c:v>
                </c:pt>
              </c:strCache>
            </c:strRef>
          </c:tx>
          <c:spPr>
            <a:solidFill xmlns:a="http://schemas.openxmlformats.org/drawingml/2006/main">
              <a:srgbClr val="2F6BFF"/>
            </a:solidFill>
          </c:spPr>
          <c:dLbls>
            <c:numFmt formatCode="General" sourceLinked="1"/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i="0" u="none">
                    <a:solidFill>
                      <a:schemeClr val="tx1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{"盈利确定性","短期拥挤度","中期赔率"}</c:f>
              <c:strCache>
                <c:ptCount val="3"/>
                <c:pt idx="0">
                  <c:v>盈利确定性</c:v>
                </c:pt>
                <c:pt idx="1">
                  <c:v>短期拥挤度</c:v>
                </c:pt>
                <c:pt idx="2">
                  <c:v>中期赔率</c:v>
                </c:pt>
              </c:strCache>
            </c:strRef>
          </c:cat>
          <c:val>
            <c:numRef>
              <c:f>{5,4,3}</c:f>
              <c:numCache>
                <c:formatCode>General</c:formatCode>
                <c:ptCount val="3"/>
                <c:pt idx="0">
                  <c:v>5</c:v>
                </c:pt>
                <c:pt idx="1">
                  <c:v>4</c:v>
                </c:pt>
                <c:pt idx="2">
                  <c:v>3</c:v>
                </c:pt>
              </c:numCache>
            </c:numRef>
          </c:val>
        </c:ser>
        <c:ser>
          <c:idx val="1"/>
          <c:order val="1"/>
          <c:tx>
            <c:strRef>
              <c:f>创新药</c:f>
              <c:strCache>
                <c:ptCount val="1"/>
                <c:pt idx="0">
                  <c:v>创新药</c:v>
                </c:pt>
              </c:strCache>
            </c:strRef>
          </c:tx>
          <c:spPr>
            <a:solidFill xmlns:a="http://schemas.openxmlformats.org/drawingml/2006/main">
              <a:srgbClr val="F59E0B"/>
            </a:solidFill>
          </c:spPr>
          <c:dLbls>
            <c:numFmt formatCode="General" sourceLinked="1"/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i="0" u="none">
                    <a:solidFill>
                      <a:schemeClr val="tx1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{"盈利确定性","短期拥挤度","中期赔率"}</c:f>
              <c:strCache>
                <c:ptCount val="3"/>
                <c:pt idx="0">
                  <c:v>盈利确定性</c:v>
                </c:pt>
                <c:pt idx="1">
                  <c:v>短期拥挤度</c:v>
                </c:pt>
                <c:pt idx="2">
                  <c:v>中期赔率</c:v>
                </c:pt>
              </c:strCache>
            </c:strRef>
          </c:cat>
          <c:val>
            <c:numRef>
              <c:f>{3,2,5}</c:f>
              <c:numCache>
                <c:formatCode>General</c:formatCode>
                <c:ptCount val="3"/>
                <c:pt idx="0">
                  <c:v>3</c:v>
                </c:pt>
                <c:pt idx="1">
                  <c:v>2</c:v>
                </c:pt>
                <c:pt idx="2">
                  <c:v>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CF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rot="-60000000" spcFirstLastPara="0" vert="horz" wrap="square" anchor="ctr" anchorCtr="1"/>
          <a:lstStyle xmlns:a="http://schemas.openxmlformats.org/drawingml/2006/main"/>
          <a:p xmlns:a="http://schemas.openxmlformats.org/drawingml/2006/main">
            <a:pPr>
              <a:defRPr sz="825" b="0" i="0" u="none">
                <a:solidFill>
                  <a:srgbClr val="667085"/>
                </a:solidFill>
                <a:latin typeface="STHeiti"/>
                <a:ea typeface="STHeiti"/>
                <a:cs typeface="STHeiti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1050" b="0" i="0" u="none">
                <a:solidFill>
                  <a:srgbClr val="101828"/>
                </a:solidFill>
                <a:latin typeface="STHeiti"/>
                <a:ea typeface="STHeiti"/>
                <a:cs typeface="STHeiti"/>
              </a:defRPr>
            </a:pPr>
          </a:p>
        </c:txPr>
        <c:crossAx val="48650112"/>
        <c:crosses val="autoZero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975" b="0" i="0" u="none">
              <a:solidFill>
                <a:srgbClr val="667085"/>
              </a:solidFill>
              <a:latin typeface="STHeiti"/>
              <a:ea typeface="STHeiti"/>
              <a:cs typeface="STHeit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1">
            <a:extLst xmlns:a="http://schemas.openxmlformats.org/drawingml/2006/main">
              <a:ext uri="{FF2B5EF4-FFF2-40B4-BE49-F238E27FC236}">
                <a16:creationId xmlns:a16="http://schemas.microsoft.com/office/drawing/2014/main" id="{5D5DF61C-B454-4A8C-A354-EF19826FE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101828"/>
                </a:solidFill>
                <a:latin typeface="STHeiti"/>
                <a:ea typeface="STHeiti"/>
                <a:cs typeface="STHeiti"/>
              </a:defRPr>
            </a:pPr>
            <a:r>
              <a:rPr sz="3600" b="1">
                <a:solidFill>
                  <a:srgbClr val="101828"/>
                </a:solidFill>
                <a:latin typeface="STHeiti"/>
                <a:ea typeface="STHeiti"/>
                <a:cs typeface="STHeiti"/>
              </a:rPr>
              <a:t>医药正在从估值修复走向盈利周期</a:t>
            </a:r>
            <a:endParaRPr sz="3600" b="1">
              <a:solidFill>
                <a:srgbClr val="101828"/>
              </a:solidFill>
              <a:latin typeface="STHeiti"/>
              <a:ea typeface="STHeiti"/>
              <a:cs typeface="STHeiti"/>
            </a:endParaRPr>
          </a:p>
        </p:txBody>
      </p:sp>
      <p:sp>
        <p:nvSpPr>
          <p:cNvPr id="3" name="accent-1">
            <a:extLst xmlns:a="http://schemas.openxmlformats.org/drawingml/2006/main">
              <a:ext uri="{FF2B5EF4-FFF2-40B4-BE49-F238E27FC236}">
                <a16:creationId xmlns:a16="http://schemas.microsoft.com/office/drawing/2014/main" id="{0BB98CC1-5B1C-49B4-B672-B0DEFAB59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2050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F6BFF"/>
            </a:solidFill>
            <a:prstDash val="solid"/>
          </a:ln>
        </p:spPr>
      </p:sp>
      <p:sp>
        <p:nvSpPr>
          <p:cNvPr id="4" name="subtitle-1">
            <a:extLst xmlns:a="http://schemas.openxmlformats.org/drawingml/2006/main">
              <a:ext uri="{FF2B5EF4-FFF2-40B4-BE49-F238E27FC236}">
                <a16:creationId xmlns:a16="http://schemas.microsoft.com/office/drawing/2014/main" id="{AC2F53D1-01A0-42BF-8A83-293566C58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725" b="0">
                <a:solidFill>
                  <a:srgbClr val="667085"/>
                </a:solidFill>
                <a:latin typeface="STHeiti"/>
                <a:ea typeface="STHeiti"/>
                <a:cs typeface="STHeiti"/>
              </a:defRPr>
            </a:pPr>
            <a:r>
              <a:rPr sz="1725" b="1">
                <a:solidFill>
                  <a:srgbClr val="667085"/>
                </a:solidFill>
                <a:latin typeface="STHeiti Regular"/>
                <a:ea typeface="STHeiti Regular"/>
                <a:cs typeface="STHeiti Regular"/>
              </a:rPr>
              <a:t>创新</a:t>
            </a:r>
            <a:r>
              <a:rPr sz="1725" b="1">
                <a:solidFill>
                  <a:srgbClr val="667085"/>
                </a:solidFill>
                <a:latin typeface="STHeiti Regular"/>
                <a:ea typeface="STHeiti Regular"/>
                <a:cs typeface="STHeiti Regular"/>
              </a:rPr>
              <a:t>药</a:t>
            </a:r>
            <a:r>
              <a:rPr sz="1725" b="1">
                <a:solidFill>
                  <a:srgbClr val="667085"/>
                </a:solidFill>
                <a:latin typeface="STHeiti Regular"/>
                <a:ea typeface="STHeiti Regular"/>
                <a:cs typeface="STHeiti Regular"/>
              </a:rPr>
              <a:t>资产全球化，正在形成“BD回款—研发投入—CXO订单—利润兑现”的正循环</a:t>
            </a:r>
            <a:endParaRPr sz="1725" b="1">
              <a:solidFill>
                <a:srgbClr val="667085"/>
              </a:solidFill>
              <a:latin typeface="STHeiti Regular"/>
              <a:ea typeface="STHeiti Regular"/>
              <a:cs typeface="STHeiti Regular"/>
            </a:endParaRPr>
          </a:p>
        </p:txBody>
      </p:sp>
      <p:sp>
        <p:nvSpPr>
          <p:cNvPr id="5" name="arrow-1">
            <a:extLst xmlns:a="http://schemas.openxmlformats.org/drawingml/2006/main">
              <a:ext uri="{FF2B5EF4-FFF2-40B4-BE49-F238E27FC236}">
                <a16:creationId xmlns:a16="http://schemas.microsoft.com/office/drawing/2014/main" id="{E62F1285-05E9-461E-817D-27C10FC33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000375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150" b="1">
                <a:solidFill>
                  <a:srgbClr val="2F6BFF"/>
                </a:solidFill>
                <a:latin typeface="STHeiti"/>
                <a:ea typeface="STHeiti"/>
                <a:cs typeface="STHeiti"/>
              </a:defRPr>
            </a:pPr>
            <a:r>
              <a:rPr sz="3150" b="1">
                <a:solidFill>
                  <a:srgbClr val="2F6BFF"/>
                </a:solidFill>
                <a:latin typeface="STHeiti"/>
                <a:ea typeface="STHeiti"/>
                <a:cs typeface="STHeiti"/>
              </a:rPr>
              <a:t>→</a:t>
            </a:r>
            <a:endParaRPr sz="3150" b="1">
              <a:solidFill>
                <a:srgbClr val="2F6BFF"/>
              </a:solidFill>
              <a:latin typeface="STHeiti"/>
              <a:ea typeface="STHeiti"/>
              <a:cs typeface="STHeiti"/>
            </a:endParaRPr>
          </a:p>
        </p:txBody>
      </p:sp>
      <p:sp>
        <p:nvSpPr>
          <p:cNvPr id="6" name="arrow-2">
            <a:extLst xmlns:a="http://schemas.openxmlformats.org/drawingml/2006/main">
              <a:ext uri="{FF2B5EF4-FFF2-40B4-BE49-F238E27FC236}">
                <a16:creationId xmlns:a16="http://schemas.microsoft.com/office/drawing/2014/main" id="{72D1ED7B-3732-473C-9EED-C532A334B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3000375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150" b="1">
                <a:solidFill>
                  <a:srgbClr val="2F6BFF"/>
                </a:solidFill>
                <a:latin typeface="STHeiti"/>
                <a:ea typeface="STHeiti"/>
                <a:cs typeface="STHeiti"/>
              </a:defRPr>
            </a:pPr>
            <a:r>
              <a:rPr sz="3150" b="1">
                <a:solidFill>
                  <a:srgbClr val="2F6BFF"/>
                </a:solidFill>
                <a:latin typeface="STHeiti"/>
                <a:ea typeface="STHeiti"/>
                <a:cs typeface="STHeiti"/>
              </a:rPr>
              <a:t>→</a:t>
            </a:r>
            <a:endParaRPr sz="3150" b="1">
              <a:solidFill>
                <a:srgbClr val="2F6BFF"/>
              </a:solidFill>
              <a:latin typeface="STHeiti"/>
              <a:ea typeface="STHeiti"/>
              <a:cs typeface="STHeiti"/>
            </a:endParaRPr>
          </a:p>
        </p:txBody>
      </p:sp>
      <p:sp>
        <p:nvSpPr>
          <p:cNvPr id="7" name="stage-panel-1">
            <a:extLst xmlns:a="http://schemas.openxmlformats.org/drawingml/2006/main">
              <a:ext uri="{FF2B5EF4-FFF2-40B4-BE49-F238E27FC236}">
                <a16:creationId xmlns:a16="http://schemas.microsoft.com/office/drawing/2014/main" id="{880422E4-A1C9-476B-B046-C164B391C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34290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age-panel-2">
            <a:extLst xmlns:a="http://schemas.openxmlformats.org/drawingml/2006/main">
              <a:ext uri="{FF2B5EF4-FFF2-40B4-BE49-F238E27FC236}">
                <a16:creationId xmlns:a16="http://schemas.microsoft.com/office/drawing/2014/main" id="{42579630-AC58-4B0B-ADE2-B7818F0BD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90700"/>
            <a:ext cx="34290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age-panel-3">
            <a:extLst xmlns:a="http://schemas.openxmlformats.org/drawingml/2006/main">
              <a:ext uri="{FF2B5EF4-FFF2-40B4-BE49-F238E27FC236}">
                <a16:creationId xmlns:a16="http://schemas.microsoft.com/office/drawing/2014/main" id="{44BDCD30-F89C-4780-944D-E2F18D971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790700"/>
            <a:ext cx="34290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tage1-head">
            <a:extLst xmlns:a="http://schemas.openxmlformats.org/drawingml/2006/main">
              <a:ext uri="{FF2B5EF4-FFF2-40B4-BE49-F238E27FC236}">
                <a16:creationId xmlns:a16="http://schemas.microsoft.com/office/drawing/2014/main" id="{BB7F8568-8C27-4F5E-80A4-80D2738E4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383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800" b="1">
                <a:solidFill>
                  <a:srgbClr val="2F6BFF"/>
                </a:solidFill>
                <a:latin typeface="STHeiti"/>
                <a:ea typeface="STHeiti"/>
                <a:cs typeface="STHeiti"/>
              </a:defRPr>
            </a:pPr>
            <a:r>
              <a:rPr sz="1800" b="1">
                <a:solidFill>
                  <a:srgbClr val="2F6BFF"/>
                </a:solidFill>
                <a:latin typeface="STHeiti"/>
                <a:ea typeface="STHeiti"/>
                <a:cs typeface="STHeiti"/>
              </a:rPr>
              <a:t>① 资产重估</a:t>
            </a:r>
            <a:endParaRPr sz="1800" b="1">
              <a:solidFill>
                <a:srgbClr val="2F6BFF"/>
              </a:solidFill>
              <a:latin typeface="STHeiti"/>
              <a:ea typeface="STHeiti"/>
              <a:cs typeface="STHeiti"/>
            </a:endParaRPr>
          </a:p>
        </p:txBody>
      </p:sp>
      <p:sp>
        <p:nvSpPr>
          <p:cNvPr id="11" name="stage1-metric-value">
            <a:extLst xmlns:a="http://schemas.openxmlformats.org/drawingml/2006/main">
              <a:ext uri="{FF2B5EF4-FFF2-40B4-BE49-F238E27FC236}">
                <a16:creationId xmlns:a16="http://schemas.microsoft.com/office/drawing/2014/main" id="{246A5ACD-B066-4162-8495-D0150343A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43175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225" b="1">
                <a:solidFill>
                  <a:srgbClr val="101828"/>
                </a:solidFill>
                <a:latin typeface="STHeiti"/>
                <a:ea typeface="STHeiti"/>
                <a:cs typeface="STHeiti"/>
              </a:defRPr>
            </a:pPr>
            <a:r>
              <a:rPr sz="3225" b="1">
                <a:solidFill>
                  <a:srgbClr val="101828"/>
                </a:solidFill>
                <a:latin typeface="STHeiti"/>
                <a:ea typeface="STHeiti"/>
                <a:cs typeface="STHeiti"/>
              </a:rPr>
              <a:t>997亿美元</a:t>
            </a:r>
            <a:endParaRPr sz="3225" b="1">
              <a:solidFill>
                <a:srgbClr val="101828"/>
              </a:solidFill>
              <a:latin typeface="STHeiti"/>
              <a:ea typeface="STHeiti"/>
              <a:cs typeface="STHeiti"/>
            </a:endParaRPr>
          </a:p>
        </p:txBody>
      </p:sp>
      <p:sp>
        <p:nvSpPr>
          <p:cNvPr id="12" name="stage1-metric-label">
            <a:extLst xmlns:a="http://schemas.openxmlformats.org/drawingml/2006/main">
              <a:ext uri="{FF2B5EF4-FFF2-40B4-BE49-F238E27FC236}">
                <a16:creationId xmlns:a16="http://schemas.microsoft.com/office/drawing/2014/main" id="{CB9B553B-BECF-49FC-AEF2-A190E01E4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051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350" b="0">
                <a:solidFill>
                  <a:srgbClr val="667085"/>
                </a:solidFill>
                <a:latin typeface="STHeiti"/>
                <a:ea typeface="STHeiti"/>
                <a:cs typeface="STHeiti"/>
              </a:defRPr>
            </a:pPr>
            <a:r>
              <a:rPr sz="1350" b="0">
                <a:solidFill>
                  <a:srgbClr val="667085"/>
                </a:solidFill>
                <a:latin typeface="STHeiti"/>
                <a:ea typeface="STHeiti"/>
                <a:cs typeface="STHeiti"/>
              </a:rPr>
              <a:t>2026H1中国创新药BD</a:t>
            </a:r>
            <a:endParaRPr sz="1350" b="0">
              <a:solidFill>
                <a:srgbClr val="667085"/>
              </a:solidFill>
              <a:latin typeface="STHeiti"/>
              <a:ea typeface="STHeiti"/>
              <a:cs typeface="STHeiti"/>
            </a:endParaRPr>
          </a:p>
          <a:p xmlns:a="http://schemas.openxmlformats.org/drawingml/2006/main">
            <a:pPr algn="l">
              <a:lnSpc>
                <a:spcPct val="95000"/>
              </a:lnSpc>
              <a:buNone/>
              <a:defRPr sz="1350" b="0">
                <a:solidFill>
                  <a:srgbClr val="667085"/>
                </a:solidFill>
                <a:latin typeface="STHeiti"/>
                <a:ea typeface="STHeiti"/>
                <a:cs typeface="STHeiti"/>
              </a:defRPr>
            </a:pPr>
            <a:r>
              <a:rPr sz="1350" b="0">
                <a:solidFill>
                  <a:srgbClr val="667085"/>
                </a:solidFill>
                <a:latin typeface="STHeiti"/>
                <a:ea typeface="STHeiti"/>
                <a:cs typeface="STHeiti"/>
              </a:rPr>
              <a:t>约为2025全年交易额的73%</a:t>
            </a:r>
            <a:endParaRPr sz="1350" b="0">
              <a:solidFill>
                <a:srgbClr val="667085"/>
              </a:solidFill>
              <a:latin typeface="STHeiti"/>
              <a:ea typeface="STHeiti"/>
              <a:cs typeface="STHeiti"/>
            </a:endParaRPr>
          </a:p>
        </p:txBody>
      </p:sp>
      <p:sp>
        <p:nvSpPr>
          <p:cNvPr id="13" name="stage1-rule">
            <a:extLst xmlns:a="http://schemas.openxmlformats.org/drawingml/2006/main">
              <a:ext uri="{FF2B5EF4-FFF2-40B4-BE49-F238E27FC236}">
                <a16:creationId xmlns:a16="http://schemas.microsoft.com/office/drawing/2014/main" id="{D9DDA23D-19B6-43AE-8D93-2F8F952B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909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4" name="stage1-meaning">
            <a:extLst xmlns:a="http://schemas.openxmlformats.org/drawingml/2006/main">
              <a:ext uri="{FF2B5EF4-FFF2-40B4-BE49-F238E27FC236}">
                <a16:creationId xmlns:a16="http://schemas.microsoft.com/office/drawing/2014/main" id="{C6B486DE-AAAD-4DF6-A648-420EFE11D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0050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650" b="1">
                <a:solidFill>
                  <a:srgbClr val="101828"/>
                </a:solidFill>
                <a:latin typeface="STHeiti"/>
                <a:ea typeface="STHeiti"/>
                <a:cs typeface="STHeiti"/>
              </a:defRPr>
            </a:pPr>
            <a:r>
              <a:rPr sz="1650" b="1">
                <a:solidFill>
                  <a:srgbClr val="101828"/>
                </a:solidFill>
                <a:latin typeface="STHeiti"/>
                <a:ea typeface="STHeiti"/>
                <a:cs typeface="STHeiti"/>
              </a:rPr>
              <a:t>中国创新资产</a:t>
            </a:r>
            <a:endParaRPr sz="1650" b="1">
              <a:solidFill>
                <a:srgbClr val="101828"/>
              </a:solidFill>
              <a:latin typeface="STHeiti"/>
              <a:ea typeface="STHeiti"/>
              <a:cs typeface="STHeiti"/>
            </a:endParaRPr>
          </a:p>
          <a:p xmlns:a="http://schemas.openxmlformats.org/drawingml/2006/main">
            <a:pPr algn="l">
              <a:lnSpc>
                <a:spcPct val="95000"/>
              </a:lnSpc>
              <a:buNone/>
              <a:defRPr sz="1650" b="1">
                <a:solidFill>
                  <a:srgbClr val="101828"/>
                </a:solidFill>
                <a:latin typeface="STHeiti"/>
                <a:ea typeface="STHeiti"/>
                <a:cs typeface="STHeiti"/>
              </a:defRPr>
            </a:pPr>
            <a:r>
              <a:rPr sz="1650" b="1">
                <a:solidFill>
                  <a:srgbClr val="101828"/>
                </a:solidFill>
                <a:latin typeface="STHeiti"/>
                <a:ea typeface="STHeiti"/>
                <a:cs typeface="STHeiti"/>
              </a:rPr>
              <a:t>从“可选”变为“必选”</a:t>
            </a:r>
            <a:endParaRPr sz="1650" b="1">
              <a:solidFill>
                <a:srgbClr val="101828"/>
              </a:solidFill>
              <a:latin typeface="STHeiti"/>
              <a:ea typeface="STHeiti"/>
              <a:cs typeface="STHeiti"/>
            </a:endParaRPr>
          </a:p>
        </p:txBody>
      </p:sp>
      <p:sp>
        <p:nvSpPr>
          <p:cNvPr id="15" name="stage2-head">
            <a:extLst xmlns:a="http://schemas.openxmlformats.org/drawingml/2006/main">
              <a:ext uri="{FF2B5EF4-FFF2-40B4-BE49-F238E27FC236}">
                <a16:creationId xmlns:a16="http://schemas.microsoft.com/office/drawing/2014/main" id="{AE4E15ED-7AAE-4CA2-8AC0-5B7DE5D2D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0383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800" b="1">
                <a:solidFill>
                  <a:srgbClr val="2F6BFF"/>
                </a:solidFill>
                <a:latin typeface="STHeiti"/>
                <a:ea typeface="STHeiti"/>
                <a:cs typeface="STHeiti"/>
              </a:defRPr>
            </a:pPr>
            <a:r>
              <a:rPr sz="1800" b="1">
                <a:solidFill>
                  <a:srgbClr val="2F6BFF"/>
                </a:solidFill>
                <a:latin typeface="STHeiti"/>
                <a:ea typeface="STHeiti"/>
                <a:cs typeface="STHeiti"/>
              </a:rPr>
              <a:t>② 现金回流</a:t>
            </a:r>
            <a:endParaRPr sz="1800" b="1">
              <a:solidFill>
                <a:srgbClr val="2F6BFF"/>
              </a:solidFill>
              <a:latin typeface="STHeiti"/>
              <a:ea typeface="STHeiti"/>
              <a:cs typeface="STHeiti"/>
            </a:endParaRPr>
          </a:p>
        </p:txBody>
      </p:sp>
      <p:sp>
        <p:nvSpPr>
          <p:cNvPr id="16" name="stage2-metric-value">
            <a:extLst xmlns:a="http://schemas.openxmlformats.org/drawingml/2006/main">
              <a:ext uri="{FF2B5EF4-FFF2-40B4-BE49-F238E27FC236}">
                <a16:creationId xmlns:a16="http://schemas.microsoft.com/office/drawing/2014/main" id="{06B8AE83-4368-4D1E-8237-C6085A68C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543175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225" b="1">
                <a:solidFill>
                  <a:srgbClr val="2F6BFF"/>
                </a:solidFill>
                <a:latin typeface="STHeiti"/>
                <a:ea typeface="STHeiti"/>
                <a:cs typeface="STHeiti"/>
              </a:defRPr>
            </a:pPr>
            <a:r>
              <a:rPr sz="3225" b="1">
                <a:solidFill>
                  <a:srgbClr val="2F6BFF"/>
                </a:solidFill>
                <a:latin typeface="STHeiti"/>
                <a:ea typeface="STHeiti"/>
                <a:cs typeface="STHeiti"/>
              </a:rPr>
              <a:t>≈60亿美元</a:t>
            </a:r>
            <a:endParaRPr sz="3225" b="1">
              <a:solidFill>
                <a:srgbClr val="2F6BFF"/>
              </a:solidFill>
              <a:latin typeface="STHeiti"/>
              <a:ea typeface="STHeiti"/>
              <a:cs typeface="STHeiti"/>
            </a:endParaRPr>
          </a:p>
        </p:txBody>
      </p:sp>
      <p:sp>
        <p:nvSpPr>
          <p:cNvPr id="17" name="stage2-metric-label">
            <a:extLst xmlns:a="http://schemas.openxmlformats.org/drawingml/2006/main">
              <a:ext uri="{FF2B5EF4-FFF2-40B4-BE49-F238E27FC236}">
                <a16:creationId xmlns:a16="http://schemas.microsoft.com/office/drawing/2014/main" id="{BA6178AB-6D83-479E-AB9D-9FCE1DB6F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1051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350" b="0">
                <a:solidFill>
                  <a:srgbClr val="667085"/>
                </a:solidFill>
                <a:latin typeface="STHeiti"/>
                <a:ea typeface="STHeiti"/>
                <a:cs typeface="STHeiti"/>
              </a:defRPr>
            </a:pPr>
            <a:r>
              <a:rPr sz="1350" b="0">
                <a:solidFill>
                  <a:srgbClr val="667085"/>
                </a:solidFill>
                <a:latin typeface="STHeiti"/>
                <a:ea typeface="STHeiti"/>
                <a:cs typeface="STHeiti"/>
              </a:rPr>
              <a:t>2026H1 BD首付款</a:t>
            </a:r>
            <a:endParaRPr sz="1350" b="0">
              <a:solidFill>
                <a:srgbClr val="667085"/>
              </a:solidFill>
              <a:latin typeface="STHeiti"/>
              <a:ea typeface="STHeiti"/>
              <a:cs typeface="STHeiti"/>
            </a:endParaRPr>
          </a:p>
          <a:p xmlns:a="http://schemas.openxmlformats.org/drawingml/2006/main">
            <a:pPr algn="l">
              <a:lnSpc>
                <a:spcPct val="95000"/>
              </a:lnSpc>
              <a:buNone/>
              <a:defRPr sz="1350" b="0">
                <a:solidFill>
                  <a:srgbClr val="667085"/>
                </a:solidFill>
                <a:latin typeface="STHeiti"/>
                <a:ea typeface="STHeiti"/>
                <a:cs typeface="STHeiti"/>
              </a:defRPr>
            </a:pPr>
            <a:r>
              <a:rPr sz="1350" b="0">
                <a:solidFill>
                  <a:srgbClr val="667085"/>
                </a:solidFill>
                <a:latin typeface="STHeiti"/>
                <a:ea typeface="STHeiti"/>
                <a:cs typeface="STHeiti"/>
              </a:rPr>
              <a:t>同比增长超过100%</a:t>
            </a:r>
            <a:endParaRPr sz="1350" b="0">
              <a:solidFill>
                <a:srgbClr val="667085"/>
              </a:solidFill>
              <a:latin typeface="STHeiti"/>
              <a:ea typeface="STHeiti"/>
              <a:cs typeface="STHeiti"/>
            </a:endParaRPr>
          </a:p>
        </p:txBody>
      </p:sp>
      <p:sp>
        <p:nvSpPr>
          <p:cNvPr id="18" name="stage2-rule">
            <a:extLst xmlns:a="http://schemas.openxmlformats.org/drawingml/2006/main">
              <a:ext uri="{FF2B5EF4-FFF2-40B4-BE49-F238E27FC236}">
                <a16:creationId xmlns:a16="http://schemas.microsoft.com/office/drawing/2014/main" id="{77B18C46-CB0F-4F40-AC55-549EEB738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7909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FC3FF"/>
            </a:solidFill>
            <a:prstDash val="solid"/>
          </a:ln>
        </p:spPr>
      </p:sp>
      <p:sp>
        <p:nvSpPr>
          <p:cNvPr id="19" name="stage2-meaning">
            <a:extLst xmlns:a="http://schemas.openxmlformats.org/drawingml/2006/main">
              <a:ext uri="{FF2B5EF4-FFF2-40B4-BE49-F238E27FC236}">
                <a16:creationId xmlns:a16="http://schemas.microsoft.com/office/drawing/2014/main" id="{FE279122-4292-4349-BD1A-0B6CC78C2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00050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650" b="1">
                <a:solidFill>
                  <a:srgbClr val="101828"/>
                </a:solidFill>
                <a:latin typeface="STHeiti"/>
                <a:ea typeface="STHeiti"/>
                <a:cs typeface="STHeiti"/>
              </a:defRPr>
            </a:pPr>
            <a:r>
              <a:rPr sz="1650" b="1">
                <a:solidFill>
                  <a:srgbClr val="101828"/>
                </a:solidFill>
                <a:latin typeface="STHeiti"/>
                <a:ea typeface="STHeiti"/>
                <a:cs typeface="STHeiti"/>
              </a:rPr>
              <a:t>授权收入改善现金流</a:t>
            </a:r>
            <a:endParaRPr sz="1650" b="1">
              <a:solidFill>
                <a:srgbClr val="101828"/>
              </a:solidFill>
              <a:latin typeface="STHeiti"/>
              <a:ea typeface="STHeiti"/>
              <a:cs typeface="STHeiti"/>
            </a:endParaRPr>
          </a:p>
          <a:p xmlns:a="http://schemas.openxmlformats.org/drawingml/2006/main">
            <a:pPr algn="l">
              <a:lnSpc>
                <a:spcPct val="95000"/>
              </a:lnSpc>
              <a:buNone/>
              <a:defRPr sz="1650" b="1">
                <a:solidFill>
                  <a:srgbClr val="101828"/>
                </a:solidFill>
                <a:latin typeface="STHeiti"/>
                <a:ea typeface="STHeiti"/>
                <a:cs typeface="STHeiti"/>
              </a:defRPr>
            </a:pPr>
            <a:r>
              <a:rPr sz="1650" b="1">
                <a:solidFill>
                  <a:srgbClr val="101828"/>
                </a:solidFill>
                <a:latin typeface="STHeiti"/>
                <a:ea typeface="STHeiti"/>
                <a:cs typeface="STHeiti"/>
              </a:rPr>
              <a:t>并反哺下一轮研发</a:t>
            </a:r>
            <a:endParaRPr sz="1650" b="1">
              <a:solidFill>
                <a:srgbClr val="101828"/>
              </a:solidFill>
              <a:latin typeface="STHeiti"/>
              <a:ea typeface="STHeiti"/>
              <a:cs typeface="STHeiti"/>
            </a:endParaRPr>
          </a:p>
        </p:txBody>
      </p:sp>
      <p:sp>
        <p:nvSpPr>
          <p:cNvPr id="20" name="stage3-head">
            <a:extLst xmlns:a="http://schemas.openxmlformats.org/drawingml/2006/main">
              <a:ext uri="{FF2B5EF4-FFF2-40B4-BE49-F238E27FC236}">
                <a16:creationId xmlns:a16="http://schemas.microsoft.com/office/drawing/2014/main" id="{F14F7132-AD0A-4E3C-AAC6-C9C0CE2C2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0383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800" b="1">
                <a:solidFill>
                  <a:srgbClr val="0E9F8A"/>
                </a:solidFill>
                <a:latin typeface="STHeiti"/>
                <a:ea typeface="STHeiti"/>
                <a:cs typeface="STHeiti"/>
              </a:defRPr>
            </a:pPr>
            <a:r>
              <a:rPr sz="1800" b="1">
                <a:solidFill>
                  <a:srgbClr val="0E9F8A"/>
                </a:solidFill>
                <a:latin typeface="STHeiti"/>
                <a:ea typeface="STHeiti"/>
                <a:cs typeface="STHeiti"/>
              </a:rPr>
              <a:t>③ 盈利兑现</a:t>
            </a:r>
            <a:endParaRPr sz="1800" b="1">
              <a:solidFill>
                <a:srgbClr val="0E9F8A"/>
              </a:solidFill>
              <a:latin typeface="STHeiti"/>
              <a:ea typeface="STHeiti"/>
              <a:cs typeface="STHeiti"/>
            </a:endParaRPr>
          </a:p>
        </p:txBody>
      </p:sp>
      <p:sp>
        <p:nvSpPr>
          <p:cNvPr id="21" name="stage3-metric-value">
            <a:extLst xmlns:a="http://schemas.openxmlformats.org/drawingml/2006/main">
              <a:ext uri="{FF2B5EF4-FFF2-40B4-BE49-F238E27FC236}">
                <a16:creationId xmlns:a16="http://schemas.microsoft.com/office/drawing/2014/main" id="{678F8826-B882-4C4B-AB20-C7262953A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543175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225" b="1">
                <a:solidFill>
                  <a:srgbClr val="0E9F8A"/>
                </a:solidFill>
                <a:latin typeface="STHeiti"/>
                <a:ea typeface="STHeiti"/>
                <a:cs typeface="STHeiti"/>
              </a:defRPr>
            </a:pPr>
            <a:r>
              <a:rPr sz="3225" b="1">
                <a:solidFill>
                  <a:srgbClr val="0E9F8A"/>
                </a:solidFill>
                <a:latin typeface="STHeiti"/>
                <a:ea typeface="STHeiti"/>
                <a:cs typeface="STHeiti"/>
              </a:rPr>
              <a:t>664亿元</a:t>
            </a:r>
            <a:endParaRPr sz="3225" b="1">
              <a:solidFill>
                <a:srgbClr val="0E9F8A"/>
              </a:solidFill>
              <a:latin typeface="STHeiti"/>
              <a:ea typeface="STHeiti"/>
              <a:cs typeface="STHeiti"/>
            </a:endParaRPr>
          </a:p>
        </p:txBody>
      </p:sp>
      <p:sp>
        <p:nvSpPr>
          <p:cNvPr id="22" name="stage3-metric-label">
            <a:extLst xmlns:a="http://schemas.openxmlformats.org/drawingml/2006/main">
              <a:ext uri="{FF2B5EF4-FFF2-40B4-BE49-F238E27FC236}">
                <a16:creationId xmlns:a16="http://schemas.microsoft.com/office/drawing/2014/main" id="{B7EEBA1B-D5CF-4C45-B949-7FBBFD73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1051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350" b="0">
                <a:solidFill>
                  <a:srgbClr val="667085"/>
                </a:solidFill>
                <a:latin typeface="STHeiti"/>
                <a:ea typeface="STHeiti"/>
                <a:cs typeface="STHeiti"/>
              </a:defRPr>
            </a:pPr>
            <a:r>
              <a:rPr sz="1350" b="0">
                <a:solidFill>
                  <a:srgbClr val="667085"/>
                </a:solidFill>
                <a:latin typeface="STHeiti"/>
                <a:ea typeface="STHeiti"/>
                <a:cs typeface="STHeiti"/>
              </a:rPr>
              <a:t>药明康德持续经营业务在手订单</a:t>
            </a:r>
            <a:endParaRPr sz="1350" b="0">
              <a:solidFill>
                <a:srgbClr val="667085"/>
              </a:solidFill>
              <a:latin typeface="STHeiti"/>
              <a:ea typeface="STHeiti"/>
              <a:cs typeface="STHeiti"/>
            </a:endParaRPr>
          </a:p>
          <a:p xmlns:a="http://schemas.openxmlformats.org/drawingml/2006/main">
            <a:pPr algn="l">
              <a:lnSpc>
                <a:spcPct val="95000"/>
              </a:lnSpc>
              <a:buNone/>
              <a:defRPr sz="1350" b="0">
                <a:solidFill>
                  <a:srgbClr val="667085"/>
                </a:solidFill>
                <a:latin typeface="STHeiti"/>
                <a:ea typeface="STHeiti"/>
                <a:cs typeface="STHeiti"/>
              </a:defRPr>
            </a:pPr>
            <a:r>
              <a:rPr sz="1350" b="0">
                <a:solidFill>
                  <a:srgbClr val="667085"/>
                </a:solidFill>
                <a:latin typeface="STHeiti"/>
                <a:ea typeface="STHeiti"/>
                <a:cs typeface="STHeiti"/>
              </a:rPr>
              <a:t>同比增长25.2%</a:t>
            </a:r>
            <a:endParaRPr sz="1350" b="0">
              <a:solidFill>
                <a:srgbClr val="667085"/>
              </a:solidFill>
              <a:latin typeface="STHeiti"/>
              <a:ea typeface="STHeiti"/>
              <a:cs typeface="STHeiti"/>
            </a:endParaRPr>
          </a:p>
        </p:txBody>
      </p:sp>
      <p:sp>
        <p:nvSpPr>
          <p:cNvPr id="23" name="stage3-rule">
            <a:extLst xmlns:a="http://schemas.openxmlformats.org/drawingml/2006/main">
              <a:ext uri="{FF2B5EF4-FFF2-40B4-BE49-F238E27FC236}">
                <a16:creationId xmlns:a16="http://schemas.microsoft.com/office/drawing/2014/main" id="{EB4BA2BC-BD2C-4F30-B945-32C95CEA1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7909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4" name="stage3-meaning">
            <a:extLst xmlns:a="http://schemas.openxmlformats.org/drawingml/2006/main">
              <a:ext uri="{FF2B5EF4-FFF2-40B4-BE49-F238E27FC236}">
                <a16:creationId xmlns:a16="http://schemas.microsoft.com/office/drawing/2014/main" id="{8C67CE14-26B5-42D4-BE8A-91A762C33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00050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650" b="1">
                <a:solidFill>
                  <a:srgbClr val="101828"/>
                </a:solidFill>
                <a:latin typeface="STHeiti"/>
                <a:ea typeface="STHeiti"/>
                <a:cs typeface="STHeiti"/>
              </a:defRPr>
            </a:pPr>
            <a:r>
              <a:rPr sz="1650" b="1">
                <a:solidFill>
                  <a:srgbClr val="101828"/>
                </a:solidFill>
                <a:latin typeface="STHeiti"/>
                <a:ea typeface="STHeiti"/>
                <a:cs typeface="STHeiti"/>
              </a:rPr>
              <a:t>持续经营收入 +48%</a:t>
            </a:r>
            <a:endParaRPr sz="1650" b="1">
              <a:solidFill>
                <a:srgbClr val="101828"/>
              </a:solidFill>
              <a:latin typeface="STHeiti"/>
              <a:ea typeface="STHeiti"/>
              <a:cs typeface="STHeiti"/>
            </a:endParaRPr>
          </a:p>
          <a:p xmlns:a="http://schemas.openxmlformats.org/drawingml/2006/main">
            <a:pPr algn="l">
              <a:lnSpc>
                <a:spcPct val="95000"/>
              </a:lnSpc>
              <a:buNone/>
              <a:defRPr sz="1650" b="1">
                <a:solidFill>
                  <a:srgbClr val="101828"/>
                </a:solidFill>
                <a:latin typeface="STHeiti"/>
                <a:ea typeface="STHeiti"/>
                <a:cs typeface="STHeiti"/>
              </a:defRPr>
            </a:pPr>
            <a:r>
              <a:rPr sz="1650" b="1">
                <a:solidFill>
                  <a:srgbClr val="101828"/>
                </a:solidFill>
                <a:latin typeface="STHeiti"/>
                <a:ea typeface="STHeiti"/>
                <a:cs typeface="STHeiti"/>
              </a:rPr>
              <a:t>经营现金流 +41.3%</a:t>
            </a:r>
            <a:endParaRPr sz="1650" b="1">
              <a:solidFill>
                <a:srgbClr val="101828"/>
              </a:solidFill>
              <a:latin typeface="STHeiti"/>
              <a:ea typeface="STHeiti"/>
              <a:cs typeface="STHeiti"/>
            </a:endParaRPr>
          </a:p>
        </p:txBody>
      </p:sp>
      <p:sp>
        <p:nvSpPr>
          <p:cNvPr id="25" name="thesis-banner-1">
            <a:extLst xmlns:a="http://schemas.openxmlformats.org/drawingml/2006/main">
              <a:ext uri="{FF2B5EF4-FFF2-40B4-BE49-F238E27FC236}">
                <a16:creationId xmlns:a16="http://schemas.microsoft.com/office/drawing/2014/main" id="{324AED86-9E8F-4EFB-A6A6-4886C997B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91125"/>
            <a:ext cx="112776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hesis-1">
            <a:extLst xmlns:a="http://schemas.openxmlformats.org/drawingml/2006/main">
              <a:ext uri="{FF2B5EF4-FFF2-40B4-BE49-F238E27FC236}">
                <a16:creationId xmlns:a16="http://schemas.microsoft.com/office/drawing/2014/main" id="{BFEA688A-8019-4AF1-BB34-928B9838B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381625"/>
            <a:ext cx="1072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2100" b="1">
                <a:solidFill>
                  <a:srgbClr val="FFFFFF"/>
                </a:solidFill>
                <a:latin typeface="STHeiti"/>
                <a:ea typeface="STHeiti"/>
                <a:cs typeface="STHeiti"/>
              </a:defRPr>
            </a:pPr>
            <a:r>
              <a:rPr sz="2100" b="1">
                <a:solidFill>
                  <a:srgbClr val="FFFFFF"/>
                </a:solidFill>
                <a:latin typeface="STHeiti"/>
                <a:ea typeface="STHeiti"/>
                <a:cs typeface="STHeiti"/>
              </a:rPr>
              <a:t>行业Beta</a:t>
            </a:r>
            <a:r>
              <a:rPr sz="2100" b="1">
                <a:solidFill>
                  <a:srgbClr val="FFFFFF"/>
                </a:solidFill>
                <a:latin typeface="STHeiti"/>
                <a:ea typeface="STHeiti"/>
                <a:cs typeface="STHeiti"/>
              </a:rPr>
              <a:t>性机会成立</a:t>
            </a:r>
            <a:r>
              <a:rPr sz="2100" b="1">
                <a:solidFill>
                  <a:srgbClr val="FFFFFF"/>
                </a:solidFill>
                <a:latin typeface="STHeiti"/>
                <a:ea typeface="STHeiti"/>
                <a:cs typeface="STHeiti"/>
              </a:rPr>
              <a:t>：</a:t>
            </a:r>
            <a:r>
              <a:rPr sz="2100" b="1">
                <a:solidFill>
                  <a:srgbClr val="FFFFFF"/>
                </a:solidFill>
                <a:latin typeface="STHeiti"/>
                <a:ea typeface="STHeiti"/>
                <a:cs typeface="STHeiti"/>
              </a:rPr>
              <a:t>2026年开始交易盈利与估值的“戴维斯双击”</a:t>
            </a:r>
            <a:endParaRPr sz="2100" b="1">
              <a:solidFill>
                <a:srgbClr val="FFFFFF"/>
              </a:solidFill>
              <a:latin typeface="STHeiti"/>
              <a:ea typeface="STHeiti"/>
              <a:cs typeface="STHeiti"/>
            </a:endParaRPr>
          </a:p>
        </p:txBody>
      </p:sp>
      <p:sp>
        <p:nvSpPr>
          <p:cNvPr id="27" name="footer-rule-1">
            <a:extLst xmlns:a="http://schemas.openxmlformats.org/drawingml/2006/main">
              <a:ext uri="{FF2B5EF4-FFF2-40B4-BE49-F238E27FC236}">
                <a16:creationId xmlns:a16="http://schemas.microsoft.com/office/drawing/2014/main" id="{716A363F-158C-493D-BF6A-E7632F420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0077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8" name="source-1">
            <a:extLst xmlns:a="http://schemas.openxmlformats.org/drawingml/2006/main">
              <a:ext uri="{FF2B5EF4-FFF2-40B4-BE49-F238E27FC236}">
                <a16:creationId xmlns:a16="http://schemas.microsoft.com/office/drawing/2014/main" id="{CCFBAEA1-94DB-41B5-BE27-C24A86046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1062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865" b="0">
                <a:solidFill>
                  <a:srgbClr val="667085"/>
                </a:solidFill>
                <a:latin typeface="STHeiti"/>
                <a:ea typeface="STHeiti"/>
                <a:cs typeface="STHeiti"/>
              </a:defRPr>
            </a:pPr>
            <a:r>
              <a:rPr sz="865" b="0">
                <a:solidFill>
                  <a:srgbClr val="667085"/>
                </a:solidFill>
                <a:latin typeface="STHeiti"/>
                <a:ea typeface="STHeiti"/>
                <a:cs typeface="STHeiti"/>
              </a:rPr>
              <a:t>来源：国家医保局；国金</a:t>
            </a:r>
            <a:r>
              <a:rPr sz="865" b="0">
                <a:solidFill>
                  <a:srgbClr val="667085"/>
                </a:solidFill>
                <a:latin typeface="STHeiti"/>
                <a:ea typeface="STHeiti"/>
                <a:cs typeface="STHeiti"/>
              </a:rPr>
              <a:t>证券</a:t>
            </a:r>
            <a:r>
              <a:rPr sz="865" b="0">
                <a:solidFill>
                  <a:srgbClr val="667085"/>
                </a:solidFill>
                <a:latin typeface="STHeiti"/>
                <a:ea typeface="STHeiti"/>
                <a:cs typeface="STHeiti"/>
              </a:rPr>
              <a:t>；</a:t>
            </a:r>
            <a:r>
              <a:rPr sz="865" b="0">
                <a:solidFill>
                  <a:srgbClr val="667085"/>
                </a:solidFill>
                <a:latin typeface="STHeiti"/>
                <a:ea typeface="STHeiti"/>
                <a:cs typeface="STHeiti"/>
              </a:rPr>
              <a:t>浙商证券</a:t>
            </a:r>
            <a:r>
              <a:rPr sz="865" b="0">
                <a:solidFill>
                  <a:srgbClr val="667085"/>
                </a:solidFill>
                <a:latin typeface="STHeiti"/>
                <a:ea typeface="STHeiti"/>
                <a:cs typeface="STHeiti"/>
              </a:rPr>
              <a:t>；</a:t>
            </a:r>
            <a:r>
              <a:rPr sz="865" b="0">
                <a:solidFill>
                  <a:srgbClr val="667085"/>
                </a:solidFill>
                <a:latin typeface="STHeiti"/>
                <a:ea typeface="STHeiti"/>
                <a:cs typeface="STHeiti"/>
              </a:rPr>
              <a:t>药明康德</a:t>
            </a:r>
            <a:endParaRPr sz="865" b="0">
              <a:solidFill>
                <a:srgbClr val="667085"/>
              </a:solidFill>
              <a:latin typeface="STHeiti"/>
              <a:ea typeface="STHeiti"/>
              <a:cs typeface="STHeiti"/>
            </a:endParaRPr>
          </a:p>
        </p:txBody>
      </p:sp>
      <p:sp>
        <p:nvSpPr>
          <p:cNvPr id="29" name="page-1">
            <a:extLst xmlns:a="http://schemas.openxmlformats.org/drawingml/2006/main">
              <a:ext uri="{FF2B5EF4-FFF2-40B4-BE49-F238E27FC236}">
                <a16:creationId xmlns:a16="http://schemas.microsoft.com/office/drawing/2014/main" id="{E2B60BD2-050B-4478-9FA9-D27613CDE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5000"/>
              </a:lnSpc>
              <a:buNone/>
              <a:defRPr sz="975" b="1">
                <a:solidFill>
                  <a:srgbClr val="667085"/>
                </a:solidFill>
                <a:latin typeface="STHeiti"/>
                <a:ea typeface="STHeiti"/>
                <a:cs typeface="STHeiti"/>
              </a:defRPr>
            </a:pPr>
            <a:r>
              <a:rPr sz="975" b="1">
                <a:solidFill>
                  <a:srgbClr val="667085"/>
                </a:solidFill>
                <a:latin typeface="STHeiti"/>
                <a:ea typeface="STHeiti"/>
                <a:cs typeface="STHeiti"/>
              </a:rPr>
              <a:t>01</a:t>
            </a:r>
            <a:endParaRPr sz="975" b="1">
              <a:solidFill>
                <a:srgbClr val="667085"/>
              </a:solidFill>
              <a:latin typeface="STHeiti"/>
              <a:ea typeface="STHeiti"/>
              <a:cs typeface="STHeiti"/>
            </a:endParaRPr>
          </a:p>
        </p:txBody>
      </p:sp>
    </p:spTree>
    <p:extLst>
      <p:ext uri="{BB962C8B-B14F-4D97-AF65-F5344CB8AC3E}">
        <p14:creationId xmlns:p14="http://schemas.microsoft.com/office/powerpoint/2010/main" val="6356697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7169CE78-FA49-450C-9613-1C8A0D9A1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101828"/>
                </a:solidFill>
                <a:latin typeface="STHeiti"/>
                <a:ea typeface="STHeiti"/>
                <a:cs typeface="STHeiti"/>
              </a:defRPr>
            </a:pPr>
            <a:r>
              <a:rPr sz="3600" b="1">
                <a:solidFill>
                  <a:srgbClr val="101828"/>
                </a:solidFill>
                <a:latin typeface="STHeiti"/>
                <a:ea typeface="STHeiti"/>
                <a:cs typeface="STHeiti"/>
              </a:rPr>
              <a:t>2026年医药行情大概率强于2025年Q3</a:t>
            </a:r>
            <a:endParaRPr sz="3600" b="1">
              <a:solidFill>
                <a:srgbClr val="101828"/>
              </a:solidFill>
              <a:latin typeface="STHeiti"/>
              <a:ea typeface="STHeiti"/>
              <a:cs typeface="STHeiti"/>
            </a:endParaRPr>
          </a:p>
        </p:txBody>
      </p:sp>
      <p:sp>
        <p:nvSpPr>
          <p:cNvPr id="3" name="accent-2">
            <a:extLst xmlns:a="http://schemas.openxmlformats.org/drawingml/2006/main">
              <a:ext uri="{FF2B5EF4-FFF2-40B4-BE49-F238E27FC236}">
                <a16:creationId xmlns:a16="http://schemas.microsoft.com/office/drawing/2014/main" id="{94859C0A-3E1E-4348-88A7-C52A0819A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2050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F6BFF"/>
            </a:solidFill>
            <a:prstDash val="solid"/>
          </a:ln>
        </p:spPr>
      </p:sp>
      <p:sp>
        <p:nvSpPr>
          <p:cNvPr id="5" name="chart-caption-2">
            <a:extLst xmlns:a="http://schemas.openxmlformats.org/drawingml/2006/main">
              <a:ext uri="{FF2B5EF4-FFF2-40B4-BE49-F238E27FC236}">
                <a16:creationId xmlns:a16="http://schemas.microsoft.com/office/drawing/2014/main" id="{296DDF03-98CB-453E-9949-723B17098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763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 b="1">
                <a:solidFill>
                  <a:srgbClr val="667085"/>
                </a:solidFill>
                <a:latin typeface="STHeiti"/>
                <a:ea typeface="STHeiti"/>
                <a:cs typeface="STHeiti"/>
              </a:defRPr>
            </a:pPr>
            <a:r>
              <a:rPr sz="1275" b="1">
                <a:solidFill>
                  <a:srgbClr val="667085"/>
                </a:solidFill>
                <a:latin typeface="STHeiti"/>
                <a:ea typeface="STHeiti"/>
                <a:cs typeface="STHeiti"/>
              </a:rPr>
              <a:t>为什么2025更像轮动，2026更可能形成持续Alpha</a:t>
            </a:r>
            <a:endParaRPr sz="1275" b="1">
              <a:solidFill>
                <a:srgbClr val="667085"/>
              </a:solidFill>
              <a:latin typeface="STHeiti"/>
              <a:ea typeface="STHeiti"/>
              <a:cs typeface="STHeiti"/>
            </a:endParaRPr>
          </a:p>
        </p:txBody>
      </p:sp>
      <p:sp>
        <p:nvSpPr>
          <p:cNvPr id="7" name="logic-card-1">
            <a:extLst xmlns:a="http://schemas.openxmlformats.org/drawingml/2006/main">
              <a:ext uri="{FF2B5EF4-FFF2-40B4-BE49-F238E27FC236}">
                <a16:creationId xmlns:a16="http://schemas.microsoft.com/office/drawing/2014/main" id="{2F851399-7AD1-4C32-82FC-394414205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333500"/>
            <a:ext cx="46672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logic-title-1">
            <a:extLst xmlns:a="http://schemas.openxmlformats.org/drawingml/2006/main">
              <a:ext uri="{FF2B5EF4-FFF2-40B4-BE49-F238E27FC236}">
                <a16:creationId xmlns:a16="http://schemas.microsoft.com/office/drawing/2014/main" id="{FF0920AA-A9D0-4907-BF2B-D2E211ACE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53352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575" b="1">
                <a:solidFill>
                  <a:srgbClr val="2F6BFF"/>
                </a:solidFill>
                <a:latin typeface="STHeiti"/>
                <a:ea typeface="STHeiti"/>
                <a:cs typeface="STHeiti"/>
              </a:defRPr>
            </a:pPr>
            <a:r>
              <a:rPr sz="1575" b="1">
                <a:solidFill>
                  <a:srgbClr val="2F6BFF"/>
                </a:solidFill>
                <a:latin typeface="STHeiti"/>
                <a:ea typeface="STHeiti"/>
                <a:cs typeface="STHeiti"/>
              </a:rPr>
              <a:t>① 独立于大盘</a:t>
            </a:r>
            <a:endParaRPr sz="1575" b="1">
              <a:solidFill>
                <a:srgbClr val="2F6BFF"/>
              </a:solidFill>
              <a:latin typeface="STHeiti"/>
              <a:ea typeface="STHeiti"/>
              <a:cs typeface="STHeiti"/>
            </a:endParaRPr>
          </a:p>
        </p:txBody>
      </p:sp>
      <p:sp>
        <p:nvSpPr>
          <p:cNvPr id="9" name="logic-main-1">
            <a:extLst xmlns:a="http://schemas.openxmlformats.org/drawingml/2006/main">
              <a:ext uri="{FF2B5EF4-FFF2-40B4-BE49-F238E27FC236}">
                <a16:creationId xmlns:a16="http://schemas.microsoft.com/office/drawing/2014/main" id="{D39E9EB1-F6FA-4A5A-9C9F-21FF3B9BE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76425"/>
            <a:ext cx="4048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875" b="1">
                <a:solidFill>
                  <a:srgbClr val="101828"/>
                </a:solidFill>
                <a:latin typeface="STHeiti"/>
                <a:ea typeface="STHeiti"/>
                <a:cs typeface="STHeiti"/>
              </a:defRPr>
            </a:pPr>
            <a:r>
              <a:rPr sz="1875" b="1">
                <a:solidFill>
                  <a:srgbClr val="101828"/>
                </a:solidFill>
                <a:latin typeface="STHeiti"/>
                <a:ea typeface="STHeiti"/>
                <a:cs typeface="STHeiti"/>
              </a:rPr>
              <a:t>已满足  ✓</a:t>
            </a:r>
            <a:endParaRPr sz="1875" b="1">
              <a:solidFill>
                <a:srgbClr val="101828"/>
              </a:solidFill>
              <a:latin typeface="STHeiti"/>
              <a:ea typeface="STHeiti"/>
              <a:cs typeface="STHeiti"/>
            </a:endParaRPr>
          </a:p>
        </p:txBody>
      </p:sp>
      <p:sp>
        <p:nvSpPr>
          <p:cNvPr id="10" name="logic-sub-1">
            <a:extLst xmlns:a="http://schemas.openxmlformats.org/drawingml/2006/main">
              <a:ext uri="{FF2B5EF4-FFF2-40B4-BE49-F238E27FC236}">
                <a16:creationId xmlns:a16="http://schemas.microsoft.com/office/drawing/2014/main" id="{2B393D38-B160-4898-98AB-16306276F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228850"/>
            <a:ext cx="4048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00" b="0">
                <a:solidFill>
                  <a:srgbClr val="667085"/>
                </a:solidFill>
                <a:latin typeface="STHeiti"/>
                <a:ea typeface="STHeiti"/>
                <a:cs typeface="STHeiti"/>
              </a:defRPr>
            </a:pPr>
            <a:r>
              <a:rPr sz="1200" b="0">
                <a:solidFill>
                  <a:srgbClr val="667085"/>
                </a:solidFill>
                <a:latin typeface="STHeiti"/>
                <a:ea typeface="STHeiti"/>
                <a:cs typeface="STHeiti"/>
              </a:rPr>
              <a:t>大盘-5.6%，医药+9.9%；超额+15.5pp</a:t>
            </a:r>
            <a:endParaRPr sz="1200" b="0">
              <a:solidFill>
                <a:srgbClr val="667085"/>
              </a:solidFill>
              <a:latin typeface="STHeiti"/>
              <a:ea typeface="STHeiti"/>
              <a:cs typeface="STHeiti"/>
            </a:endParaRPr>
          </a:p>
        </p:txBody>
      </p:sp>
      <p:sp>
        <p:nvSpPr>
          <p:cNvPr id="11" name="logic-card-2">
            <a:extLst xmlns:a="http://schemas.openxmlformats.org/drawingml/2006/main">
              <a:ext uri="{FF2B5EF4-FFF2-40B4-BE49-F238E27FC236}">
                <a16:creationId xmlns:a16="http://schemas.microsoft.com/office/drawing/2014/main" id="{F50CD5E5-911C-4604-9202-B11842801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657475"/>
            <a:ext cx="46672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logic-title-2">
            <a:extLst xmlns:a="http://schemas.openxmlformats.org/drawingml/2006/main">
              <a:ext uri="{FF2B5EF4-FFF2-40B4-BE49-F238E27FC236}">
                <a16:creationId xmlns:a16="http://schemas.microsoft.com/office/drawing/2014/main" id="{EC691FB5-641C-4C42-AA94-A03BC2C70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8575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575" b="1">
                <a:solidFill>
                  <a:srgbClr val="2F6BFF"/>
                </a:solidFill>
                <a:latin typeface="STHeiti"/>
                <a:ea typeface="STHeiti"/>
                <a:cs typeface="STHeiti"/>
              </a:defRPr>
            </a:pPr>
            <a:r>
              <a:rPr sz="1575" b="1">
                <a:solidFill>
                  <a:srgbClr val="2F6BFF"/>
                </a:solidFill>
                <a:latin typeface="STHeiti"/>
                <a:ea typeface="STHeiti"/>
                <a:cs typeface="STHeiti"/>
              </a:rPr>
              <a:t>② 盈利持续上修</a:t>
            </a:r>
            <a:endParaRPr sz="1575" b="1">
              <a:solidFill>
                <a:srgbClr val="2F6BFF"/>
              </a:solidFill>
              <a:latin typeface="STHeiti"/>
              <a:ea typeface="STHeiti"/>
              <a:cs typeface="STHeiti"/>
            </a:endParaRPr>
          </a:p>
        </p:txBody>
      </p:sp>
      <p:sp>
        <p:nvSpPr>
          <p:cNvPr id="13" name="logic-main-2">
            <a:extLst xmlns:a="http://schemas.openxmlformats.org/drawingml/2006/main">
              <a:ext uri="{FF2B5EF4-FFF2-40B4-BE49-F238E27FC236}">
                <a16:creationId xmlns:a16="http://schemas.microsoft.com/office/drawing/2014/main" id="{B3059B9B-2464-4BA2-B38F-9A7D560E0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200400"/>
            <a:ext cx="4048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875" b="1">
                <a:solidFill>
                  <a:srgbClr val="101828"/>
                </a:solidFill>
                <a:latin typeface="STHeiti"/>
                <a:ea typeface="STHeiti"/>
                <a:cs typeface="STHeiti"/>
              </a:defRPr>
            </a:pPr>
            <a:r>
              <a:rPr sz="1875" b="1">
                <a:solidFill>
                  <a:srgbClr val="101828"/>
                </a:solidFill>
                <a:latin typeface="STHeiti"/>
                <a:ea typeface="STHeiti"/>
                <a:cs typeface="STHeiti"/>
              </a:rPr>
              <a:t>已满足  ✓</a:t>
            </a:r>
            <a:endParaRPr sz="1875" b="1">
              <a:solidFill>
                <a:srgbClr val="101828"/>
              </a:solidFill>
              <a:latin typeface="STHeiti"/>
              <a:ea typeface="STHeiti"/>
              <a:cs typeface="STHeiti"/>
            </a:endParaRPr>
          </a:p>
        </p:txBody>
      </p:sp>
      <p:sp>
        <p:nvSpPr>
          <p:cNvPr id="14" name="logic-sub-2">
            <a:extLst xmlns:a="http://schemas.openxmlformats.org/drawingml/2006/main">
              <a:ext uri="{FF2B5EF4-FFF2-40B4-BE49-F238E27FC236}">
                <a16:creationId xmlns:a16="http://schemas.microsoft.com/office/drawing/2014/main" id="{78864D5E-7DEF-4483-8439-A1E96C2B0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552825"/>
            <a:ext cx="4048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00" b="0">
                <a:solidFill>
                  <a:srgbClr val="667085"/>
                </a:solidFill>
                <a:latin typeface="STHeiti"/>
                <a:ea typeface="STHeiti"/>
                <a:cs typeface="STHeiti"/>
              </a:defRPr>
            </a:pPr>
            <a:r>
              <a:rPr sz="1200" b="0">
                <a:solidFill>
                  <a:srgbClr val="667085"/>
                </a:solidFill>
                <a:latin typeface="STHeiti"/>
                <a:ea typeface="STHeiti"/>
                <a:cs typeface="STHeiti"/>
              </a:rPr>
              <a:t>BD翻倍，收入与现金流进入报表</a:t>
            </a:r>
            <a:endParaRPr sz="1200" b="0">
              <a:solidFill>
                <a:srgbClr val="667085"/>
              </a:solidFill>
              <a:latin typeface="STHeiti"/>
              <a:ea typeface="STHeiti"/>
              <a:cs typeface="STHeiti"/>
            </a:endParaRPr>
          </a:p>
        </p:txBody>
      </p:sp>
      <p:sp>
        <p:nvSpPr>
          <p:cNvPr id="15" name="logic-card-3">
            <a:extLst xmlns:a="http://schemas.openxmlformats.org/drawingml/2006/main">
              <a:ext uri="{FF2B5EF4-FFF2-40B4-BE49-F238E27FC236}">
                <a16:creationId xmlns:a16="http://schemas.microsoft.com/office/drawing/2014/main" id="{422199F6-2A4C-4CBB-9F00-25FF618C0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981450"/>
            <a:ext cx="4667250" cy="1419225"/>
          </a:xfrm>
          <a:prstGeom xmlns:a="http://schemas.openxmlformats.org/drawingml/2006/main" prst="roundRect">
            <a:avLst>
              <a:gd name="adj" fmla="val 8054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logic-title-3">
            <a:extLst xmlns:a="http://schemas.openxmlformats.org/drawingml/2006/main">
              <a:ext uri="{FF2B5EF4-FFF2-40B4-BE49-F238E27FC236}">
                <a16:creationId xmlns:a16="http://schemas.microsoft.com/office/drawing/2014/main" id="{8E7B0C15-0AB4-4F0A-B1A3-DE747E829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1814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575" b="1">
                <a:solidFill>
                  <a:srgbClr val="6DCBF4"/>
                </a:solidFill>
                <a:latin typeface="STHeiti"/>
                <a:ea typeface="STHeiti"/>
                <a:cs typeface="STHeiti"/>
              </a:defRPr>
            </a:pPr>
            <a:r>
              <a:rPr sz="1575" b="1">
                <a:solidFill>
                  <a:srgbClr val="6DCBF4"/>
                </a:solidFill>
                <a:latin typeface="STHeiti"/>
                <a:ea typeface="STHeiti"/>
                <a:cs typeface="STHeiti"/>
              </a:rPr>
              <a:t>③ </a:t>
            </a:r>
            <a:r>
              <a:rPr sz="1575" b="1">
                <a:solidFill>
                  <a:srgbClr val="6DCBF4"/>
                </a:solidFill>
                <a:latin typeface="STHeiti"/>
                <a:ea typeface="STHeiti"/>
                <a:cs typeface="STHeiti"/>
              </a:rPr>
              <a:t>行情持续</a:t>
            </a:r>
            <a:r>
              <a:rPr sz="1575" b="1">
                <a:solidFill>
                  <a:srgbClr val="6DCBF4"/>
                </a:solidFill>
                <a:latin typeface="STHeiti"/>
                <a:ea typeface="STHeiti"/>
                <a:cs typeface="STHeiti"/>
              </a:rPr>
              <a:t>扩散</a:t>
            </a:r>
            <a:endParaRPr sz="1575" b="1">
              <a:solidFill>
                <a:srgbClr val="6DCBF4"/>
              </a:solidFill>
              <a:latin typeface="STHeiti"/>
              <a:ea typeface="STHeiti"/>
              <a:cs typeface="STHeiti"/>
            </a:endParaRPr>
          </a:p>
        </p:txBody>
      </p:sp>
      <p:sp>
        <p:nvSpPr>
          <p:cNvPr id="17" name="logic-main-3">
            <a:extLst xmlns:a="http://schemas.openxmlformats.org/drawingml/2006/main">
              <a:ext uri="{FF2B5EF4-FFF2-40B4-BE49-F238E27FC236}">
                <a16:creationId xmlns:a16="http://schemas.microsoft.com/office/drawing/2014/main" id="{73C55308-34AB-45FC-B905-E0B79521F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524375"/>
            <a:ext cx="4048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800" b="1">
                <a:solidFill>
                  <a:srgbClr val="FFFFFF"/>
                </a:solidFill>
                <a:latin typeface="STHeiti"/>
                <a:ea typeface="STHeiti"/>
                <a:cs typeface="STHeiti"/>
              </a:defRPr>
            </a:pPr>
            <a:r>
              <a:rPr sz="1800" b="1">
                <a:solidFill>
                  <a:srgbClr val="FFFFFF"/>
                </a:solidFill>
                <a:latin typeface="STHeiti"/>
                <a:ea typeface="STHeiti"/>
                <a:cs typeface="STHeiti"/>
              </a:rPr>
              <a:t>尚待验证 </a:t>
            </a:r>
            <a:endParaRPr sz="1800" b="1">
              <a:solidFill>
                <a:srgbClr val="FFFFFF"/>
              </a:solidFill>
              <a:latin typeface="STHeiti"/>
              <a:ea typeface="STHeiti"/>
              <a:cs typeface="STHeiti"/>
            </a:endParaRPr>
          </a:p>
        </p:txBody>
      </p:sp>
      <p:sp>
        <p:nvSpPr>
          <p:cNvPr id="18" name="logic-sub-3">
            <a:extLst xmlns:a="http://schemas.openxmlformats.org/drawingml/2006/main">
              <a:ext uri="{FF2B5EF4-FFF2-40B4-BE49-F238E27FC236}">
                <a16:creationId xmlns:a16="http://schemas.microsoft.com/office/drawing/2014/main" id="{CCF8F60E-7FBA-49AD-88E5-56A7FED66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876800"/>
            <a:ext cx="4048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 b="1">
                <a:solidFill>
                  <a:srgbClr val="E4E7EC"/>
                </a:solidFill>
                <a:latin typeface="STHeiti"/>
                <a:ea typeface="STHeiti"/>
                <a:cs typeface="STHeiti"/>
              </a:defRPr>
            </a:pPr>
            <a:r>
              <a:rPr sz="1275" b="1">
                <a:solidFill>
                  <a:srgbClr val="E4E7EC"/>
                </a:solidFill>
                <a:latin typeface="STHeiti"/>
                <a:ea typeface="STHeiti"/>
                <a:cs typeface="STHeiti"/>
              </a:rPr>
              <a:t>总仓位低，但CXO已局部拥挤</a:t>
            </a:r>
            <a:endParaRPr sz="1275" b="1">
              <a:solidFill>
                <a:srgbClr val="E4E7EC"/>
              </a:solidFill>
              <a:latin typeface="STHeiti"/>
              <a:ea typeface="STHeiti"/>
              <a:cs typeface="STHeiti"/>
            </a:endParaRPr>
          </a:p>
          <a:p xmlns:a="http://schemas.openxmlformats.org/drawingml/2006/main">
            <a:pPr algn="l">
              <a:lnSpc>
                <a:spcPct val="95000"/>
              </a:lnSpc>
              <a:buNone/>
              <a:defRPr sz="1275" b="1">
                <a:solidFill>
                  <a:srgbClr val="E4E7EC"/>
                </a:solidFill>
                <a:latin typeface="STHeiti"/>
                <a:ea typeface="STHeiti"/>
                <a:cs typeface="STHeiti"/>
              </a:defRPr>
            </a:pPr>
            <a:r>
              <a:rPr sz="1275" b="1">
                <a:solidFill>
                  <a:srgbClr val="E4E7EC"/>
                </a:solidFill>
                <a:latin typeface="STHeiti"/>
                <a:ea typeface="STHeiti"/>
                <a:cs typeface="STHeiti"/>
              </a:rPr>
              <a:t>持续性取决于创新药接力</a:t>
            </a:r>
            <a:endParaRPr sz="1275" b="1">
              <a:solidFill>
                <a:srgbClr val="E4E7EC"/>
              </a:solidFill>
              <a:latin typeface="STHeiti"/>
              <a:ea typeface="STHeiti"/>
              <a:cs typeface="STHeiti"/>
            </a:endParaRPr>
          </a:p>
        </p:txBody>
      </p:sp>
      <p:sp>
        <p:nvSpPr>
          <p:cNvPr id="19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3474882D-102E-4EB7-B6BE-765EA6735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78167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0" name="source-2">
            <a:extLst xmlns:a="http://schemas.openxmlformats.org/drawingml/2006/main">
              <a:ext uri="{FF2B5EF4-FFF2-40B4-BE49-F238E27FC236}">
                <a16:creationId xmlns:a16="http://schemas.microsoft.com/office/drawing/2014/main" id="{B390EF6E-B093-4D93-A2D3-DB97EEE0C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867400"/>
            <a:ext cx="1062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865" b="0">
                <a:solidFill>
                  <a:srgbClr val="667085"/>
                </a:solidFill>
                <a:latin typeface="STHeiti"/>
                <a:ea typeface="STHeiti"/>
                <a:cs typeface="STHeiti"/>
              </a:defRPr>
            </a:pPr>
            <a:r>
              <a:rPr sz="865" b="0">
                <a:solidFill>
                  <a:srgbClr val="667085"/>
                </a:solidFill>
                <a:latin typeface="STHeiti"/>
                <a:ea typeface="STHeiti"/>
                <a:cs typeface="STHeiti"/>
              </a:rPr>
              <a:t>来源：同花顺iFinD；国金证券</a:t>
            </a:r>
            <a:r>
              <a:rPr sz="865" b="0">
                <a:solidFill>
                  <a:srgbClr val="667085"/>
                </a:solidFill>
                <a:latin typeface="STHeiti"/>
                <a:ea typeface="STHeiti"/>
                <a:cs typeface="STHeiti"/>
              </a:rPr>
              <a:t>；</a:t>
            </a:r>
            <a:r>
              <a:rPr sz="865" b="0">
                <a:solidFill>
                  <a:srgbClr val="667085"/>
                </a:solidFill>
                <a:latin typeface="STHeiti"/>
                <a:ea typeface="STHeiti"/>
                <a:cs typeface="STHeiti"/>
              </a:rPr>
              <a:t>浙商证券</a:t>
            </a:r>
            <a:r>
              <a:rPr sz="865" b="0">
                <a:solidFill>
                  <a:srgbClr val="667085"/>
                </a:solidFill>
                <a:latin typeface="STHeiti"/>
                <a:ea typeface="STHeiti"/>
                <a:cs typeface="STHeiti"/>
              </a:rPr>
              <a:t>；</a:t>
            </a:r>
            <a:r>
              <a:rPr sz="865" b="0">
                <a:solidFill>
                  <a:srgbClr val="667085"/>
                </a:solidFill>
                <a:latin typeface="STHeiti"/>
                <a:ea typeface="STHeiti"/>
                <a:cs typeface="STHeiti"/>
              </a:rPr>
              <a:t>中泰证券</a:t>
            </a:r>
            <a:r>
              <a:rPr sz="865" b="0">
                <a:solidFill>
                  <a:srgbClr val="667085"/>
                </a:solidFill>
                <a:latin typeface="STHeiti"/>
                <a:ea typeface="STHeiti"/>
                <a:cs typeface="STHeiti"/>
              </a:rPr>
              <a:t>；</a:t>
            </a:r>
            <a:r>
              <a:rPr sz="865" b="0">
                <a:solidFill>
                  <a:srgbClr val="667085"/>
                </a:solidFill>
                <a:latin typeface="STHeiti"/>
                <a:ea typeface="STHeiti"/>
                <a:cs typeface="STHeiti"/>
              </a:rPr>
              <a:t>药明康德</a:t>
            </a:r>
            <a:endParaRPr sz="865" b="0">
              <a:solidFill>
                <a:srgbClr val="667085"/>
              </a:solidFill>
              <a:latin typeface="STHeiti"/>
              <a:ea typeface="STHeiti"/>
              <a:cs typeface="STHeiti"/>
            </a:endParaRPr>
          </a:p>
        </p:txBody>
      </p:sp>
      <p:sp>
        <p:nvSpPr>
          <p:cNvPr id="21" name="page-2">
            <a:extLst xmlns:a="http://schemas.openxmlformats.org/drawingml/2006/main">
              <a:ext uri="{FF2B5EF4-FFF2-40B4-BE49-F238E27FC236}">
                <a16:creationId xmlns:a16="http://schemas.microsoft.com/office/drawing/2014/main" id="{2052A574-5550-4652-B7B9-D1B9C095C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58674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5000"/>
              </a:lnSpc>
              <a:buNone/>
              <a:defRPr sz="975" b="1">
                <a:solidFill>
                  <a:srgbClr val="667085"/>
                </a:solidFill>
                <a:latin typeface="STHeiti"/>
                <a:ea typeface="STHeiti"/>
                <a:cs typeface="STHeiti"/>
              </a:defRPr>
            </a:pPr>
            <a:r>
              <a:rPr sz="975" b="1">
                <a:solidFill>
                  <a:srgbClr val="667085"/>
                </a:solidFill>
                <a:latin typeface="STHeiti"/>
                <a:ea typeface="STHeiti"/>
                <a:cs typeface="STHeiti"/>
              </a:rPr>
              <a:t>02</a:t>
            </a:r>
            <a:endParaRPr sz="975" b="1">
              <a:solidFill>
                <a:srgbClr val="667085"/>
              </a:solidFill>
              <a:latin typeface="STHeiti"/>
              <a:ea typeface="STHeiti"/>
              <a:cs typeface="STHeiti"/>
            </a:endParaRPr>
          </a:p>
        </p:txBody>
      </p:sp>
      <p:graphicFrame>
        <p:nvGraphicFramePr>
          <p:cNvPr id="41" name="表格 43"/>
          <p:cNvGraphicFramePr/>
          <p:nvPr/>
        </p:nvGraphicFramePr>
        <p:xfrm>
          <a:off xmlns:a="http://schemas.openxmlformats.org/drawingml/2006/main" x="361950" y="1543050"/>
          <a:ext xmlns:a="http://schemas.openxmlformats.org/drawingml/2006/main" cx="6236335" cy="390080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13790"/>
                <a:gridCol w="2240280"/>
                <a:gridCol w="2882265"/>
              </a:tblGrid>
              <a:tr h="4140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>
                          <a:solidFill>
                            <a:srgbClr val="FFFFFF"/>
                          </a:solidFill>
                        </a:rPr>
                        <a:t>检验</a:t>
                      </a:r>
                      <a:endParaRPr sz="1600" b="1">
                        <a:solidFill>
                          <a:srgbClr val="FFFFFF"/>
                        </a:solidFill>
                      </a:endParaRPr>
                    </a:p>
                  </a:txBody>
                  <a:tcPr marL="91440" marR="91440" marT="45720" marB="45720">
                    <a:solidFill>
                      <a:srgbClr val="1018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>
                          <a:solidFill>
                            <a:srgbClr val="FFFFFF"/>
                          </a:solidFill>
                        </a:rPr>
                        <a:t>2025Q3</a:t>
                      </a:r>
                      <a:endParaRPr sz="1600" b="1">
                        <a:solidFill>
                          <a:srgbClr val="FFFFFF"/>
                        </a:solidFill>
                      </a:endParaRPr>
                    </a:p>
                  </a:txBody>
                  <a:tcPr marL="91440" marR="91440" marT="45720" marB="45720">
                    <a:solidFill>
                      <a:srgbClr val="1018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>
                          <a:solidFill>
                            <a:srgbClr val="FFFFFF"/>
                          </a:solidFill>
                        </a:rPr>
                        <a:t>2026本轮</a:t>
                      </a:r>
                      <a:endParaRPr sz="1600" b="1">
                        <a:solidFill>
                          <a:srgbClr val="FFFFFF"/>
                        </a:solidFill>
                      </a:endParaRPr>
                    </a:p>
                  </a:txBody>
                  <a:tcPr marL="91440" marR="91440" marT="45720" marB="45720">
                    <a:solidFill>
                      <a:srgbClr val="101828"/>
                    </a:solidFill>
                  </a:tcPr>
                </a:tc>
              </a:tr>
              <a:tr h="8718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 b="1">
                          <a:solidFill>
                            <a:srgbClr val="101828"/>
                          </a:solidFill>
                        </a:rPr>
                        <a:t>市场环境</a:t>
                      </a:r>
                      <a:endParaRPr sz="1400" b="1">
                        <a:solidFill>
                          <a:srgbClr val="101828"/>
                        </a:solidFill>
                      </a:endParaRPr>
                    </a:p>
                  </a:txBody>
                  <a:tcPr marL="91440" marR="91440" marT="45720" marB="4572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>
                          <a:solidFill>
                            <a:srgbClr val="101828"/>
                          </a:solidFill>
                        </a:rPr>
                        <a:t>沪深300 +20.8%</a:t>
                      </a:r>
                      <a:endParaRPr sz="1400">
                        <a:solidFill>
                          <a:srgbClr val="101828"/>
                        </a:solidFill>
                      </a:endParaRPr>
                    </a:p>
                    <a:p>
                      <a:pPr algn="ctr">
                        <a:buNone/>
                      </a:pPr>
                      <a:r>
                        <a:rPr sz="1400">
                          <a:solidFill>
                            <a:srgbClr val="101828"/>
                          </a:solidFill>
                        </a:rPr>
                        <a:t>医药 +14.9%</a:t>
                      </a:r>
                      <a:endParaRPr sz="1400">
                        <a:solidFill>
                          <a:srgbClr val="101828"/>
                        </a:solidFill>
                      </a:endParaRP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 b="1">
                          <a:solidFill>
                            <a:srgbClr val="101828"/>
                          </a:solidFill>
                        </a:rPr>
                        <a:t>沪深300 -5.6%</a:t>
                      </a:r>
                      <a:endParaRPr sz="1400" b="1">
                        <a:solidFill>
                          <a:srgbClr val="101828"/>
                        </a:solidFill>
                      </a:endParaRPr>
                    </a:p>
                    <a:p>
                      <a:pPr algn="ctr">
                        <a:buNone/>
                      </a:pPr>
                      <a:r>
                        <a:rPr sz="1400" b="1">
                          <a:solidFill>
                            <a:srgbClr val="101828"/>
                          </a:solidFill>
                        </a:rPr>
                        <a:t>医药 +9.9%</a:t>
                      </a:r>
                      <a:endParaRPr sz="1400" b="1">
                        <a:solidFill>
                          <a:srgbClr val="101828"/>
                        </a:solidFill>
                      </a:endParaRPr>
                    </a:p>
                  </a:txBody>
                  <a:tcPr marL="91440" marR="91440" marT="45720" marB="45720">
                    <a:solidFill>
                      <a:srgbClr val="EAF0FF"/>
                    </a:solidFill>
                  </a:tcPr>
                </a:tc>
              </a:tr>
              <a:tr h="8718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 b="1">
                          <a:solidFill>
                            <a:srgbClr val="101828"/>
                          </a:solidFill>
                        </a:rPr>
                        <a:t>行情节奏</a:t>
                      </a:r>
                      <a:endParaRPr sz="1400" b="1">
                        <a:solidFill>
                          <a:srgbClr val="101828"/>
                        </a:solidFill>
                      </a:endParaRPr>
                    </a:p>
                  </a:txBody>
                  <a:tcPr marL="91440" marR="91440" marT="45720" marB="4572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>
                          <a:solidFill>
                            <a:srgbClr val="101828"/>
                          </a:solidFill>
                        </a:rPr>
                        <a:t>CXO 7月 +29.3%</a:t>
                      </a:r>
                      <a:endParaRPr sz="1400">
                        <a:solidFill>
                          <a:srgbClr val="101828"/>
                        </a:solidFill>
                      </a:endParaRPr>
                    </a:p>
                    <a:p>
                      <a:pPr algn="ctr">
                        <a:buNone/>
                      </a:pPr>
                      <a:r>
                        <a:rPr sz="1400">
                          <a:solidFill>
                            <a:srgbClr val="101828"/>
                          </a:solidFill>
                        </a:rPr>
                        <a:t>8–9月降至低个位数</a:t>
                      </a:r>
                      <a:endParaRPr sz="1400">
                        <a:solidFill>
                          <a:srgbClr val="101828"/>
                        </a:solidFill>
                      </a:endParaRP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 b="1">
                          <a:solidFill>
                            <a:srgbClr val="101828"/>
                          </a:solidFill>
                        </a:rPr>
                        <a:t>创新药6–8月连续为正</a:t>
                      </a:r>
                      <a:endParaRPr sz="1400" b="1">
                        <a:solidFill>
                          <a:srgbClr val="101828"/>
                        </a:solidFill>
                      </a:endParaRPr>
                    </a:p>
                    <a:p>
                      <a:pPr algn="ctr">
                        <a:buNone/>
                      </a:pPr>
                      <a:r>
                        <a:rPr sz="1400" b="1">
                          <a:solidFill>
                            <a:srgbClr val="101828"/>
                          </a:solidFill>
                        </a:rPr>
                        <a:t>+4.5% / +4.8% / +5.9%</a:t>
                      </a:r>
                      <a:endParaRPr sz="1400" b="1">
                        <a:solidFill>
                          <a:srgbClr val="101828"/>
                        </a:solidFill>
                      </a:endParaRPr>
                    </a:p>
                  </a:txBody>
                  <a:tcPr marL="91440" marR="91440" marT="45720" marB="45720">
                    <a:solidFill>
                      <a:srgbClr val="EAF0FF"/>
                    </a:solidFill>
                  </a:tcPr>
                </a:tc>
              </a:tr>
              <a:tr h="8718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 b="1">
                          <a:solidFill>
                            <a:srgbClr val="101828"/>
                          </a:solidFill>
                        </a:rPr>
                        <a:t>产业盈利</a:t>
                      </a:r>
                      <a:endParaRPr sz="1400" b="1">
                        <a:solidFill>
                          <a:srgbClr val="101828"/>
                        </a:solidFill>
                      </a:endParaRPr>
                    </a:p>
                  </a:txBody>
                  <a:tcPr marL="91440" marR="91440" marT="45720" marB="4572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>
                          <a:solidFill>
                            <a:srgbClr val="101828"/>
                          </a:solidFill>
                        </a:rPr>
                        <a:t>政策+BD打开预期</a:t>
                      </a:r>
                      <a:endParaRPr sz="1400">
                        <a:solidFill>
                          <a:srgbClr val="101828"/>
                        </a:solidFill>
                      </a:endParaRPr>
                    </a:p>
                    <a:p>
                      <a:pPr algn="ctr">
                        <a:buNone/>
                      </a:pPr>
                      <a:r>
                        <a:rPr sz="1400">
                          <a:solidFill>
                            <a:srgbClr val="101828"/>
                          </a:solidFill>
                        </a:rPr>
                        <a:t>CXO订单初现拐点</a:t>
                      </a:r>
                      <a:endParaRPr sz="1400">
                        <a:solidFill>
                          <a:srgbClr val="101828"/>
                        </a:solidFill>
                      </a:endParaRP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 b="1">
                          <a:solidFill>
                            <a:srgbClr val="101828"/>
                          </a:solidFill>
                        </a:rPr>
                        <a:t>BD规模约2.1×</a:t>
                      </a:r>
                      <a:endParaRPr sz="1400" b="1">
                        <a:solidFill>
                          <a:srgbClr val="101828"/>
                        </a:solidFill>
                      </a:endParaRPr>
                    </a:p>
                    <a:p>
                      <a:pPr algn="ctr">
                        <a:buNone/>
                      </a:pPr>
                      <a:r>
                        <a:rPr sz="1400" b="1">
                          <a:solidFill>
                            <a:srgbClr val="101828"/>
                          </a:solidFill>
                        </a:rPr>
                        <a:t>收入+48% / 现金流+41%</a:t>
                      </a:r>
                      <a:endParaRPr sz="1400" b="1">
                        <a:solidFill>
                          <a:srgbClr val="101828"/>
                        </a:solidFill>
                      </a:endParaRPr>
                    </a:p>
                  </a:txBody>
                  <a:tcPr marL="91440" marR="91440" marT="45720" marB="45720">
                    <a:solidFill>
                      <a:srgbClr val="EAF0FF"/>
                    </a:solidFill>
                  </a:tcPr>
                </a:tc>
              </a:tr>
              <a:tr h="8712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 b="1">
                          <a:solidFill>
                            <a:srgbClr val="101828"/>
                          </a:solidFill>
                        </a:rPr>
                        <a:t>机构交易</a:t>
                      </a:r>
                      <a:endParaRPr sz="1400" b="1">
                        <a:solidFill>
                          <a:srgbClr val="101828"/>
                        </a:solidFill>
                      </a:endParaRPr>
                    </a:p>
                  </a:txBody>
                  <a:tcPr marL="91440" marR="91440" marT="45720" marB="4572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>
                          <a:solidFill>
                            <a:srgbClr val="101828"/>
                          </a:solidFill>
                        </a:rPr>
                        <a:t>主动基金医药仓位</a:t>
                      </a:r>
                      <a:endParaRPr sz="1400">
                        <a:solidFill>
                          <a:srgbClr val="101828"/>
                        </a:solidFill>
                      </a:endParaRPr>
                    </a:p>
                    <a:p>
                      <a:pPr algn="ctr">
                        <a:buNone/>
                      </a:pPr>
                      <a:r>
                        <a:rPr sz="1400">
                          <a:solidFill>
                            <a:srgbClr val="101828"/>
                          </a:solidFill>
                        </a:rPr>
                        <a:t>Q3环比 -0.39pp</a:t>
                      </a:r>
                      <a:endParaRPr sz="1400">
                        <a:solidFill>
                          <a:srgbClr val="101828"/>
                        </a:solidFill>
                      </a:endParaRP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 b="1">
                          <a:solidFill>
                            <a:srgbClr val="101828"/>
                          </a:solidFill>
                        </a:rPr>
                        <a:t>医药总仓位6.54%低位</a:t>
                      </a:r>
                      <a:endParaRPr sz="1400" b="1">
                        <a:solidFill>
                          <a:srgbClr val="101828"/>
                        </a:solidFill>
                      </a:endParaRPr>
                    </a:p>
                    <a:p>
                      <a:pPr algn="ctr">
                        <a:buNone/>
                      </a:pPr>
                      <a:r>
                        <a:rPr sz="1400" b="1">
                          <a:solidFill>
                            <a:srgbClr val="101828"/>
                          </a:solidFill>
                        </a:rPr>
                        <a:t>但CXO内部占28.2%</a:t>
                      </a:r>
                      <a:endParaRPr sz="1400" b="1">
                        <a:solidFill>
                          <a:srgbClr val="101828"/>
                        </a:solidFill>
                      </a:endParaRPr>
                    </a:p>
                  </a:txBody>
                  <a:tcPr marL="91440" marR="91440" marT="45720" marB="45720">
                    <a:solidFill>
                      <a:srgbClr val="EAF0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71438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3A9EDE3B-CE8B-4F73-A638-13A470746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101828"/>
                </a:solidFill>
                <a:latin typeface="STHeiti"/>
                <a:ea typeface="STHeiti"/>
                <a:cs typeface="STHeiti"/>
              </a:defRPr>
            </a:pPr>
            <a:r>
              <a:rPr sz="3600" b="1">
                <a:solidFill>
                  <a:srgbClr val="101828"/>
                </a:solidFill>
                <a:latin typeface="STHeiti"/>
                <a:ea typeface="STHeiti"/>
                <a:cs typeface="STHeiti"/>
              </a:rPr>
              <a:t>CXO定胜率，创新药决定</a:t>
            </a:r>
            <a:r>
              <a:rPr sz="3600" b="1">
                <a:solidFill>
                  <a:srgbClr val="101828"/>
                </a:solidFill>
                <a:latin typeface="STHeiti"/>
                <a:ea typeface="STHeiti"/>
                <a:cs typeface="STHeiti"/>
              </a:rPr>
              <a:t>赔率</a:t>
            </a:r>
            <a:endParaRPr sz="3600" b="1">
              <a:solidFill>
                <a:srgbClr val="101828"/>
              </a:solidFill>
              <a:latin typeface="STHeiti"/>
              <a:ea typeface="STHeiti"/>
              <a:cs typeface="STHeiti"/>
            </a:endParaRPr>
          </a:p>
        </p:txBody>
      </p:sp>
      <p:sp>
        <p:nvSpPr>
          <p:cNvPr id="3" name="accent-3">
            <a:extLst xmlns:a="http://schemas.openxmlformats.org/drawingml/2006/main">
              <a:ext uri="{FF2B5EF4-FFF2-40B4-BE49-F238E27FC236}">
                <a16:creationId xmlns:a16="http://schemas.microsoft.com/office/drawing/2014/main" id="{96270CF2-1AF7-4BA9-9DC8-A79C5FE28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2050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F6BFF"/>
            </a:solidFill>
            <a:prstDash val="solid"/>
          </a:ln>
        </p:spPr>
      </p:sp>
      <p:sp>
        <p:nvSpPr>
          <p:cNvPr id="5" name="cxo-panel">
            <a:extLst xmlns:a="http://schemas.openxmlformats.org/drawingml/2006/main">
              <a:ext uri="{FF2B5EF4-FFF2-40B4-BE49-F238E27FC236}">
                <a16:creationId xmlns:a16="http://schemas.microsoft.com/office/drawing/2014/main" id="{E1274170-3A0B-41D4-A2DC-9AF885DD2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40485"/>
            <a:ext cx="538162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xo-head">
            <a:extLst xmlns:a="http://schemas.openxmlformats.org/drawingml/2006/main">
              <a:ext uri="{FF2B5EF4-FFF2-40B4-BE49-F238E27FC236}">
                <a16:creationId xmlns:a16="http://schemas.microsoft.com/office/drawing/2014/main" id="{2775592D-D008-44AC-A6BC-CA25FE4B8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5003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025" b="1">
                <a:solidFill>
                  <a:srgbClr val="2F6BFF"/>
                </a:solidFill>
                <a:latin typeface="STHeiti"/>
                <a:ea typeface="STHeiti"/>
                <a:cs typeface="STHeiti"/>
              </a:defRPr>
            </a:pPr>
            <a:r>
              <a:rPr sz="2025" b="1">
                <a:solidFill>
                  <a:srgbClr val="2F6BFF"/>
                </a:solidFill>
                <a:latin typeface="STHeiti"/>
                <a:ea typeface="STHeiti"/>
                <a:cs typeface="STHeiti"/>
              </a:rPr>
              <a:t>CXO｜更高胜率</a:t>
            </a:r>
            <a:endParaRPr sz="2025" b="1">
              <a:solidFill>
                <a:srgbClr val="2F6BFF"/>
              </a:solidFill>
              <a:latin typeface="STHeiti"/>
              <a:ea typeface="STHeiti"/>
              <a:cs typeface="STHeiti"/>
            </a:endParaRPr>
          </a:p>
        </p:txBody>
      </p:sp>
      <p:sp>
        <p:nvSpPr>
          <p:cNvPr id="7" name="cxo-value1">
            <a:extLst xmlns:a="http://schemas.openxmlformats.org/drawingml/2006/main">
              <a:ext uri="{FF2B5EF4-FFF2-40B4-BE49-F238E27FC236}">
                <a16:creationId xmlns:a16="http://schemas.microsoft.com/office/drawing/2014/main" id="{D8ED05D2-1172-4654-8707-2AEC37473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26285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225" b="1">
                <a:solidFill>
                  <a:srgbClr val="101828"/>
                </a:solidFill>
                <a:latin typeface="STHeiti"/>
                <a:ea typeface="STHeiti"/>
                <a:cs typeface="STHeiti"/>
              </a:defRPr>
            </a:pPr>
            <a:r>
              <a:rPr sz="3225" b="1">
                <a:solidFill>
                  <a:srgbClr val="101828"/>
                </a:solidFill>
                <a:latin typeface="STHeiti"/>
                <a:ea typeface="STHeiti"/>
                <a:cs typeface="STHeiti"/>
              </a:rPr>
              <a:t>664亿元</a:t>
            </a:r>
            <a:endParaRPr sz="3225" b="1">
              <a:solidFill>
                <a:srgbClr val="101828"/>
              </a:solidFill>
              <a:latin typeface="STHeiti"/>
              <a:ea typeface="STHeiti"/>
              <a:cs typeface="STHeiti"/>
            </a:endParaRPr>
          </a:p>
        </p:txBody>
      </p:sp>
      <p:sp>
        <p:nvSpPr>
          <p:cNvPr id="8" name="cxo-label1">
            <a:extLst xmlns:a="http://schemas.openxmlformats.org/drawingml/2006/main">
              <a:ext uri="{FF2B5EF4-FFF2-40B4-BE49-F238E27FC236}">
                <a16:creationId xmlns:a16="http://schemas.microsoft.com/office/drawing/2014/main" id="{124C0335-DD35-46A7-909E-5488D5136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4063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 b="0">
                <a:solidFill>
                  <a:srgbClr val="667085"/>
                </a:solidFill>
                <a:latin typeface="STHeiti"/>
                <a:ea typeface="STHeiti"/>
                <a:cs typeface="STHeiti"/>
              </a:defRPr>
            </a:pPr>
            <a:r>
              <a:rPr sz="1275" b="0">
                <a:solidFill>
                  <a:srgbClr val="667085"/>
                </a:solidFill>
                <a:latin typeface="STHeiti"/>
                <a:ea typeface="STHeiti"/>
                <a:cs typeface="STHeiti"/>
              </a:rPr>
              <a:t>在手订单｜同比 +25.2%</a:t>
            </a:r>
            <a:endParaRPr sz="1275" b="0">
              <a:solidFill>
                <a:srgbClr val="667085"/>
              </a:solidFill>
              <a:latin typeface="STHeiti"/>
              <a:ea typeface="STHeiti"/>
              <a:cs typeface="STHeiti"/>
            </a:endParaRPr>
          </a:p>
        </p:txBody>
      </p:sp>
      <p:sp>
        <p:nvSpPr>
          <p:cNvPr id="9" name="cxo-value2">
            <a:extLst xmlns:a="http://schemas.openxmlformats.org/drawingml/2006/main">
              <a:ext uri="{FF2B5EF4-FFF2-40B4-BE49-F238E27FC236}">
                <a16:creationId xmlns:a16="http://schemas.microsoft.com/office/drawing/2014/main" id="{CFDB8817-E098-4DE8-B6A7-8E5829694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026285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225" b="1">
                <a:solidFill>
                  <a:srgbClr val="2F6BFF"/>
                </a:solidFill>
                <a:latin typeface="STHeiti"/>
                <a:ea typeface="STHeiti"/>
                <a:cs typeface="STHeiti"/>
              </a:defRPr>
            </a:pPr>
            <a:r>
              <a:rPr sz="3225" b="1">
                <a:solidFill>
                  <a:srgbClr val="2F6BFF"/>
                </a:solidFill>
                <a:latin typeface="STHeiti"/>
                <a:ea typeface="STHeiti"/>
                <a:cs typeface="STHeiti"/>
              </a:rPr>
              <a:t>35.4×</a:t>
            </a:r>
            <a:endParaRPr sz="3225" b="1">
              <a:solidFill>
                <a:srgbClr val="2F6BFF"/>
              </a:solidFill>
              <a:latin typeface="STHeiti"/>
              <a:ea typeface="STHeiti"/>
              <a:cs typeface="STHeiti"/>
            </a:endParaRPr>
          </a:p>
        </p:txBody>
      </p:sp>
      <p:sp>
        <p:nvSpPr>
          <p:cNvPr id="10" name="cxo-label2">
            <a:extLst xmlns:a="http://schemas.openxmlformats.org/drawingml/2006/main">
              <a:ext uri="{FF2B5EF4-FFF2-40B4-BE49-F238E27FC236}">
                <a16:creationId xmlns:a16="http://schemas.microsoft.com/office/drawing/2014/main" id="{00F21931-C4F6-4E09-A628-CA3DC88EA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540635"/>
            <a:ext cx="2143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 b="0">
                <a:solidFill>
                  <a:srgbClr val="667085"/>
                </a:solidFill>
                <a:latin typeface="STHeiti"/>
                <a:ea typeface="STHeiti"/>
                <a:cs typeface="STHeiti"/>
              </a:defRPr>
            </a:pPr>
            <a:r>
              <a:rPr sz="1275" b="0">
                <a:solidFill>
                  <a:srgbClr val="667085"/>
                </a:solidFill>
                <a:latin typeface="STHeiti"/>
                <a:ea typeface="STHeiti"/>
                <a:cs typeface="STHeiti"/>
              </a:rPr>
              <a:t>PE｜2025/9约36.8×</a:t>
            </a:r>
            <a:endParaRPr sz="1275" b="0">
              <a:solidFill>
                <a:srgbClr val="667085"/>
              </a:solidFill>
              <a:latin typeface="STHeiti"/>
              <a:ea typeface="STHeiti"/>
              <a:cs typeface="STHeiti"/>
            </a:endParaRPr>
          </a:p>
        </p:txBody>
      </p:sp>
      <p:sp>
        <p:nvSpPr>
          <p:cNvPr id="11" name="cxo-rule">
            <a:extLst xmlns:a="http://schemas.openxmlformats.org/drawingml/2006/main">
              <a:ext uri="{FF2B5EF4-FFF2-40B4-BE49-F238E27FC236}">
                <a16:creationId xmlns:a16="http://schemas.microsoft.com/office/drawing/2014/main" id="{28542B70-327D-4BC4-B028-876E3E3C3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59735"/>
            <a:ext cx="4848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8FF"/>
            </a:solidFill>
            <a:prstDash val="solid"/>
          </a:ln>
        </p:spPr>
      </p:sp>
      <p:sp>
        <p:nvSpPr>
          <p:cNvPr id="12" name="cxo-bottom">
            <a:extLst xmlns:a="http://schemas.openxmlformats.org/drawingml/2006/main">
              <a:ext uri="{FF2B5EF4-FFF2-40B4-BE49-F238E27FC236}">
                <a16:creationId xmlns:a16="http://schemas.microsoft.com/office/drawing/2014/main" id="{650F1B86-F143-43D3-85DD-0F5CFF18A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071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425" b="1">
                <a:solidFill>
                  <a:srgbClr val="101828"/>
                </a:solidFill>
                <a:latin typeface="STHeiti"/>
                <a:ea typeface="STHeiti"/>
                <a:cs typeface="STHeiti"/>
              </a:defRPr>
            </a:pPr>
            <a:r>
              <a:rPr sz="1425" b="1">
                <a:solidFill>
                  <a:srgbClr val="101828"/>
                </a:solidFill>
                <a:latin typeface="STHeiti"/>
                <a:ea typeface="STHeiti"/>
                <a:cs typeface="STHeiti"/>
              </a:rPr>
              <a:t>收入、订单、现金流均已验证</a:t>
            </a:r>
            <a:endParaRPr sz="1425" b="1">
              <a:solidFill>
                <a:srgbClr val="101828"/>
              </a:solidFill>
              <a:latin typeface="STHeiti"/>
              <a:ea typeface="STHeiti"/>
              <a:cs typeface="STHeiti"/>
            </a:endParaRPr>
          </a:p>
          <a:p xmlns:a="http://schemas.openxmlformats.org/drawingml/2006/main">
            <a:pPr algn="l">
              <a:lnSpc>
                <a:spcPct val="95000"/>
              </a:lnSpc>
              <a:buNone/>
              <a:defRPr sz="1425" b="1">
                <a:solidFill>
                  <a:srgbClr val="101828"/>
                </a:solidFill>
                <a:latin typeface="STHeiti"/>
                <a:ea typeface="STHeiti"/>
                <a:cs typeface="STHeiti"/>
              </a:defRPr>
            </a:pPr>
            <a:r>
              <a:rPr sz="1425" b="1">
                <a:solidFill>
                  <a:srgbClr val="101828"/>
                </a:solidFill>
                <a:latin typeface="STHeiti"/>
                <a:ea typeface="STHeiti"/>
                <a:cs typeface="STHeiti"/>
              </a:rPr>
              <a:t>但PE处于近一年约82%分位</a:t>
            </a:r>
            <a:endParaRPr sz="1425" b="1">
              <a:solidFill>
                <a:srgbClr val="101828"/>
              </a:solidFill>
              <a:latin typeface="STHeiti"/>
              <a:ea typeface="STHeiti"/>
              <a:cs typeface="STHeiti"/>
            </a:endParaRPr>
          </a:p>
        </p:txBody>
      </p:sp>
      <p:sp>
        <p:nvSpPr>
          <p:cNvPr id="13" name="drug-panel">
            <a:extLst xmlns:a="http://schemas.openxmlformats.org/drawingml/2006/main">
              <a:ext uri="{FF2B5EF4-FFF2-40B4-BE49-F238E27FC236}">
                <a16:creationId xmlns:a16="http://schemas.microsoft.com/office/drawing/2014/main" id="{C0DF0FB1-B045-4BEA-BFC7-1EE745431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340485"/>
            <a:ext cx="538162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drug-head">
            <a:extLst xmlns:a="http://schemas.openxmlformats.org/drawingml/2006/main">
              <a:ext uri="{FF2B5EF4-FFF2-40B4-BE49-F238E27FC236}">
                <a16:creationId xmlns:a16="http://schemas.microsoft.com/office/drawing/2014/main" id="{F1585E97-47A6-48FC-8FC0-C6E630792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55003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025" b="1">
                <a:solidFill>
                  <a:srgbClr val="F59E0B"/>
                </a:solidFill>
                <a:latin typeface="STHeiti"/>
                <a:ea typeface="STHeiti"/>
                <a:cs typeface="STHeiti"/>
              </a:defRPr>
            </a:pPr>
            <a:r>
              <a:rPr sz="2025" b="1">
                <a:solidFill>
                  <a:srgbClr val="F59E0B"/>
                </a:solidFill>
                <a:latin typeface="STHeiti"/>
                <a:ea typeface="STHeiti"/>
                <a:cs typeface="STHeiti"/>
              </a:rPr>
              <a:t>创新药｜更高赔率</a:t>
            </a:r>
            <a:endParaRPr sz="2025" b="1">
              <a:solidFill>
                <a:srgbClr val="F59E0B"/>
              </a:solidFill>
              <a:latin typeface="STHeiti"/>
              <a:ea typeface="STHeiti"/>
              <a:cs typeface="STHeiti"/>
            </a:endParaRPr>
          </a:p>
        </p:txBody>
      </p:sp>
      <p:sp>
        <p:nvSpPr>
          <p:cNvPr id="15" name="drug-value1">
            <a:extLst xmlns:a="http://schemas.openxmlformats.org/drawingml/2006/main">
              <a:ext uri="{FF2B5EF4-FFF2-40B4-BE49-F238E27FC236}">
                <a16:creationId xmlns:a16="http://schemas.microsoft.com/office/drawing/2014/main" id="{FA108D04-BB2E-4F82-98B6-EE661A09D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026285"/>
            <a:ext cx="2238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225" b="1">
                <a:solidFill>
                  <a:srgbClr val="101828"/>
                </a:solidFill>
                <a:latin typeface="STHeiti"/>
                <a:ea typeface="STHeiti"/>
                <a:cs typeface="STHeiti"/>
              </a:defRPr>
            </a:pPr>
            <a:r>
              <a:rPr sz="3225" b="1">
                <a:solidFill>
                  <a:srgbClr val="101828"/>
                </a:solidFill>
                <a:latin typeface="STHeiti"/>
                <a:ea typeface="STHeiti"/>
                <a:cs typeface="STHeiti"/>
              </a:rPr>
              <a:t>997亿美元</a:t>
            </a:r>
            <a:endParaRPr sz="3225" b="1">
              <a:solidFill>
                <a:srgbClr val="101828"/>
              </a:solidFill>
              <a:latin typeface="STHeiti"/>
              <a:ea typeface="STHeiti"/>
              <a:cs typeface="STHeiti"/>
            </a:endParaRPr>
          </a:p>
        </p:txBody>
      </p:sp>
      <p:sp>
        <p:nvSpPr>
          <p:cNvPr id="16" name="drug-label1">
            <a:extLst xmlns:a="http://schemas.openxmlformats.org/drawingml/2006/main">
              <a:ext uri="{FF2B5EF4-FFF2-40B4-BE49-F238E27FC236}">
                <a16:creationId xmlns:a16="http://schemas.microsoft.com/office/drawing/2014/main" id="{822B7544-75FC-49AC-9AA7-4C40F6B64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540635"/>
            <a:ext cx="2524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 b="0">
                <a:solidFill>
                  <a:srgbClr val="667085"/>
                </a:solidFill>
                <a:latin typeface="STHeiti"/>
                <a:ea typeface="STHeiti"/>
                <a:cs typeface="STHeiti"/>
              </a:defRPr>
            </a:pPr>
            <a:r>
              <a:rPr sz="1275" b="0">
                <a:solidFill>
                  <a:srgbClr val="667085"/>
                </a:solidFill>
                <a:latin typeface="STHeiti"/>
                <a:ea typeface="STHeiti"/>
                <a:cs typeface="STHeiti"/>
              </a:rPr>
              <a:t>2026H1 BD｜2025全年73%</a:t>
            </a:r>
            <a:endParaRPr sz="1275" b="0">
              <a:solidFill>
                <a:srgbClr val="667085"/>
              </a:solidFill>
              <a:latin typeface="STHeiti"/>
              <a:ea typeface="STHeiti"/>
              <a:cs typeface="STHeiti"/>
            </a:endParaRPr>
          </a:p>
        </p:txBody>
      </p:sp>
      <p:sp>
        <p:nvSpPr>
          <p:cNvPr id="17" name="drug-value2">
            <a:extLst xmlns:a="http://schemas.openxmlformats.org/drawingml/2006/main">
              <a:ext uri="{FF2B5EF4-FFF2-40B4-BE49-F238E27FC236}">
                <a16:creationId xmlns:a16="http://schemas.microsoft.com/office/drawing/2014/main" id="{A048C28B-763C-4BEE-839B-87F3F3AF5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026285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225" b="1">
                <a:solidFill>
                  <a:srgbClr val="F59E0B"/>
                </a:solidFill>
                <a:latin typeface="STHeiti"/>
                <a:ea typeface="STHeiti"/>
                <a:cs typeface="STHeiti"/>
              </a:defRPr>
            </a:pPr>
            <a:r>
              <a:rPr sz="3225" b="1">
                <a:solidFill>
                  <a:srgbClr val="F59E0B"/>
                </a:solidFill>
                <a:latin typeface="STHeiti"/>
                <a:ea typeface="STHeiti"/>
                <a:cs typeface="STHeiti"/>
              </a:rPr>
              <a:t>50.4×</a:t>
            </a:r>
            <a:endParaRPr sz="3225" b="1">
              <a:solidFill>
                <a:srgbClr val="F59E0B"/>
              </a:solidFill>
              <a:latin typeface="STHeiti"/>
              <a:ea typeface="STHeiti"/>
              <a:cs typeface="STHeiti"/>
            </a:endParaRPr>
          </a:p>
        </p:txBody>
      </p:sp>
      <p:sp>
        <p:nvSpPr>
          <p:cNvPr id="18" name="drug-label2">
            <a:extLst xmlns:a="http://schemas.openxmlformats.org/drawingml/2006/main">
              <a:ext uri="{FF2B5EF4-FFF2-40B4-BE49-F238E27FC236}">
                <a16:creationId xmlns:a16="http://schemas.microsoft.com/office/drawing/2014/main" id="{3B4BBEC5-9BA5-4142-9AA1-983A3362B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54063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 b="0">
                <a:solidFill>
                  <a:srgbClr val="667085"/>
                </a:solidFill>
                <a:latin typeface="STHeiti"/>
                <a:ea typeface="STHeiti"/>
                <a:cs typeface="STHeiti"/>
              </a:defRPr>
            </a:pPr>
            <a:r>
              <a:rPr sz="1275" b="0">
                <a:solidFill>
                  <a:srgbClr val="667085"/>
                </a:solidFill>
                <a:latin typeface="STHeiti"/>
                <a:ea typeface="STHeiti"/>
                <a:cs typeface="STHeiti"/>
              </a:rPr>
              <a:t>PE｜2025/9约58×</a:t>
            </a:r>
            <a:endParaRPr sz="1275" b="0">
              <a:solidFill>
                <a:srgbClr val="667085"/>
              </a:solidFill>
              <a:latin typeface="STHeiti"/>
              <a:ea typeface="STHeiti"/>
              <a:cs typeface="STHeiti"/>
            </a:endParaRPr>
          </a:p>
        </p:txBody>
      </p:sp>
      <p:sp>
        <p:nvSpPr>
          <p:cNvPr id="19" name="drug-rule">
            <a:extLst xmlns:a="http://schemas.openxmlformats.org/drawingml/2006/main">
              <a:ext uri="{FF2B5EF4-FFF2-40B4-BE49-F238E27FC236}">
                <a16:creationId xmlns:a16="http://schemas.microsoft.com/office/drawing/2014/main" id="{EA03AC97-0DC4-45BF-8E9C-BBCDBC9D1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959735"/>
            <a:ext cx="4848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5D28C"/>
            </a:solidFill>
            <a:prstDash val="solid"/>
          </a:ln>
        </p:spPr>
      </p:sp>
      <p:sp>
        <p:nvSpPr>
          <p:cNvPr id="20" name="drug-bottom">
            <a:extLst xmlns:a="http://schemas.openxmlformats.org/drawingml/2006/main">
              <a:ext uri="{FF2B5EF4-FFF2-40B4-BE49-F238E27FC236}">
                <a16:creationId xmlns:a16="http://schemas.microsoft.com/office/drawing/2014/main" id="{90AAA1F5-C85D-4AF1-B244-559678DEB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14071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425" b="1">
                <a:solidFill>
                  <a:srgbClr val="101828"/>
                </a:solidFill>
                <a:latin typeface="STHeiti"/>
                <a:ea typeface="STHeiti"/>
                <a:cs typeface="STHeiti"/>
              </a:defRPr>
            </a:pPr>
            <a:r>
              <a:rPr sz="1425" b="1">
                <a:solidFill>
                  <a:srgbClr val="101828"/>
                </a:solidFill>
                <a:latin typeface="STHeiti"/>
                <a:ea typeface="STHeiti"/>
                <a:cs typeface="STHeiti"/>
              </a:rPr>
              <a:t>估值尚未回到2025高点</a:t>
            </a:r>
            <a:endParaRPr sz="1425" b="1">
              <a:solidFill>
                <a:srgbClr val="101828"/>
              </a:solidFill>
              <a:latin typeface="STHeiti"/>
              <a:ea typeface="STHeiti"/>
              <a:cs typeface="STHeiti"/>
            </a:endParaRPr>
          </a:p>
          <a:p xmlns:a="http://schemas.openxmlformats.org/drawingml/2006/main">
            <a:pPr algn="l">
              <a:lnSpc>
                <a:spcPct val="95000"/>
              </a:lnSpc>
              <a:buNone/>
              <a:defRPr sz="1425" b="1">
                <a:solidFill>
                  <a:srgbClr val="101828"/>
                </a:solidFill>
                <a:latin typeface="STHeiti"/>
                <a:ea typeface="STHeiti"/>
                <a:cs typeface="STHeiti"/>
              </a:defRPr>
            </a:pPr>
            <a:r>
              <a:rPr sz="1425" b="1">
                <a:solidFill>
                  <a:srgbClr val="101828"/>
                </a:solidFill>
                <a:latin typeface="STHeiti"/>
                <a:ea typeface="STHeiti"/>
                <a:cs typeface="STHeiti"/>
              </a:rPr>
              <a:t>盈利型资产有望承接下一棒</a:t>
            </a:r>
            <a:endParaRPr sz="1425" b="1">
              <a:solidFill>
                <a:srgbClr val="101828"/>
              </a:solidFill>
              <a:latin typeface="STHeiti"/>
              <a:ea typeface="STHeiti"/>
              <a:cs typeface="STHeiti"/>
            </a:endParaRPr>
          </a:p>
        </p:txBody>
      </p:sp>
      <p:sp>
        <p:nvSpPr>
          <p:cNvPr id="21" name="score-caption">
            <a:extLst xmlns:a="http://schemas.openxmlformats.org/drawingml/2006/main">
              <a:ext uri="{FF2B5EF4-FFF2-40B4-BE49-F238E27FC236}">
                <a16:creationId xmlns:a16="http://schemas.microsoft.com/office/drawing/2014/main" id="{914DF653-4DE6-4973-88E5-55377FC35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92176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 b="1">
                <a:solidFill>
                  <a:srgbClr val="667085"/>
                </a:solidFill>
                <a:latin typeface="STHeiti"/>
                <a:ea typeface="STHeiti"/>
                <a:cs typeface="STHeiti"/>
              </a:defRPr>
            </a:pPr>
            <a:r>
              <a:rPr sz="1275" b="1">
                <a:solidFill>
                  <a:srgbClr val="667085"/>
                </a:solidFill>
                <a:latin typeface="STHeiti"/>
                <a:ea typeface="STHeiti"/>
                <a:cs typeface="STHeiti"/>
              </a:rPr>
              <a:t>研究框架评分</a:t>
            </a:r>
            <a:endParaRPr sz="1275" b="1">
              <a:solidFill>
                <a:srgbClr val="667085"/>
              </a:solidFill>
              <a:latin typeface="STHeiti"/>
              <a:ea typeface="STHeiti"/>
              <a:cs typeface="STHeiti"/>
            </a:endParaRPr>
          </a:p>
        </p:txBody>
      </p:sp>
      <p:graphicFrame>
        <p:nvGraphicFramePr>
          <p:cNvPr id="50" name="Chart"/>
          <p:cNvGraphicFramePr/>
          <p:nvPr/>
        </p:nvGraphicFramePr>
        <p:xfrm>
          <a:off xmlns:a="http://schemas.openxmlformats.org/drawingml/2006/main" x="551180" y="4369435"/>
          <a:ext xmlns:a="http://schemas.openxmlformats.org/drawingml/2006/main" cx="7239000" cy="1476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5e8606b4afb48dc"/>
          </a:graphicData>
        </a:graphic>
      </p:graphicFrame>
      <p:sp>
        <p:nvSpPr>
          <p:cNvPr id="23" name="final-banner">
            <a:extLst xmlns:a="http://schemas.openxmlformats.org/drawingml/2006/main">
              <a:ext uri="{FF2B5EF4-FFF2-40B4-BE49-F238E27FC236}">
                <a16:creationId xmlns:a16="http://schemas.microsoft.com/office/drawing/2014/main" id="{87B13AEC-4153-49B5-98A7-E19D37037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140835"/>
            <a:ext cx="3714750" cy="1495425"/>
          </a:xfrm>
          <a:prstGeom xmlns:a="http://schemas.openxmlformats.org/drawingml/2006/main" prst="roundRect">
            <a:avLst>
              <a:gd name="adj" fmla="val 6369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final-banner-kicker">
            <a:extLst xmlns:a="http://schemas.openxmlformats.org/drawingml/2006/main">
              <a:ext uri="{FF2B5EF4-FFF2-40B4-BE49-F238E27FC236}">
                <a16:creationId xmlns:a16="http://schemas.microsoft.com/office/drawing/2014/main" id="{46E94271-51AB-479C-9D21-3C3FBA1CD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59910"/>
            <a:ext cx="3190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350" b="1">
                <a:solidFill>
                  <a:srgbClr val="6DCBF4"/>
                </a:solidFill>
                <a:latin typeface="STHeiti"/>
                <a:ea typeface="STHeiti"/>
                <a:cs typeface="STHeiti"/>
              </a:defRPr>
            </a:pPr>
            <a:r>
              <a:rPr sz="1350" b="1">
                <a:solidFill>
                  <a:srgbClr val="6DCBF4"/>
                </a:solidFill>
                <a:latin typeface="STHeiti"/>
                <a:ea typeface="STHeiti"/>
                <a:cs typeface="STHeiti"/>
              </a:rPr>
              <a:t>本轮能否超过2025</a:t>
            </a:r>
            <a:endParaRPr sz="1350" b="1">
              <a:solidFill>
                <a:srgbClr val="6DCBF4"/>
              </a:solidFill>
              <a:latin typeface="STHeiti"/>
              <a:ea typeface="STHeiti"/>
              <a:cs typeface="STHeiti"/>
            </a:endParaRPr>
          </a:p>
        </p:txBody>
      </p:sp>
      <p:sp>
        <p:nvSpPr>
          <p:cNvPr id="25" name="final-banner-main">
            <a:extLst xmlns:a="http://schemas.openxmlformats.org/drawingml/2006/main">
              <a:ext uri="{FF2B5EF4-FFF2-40B4-BE49-F238E27FC236}">
                <a16:creationId xmlns:a16="http://schemas.microsoft.com/office/drawing/2014/main" id="{5468F180-5619-4096-B3C7-15635C0B2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83760"/>
            <a:ext cx="319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325" b="1">
                <a:solidFill>
                  <a:srgbClr val="FFFFFF"/>
                </a:solidFill>
                <a:latin typeface="STHeiti"/>
                <a:ea typeface="STHeiti"/>
                <a:cs typeface="STHeiti"/>
              </a:defRPr>
            </a:pPr>
            <a:r>
              <a:rPr sz="2325" b="1">
                <a:solidFill>
                  <a:srgbClr val="FFFFFF"/>
                </a:solidFill>
                <a:latin typeface="STHeiti"/>
                <a:ea typeface="STHeiti"/>
                <a:cs typeface="STHeiti"/>
              </a:rPr>
              <a:t>取决于创新药</a:t>
            </a:r>
            <a:endParaRPr sz="2325" b="1">
              <a:solidFill>
                <a:srgbClr val="FFFFFF"/>
              </a:solidFill>
              <a:latin typeface="STHeiti"/>
              <a:ea typeface="STHeiti"/>
              <a:cs typeface="STHeiti"/>
            </a:endParaRPr>
          </a:p>
          <a:p xmlns:a="http://schemas.openxmlformats.org/drawingml/2006/main">
            <a:pPr algn="l">
              <a:lnSpc>
                <a:spcPct val="95000"/>
              </a:lnSpc>
              <a:buNone/>
              <a:defRPr sz="2325" b="1">
                <a:solidFill>
                  <a:srgbClr val="FFFFFF"/>
                </a:solidFill>
                <a:latin typeface="STHeiti"/>
                <a:ea typeface="STHeiti"/>
                <a:cs typeface="STHeiti"/>
              </a:defRPr>
            </a:pPr>
            <a:r>
              <a:rPr sz="2325" b="1">
                <a:solidFill>
                  <a:srgbClr val="FFFFFF"/>
                </a:solidFill>
                <a:latin typeface="STHeiti"/>
                <a:ea typeface="STHeiti"/>
                <a:cs typeface="STHeiti"/>
              </a:rPr>
              <a:t>能否接力CXO</a:t>
            </a:r>
            <a:endParaRPr sz="2325" b="1">
              <a:solidFill>
                <a:srgbClr val="FFFFFF"/>
              </a:solidFill>
              <a:latin typeface="STHeiti"/>
              <a:ea typeface="STHeiti"/>
              <a:cs typeface="STHeiti"/>
            </a:endParaRPr>
          </a:p>
        </p:txBody>
      </p:sp>
      <p:sp>
        <p:nvSpPr>
          <p:cNvPr id="26" name="final-banner-sub">
            <a:extLst xmlns:a="http://schemas.openxmlformats.org/drawingml/2006/main">
              <a:ext uri="{FF2B5EF4-FFF2-40B4-BE49-F238E27FC236}">
                <a16:creationId xmlns:a16="http://schemas.microsoft.com/office/drawing/2014/main" id="{D3D470BF-BD67-4B16-8FDA-11FAE268E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350510"/>
            <a:ext cx="3190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90" b="0">
                <a:solidFill>
                  <a:srgbClr val="E4E7EC"/>
                </a:solidFill>
                <a:latin typeface="STHeiti"/>
                <a:ea typeface="STHeiti"/>
                <a:cs typeface="STHeiti"/>
              </a:defRPr>
            </a:pPr>
            <a:r>
              <a:rPr sz="1090" b="0">
                <a:solidFill>
                  <a:srgbClr val="E4E7EC"/>
                </a:solidFill>
                <a:latin typeface="STHeiti"/>
                <a:ea typeface="STHeiti"/>
                <a:cs typeface="STHeiti"/>
              </a:rPr>
              <a:t>CXO持有、不追斜率；增量关注盈利与数据催化</a:t>
            </a:r>
            <a:endParaRPr sz="1090" b="0">
              <a:solidFill>
                <a:srgbClr val="E4E7EC"/>
              </a:solidFill>
              <a:latin typeface="STHeiti"/>
              <a:ea typeface="STHeiti"/>
              <a:cs typeface="STHeiti"/>
            </a:endParaRPr>
          </a:p>
        </p:txBody>
      </p:sp>
      <p:sp>
        <p:nvSpPr>
          <p:cNvPr id="27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27500C09-E71B-4485-B5A3-9DF258734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8866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8" name="source-3">
            <a:extLst xmlns:a="http://schemas.openxmlformats.org/drawingml/2006/main">
              <a:ext uri="{FF2B5EF4-FFF2-40B4-BE49-F238E27FC236}">
                <a16:creationId xmlns:a16="http://schemas.microsoft.com/office/drawing/2014/main" id="{9D7E5B9A-6A8F-4853-A8B1-247CA274B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74385"/>
            <a:ext cx="1062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865" b="0">
                <a:solidFill>
                  <a:srgbClr val="667085"/>
                </a:solidFill>
                <a:latin typeface="STHeiti"/>
                <a:ea typeface="STHeiti"/>
                <a:cs typeface="STHeiti"/>
              </a:defRPr>
            </a:pPr>
            <a:r>
              <a:rPr sz="865" b="0">
                <a:solidFill>
                  <a:srgbClr val="667085"/>
                </a:solidFill>
                <a:latin typeface="STHeiti"/>
                <a:ea typeface="STHeiti"/>
                <a:cs typeface="STHeiti"/>
              </a:rPr>
              <a:t>来源：同花顺iFinD（估值截至2026/8/21）；药明康德2026H1；国金证券（2026/7/5）；浙商证券（2026/7/13）。评分为研究判断</a:t>
            </a:r>
            <a:endParaRPr sz="865" b="0">
              <a:solidFill>
                <a:srgbClr val="667085"/>
              </a:solidFill>
              <a:latin typeface="STHeiti"/>
              <a:ea typeface="STHeiti"/>
              <a:cs typeface="STHeiti"/>
            </a:endParaRPr>
          </a:p>
        </p:txBody>
      </p:sp>
      <p:sp>
        <p:nvSpPr>
          <p:cNvPr id="29" name="page-3">
            <a:extLst xmlns:a="http://schemas.openxmlformats.org/drawingml/2006/main">
              <a:ext uri="{FF2B5EF4-FFF2-40B4-BE49-F238E27FC236}">
                <a16:creationId xmlns:a16="http://schemas.microsoft.com/office/drawing/2014/main" id="{3C8505E5-214F-4DDF-9D86-157C5A340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87438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5000"/>
              </a:lnSpc>
              <a:buNone/>
              <a:defRPr sz="975" b="1">
                <a:solidFill>
                  <a:srgbClr val="667085"/>
                </a:solidFill>
                <a:latin typeface="STHeiti"/>
                <a:ea typeface="STHeiti"/>
                <a:cs typeface="STHeiti"/>
              </a:defRPr>
            </a:pPr>
            <a:r>
              <a:rPr sz="975" b="1">
                <a:solidFill>
                  <a:srgbClr val="667085"/>
                </a:solidFill>
                <a:latin typeface="STHeiti"/>
                <a:ea typeface="STHeiti"/>
                <a:cs typeface="STHeiti"/>
              </a:rPr>
              <a:t>03</a:t>
            </a:r>
            <a:endParaRPr sz="975" b="1">
              <a:solidFill>
                <a:srgbClr val="667085"/>
              </a:solidFill>
              <a:latin typeface="STHeiti"/>
              <a:ea typeface="STHeiti"/>
              <a:cs typeface="STHeiti"/>
            </a:endParaRPr>
          </a:p>
        </p:txBody>
      </p:sp>
    </p:spTree>
    <p:extLst>
      <p:ext uri="{BB962C8B-B14F-4D97-AF65-F5344CB8AC3E}">
        <p14:creationId xmlns:p14="http://schemas.microsoft.com/office/powerpoint/2010/main" val="9441453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3A9EDE3B-CE8B-4F73-A638-13A470746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101828"/>
                </a:solidFill>
                <a:latin typeface="STHeiti"/>
                <a:ea typeface="STHeiti"/>
                <a:cs typeface="STHeiti"/>
              </a:defRPr>
            </a:pPr>
            <a:r>
              <a:rPr sz="3600" b="1">
                <a:solidFill>
                  <a:srgbClr val="101828"/>
                </a:solidFill>
                <a:latin typeface="STHeiti"/>
                <a:ea typeface="STHeiti"/>
                <a:cs typeface="STHeiti"/>
              </a:rPr>
              <a:t>嘉实基金大健康组最新观点</a:t>
            </a:r>
            <a:endParaRPr sz="3600" b="1">
              <a:solidFill>
                <a:srgbClr val="101828"/>
              </a:solidFill>
              <a:latin typeface="STHeiti"/>
              <a:ea typeface="STHeiti"/>
              <a:cs typeface="STHeiti"/>
            </a:endParaRPr>
          </a:p>
        </p:txBody>
      </p:sp>
      <p:sp>
        <p:nvSpPr>
          <p:cNvPr id="3" name="accent-3">
            <a:extLst xmlns:a="http://schemas.openxmlformats.org/drawingml/2006/main">
              <a:ext uri="{FF2B5EF4-FFF2-40B4-BE49-F238E27FC236}">
                <a16:creationId xmlns:a16="http://schemas.microsoft.com/office/drawing/2014/main" id="{96270CF2-1AF7-4BA9-9DC8-A79C5FE28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2050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F6BFF"/>
            </a:solidFill>
            <a:prstDash val="solid"/>
          </a:ln>
        </p:spPr>
      </p:sp>
      <p:sp>
        <p:nvSpPr>
          <p:cNvPr id="27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27500C09-E71B-4485-B5A3-9DF258734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8866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8" name="source-3">
            <a:extLst xmlns:a="http://schemas.openxmlformats.org/drawingml/2006/main">
              <a:ext uri="{FF2B5EF4-FFF2-40B4-BE49-F238E27FC236}">
                <a16:creationId xmlns:a16="http://schemas.microsoft.com/office/drawing/2014/main" id="{9D7E5B9A-6A8F-4853-A8B1-247CA274B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74385"/>
            <a:ext cx="1062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865" b="0">
                <a:solidFill>
                  <a:srgbClr val="667085"/>
                </a:solidFill>
                <a:latin typeface="STHeiti"/>
                <a:ea typeface="STHeiti"/>
                <a:cs typeface="STHeiti"/>
              </a:defRPr>
            </a:pPr>
            <a:r>
              <a:rPr sz="865" b="0">
                <a:solidFill>
                  <a:srgbClr val="667085"/>
                </a:solidFill>
                <a:latin typeface="STHeiti"/>
                <a:ea typeface="STHeiti"/>
                <a:cs typeface="STHeiti"/>
              </a:rPr>
              <a:t>来源：IMA《嘉实郝淼交流0821》；同花顺iFinD。收益/回撤截至2026/8/24；持仓截至2026/6/30；赛道占比按Top10归一化</a:t>
            </a:r>
            <a:endParaRPr sz="865" b="0">
              <a:solidFill>
                <a:srgbClr val="667085"/>
              </a:solidFill>
              <a:latin typeface="STHeiti"/>
              <a:ea typeface="STHeiti"/>
              <a:cs typeface="STHeiti"/>
            </a:endParaRPr>
          </a:p>
        </p:txBody>
      </p:sp>
      <p:sp>
        <p:nvSpPr>
          <p:cNvPr id="29" name="page-3">
            <a:extLst xmlns:a="http://schemas.openxmlformats.org/drawingml/2006/main">
              <a:ext uri="{FF2B5EF4-FFF2-40B4-BE49-F238E27FC236}">
                <a16:creationId xmlns:a16="http://schemas.microsoft.com/office/drawing/2014/main" id="{3C8505E5-214F-4DDF-9D86-157C5A340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87438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95000"/>
              </a:lnSpc>
              <a:buNone/>
              <a:defRPr sz="975" b="1">
                <a:solidFill>
                  <a:srgbClr val="667085"/>
                </a:solidFill>
                <a:latin typeface="STHeiti"/>
                <a:ea typeface="STHeiti"/>
                <a:cs typeface="STHeiti"/>
              </a:defRPr>
            </a:pPr>
            <a:r>
              <a:rPr sz="975" b="1">
                <a:solidFill>
                  <a:srgbClr val="667085"/>
                </a:solidFill>
                <a:latin typeface="STHeiti"/>
                <a:ea typeface="STHeiti"/>
                <a:cs typeface="STHeiti"/>
              </a:rPr>
              <a:t>04</a:t>
            </a:r>
            <a:endParaRPr sz="975" b="1">
              <a:solidFill>
                <a:srgbClr val="667085"/>
              </a:solidFill>
              <a:latin typeface="STHeiti"/>
              <a:ea typeface="STHeiti"/>
              <a:cs typeface="STHeiti"/>
            </a:endParaRPr>
          </a:p>
        </p:txBody>
      </p:sp>
      <p:sp>
        <p:nvSpPr>
          <p:cNvPr id="30" name="viewpoint-industry-label">
            <a:extLst xmlns:a="http://schemas.openxmlformats.org/drawingml/2006/main">
              <a:ext uri="{FF2B5EF4-FFF2-40B4-BE49-F238E27FC236}">
                <a16:creationId xmlns:a16="http://schemas.microsoft.com/office/drawing/2014/main" id="{C70BCC56-C38A-4373-849A-830E53C7B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62075"/>
            <a:ext cx="5381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6BFF"/>
                </a:solidFill>
                <a:latin typeface="STHeiti"/>
                <a:ea typeface="STHeiti"/>
                <a:cs typeface="STHeiti"/>
              </a:defRPr>
            </a:pPr>
            <a:r>
              <a:rPr sz="1350" b="1">
                <a:solidFill>
                  <a:srgbClr val="2F6BFF"/>
                </a:solidFill>
                <a:latin typeface="STHeiti"/>
                <a:ea typeface="STHeiti"/>
                <a:cs typeface="STHeiti"/>
              </a:rPr>
              <a:t>当前行业变化</a:t>
            </a:r>
          </a:p>
        </p:txBody>
      </p:sp>
      <p:sp>
        <p:nvSpPr>
          <p:cNvPr id="31" name="viewpoint-industry-body">
            <a:extLst xmlns:a="http://schemas.openxmlformats.org/drawingml/2006/main">
              <a:ext uri="{FF2B5EF4-FFF2-40B4-BE49-F238E27FC236}">
                <a16:creationId xmlns:a16="http://schemas.microsoft.com/office/drawing/2014/main" id="{BE814B8B-313E-4545-BD68-325D59F14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5381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38" b="1">
                <a:solidFill>
                  <a:srgbClr val="344054"/>
                </a:solidFill>
                <a:latin typeface="STHeiti"/>
                <a:ea typeface="STHeiti"/>
                <a:cs typeface="STHeiti"/>
              </a:defRPr>
            </a:pPr>
            <a:r>
              <a:rPr sz="1238" b="1">
                <a:solidFill>
                  <a:srgbClr val="344054"/>
                </a:solidFill>
                <a:latin typeface="STHeiti"/>
                <a:ea typeface="STHeiti"/>
                <a:cs typeface="STHeiti"/>
              </a:rPr>
              <a:t>FDA改革落地，监管环境转向鼓励创新；A/H医药业绩延续增长，海外授权在高基数上继续扩张，全球医药风险偏好回升。</a:t>
            </a:r>
          </a:p>
        </p:txBody>
      </p:sp>
      <p:sp>
        <p:nvSpPr>
          <p:cNvPr id="32" name="viewpoint-divider">
            <a:extLst xmlns:a="http://schemas.openxmlformats.org/drawingml/2006/main">
              <a:ext uri="{FF2B5EF4-FFF2-40B4-BE49-F238E27FC236}">
                <a16:creationId xmlns:a16="http://schemas.microsoft.com/office/drawing/2014/main" id="{E7280CB5-4163-4BB4-A311-9AB5C35FA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390650"/>
            <a:ext cx="95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viewpoint-investment-label">
            <a:extLst xmlns:a="http://schemas.openxmlformats.org/drawingml/2006/main">
              <a:ext uri="{FF2B5EF4-FFF2-40B4-BE49-F238E27FC236}">
                <a16:creationId xmlns:a16="http://schemas.microsoft.com/office/drawing/2014/main" id="{1D0413E8-82F0-4216-824E-4EA278D41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362075"/>
            <a:ext cx="5381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9E0B"/>
                </a:solidFill>
                <a:latin typeface="STHeiti"/>
                <a:ea typeface="STHeiti"/>
                <a:cs typeface="STHeiti"/>
              </a:defRPr>
            </a:pPr>
            <a:r>
              <a:rPr sz="1350" b="1">
                <a:solidFill>
                  <a:srgbClr val="F59E0B"/>
                </a:solidFill>
                <a:latin typeface="STHeiti"/>
                <a:ea typeface="STHeiti"/>
                <a:cs typeface="STHeiti"/>
              </a:rPr>
              <a:t>后续投资线索</a:t>
            </a:r>
          </a:p>
        </p:txBody>
      </p:sp>
      <p:sp>
        <p:nvSpPr>
          <p:cNvPr id="34" name="viewpoint-investment-body">
            <a:extLst xmlns:a="http://schemas.openxmlformats.org/drawingml/2006/main">
              <a:ext uri="{FF2B5EF4-FFF2-40B4-BE49-F238E27FC236}">
                <a16:creationId xmlns:a16="http://schemas.microsoft.com/office/drawing/2014/main" id="{3215301F-088B-4037-8590-EBFA95E9F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657350"/>
            <a:ext cx="5381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38" b="1">
                <a:solidFill>
                  <a:srgbClr val="344054"/>
                </a:solidFill>
                <a:latin typeface="STHeiti"/>
                <a:ea typeface="STHeiti"/>
                <a:cs typeface="STHeiti"/>
              </a:defRPr>
            </a:pPr>
            <a:r>
              <a:rPr sz="1238" b="1">
                <a:solidFill>
                  <a:srgbClr val="344054"/>
                </a:solidFill>
                <a:latin typeface="STHeiti"/>
                <a:ea typeface="STHeiti"/>
                <a:cs typeface="STHeiti"/>
              </a:rPr>
              <a:t>短期趋势尚未见拐点。CXO跟踪订单、收入和现金流兑现；创新药重点评估临床成功率与远期DCF。</a:t>
            </a:r>
          </a:p>
        </p:txBody>
      </p:sp>
      <p:sp>
        <p:nvSpPr>
          <p:cNvPr id="35" name="viewpoint-bottom-rule">
            <a:extLst xmlns:a="http://schemas.openxmlformats.org/drawingml/2006/main">
              <a:ext uri="{FF2B5EF4-FFF2-40B4-BE49-F238E27FC236}">
                <a16:creationId xmlns:a16="http://schemas.microsoft.com/office/drawing/2014/main" id="{AA6D097A-0104-4913-B7DD-91DAE67FE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526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product-medical-care-card">
            <a:extLst xmlns:a="http://schemas.openxmlformats.org/drawingml/2006/main">
              <a:ext uri="{FF2B5EF4-FFF2-40B4-BE49-F238E27FC236}">
                <a16:creationId xmlns:a16="http://schemas.microsoft.com/office/drawing/2014/main" id="{AC6DE995-9BCC-4473-A6C9-FBD1F4352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33650"/>
            <a:ext cx="3581400" cy="3105150"/>
          </a:xfrm>
          <a:prstGeom xmlns:a="http://schemas.openxmlformats.org/drawingml/2006/main" prst="roundRect">
            <a:avLst>
              <a:gd name="adj" fmla="val 245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37" name="product-medical-care-accent">
            <a:extLst xmlns:a="http://schemas.openxmlformats.org/drawingml/2006/main">
              <a:ext uri="{FF2B5EF4-FFF2-40B4-BE49-F238E27FC236}">
                <a16:creationId xmlns:a16="http://schemas.microsoft.com/office/drawing/2014/main" id="{1A7B7D32-CF5F-49BA-B1E6-5D5A6A483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33650"/>
            <a:ext cx="3581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product-medical-care-fund">
            <a:extLst xmlns:a="http://schemas.openxmlformats.org/drawingml/2006/main">
              <a:ext uri="{FF2B5EF4-FFF2-40B4-BE49-F238E27FC236}">
                <a16:creationId xmlns:a16="http://schemas.microsoft.com/office/drawing/2014/main" id="{54A7EC6A-E522-4B9E-9BD2-3D2DF476C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7475"/>
            <a:ext cx="219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38" b="1">
                <a:solidFill>
                  <a:srgbClr val="101828"/>
                </a:solidFill>
                <a:latin typeface="STHeiti"/>
                <a:ea typeface="STHeiti"/>
                <a:cs typeface="STHeiti"/>
              </a:defRPr>
            </a:pPr>
            <a:r>
              <a:rPr sz="1538" b="1">
                <a:solidFill>
                  <a:srgbClr val="101828"/>
                </a:solidFill>
                <a:latin typeface="STHeiti"/>
                <a:ea typeface="STHeiti"/>
                <a:cs typeface="STHeiti"/>
              </a:rPr>
              <a:t>嘉实医疗保健</a:t>
            </a:r>
          </a:p>
        </p:txBody>
      </p:sp>
      <p:sp>
        <p:nvSpPr>
          <p:cNvPr id="39" name="product-medical-care-code">
            <a:extLst xmlns:a="http://schemas.openxmlformats.org/drawingml/2006/main">
              <a:ext uri="{FF2B5EF4-FFF2-40B4-BE49-F238E27FC236}">
                <a16:creationId xmlns:a16="http://schemas.microsoft.com/office/drawing/2014/main" id="{F663D67C-B432-4C26-A9B6-52DC1E27B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6860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67085"/>
                </a:solidFill>
                <a:latin typeface="STHeiti"/>
                <a:ea typeface="STHeiti"/>
                <a:cs typeface="STHeiti"/>
              </a:defRPr>
            </a:pPr>
            <a:r>
              <a:rPr sz="975">
                <a:solidFill>
                  <a:srgbClr val="667085"/>
                </a:solidFill>
                <a:latin typeface="STHeiti"/>
                <a:ea typeface="STHeiti"/>
                <a:cs typeface="STHeiti"/>
              </a:rPr>
              <a:t>000711</a:t>
            </a:r>
          </a:p>
        </p:txBody>
      </p:sp>
      <p:sp>
        <p:nvSpPr>
          <p:cNvPr id="40" name="product-medical-care-direction-band">
            <a:extLst xmlns:a="http://schemas.openxmlformats.org/drawingml/2006/main">
              <a:ext uri="{FF2B5EF4-FFF2-40B4-BE49-F238E27FC236}">
                <a16:creationId xmlns:a16="http://schemas.microsoft.com/office/drawing/2014/main" id="{66FE2C22-0A60-486F-8DAA-F072E3FDD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32766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product-medical-care-direction">
            <a:extLst xmlns:a="http://schemas.openxmlformats.org/drawingml/2006/main">
              <a:ext uri="{FF2B5EF4-FFF2-40B4-BE49-F238E27FC236}">
                <a16:creationId xmlns:a16="http://schemas.microsoft.com/office/drawing/2014/main" id="{AA3E041E-2422-4F0B-80A0-643492936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38475"/>
            <a:ext cx="3086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F6BFF"/>
                </a:solidFill>
                <a:latin typeface="STHeiti"/>
                <a:ea typeface="STHeiti"/>
                <a:cs typeface="STHeiti"/>
              </a:defRPr>
            </a:pPr>
            <a:r>
              <a:rPr sz="1050" b="1">
                <a:solidFill>
                  <a:srgbClr val="2F6BFF"/>
                </a:solidFill>
                <a:latin typeface="STHeiti"/>
                <a:ea typeface="STHeiti"/>
                <a:cs typeface="STHeiti"/>
              </a:rPr>
              <a:t>主投方向｜CXO为主，兼配创新药</a:t>
            </a:r>
          </a:p>
        </p:txBody>
      </p:sp>
      <p:sp>
        <p:nvSpPr>
          <p:cNvPr id="42" name="product-medical-care-return-box">
            <a:extLst xmlns:a="http://schemas.openxmlformats.org/drawingml/2006/main">
              <a:ext uri="{FF2B5EF4-FFF2-40B4-BE49-F238E27FC236}">
                <a16:creationId xmlns:a16="http://schemas.microsoft.com/office/drawing/2014/main" id="{B2EA6CDA-8357-41FF-9685-EF6FA9DEB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15811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E5EAF0"/>
            </a:solidFill>
            <a:prstDash val="solid"/>
          </a:ln>
        </p:spPr>
      </p:sp>
      <p:sp>
        <p:nvSpPr>
          <p:cNvPr id="43" name="product-medical-care-return-label">
            <a:extLst xmlns:a="http://schemas.openxmlformats.org/drawingml/2006/main">
              <a:ext uri="{FF2B5EF4-FFF2-40B4-BE49-F238E27FC236}">
                <a16:creationId xmlns:a16="http://schemas.microsoft.com/office/drawing/2014/main" id="{D30E9271-E930-4721-ACFC-C74523260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667085"/>
                </a:solidFill>
                <a:latin typeface="STHeiti"/>
                <a:ea typeface="STHeiti"/>
                <a:cs typeface="STHeiti"/>
              </a:defRPr>
            </a:pPr>
            <a:r>
              <a:rPr sz="975">
                <a:solidFill>
                  <a:srgbClr val="667085"/>
                </a:solidFill>
                <a:latin typeface="STHeiti"/>
                <a:ea typeface="STHeiti"/>
                <a:cs typeface="STHeiti"/>
              </a:rPr>
              <a:t>近1年收益</a:t>
            </a:r>
          </a:p>
        </p:txBody>
      </p:sp>
      <p:sp>
        <p:nvSpPr>
          <p:cNvPr id="44" name="product-medical-care-return-value">
            <a:extLst xmlns:a="http://schemas.openxmlformats.org/drawingml/2006/main">
              <a:ext uri="{FF2B5EF4-FFF2-40B4-BE49-F238E27FC236}">
                <a16:creationId xmlns:a16="http://schemas.microsoft.com/office/drawing/2014/main" id="{98E07694-BAAC-40B9-9596-D4ADEED62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1428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6667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6BFF"/>
                </a:solidFill>
                <a:latin typeface="STHeiti"/>
                <a:ea typeface="STHeiti"/>
                <a:cs typeface="STHeiti"/>
              </a:defRPr>
            </a:pPr>
            <a:r>
              <a:rPr sz="1875" b="1">
                <a:solidFill>
                  <a:srgbClr val="2F6BFF"/>
                </a:solidFill>
                <a:latin typeface="STHeiti"/>
                <a:ea typeface="STHeiti"/>
                <a:cs typeface="STHeiti"/>
              </a:rPr>
              <a:t>+15.5%</a:t>
            </a:r>
          </a:p>
        </p:txBody>
      </p:sp>
      <p:sp>
        <p:nvSpPr>
          <p:cNvPr id="45" name="product-medical-care-drawdown-box">
            <a:extLst xmlns:a="http://schemas.openxmlformats.org/drawingml/2006/main">
              <a:ext uri="{FF2B5EF4-FFF2-40B4-BE49-F238E27FC236}">
                <a16:creationId xmlns:a16="http://schemas.microsoft.com/office/drawing/2014/main" id="{7DA8E235-823A-4077-8145-E12590B5C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371850"/>
            <a:ext cx="15811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E5EAF0"/>
            </a:solidFill>
            <a:prstDash val="solid"/>
          </a:ln>
        </p:spPr>
      </p:sp>
      <p:sp>
        <p:nvSpPr>
          <p:cNvPr id="46" name="product-medical-care-drawdown-label">
            <a:extLst xmlns:a="http://schemas.openxmlformats.org/drawingml/2006/main">
              <a:ext uri="{FF2B5EF4-FFF2-40B4-BE49-F238E27FC236}">
                <a16:creationId xmlns:a16="http://schemas.microsoft.com/office/drawing/2014/main" id="{1D9C20DC-DD58-4F60-819F-5CA756765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4671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667085"/>
                </a:solidFill>
                <a:latin typeface="STHeiti"/>
                <a:ea typeface="STHeiti"/>
                <a:cs typeface="STHeiti"/>
              </a:defRPr>
            </a:pPr>
            <a:r>
              <a:rPr sz="975">
                <a:solidFill>
                  <a:srgbClr val="667085"/>
                </a:solidFill>
                <a:latin typeface="STHeiti"/>
                <a:ea typeface="STHeiti"/>
                <a:cs typeface="STHeiti"/>
              </a:rPr>
              <a:t>近1年最大回撤</a:t>
            </a:r>
          </a:p>
        </p:txBody>
      </p:sp>
      <p:sp>
        <p:nvSpPr>
          <p:cNvPr id="47" name="product-medical-care-drawdown-value">
            <a:extLst xmlns:a="http://schemas.openxmlformats.org/drawingml/2006/main">
              <a:ext uri="{FF2B5EF4-FFF2-40B4-BE49-F238E27FC236}">
                <a16:creationId xmlns:a16="http://schemas.microsoft.com/office/drawing/2014/main" id="{942AA19A-3CC3-42B8-A4DE-C001D70A5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676650"/>
            <a:ext cx="1428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6667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6BFF"/>
                </a:solidFill>
                <a:latin typeface="STHeiti"/>
                <a:ea typeface="STHeiti"/>
                <a:cs typeface="STHeiti"/>
              </a:defRPr>
            </a:pPr>
            <a:r>
              <a:rPr sz="1875" b="1">
                <a:solidFill>
                  <a:srgbClr val="2F6BFF"/>
                </a:solidFill>
                <a:latin typeface="STHeiti"/>
                <a:ea typeface="STHeiti"/>
                <a:cs typeface="STHeiti"/>
              </a:rPr>
              <a:t>24.4%</a:t>
            </a:r>
          </a:p>
        </p:txBody>
      </p:sp>
      <p:sp>
        <p:nvSpPr>
          <p:cNvPr id="48" name="product-medical-care-allocation-title">
            <a:extLst xmlns:a="http://schemas.openxmlformats.org/drawingml/2006/main">
              <a:ext uri="{FF2B5EF4-FFF2-40B4-BE49-F238E27FC236}">
                <a16:creationId xmlns:a16="http://schemas.microsoft.com/office/drawing/2014/main" id="{458144B3-8B7C-44FD-B376-5172802E6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3276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13" b="1">
                <a:solidFill>
                  <a:srgbClr val="344054"/>
                </a:solidFill>
                <a:latin typeface="STHeiti"/>
                <a:ea typeface="STHeiti"/>
                <a:cs typeface="STHeiti"/>
              </a:defRPr>
            </a:pPr>
            <a:r>
              <a:rPr sz="1013" b="1">
                <a:solidFill>
                  <a:srgbClr val="344054"/>
                </a:solidFill>
                <a:latin typeface="STHeiti"/>
                <a:ea typeface="STHeiti"/>
                <a:cs typeface="STHeiti"/>
              </a:rPr>
              <a:t>医药细分赛道｜6/30 Top10穿透归一化</a:t>
            </a:r>
          </a:p>
        </p:txBody>
      </p:sp>
      <p:sp>
        <p:nvSpPr>
          <p:cNvPr id="49" name="product-medical-care-allocation-1-label">
            <a:extLst xmlns:a="http://schemas.openxmlformats.org/drawingml/2006/main">
              <a:ext uri="{FF2B5EF4-FFF2-40B4-BE49-F238E27FC236}">
                <a16:creationId xmlns:a16="http://schemas.microsoft.com/office/drawing/2014/main" id="{784A40C1-F682-48B1-B3AE-BE41B05F3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86275"/>
            <a:ext cx="819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13" b="1">
                <a:solidFill>
                  <a:srgbClr val="344054"/>
                </a:solidFill>
                <a:latin typeface="STHeiti"/>
                <a:ea typeface="STHeiti"/>
                <a:cs typeface="STHeiti"/>
              </a:defRPr>
            </a:pPr>
            <a:r>
              <a:rPr sz="1013" b="1">
                <a:solidFill>
                  <a:srgbClr val="344054"/>
                </a:solidFill>
                <a:latin typeface="STHeiti"/>
                <a:ea typeface="STHeiti"/>
                <a:cs typeface="STHeiti"/>
              </a:rPr>
              <a:t>CXO</a:t>
            </a:r>
          </a:p>
        </p:txBody>
      </p:sp>
      <p:sp>
        <p:nvSpPr>
          <p:cNvPr id="50" name="product-medical-care-allocation-1-track">
            <a:extLst xmlns:a="http://schemas.openxmlformats.org/drawingml/2006/main">
              <a:ext uri="{FF2B5EF4-FFF2-40B4-BE49-F238E27FC236}">
                <a16:creationId xmlns:a16="http://schemas.microsoft.com/office/drawing/2014/main" id="{877239F8-DA8B-408D-B1D0-720ED6D6C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543425"/>
            <a:ext cx="171450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E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product-medical-care-allocation-1-fill">
            <a:extLst xmlns:a="http://schemas.openxmlformats.org/drawingml/2006/main">
              <a:ext uri="{FF2B5EF4-FFF2-40B4-BE49-F238E27FC236}">
                <a16:creationId xmlns:a16="http://schemas.microsoft.com/office/drawing/2014/main" id="{2B4D57E7-9626-47F8-A37E-9D72E5979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543425"/>
            <a:ext cx="1297877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product-medical-care-allocation-1-value">
            <a:extLst xmlns:a="http://schemas.openxmlformats.org/drawingml/2006/main">
              <a:ext uri="{FF2B5EF4-FFF2-40B4-BE49-F238E27FC236}">
                <a16:creationId xmlns:a16="http://schemas.microsoft.com/office/drawing/2014/main" id="{2D54E7FA-1F11-4659-9A94-265B8763A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4862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13" b="1">
                <a:solidFill>
                  <a:srgbClr val="2F6BFF"/>
                </a:solidFill>
                <a:latin typeface="STHeiti"/>
                <a:ea typeface="STHeiti"/>
                <a:cs typeface="STHeiti"/>
              </a:defRPr>
            </a:pPr>
            <a:r>
              <a:rPr sz="1013" b="1">
                <a:solidFill>
                  <a:srgbClr val="2F6BFF"/>
                </a:solidFill>
                <a:latin typeface="STHeiti"/>
                <a:ea typeface="STHeiti"/>
                <a:cs typeface="STHeiti"/>
              </a:rPr>
              <a:t>75.7%</a:t>
            </a:r>
          </a:p>
        </p:txBody>
      </p:sp>
      <p:sp>
        <p:nvSpPr>
          <p:cNvPr id="53" name="product-medical-care-allocation-2-label">
            <a:extLst xmlns:a="http://schemas.openxmlformats.org/drawingml/2006/main">
              <a:ext uri="{FF2B5EF4-FFF2-40B4-BE49-F238E27FC236}">
                <a16:creationId xmlns:a16="http://schemas.microsoft.com/office/drawing/2014/main" id="{E5F70250-CCA6-4684-9C13-304F27FD4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2025"/>
            <a:ext cx="819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13" b="1">
                <a:solidFill>
                  <a:srgbClr val="344054"/>
                </a:solidFill>
                <a:latin typeface="STHeiti"/>
                <a:ea typeface="STHeiti"/>
                <a:cs typeface="STHeiti"/>
              </a:defRPr>
            </a:pPr>
            <a:r>
              <a:rPr sz="1013" b="1">
                <a:solidFill>
                  <a:srgbClr val="344054"/>
                </a:solidFill>
                <a:latin typeface="STHeiti"/>
                <a:ea typeface="STHeiti"/>
                <a:cs typeface="STHeiti"/>
              </a:rPr>
              <a:t>创新药</a:t>
            </a:r>
          </a:p>
        </p:txBody>
      </p:sp>
      <p:sp>
        <p:nvSpPr>
          <p:cNvPr id="54" name="product-medical-care-allocation-2-track">
            <a:extLst xmlns:a="http://schemas.openxmlformats.org/drawingml/2006/main">
              <a:ext uri="{FF2B5EF4-FFF2-40B4-BE49-F238E27FC236}">
                <a16:creationId xmlns:a16="http://schemas.microsoft.com/office/drawing/2014/main" id="{63AEEAB6-F49A-4E24-9DBC-C23AF517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29175"/>
            <a:ext cx="171450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E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product-medical-care-allocation-2-fill">
            <a:extLst xmlns:a="http://schemas.openxmlformats.org/drawingml/2006/main">
              <a:ext uri="{FF2B5EF4-FFF2-40B4-BE49-F238E27FC236}">
                <a16:creationId xmlns:a16="http://schemas.microsoft.com/office/drawing/2014/main" id="{F408EA02-541A-4D19-8E26-76AADA0EB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29175"/>
            <a:ext cx="416624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product-medical-care-allocation-2-value">
            <a:extLst xmlns:a="http://schemas.openxmlformats.org/drawingml/2006/main">
              <a:ext uri="{FF2B5EF4-FFF2-40B4-BE49-F238E27FC236}">
                <a16:creationId xmlns:a16="http://schemas.microsoft.com/office/drawing/2014/main" id="{6DE6C575-A823-4EBB-8E57-36FDD937C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77202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13" b="1">
                <a:solidFill>
                  <a:srgbClr val="2F6BFF"/>
                </a:solidFill>
                <a:latin typeface="STHeiti"/>
                <a:ea typeface="STHeiti"/>
                <a:cs typeface="STHeiti"/>
              </a:defRPr>
            </a:pPr>
            <a:r>
              <a:rPr sz="1013" b="1">
                <a:solidFill>
                  <a:srgbClr val="2F6BFF"/>
                </a:solidFill>
                <a:latin typeface="STHeiti"/>
                <a:ea typeface="STHeiti"/>
                <a:cs typeface="STHeiti"/>
              </a:rPr>
              <a:t>24.3%</a:t>
            </a:r>
          </a:p>
        </p:txBody>
      </p:sp>
      <p:sp>
        <p:nvSpPr>
          <p:cNvPr id="57" name="product-medical-care-top10-label">
            <a:extLst xmlns:a="http://schemas.openxmlformats.org/drawingml/2006/main">
              <a:ext uri="{FF2B5EF4-FFF2-40B4-BE49-F238E27FC236}">
                <a16:creationId xmlns:a16="http://schemas.microsoft.com/office/drawing/2014/main" id="{EA0557DC-3912-4865-B93C-22E19AB0B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88" b="1">
                <a:solidFill>
                  <a:srgbClr val="344054"/>
                </a:solidFill>
                <a:latin typeface="STHeiti"/>
                <a:ea typeface="STHeiti"/>
                <a:cs typeface="STHeiti"/>
              </a:defRPr>
            </a:pPr>
            <a:r>
              <a:rPr sz="1088" b="1">
                <a:solidFill>
                  <a:srgbClr val="344054"/>
                </a:solidFill>
                <a:latin typeface="STHeiti"/>
                <a:ea typeface="STHeiti"/>
                <a:cs typeface="STHeiti"/>
              </a:rPr>
              <a:t>前十大持仓占比</a:t>
            </a:r>
          </a:p>
        </p:txBody>
      </p:sp>
      <p:sp>
        <p:nvSpPr>
          <p:cNvPr id="58" name="product-medical-care-top10-value">
            <a:extLst xmlns:a="http://schemas.openxmlformats.org/drawingml/2006/main">
              <a:ext uri="{FF2B5EF4-FFF2-40B4-BE49-F238E27FC236}">
                <a16:creationId xmlns:a16="http://schemas.microsoft.com/office/drawing/2014/main" id="{53C3CB84-6FF7-4647-B9A4-186C8C6B4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067300"/>
            <a:ext cx="95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2F6BFF"/>
                </a:solidFill>
                <a:latin typeface="STHeiti"/>
                <a:ea typeface="STHeiti"/>
                <a:cs typeface="STHeiti"/>
              </a:defRPr>
            </a:pPr>
            <a:r>
              <a:rPr sz="1575" b="1">
                <a:solidFill>
                  <a:srgbClr val="2F6BFF"/>
                </a:solidFill>
                <a:latin typeface="STHeiti"/>
                <a:ea typeface="STHeiti"/>
                <a:cs typeface="STHeiti"/>
              </a:rPr>
              <a:t>68.4%</a:t>
            </a:r>
          </a:p>
        </p:txBody>
      </p:sp>
      <p:sp>
        <p:nvSpPr>
          <p:cNvPr id="59" name="product-medical-care-top10-track">
            <a:extLst xmlns:a="http://schemas.openxmlformats.org/drawingml/2006/main">
              <a:ext uri="{FF2B5EF4-FFF2-40B4-BE49-F238E27FC236}">
                <a16:creationId xmlns:a16="http://schemas.microsoft.com/office/drawing/2014/main" id="{1C128408-FD0B-4E3B-B71E-BB6898241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327660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E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product-medical-care-top10-fill">
            <a:extLst xmlns:a="http://schemas.openxmlformats.org/drawingml/2006/main">
              <a:ext uri="{FF2B5EF4-FFF2-40B4-BE49-F238E27FC236}">
                <a16:creationId xmlns:a16="http://schemas.microsoft.com/office/drawing/2014/main" id="{F54C65C2-4060-4179-BCEA-DF671039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2241194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product-medical-health-card">
            <a:extLst xmlns:a="http://schemas.openxmlformats.org/drawingml/2006/main">
              <a:ext uri="{FF2B5EF4-FFF2-40B4-BE49-F238E27FC236}">
                <a16:creationId xmlns:a16="http://schemas.microsoft.com/office/drawing/2014/main" id="{C09B4AB5-6B42-49EB-8954-484770D98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33650"/>
            <a:ext cx="3581400" cy="3105150"/>
          </a:xfrm>
          <a:prstGeom xmlns:a="http://schemas.openxmlformats.org/drawingml/2006/main" prst="roundRect">
            <a:avLst>
              <a:gd name="adj" fmla="val 245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62" name="product-medical-health-accent">
            <a:extLst xmlns:a="http://schemas.openxmlformats.org/drawingml/2006/main">
              <a:ext uri="{FF2B5EF4-FFF2-40B4-BE49-F238E27FC236}">
                <a16:creationId xmlns:a16="http://schemas.microsoft.com/office/drawing/2014/main" id="{AAC0B9DF-C2E8-4F37-A9BA-243202993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33650"/>
            <a:ext cx="3581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product-medical-health-fund">
            <a:extLst xmlns:a="http://schemas.openxmlformats.org/drawingml/2006/main">
              <a:ext uri="{FF2B5EF4-FFF2-40B4-BE49-F238E27FC236}">
                <a16:creationId xmlns:a16="http://schemas.microsoft.com/office/drawing/2014/main" id="{FF4057BE-F194-46BA-947B-85C8CCE77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57475"/>
            <a:ext cx="219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38" b="1">
                <a:solidFill>
                  <a:srgbClr val="101828"/>
                </a:solidFill>
                <a:latin typeface="STHeiti"/>
                <a:ea typeface="STHeiti"/>
                <a:cs typeface="STHeiti"/>
              </a:defRPr>
            </a:pPr>
            <a:r>
              <a:rPr sz="1538" b="1">
                <a:solidFill>
                  <a:srgbClr val="101828"/>
                </a:solidFill>
                <a:latin typeface="STHeiti"/>
                <a:ea typeface="STHeiti"/>
                <a:cs typeface="STHeiti"/>
              </a:rPr>
              <a:t>嘉实医药健康</a:t>
            </a:r>
          </a:p>
        </p:txBody>
      </p:sp>
      <p:sp>
        <p:nvSpPr>
          <p:cNvPr id="64" name="product-medical-health-code">
            <a:extLst xmlns:a="http://schemas.openxmlformats.org/drawingml/2006/main">
              <a:ext uri="{FF2B5EF4-FFF2-40B4-BE49-F238E27FC236}">
                <a16:creationId xmlns:a16="http://schemas.microsoft.com/office/drawing/2014/main" id="{3A2AE45E-1AED-4FCC-86AA-7D307BAC0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860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67085"/>
                </a:solidFill>
                <a:latin typeface="STHeiti"/>
                <a:ea typeface="STHeiti"/>
                <a:cs typeface="STHeiti"/>
              </a:defRPr>
            </a:pPr>
            <a:r>
              <a:rPr sz="975">
                <a:solidFill>
                  <a:srgbClr val="667085"/>
                </a:solidFill>
                <a:latin typeface="STHeiti"/>
                <a:ea typeface="STHeiti"/>
                <a:cs typeface="STHeiti"/>
              </a:rPr>
              <a:t>005303</a:t>
            </a:r>
          </a:p>
        </p:txBody>
      </p:sp>
      <p:sp>
        <p:nvSpPr>
          <p:cNvPr id="65" name="product-medical-health-direction-band">
            <a:extLst xmlns:a="http://schemas.openxmlformats.org/drawingml/2006/main">
              <a:ext uri="{FF2B5EF4-FFF2-40B4-BE49-F238E27FC236}">
                <a16:creationId xmlns:a16="http://schemas.microsoft.com/office/drawing/2014/main" id="{AE77A909-4215-41DB-B3AC-CD4E151A5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990850"/>
            <a:ext cx="32766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5F7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product-medical-health-direction">
            <a:extLst xmlns:a="http://schemas.openxmlformats.org/drawingml/2006/main">
              <a:ext uri="{FF2B5EF4-FFF2-40B4-BE49-F238E27FC236}">
                <a16:creationId xmlns:a16="http://schemas.microsoft.com/office/drawing/2014/main" id="{9360388A-F11F-483E-B6B8-1C09E3C54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38475"/>
            <a:ext cx="3086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A68A"/>
                </a:solidFill>
                <a:latin typeface="STHeiti"/>
                <a:ea typeface="STHeiti"/>
                <a:cs typeface="STHeiti"/>
              </a:defRPr>
            </a:pPr>
            <a:r>
              <a:rPr sz="1050" b="1">
                <a:solidFill>
                  <a:srgbClr val="00A68A"/>
                </a:solidFill>
                <a:latin typeface="STHeiti"/>
                <a:ea typeface="STHeiti"/>
                <a:cs typeface="STHeiti"/>
              </a:rPr>
              <a:t>主投方向｜CXO为主，创新药+器械</a:t>
            </a:r>
          </a:p>
        </p:txBody>
      </p:sp>
      <p:sp>
        <p:nvSpPr>
          <p:cNvPr id="67" name="product-medical-health-return-box">
            <a:extLst xmlns:a="http://schemas.openxmlformats.org/drawingml/2006/main">
              <a:ext uri="{FF2B5EF4-FFF2-40B4-BE49-F238E27FC236}">
                <a16:creationId xmlns:a16="http://schemas.microsoft.com/office/drawing/2014/main" id="{FF15B279-80C3-4186-858F-86B7AFBB6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71850"/>
            <a:ext cx="15811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E5EAF0"/>
            </a:solidFill>
            <a:prstDash val="solid"/>
          </a:ln>
        </p:spPr>
      </p:sp>
      <p:sp>
        <p:nvSpPr>
          <p:cNvPr id="68" name="product-medical-health-return-label">
            <a:extLst xmlns:a="http://schemas.openxmlformats.org/drawingml/2006/main">
              <a:ext uri="{FF2B5EF4-FFF2-40B4-BE49-F238E27FC236}">
                <a16:creationId xmlns:a16="http://schemas.microsoft.com/office/drawing/2014/main" id="{0775E29F-250C-4310-8775-159051CFF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4671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667085"/>
                </a:solidFill>
                <a:latin typeface="STHeiti"/>
                <a:ea typeface="STHeiti"/>
                <a:cs typeface="STHeiti"/>
              </a:defRPr>
            </a:pPr>
            <a:r>
              <a:rPr sz="975">
                <a:solidFill>
                  <a:srgbClr val="667085"/>
                </a:solidFill>
                <a:latin typeface="STHeiti"/>
                <a:ea typeface="STHeiti"/>
                <a:cs typeface="STHeiti"/>
              </a:rPr>
              <a:t>近1年收益</a:t>
            </a:r>
          </a:p>
        </p:txBody>
      </p:sp>
      <p:sp>
        <p:nvSpPr>
          <p:cNvPr id="69" name="product-medical-health-return-value">
            <a:extLst xmlns:a="http://schemas.openxmlformats.org/drawingml/2006/main">
              <a:ext uri="{FF2B5EF4-FFF2-40B4-BE49-F238E27FC236}">
                <a16:creationId xmlns:a16="http://schemas.microsoft.com/office/drawing/2014/main" id="{02C11B5E-5443-4170-BD21-A6E8C142D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676650"/>
            <a:ext cx="1428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6667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A68A"/>
                </a:solidFill>
                <a:latin typeface="STHeiti"/>
                <a:ea typeface="STHeiti"/>
                <a:cs typeface="STHeiti"/>
              </a:defRPr>
            </a:pPr>
            <a:r>
              <a:rPr sz="1875" b="1">
                <a:solidFill>
                  <a:srgbClr val="00A68A"/>
                </a:solidFill>
                <a:latin typeface="STHeiti"/>
                <a:ea typeface="STHeiti"/>
                <a:cs typeface="STHeiti"/>
              </a:rPr>
              <a:t>+7.2%</a:t>
            </a:r>
          </a:p>
        </p:txBody>
      </p:sp>
      <p:sp>
        <p:nvSpPr>
          <p:cNvPr id="70" name="product-medical-health-drawdown-box">
            <a:extLst xmlns:a="http://schemas.openxmlformats.org/drawingml/2006/main">
              <a:ext uri="{FF2B5EF4-FFF2-40B4-BE49-F238E27FC236}">
                <a16:creationId xmlns:a16="http://schemas.microsoft.com/office/drawing/2014/main" id="{5560F1F6-B0FA-4500-8879-352C29FA9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371850"/>
            <a:ext cx="15811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E5EAF0"/>
            </a:solidFill>
            <a:prstDash val="solid"/>
          </a:ln>
        </p:spPr>
      </p:sp>
      <p:sp>
        <p:nvSpPr>
          <p:cNvPr id="71" name="product-medical-health-drawdown-label">
            <a:extLst xmlns:a="http://schemas.openxmlformats.org/drawingml/2006/main">
              <a:ext uri="{FF2B5EF4-FFF2-40B4-BE49-F238E27FC236}">
                <a16:creationId xmlns:a16="http://schemas.microsoft.com/office/drawing/2014/main" id="{709A16C4-5631-415E-A6EA-CF4FA37FE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671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667085"/>
                </a:solidFill>
                <a:latin typeface="STHeiti"/>
                <a:ea typeface="STHeiti"/>
                <a:cs typeface="STHeiti"/>
              </a:defRPr>
            </a:pPr>
            <a:r>
              <a:rPr sz="975">
                <a:solidFill>
                  <a:srgbClr val="667085"/>
                </a:solidFill>
                <a:latin typeface="STHeiti"/>
                <a:ea typeface="STHeiti"/>
                <a:cs typeface="STHeiti"/>
              </a:rPr>
              <a:t>近1年最大回撤</a:t>
            </a:r>
          </a:p>
        </p:txBody>
      </p:sp>
      <p:sp>
        <p:nvSpPr>
          <p:cNvPr id="72" name="product-medical-health-drawdown-value">
            <a:extLst xmlns:a="http://schemas.openxmlformats.org/drawingml/2006/main">
              <a:ext uri="{FF2B5EF4-FFF2-40B4-BE49-F238E27FC236}">
                <a16:creationId xmlns:a16="http://schemas.microsoft.com/office/drawing/2014/main" id="{7EECE4C7-2AA0-4CB1-97F0-FABCB4007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676650"/>
            <a:ext cx="1428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6667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A68A"/>
                </a:solidFill>
                <a:latin typeface="STHeiti"/>
                <a:ea typeface="STHeiti"/>
                <a:cs typeface="STHeiti"/>
              </a:defRPr>
            </a:pPr>
            <a:r>
              <a:rPr sz="1875" b="1">
                <a:solidFill>
                  <a:srgbClr val="00A68A"/>
                </a:solidFill>
                <a:latin typeface="STHeiti"/>
                <a:ea typeface="STHeiti"/>
                <a:cs typeface="STHeiti"/>
              </a:rPr>
              <a:t>24.8%</a:t>
            </a:r>
          </a:p>
        </p:txBody>
      </p:sp>
      <p:sp>
        <p:nvSpPr>
          <p:cNvPr id="73" name="product-medical-health-allocation-title">
            <a:extLst xmlns:a="http://schemas.openxmlformats.org/drawingml/2006/main">
              <a:ext uri="{FF2B5EF4-FFF2-40B4-BE49-F238E27FC236}">
                <a16:creationId xmlns:a16="http://schemas.microsoft.com/office/drawing/2014/main" id="{DA1DF62B-ED25-4C0F-986D-E0132309A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114800"/>
            <a:ext cx="3276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13" b="1">
                <a:solidFill>
                  <a:srgbClr val="344054"/>
                </a:solidFill>
                <a:latin typeface="STHeiti"/>
                <a:ea typeface="STHeiti"/>
                <a:cs typeface="STHeiti"/>
              </a:defRPr>
            </a:pPr>
            <a:r>
              <a:rPr sz="1013" b="1">
                <a:solidFill>
                  <a:srgbClr val="344054"/>
                </a:solidFill>
                <a:latin typeface="STHeiti"/>
                <a:ea typeface="STHeiti"/>
                <a:cs typeface="STHeiti"/>
              </a:rPr>
              <a:t>医药细分赛道｜6/30 Top10穿透归一化</a:t>
            </a:r>
          </a:p>
        </p:txBody>
      </p:sp>
      <p:sp>
        <p:nvSpPr>
          <p:cNvPr id="74" name="product-medical-health-allocation-1-label">
            <a:extLst xmlns:a="http://schemas.openxmlformats.org/drawingml/2006/main">
              <a:ext uri="{FF2B5EF4-FFF2-40B4-BE49-F238E27FC236}">
                <a16:creationId xmlns:a16="http://schemas.microsoft.com/office/drawing/2014/main" id="{90841982-9CF5-4CD3-AEEB-61849251B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381500"/>
            <a:ext cx="819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13" b="1">
                <a:solidFill>
                  <a:srgbClr val="344054"/>
                </a:solidFill>
                <a:latin typeface="STHeiti"/>
                <a:ea typeface="STHeiti"/>
                <a:cs typeface="STHeiti"/>
              </a:defRPr>
            </a:pPr>
            <a:r>
              <a:rPr sz="1013" b="1">
                <a:solidFill>
                  <a:srgbClr val="344054"/>
                </a:solidFill>
                <a:latin typeface="STHeiti"/>
                <a:ea typeface="STHeiti"/>
                <a:cs typeface="STHeiti"/>
              </a:rPr>
              <a:t>CXO</a:t>
            </a:r>
          </a:p>
        </p:txBody>
      </p:sp>
      <p:sp>
        <p:nvSpPr>
          <p:cNvPr id="75" name="product-medical-health-allocation-1-track">
            <a:extLst xmlns:a="http://schemas.openxmlformats.org/drawingml/2006/main">
              <a:ext uri="{FF2B5EF4-FFF2-40B4-BE49-F238E27FC236}">
                <a16:creationId xmlns:a16="http://schemas.microsoft.com/office/drawing/2014/main" id="{44C39267-0964-4D56-8949-2F840C747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438650"/>
            <a:ext cx="171450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E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product-medical-health-allocation-1-fill">
            <a:extLst xmlns:a="http://schemas.openxmlformats.org/drawingml/2006/main">
              <a:ext uri="{FF2B5EF4-FFF2-40B4-BE49-F238E27FC236}">
                <a16:creationId xmlns:a16="http://schemas.microsoft.com/office/drawing/2014/main" id="{433CE17A-E152-49F3-AD66-88FEF1884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438650"/>
            <a:ext cx="1004697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product-medical-health-allocation-1-value">
            <a:extLst xmlns:a="http://schemas.openxmlformats.org/drawingml/2006/main">
              <a:ext uri="{FF2B5EF4-FFF2-40B4-BE49-F238E27FC236}">
                <a16:creationId xmlns:a16="http://schemas.microsoft.com/office/drawing/2014/main" id="{DA45C367-58E1-4A7D-8A8C-84B7CCEE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3815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13" b="1">
                <a:solidFill>
                  <a:srgbClr val="00A68A"/>
                </a:solidFill>
                <a:latin typeface="STHeiti"/>
                <a:ea typeface="STHeiti"/>
                <a:cs typeface="STHeiti"/>
              </a:defRPr>
            </a:pPr>
            <a:r>
              <a:rPr sz="1013" b="1">
                <a:solidFill>
                  <a:srgbClr val="00A68A"/>
                </a:solidFill>
                <a:latin typeface="STHeiti"/>
                <a:ea typeface="STHeiti"/>
                <a:cs typeface="STHeiti"/>
              </a:rPr>
              <a:t>58.6%</a:t>
            </a:r>
          </a:p>
        </p:txBody>
      </p:sp>
      <p:sp>
        <p:nvSpPr>
          <p:cNvPr id="78" name="product-medical-health-allocation-2-label">
            <a:extLst xmlns:a="http://schemas.openxmlformats.org/drawingml/2006/main">
              <a:ext uri="{FF2B5EF4-FFF2-40B4-BE49-F238E27FC236}">
                <a16:creationId xmlns:a16="http://schemas.microsoft.com/office/drawing/2014/main" id="{E9111AD7-938D-427A-AEF3-0EEF9086D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619625"/>
            <a:ext cx="819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13" b="1">
                <a:solidFill>
                  <a:srgbClr val="344054"/>
                </a:solidFill>
                <a:latin typeface="STHeiti"/>
                <a:ea typeface="STHeiti"/>
                <a:cs typeface="STHeiti"/>
              </a:defRPr>
            </a:pPr>
            <a:r>
              <a:rPr sz="1013" b="1">
                <a:solidFill>
                  <a:srgbClr val="344054"/>
                </a:solidFill>
                <a:latin typeface="STHeiti"/>
                <a:ea typeface="STHeiti"/>
                <a:cs typeface="STHeiti"/>
              </a:rPr>
              <a:t>创新药</a:t>
            </a:r>
          </a:p>
        </p:txBody>
      </p:sp>
      <p:sp>
        <p:nvSpPr>
          <p:cNvPr id="79" name="product-medical-health-allocation-2-track">
            <a:extLst xmlns:a="http://schemas.openxmlformats.org/drawingml/2006/main">
              <a:ext uri="{FF2B5EF4-FFF2-40B4-BE49-F238E27FC236}">
                <a16:creationId xmlns:a16="http://schemas.microsoft.com/office/drawing/2014/main" id="{782F0300-4396-414C-BAB2-73F97E755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676775"/>
            <a:ext cx="171450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E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product-medical-health-allocation-2-fill">
            <a:extLst xmlns:a="http://schemas.openxmlformats.org/drawingml/2006/main">
              <a:ext uri="{FF2B5EF4-FFF2-40B4-BE49-F238E27FC236}">
                <a16:creationId xmlns:a16="http://schemas.microsoft.com/office/drawing/2014/main" id="{11076F46-B8F2-4DC2-83AF-F3A5AAF6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676775"/>
            <a:ext cx="540068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product-medical-health-allocation-2-value">
            <a:extLst xmlns:a="http://schemas.openxmlformats.org/drawingml/2006/main">
              <a:ext uri="{FF2B5EF4-FFF2-40B4-BE49-F238E27FC236}">
                <a16:creationId xmlns:a16="http://schemas.microsoft.com/office/drawing/2014/main" id="{E4840341-60C7-42CA-BC14-E24F68BA9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61962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13" b="1">
                <a:solidFill>
                  <a:srgbClr val="00A68A"/>
                </a:solidFill>
                <a:latin typeface="STHeiti"/>
                <a:ea typeface="STHeiti"/>
                <a:cs typeface="STHeiti"/>
              </a:defRPr>
            </a:pPr>
            <a:r>
              <a:rPr sz="1013" b="1">
                <a:solidFill>
                  <a:srgbClr val="00A68A"/>
                </a:solidFill>
                <a:latin typeface="STHeiti"/>
                <a:ea typeface="STHeiti"/>
                <a:cs typeface="STHeiti"/>
              </a:rPr>
              <a:t>31.5%</a:t>
            </a:r>
          </a:p>
        </p:txBody>
      </p:sp>
      <p:sp>
        <p:nvSpPr>
          <p:cNvPr id="82" name="product-medical-health-allocation-3-label">
            <a:extLst xmlns:a="http://schemas.openxmlformats.org/drawingml/2006/main">
              <a:ext uri="{FF2B5EF4-FFF2-40B4-BE49-F238E27FC236}">
                <a16:creationId xmlns:a16="http://schemas.microsoft.com/office/drawing/2014/main" id="{DA429F1B-D0B2-415C-B6F0-CA3374FA5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857750"/>
            <a:ext cx="819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13" b="1">
                <a:solidFill>
                  <a:srgbClr val="344054"/>
                </a:solidFill>
                <a:latin typeface="STHeiti"/>
                <a:ea typeface="STHeiti"/>
                <a:cs typeface="STHeiti"/>
              </a:defRPr>
            </a:pPr>
            <a:r>
              <a:rPr sz="1013" b="1">
                <a:solidFill>
                  <a:srgbClr val="344054"/>
                </a:solidFill>
                <a:latin typeface="STHeiti"/>
                <a:ea typeface="STHeiti"/>
                <a:cs typeface="STHeiti"/>
              </a:rPr>
              <a:t>医疗器械</a:t>
            </a:r>
          </a:p>
        </p:txBody>
      </p:sp>
      <p:sp>
        <p:nvSpPr>
          <p:cNvPr id="83" name="product-medical-health-allocation-3-track">
            <a:extLst xmlns:a="http://schemas.openxmlformats.org/drawingml/2006/main">
              <a:ext uri="{FF2B5EF4-FFF2-40B4-BE49-F238E27FC236}">
                <a16:creationId xmlns:a16="http://schemas.microsoft.com/office/drawing/2014/main" id="{17C6F780-8A77-4910-9D5C-90FAF540D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914900"/>
            <a:ext cx="171450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E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product-medical-health-allocation-3-fill">
            <a:extLst xmlns:a="http://schemas.openxmlformats.org/drawingml/2006/main">
              <a:ext uri="{FF2B5EF4-FFF2-40B4-BE49-F238E27FC236}">
                <a16:creationId xmlns:a16="http://schemas.microsoft.com/office/drawing/2014/main" id="{B2F9673D-63AE-4C6B-BE7F-99465E99A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914900"/>
            <a:ext cx="169736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product-medical-health-allocation-3-value">
            <a:extLst xmlns:a="http://schemas.openxmlformats.org/drawingml/2006/main">
              <a:ext uri="{FF2B5EF4-FFF2-40B4-BE49-F238E27FC236}">
                <a16:creationId xmlns:a16="http://schemas.microsoft.com/office/drawing/2014/main" id="{86D4BF4F-56D5-40D3-8696-99098362D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8577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13" b="1">
                <a:solidFill>
                  <a:srgbClr val="00A68A"/>
                </a:solidFill>
                <a:latin typeface="STHeiti"/>
                <a:ea typeface="STHeiti"/>
                <a:cs typeface="STHeiti"/>
              </a:defRPr>
            </a:pPr>
            <a:r>
              <a:rPr sz="1013" b="1">
                <a:solidFill>
                  <a:srgbClr val="00A68A"/>
                </a:solidFill>
                <a:latin typeface="STHeiti"/>
                <a:ea typeface="STHeiti"/>
                <a:cs typeface="STHeiti"/>
              </a:rPr>
              <a:t>9.9%</a:t>
            </a:r>
          </a:p>
        </p:txBody>
      </p:sp>
      <p:sp>
        <p:nvSpPr>
          <p:cNvPr id="86" name="product-medical-health-top10-label">
            <a:extLst xmlns:a="http://schemas.openxmlformats.org/drawingml/2006/main">
              <a:ext uri="{FF2B5EF4-FFF2-40B4-BE49-F238E27FC236}">
                <a16:creationId xmlns:a16="http://schemas.microsoft.com/office/drawing/2014/main" id="{A9619902-4C84-4C69-B3AF-91A66D6ED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1054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88" b="1">
                <a:solidFill>
                  <a:srgbClr val="344054"/>
                </a:solidFill>
                <a:latin typeface="STHeiti"/>
                <a:ea typeface="STHeiti"/>
                <a:cs typeface="STHeiti"/>
              </a:defRPr>
            </a:pPr>
            <a:r>
              <a:rPr sz="1088" b="1">
                <a:solidFill>
                  <a:srgbClr val="344054"/>
                </a:solidFill>
                <a:latin typeface="STHeiti"/>
                <a:ea typeface="STHeiti"/>
                <a:cs typeface="STHeiti"/>
              </a:rPr>
              <a:t>前十大持仓占比</a:t>
            </a:r>
          </a:p>
        </p:txBody>
      </p:sp>
      <p:sp>
        <p:nvSpPr>
          <p:cNvPr id="87" name="product-medical-health-top10-value">
            <a:extLst xmlns:a="http://schemas.openxmlformats.org/drawingml/2006/main">
              <a:ext uri="{FF2B5EF4-FFF2-40B4-BE49-F238E27FC236}">
                <a16:creationId xmlns:a16="http://schemas.microsoft.com/office/drawing/2014/main" id="{329B0451-67F0-4BFA-9D9D-539EC0AD6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067300"/>
            <a:ext cx="95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00A68A"/>
                </a:solidFill>
                <a:latin typeface="STHeiti"/>
                <a:ea typeface="STHeiti"/>
                <a:cs typeface="STHeiti"/>
              </a:defRPr>
            </a:pPr>
            <a:r>
              <a:rPr sz="1575" b="1">
                <a:solidFill>
                  <a:srgbClr val="00A68A"/>
                </a:solidFill>
                <a:latin typeface="STHeiti"/>
                <a:ea typeface="STHeiti"/>
                <a:cs typeface="STHeiti"/>
              </a:rPr>
              <a:t>58.1%</a:t>
            </a:r>
          </a:p>
        </p:txBody>
      </p:sp>
      <p:sp>
        <p:nvSpPr>
          <p:cNvPr id="88" name="product-medical-health-top10-track">
            <a:extLst xmlns:a="http://schemas.openxmlformats.org/drawingml/2006/main">
              <a:ext uri="{FF2B5EF4-FFF2-40B4-BE49-F238E27FC236}">
                <a16:creationId xmlns:a16="http://schemas.microsoft.com/office/drawing/2014/main" id="{6F6F1094-3543-487E-AEF5-F19401AC0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410200"/>
            <a:ext cx="327660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E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product-medical-health-top10-fill">
            <a:extLst xmlns:a="http://schemas.openxmlformats.org/drawingml/2006/main">
              <a:ext uri="{FF2B5EF4-FFF2-40B4-BE49-F238E27FC236}">
                <a16:creationId xmlns:a16="http://schemas.microsoft.com/office/drawing/2014/main" id="{2AD92FB2-AC06-43E6-A4E5-8016893F5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410200"/>
            <a:ext cx="190370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product-mutual-selection-card">
            <a:extLst xmlns:a="http://schemas.openxmlformats.org/drawingml/2006/main">
              <a:ext uri="{FF2B5EF4-FFF2-40B4-BE49-F238E27FC236}">
                <a16:creationId xmlns:a16="http://schemas.microsoft.com/office/drawing/2014/main" id="{40EB9883-906D-4BE3-8F4A-1EDD51399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33650"/>
            <a:ext cx="3581400" cy="3105150"/>
          </a:xfrm>
          <a:prstGeom xmlns:a="http://schemas.openxmlformats.org/drawingml/2006/main" prst="roundRect">
            <a:avLst>
              <a:gd name="adj" fmla="val 245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91" name="product-mutual-selection-accent">
            <a:extLst xmlns:a="http://schemas.openxmlformats.org/drawingml/2006/main">
              <a:ext uri="{FF2B5EF4-FFF2-40B4-BE49-F238E27FC236}">
                <a16:creationId xmlns:a16="http://schemas.microsoft.com/office/drawing/2014/main" id="{9BAAFDCE-8C62-4D3E-B67B-F18372BB0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33650"/>
            <a:ext cx="3581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product-mutual-selection-fund">
            <a:extLst xmlns:a="http://schemas.openxmlformats.org/drawingml/2006/main">
              <a:ext uri="{FF2B5EF4-FFF2-40B4-BE49-F238E27FC236}">
                <a16:creationId xmlns:a16="http://schemas.microsoft.com/office/drawing/2014/main" id="{71BAC77D-415A-429E-B617-D65EB3C89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57475"/>
            <a:ext cx="219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38" b="1">
                <a:solidFill>
                  <a:srgbClr val="101828"/>
                </a:solidFill>
                <a:latin typeface="STHeiti"/>
                <a:ea typeface="STHeiti"/>
                <a:cs typeface="STHeiti"/>
              </a:defRPr>
            </a:pPr>
            <a:r>
              <a:rPr sz="1538" b="1">
                <a:solidFill>
                  <a:srgbClr val="101828"/>
                </a:solidFill>
                <a:latin typeface="STHeiti"/>
                <a:ea typeface="STHeiti"/>
                <a:cs typeface="STHeiti"/>
              </a:rPr>
              <a:t>嘉实互融精选</a:t>
            </a:r>
          </a:p>
        </p:txBody>
      </p:sp>
      <p:sp>
        <p:nvSpPr>
          <p:cNvPr id="93" name="product-mutual-selection-code">
            <a:extLst xmlns:a="http://schemas.openxmlformats.org/drawingml/2006/main">
              <a:ext uri="{FF2B5EF4-FFF2-40B4-BE49-F238E27FC236}">
                <a16:creationId xmlns:a16="http://schemas.microsoft.com/office/drawing/2014/main" id="{DB91B7C6-42C3-492C-AC96-A28ECC7BC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6860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67085"/>
                </a:solidFill>
                <a:latin typeface="STHeiti"/>
                <a:ea typeface="STHeiti"/>
                <a:cs typeface="STHeiti"/>
              </a:defRPr>
            </a:pPr>
            <a:r>
              <a:rPr sz="975">
                <a:solidFill>
                  <a:srgbClr val="667085"/>
                </a:solidFill>
                <a:latin typeface="STHeiti"/>
                <a:ea typeface="STHeiti"/>
                <a:cs typeface="STHeiti"/>
              </a:rPr>
              <a:t>006603</a:t>
            </a:r>
          </a:p>
        </p:txBody>
      </p:sp>
      <p:sp>
        <p:nvSpPr>
          <p:cNvPr id="94" name="product-mutual-selection-direction-band">
            <a:extLst xmlns:a="http://schemas.openxmlformats.org/drawingml/2006/main">
              <a:ext uri="{FF2B5EF4-FFF2-40B4-BE49-F238E27FC236}">
                <a16:creationId xmlns:a16="http://schemas.microsoft.com/office/drawing/2014/main" id="{AAF3B26C-956E-4A41-B7FE-77D2D0531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90850"/>
            <a:ext cx="32766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3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product-mutual-selection-direction">
            <a:extLst xmlns:a="http://schemas.openxmlformats.org/drawingml/2006/main">
              <a:ext uri="{FF2B5EF4-FFF2-40B4-BE49-F238E27FC236}">
                <a16:creationId xmlns:a16="http://schemas.microsoft.com/office/drawing/2014/main" id="{53006B20-667C-4C1A-A824-0E9876F15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38475"/>
            <a:ext cx="3086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9E0B"/>
                </a:solidFill>
                <a:latin typeface="STHeiti"/>
                <a:ea typeface="STHeiti"/>
                <a:cs typeface="STHeiti"/>
              </a:defRPr>
            </a:pPr>
            <a:r>
              <a:rPr sz="1050" b="1">
                <a:solidFill>
                  <a:srgbClr val="F59E0B"/>
                </a:solidFill>
                <a:latin typeface="STHeiti"/>
                <a:ea typeface="STHeiti"/>
                <a:cs typeface="STHeiti"/>
              </a:rPr>
              <a:t>主投方向｜创新药主导，A/H共同配置</a:t>
            </a:r>
          </a:p>
        </p:txBody>
      </p:sp>
      <p:sp>
        <p:nvSpPr>
          <p:cNvPr id="96" name="product-mutual-selection-return-box">
            <a:extLst xmlns:a="http://schemas.openxmlformats.org/drawingml/2006/main">
              <a:ext uri="{FF2B5EF4-FFF2-40B4-BE49-F238E27FC236}">
                <a16:creationId xmlns:a16="http://schemas.microsoft.com/office/drawing/2014/main" id="{F6246E31-CA35-4664-97C7-16D7A7326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71850"/>
            <a:ext cx="15811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E5EAF0"/>
            </a:solidFill>
            <a:prstDash val="solid"/>
          </a:ln>
        </p:spPr>
      </p:sp>
      <p:sp>
        <p:nvSpPr>
          <p:cNvPr id="97" name="product-mutual-selection-return-label">
            <a:extLst xmlns:a="http://schemas.openxmlformats.org/drawingml/2006/main">
              <a:ext uri="{FF2B5EF4-FFF2-40B4-BE49-F238E27FC236}">
                <a16:creationId xmlns:a16="http://schemas.microsoft.com/office/drawing/2014/main" id="{33ABA0D7-089A-4A03-867B-82126060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671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667085"/>
                </a:solidFill>
                <a:latin typeface="STHeiti"/>
                <a:ea typeface="STHeiti"/>
                <a:cs typeface="STHeiti"/>
              </a:defRPr>
            </a:pPr>
            <a:r>
              <a:rPr sz="975">
                <a:solidFill>
                  <a:srgbClr val="667085"/>
                </a:solidFill>
                <a:latin typeface="STHeiti"/>
                <a:ea typeface="STHeiti"/>
                <a:cs typeface="STHeiti"/>
              </a:rPr>
              <a:t>近1年收益</a:t>
            </a:r>
          </a:p>
        </p:txBody>
      </p:sp>
      <p:sp>
        <p:nvSpPr>
          <p:cNvPr id="98" name="product-mutual-selection-return-value">
            <a:extLst xmlns:a="http://schemas.openxmlformats.org/drawingml/2006/main">
              <a:ext uri="{FF2B5EF4-FFF2-40B4-BE49-F238E27FC236}">
                <a16:creationId xmlns:a16="http://schemas.microsoft.com/office/drawing/2014/main" id="{14D3C3BF-0FF9-4BE7-8783-9BAF4501E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76650"/>
            <a:ext cx="1428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6667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59E0B"/>
                </a:solidFill>
                <a:latin typeface="STHeiti"/>
                <a:ea typeface="STHeiti"/>
                <a:cs typeface="STHeiti"/>
              </a:defRPr>
            </a:pPr>
            <a:r>
              <a:rPr sz="1875" b="1">
                <a:solidFill>
                  <a:srgbClr val="F59E0B"/>
                </a:solidFill>
                <a:latin typeface="STHeiti"/>
                <a:ea typeface="STHeiti"/>
                <a:cs typeface="STHeiti"/>
              </a:rPr>
              <a:t>-15.2%</a:t>
            </a:r>
          </a:p>
        </p:txBody>
      </p:sp>
      <p:sp>
        <p:nvSpPr>
          <p:cNvPr id="99" name="product-mutual-selection-drawdown-box">
            <a:extLst xmlns:a="http://schemas.openxmlformats.org/drawingml/2006/main">
              <a:ext uri="{FF2B5EF4-FFF2-40B4-BE49-F238E27FC236}">
                <a16:creationId xmlns:a16="http://schemas.microsoft.com/office/drawing/2014/main" id="{5928C355-C437-4249-80C3-51E8C5088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371850"/>
            <a:ext cx="15811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E5EAF0"/>
            </a:solidFill>
            <a:prstDash val="solid"/>
          </a:ln>
        </p:spPr>
      </p:sp>
      <p:sp>
        <p:nvSpPr>
          <p:cNvPr id="100" name="product-mutual-selection-drawdown-label">
            <a:extLst xmlns:a="http://schemas.openxmlformats.org/drawingml/2006/main">
              <a:ext uri="{FF2B5EF4-FFF2-40B4-BE49-F238E27FC236}">
                <a16:creationId xmlns:a16="http://schemas.microsoft.com/office/drawing/2014/main" id="{AA4446B3-5E3D-42F0-A6D9-B5C16CDB2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4671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667085"/>
                </a:solidFill>
                <a:latin typeface="STHeiti"/>
                <a:ea typeface="STHeiti"/>
                <a:cs typeface="STHeiti"/>
              </a:defRPr>
            </a:pPr>
            <a:r>
              <a:rPr sz="975">
                <a:solidFill>
                  <a:srgbClr val="667085"/>
                </a:solidFill>
                <a:latin typeface="STHeiti"/>
                <a:ea typeface="STHeiti"/>
                <a:cs typeface="STHeiti"/>
              </a:rPr>
              <a:t>近1年最大回撤</a:t>
            </a:r>
          </a:p>
        </p:txBody>
      </p:sp>
      <p:sp>
        <p:nvSpPr>
          <p:cNvPr id="101" name="product-mutual-selection-drawdown-value">
            <a:extLst xmlns:a="http://schemas.openxmlformats.org/drawingml/2006/main">
              <a:ext uri="{FF2B5EF4-FFF2-40B4-BE49-F238E27FC236}">
                <a16:creationId xmlns:a16="http://schemas.microsoft.com/office/drawing/2014/main" id="{8ECF1B21-8A49-4F9E-8AE2-4BFBDC226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676650"/>
            <a:ext cx="1428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6667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59E0B"/>
                </a:solidFill>
                <a:latin typeface="STHeiti"/>
                <a:ea typeface="STHeiti"/>
                <a:cs typeface="STHeiti"/>
              </a:defRPr>
            </a:pPr>
            <a:r>
              <a:rPr sz="1875" b="1">
                <a:solidFill>
                  <a:srgbClr val="F59E0B"/>
                </a:solidFill>
                <a:latin typeface="STHeiti"/>
                <a:ea typeface="STHeiti"/>
                <a:cs typeface="STHeiti"/>
              </a:rPr>
              <a:t>35.7%</a:t>
            </a:r>
          </a:p>
        </p:txBody>
      </p:sp>
      <p:sp>
        <p:nvSpPr>
          <p:cNvPr id="102" name="product-mutual-selection-allocation-title">
            <a:extLst xmlns:a="http://schemas.openxmlformats.org/drawingml/2006/main">
              <a:ext uri="{FF2B5EF4-FFF2-40B4-BE49-F238E27FC236}">
                <a16:creationId xmlns:a16="http://schemas.microsoft.com/office/drawing/2014/main" id="{3A08B7F9-9579-4D6E-9353-6E34D12E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114800"/>
            <a:ext cx="3276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13" b="1">
                <a:solidFill>
                  <a:srgbClr val="344054"/>
                </a:solidFill>
                <a:latin typeface="STHeiti"/>
                <a:ea typeface="STHeiti"/>
                <a:cs typeface="STHeiti"/>
              </a:defRPr>
            </a:pPr>
            <a:r>
              <a:rPr sz="1013" b="1">
                <a:solidFill>
                  <a:srgbClr val="344054"/>
                </a:solidFill>
                <a:latin typeface="STHeiti"/>
                <a:ea typeface="STHeiti"/>
                <a:cs typeface="STHeiti"/>
              </a:rPr>
              <a:t>医药细分赛道｜6/30 Top10穿透归一化</a:t>
            </a:r>
          </a:p>
        </p:txBody>
      </p:sp>
      <p:sp>
        <p:nvSpPr>
          <p:cNvPr id="103" name="product-mutual-selection-allocation-1-label">
            <a:extLst xmlns:a="http://schemas.openxmlformats.org/drawingml/2006/main">
              <a:ext uri="{FF2B5EF4-FFF2-40B4-BE49-F238E27FC236}">
                <a16:creationId xmlns:a16="http://schemas.microsoft.com/office/drawing/2014/main" id="{F04AE5C5-9034-413D-82D1-38B7D1F33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486275"/>
            <a:ext cx="819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13" b="1">
                <a:solidFill>
                  <a:srgbClr val="344054"/>
                </a:solidFill>
                <a:latin typeface="STHeiti"/>
                <a:ea typeface="STHeiti"/>
                <a:cs typeface="STHeiti"/>
              </a:defRPr>
            </a:pPr>
            <a:r>
              <a:rPr sz="1013" b="1">
                <a:solidFill>
                  <a:srgbClr val="344054"/>
                </a:solidFill>
                <a:latin typeface="STHeiti"/>
                <a:ea typeface="STHeiti"/>
                <a:cs typeface="STHeiti"/>
              </a:rPr>
              <a:t>创新药</a:t>
            </a:r>
          </a:p>
        </p:txBody>
      </p:sp>
      <p:sp>
        <p:nvSpPr>
          <p:cNvPr id="104" name="product-mutual-selection-allocation-1-track">
            <a:extLst xmlns:a="http://schemas.openxmlformats.org/drawingml/2006/main">
              <a:ext uri="{FF2B5EF4-FFF2-40B4-BE49-F238E27FC236}">
                <a16:creationId xmlns:a16="http://schemas.microsoft.com/office/drawing/2014/main" id="{7DB32502-3405-4261-94AE-AB213ED51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543425"/>
            <a:ext cx="171450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E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product-mutual-selection-allocation-1-fill">
            <a:extLst xmlns:a="http://schemas.openxmlformats.org/drawingml/2006/main">
              <a:ext uri="{FF2B5EF4-FFF2-40B4-BE49-F238E27FC236}">
                <a16:creationId xmlns:a16="http://schemas.microsoft.com/office/drawing/2014/main" id="{2339C050-734B-4942-8E75-5422AB530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543425"/>
            <a:ext cx="1565339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product-mutual-selection-allocation-1-value">
            <a:extLst xmlns:a="http://schemas.openxmlformats.org/drawingml/2006/main">
              <a:ext uri="{FF2B5EF4-FFF2-40B4-BE49-F238E27FC236}">
                <a16:creationId xmlns:a16="http://schemas.microsoft.com/office/drawing/2014/main" id="{E352D697-8AAE-4690-A005-BCBB70509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4862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13" b="1">
                <a:solidFill>
                  <a:srgbClr val="F59E0B"/>
                </a:solidFill>
                <a:latin typeface="STHeiti"/>
                <a:ea typeface="STHeiti"/>
                <a:cs typeface="STHeiti"/>
              </a:defRPr>
            </a:pPr>
            <a:r>
              <a:rPr sz="1013" b="1">
                <a:solidFill>
                  <a:srgbClr val="F59E0B"/>
                </a:solidFill>
                <a:latin typeface="STHeiti"/>
                <a:ea typeface="STHeiti"/>
                <a:cs typeface="STHeiti"/>
              </a:rPr>
              <a:t>91.3%</a:t>
            </a:r>
          </a:p>
        </p:txBody>
      </p:sp>
      <p:sp>
        <p:nvSpPr>
          <p:cNvPr id="107" name="product-mutual-selection-allocation-2-label">
            <a:extLst xmlns:a="http://schemas.openxmlformats.org/drawingml/2006/main">
              <a:ext uri="{FF2B5EF4-FFF2-40B4-BE49-F238E27FC236}">
                <a16:creationId xmlns:a16="http://schemas.microsoft.com/office/drawing/2014/main" id="{2D7C1B9C-DB9C-4301-898D-8158C3392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772025"/>
            <a:ext cx="819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13" b="1">
                <a:solidFill>
                  <a:srgbClr val="344054"/>
                </a:solidFill>
                <a:latin typeface="STHeiti"/>
                <a:ea typeface="STHeiti"/>
                <a:cs typeface="STHeiti"/>
              </a:defRPr>
            </a:pPr>
            <a:r>
              <a:rPr sz="1013" b="1">
                <a:solidFill>
                  <a:srgbClr val="344054"/>
                </a:solidFill>
                <a:latin typeface="STHeiti"/>
                <a:ea typeface="STHeiti"/>
                <a:cs typeface="STHeiti"/>
              </a:rPr>
              <a:t>综合制药</a:t>
            </a:r>
          </a:p>
        </p:txBody>
      </p:sp>
      <p:sp>
        <p:nvSpPr>
          <p:cNvPr id="108" name="product-mutual-selection-allocation-2-track">
            <a:extLst xmlns:a="http://schemas.openxmlformats.org/drawingml/2006/main">
              <a:ext uri="{FF2B5EF4-FFF2-40B4-BE49-F238E27FC236}">
                <a16:creationId xmlns:a16="http://schemas.microsoft.com/office/drawing/2014/main" id="{4DB7C8BE-D21B-41CB-BC57-E1A0EED00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829175"/>
            <a:ext cx="171450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E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product-mutual-selection-allocation-2-fill">
            <a:extLst xmlns:a="http://schemas.openxmlformats.org/drawingml/2006/main">
              <a:ext uri="{FF2B5EF4-FFF2-40B4-BE49-F238E27FC236}">
                <a16:creationId xmlns:a16="http://schemas.microsoft.com/office/drawing/2014/main" id="{DCD6EA54-A665-4E71-B333-75866108A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829175"/>
            <a:ext cx="149161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product-mutual-selection-allocation-2-value">
            <a:extLst xmlns:a="http://schemas.openxmlformats.org/drawingml/2006/main">
              <a:ext uri="{FF2B5EF4-FFF2-40B4-BE49-F238E27FC236}">
                <a16:creationId xmlns:a16="http://schemas.microsoft.com/office/drawing/2014/main" id="{344783A4-030E-40E6-AD83-C0E8FF8CF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77202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13" b="1">
                <a:solidFill>
                  <a:srgbClr val="F59E0B"/>
                </a:solidFill>
                <a:latin typeface="STHeiti"/>
                <a:ea typeface="STHeiti"/>
                <a:cs typeface="STHeiti"/>
              </a:defRPr>
            </a:pPr>
            <a:r>
              <a:rPr sz="1013" b="1">
                <a:solidFill>
                  <a:srgbClr val="F59E0B"/>
                </a:solidFill>
                <a:latin typeface="STHeiti"/>
                <a:ea typeface="STHeiti"/>
                <a:cs typeface="STHeiti"/>
              </a:rPr>
              <a:t>8.7%</a:t>
            </a:r>
          </a:p>
        </p:txBody>
      </p:sp>
      <p:sp>
        <p:nvSpPr>
          <p:cNvPr id="111" name="product-mutual-selection-top10-label">
            <a:extLst xmlns:a="http://schemas.openxmlformats.org/drawingml/2006/main">
              <a:ext uri="{FF2B5EF4-FFF2-40B4-BE49-F238E27FC236}">
                <a16:creationId xmlns:a16="http://schemas.microsoft.com/office/drawing/2014/main" id="{542048E9-D3E0-4CF6-A512-A4EC7EB27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1054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88" b="1">
                <a:solidFill>
                  <a:srgbClr val="344054"/>
                </a:solidFill>
                <a:latin typeface="STHeiti"/>
                <a:ea typeface="STHeiti"/>
                <a:cs typeface="STHeiti"/>
              </a:defRPr>
            </a:pPr>
            <a:r>
              <a:rPr sz="1088" b="1">
                <a:solidFill>
                  <a:srgbClr val="344054"/>
                </a:solidFill>
                <a:latin typeface="STHeiti"/>
                <a:ea typeface="STHeiti"/>
                <a:cs typeface="STHeiti"/>
              </a:rPr>
              <a:t>前十大持仓占比</a:t>
            </a:r>
          </a:p>
        </p:txBody>
      </p:sp>
      <p:sp>
        <p:nvSpPr>
          <p:cNvPr id="112" name="product-mutual-selection-top10-value">
            <a:extLst xmlns:a="http://schemas.openxmlformats.org/drawingml/2006/main">
              <a:ext uri="{FF2B5EF4-FFF2-40B4-BE49-F238E27FC236}">
                <a16:creationId xmlns:a16="http://schemas.microsoft.com/office/drawing/2014/main" id="{7F29B289-7F31-4720-970C-1B5B798C9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5067300"/>
            <a:ext cx="95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F59E0B"/>
                </a:solidFill>
                <a:latin typeface="STHeiti"/>
                <a:ea typeface="STHeiti"/>
                <a:cs typeface="STHeiti"/>
              </a:defRPr>
            </a:pPr>
            <a:r>
              <a:rPr sz="1575" b="1">
                <a:solidFill>
                  <a:srgbClr val="F59E0B"/>
                </a:solidFill>
                <a:latin typeface="STHeiti"/>
                <a:ea typeface="STHeiti"/>
                <a:cs typeface="STHeiti"/>
              </a:rPr>
              <a:t>69.8%</a:t>
            </a:r>
          </a:p>
        </p:txBody>
      </p:sp>
      <p:sp>
        <p:nvSpPr>
          <p:cNvPr id="113" name="product-mutual-selection-top10-track">
            <a:extLst xmlns:a="http://schemas.openxmlformats.org/drawingml/2006/main">
              <a:ext uri="{FF2B5EF4-FFF2-40B4-BE49-F238E27FC236}">
                <a16:creationId xmlns:a16="http://schemas.microsoft.com/office/drawing/2014/main" id="{824627CD-61AA-4B93-9CF7-FB26E16C8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410200"/>
            <a:ext cx="327660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E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product-mutual-selection-top10-fill">
            <a:extLst xmlns:a="http://schemas.openxmlformats.org/drawingml/2006/main">
              <a:ext uri="{FF2B5EF4-FFF2-40B4-BE49-F238E27FC236}">
                <a16:creationId xmlns:a16="http://schemas.microsoft.com/office/drawing/2014/main" id="{7FEE14C4-605E-4D79-AF8C-8A3F7FFCF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410200"/>
            <a:ext cx="2287067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9441453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2026-08-25T01:26:35.2430000Z</dcterms:created>
  <dcterms:modified xsi:type="dcterms:W3CDTF">2026-08-25T01:26:35.2430000Z</dcterms:modified>
</coreProperties>
</file>